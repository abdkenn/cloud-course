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71" r:id="rId4"/>
    <p:sldId id="257" r:id="rId5"/>
    <p:sldId id="259" r:id="rId6"/>
    <p:sldId id="286" r:id="rId7"/>
    <p:sldId id="260" r:id="rId8"/>
    <p:sldId id="287" r:id="rId9"/>
    <p:sldId id="272" r:id="rId10"/>
    <p:sldId id="273" r:id="rId11"/>
    <p:sldId id="288" r:id="rId12"/>
    <p:sldId id="289" r:id="rId13"/>
    <p:sldId id="293" r:id="rId14"/>
    <p:sldId id="292" r:id="rId15"/>
    <p:sldId id="294" r:id="rId16"/>
    <p:sldId id="290" r:id="rId17"/>
    <p:sldId id="291" r:id="rId18"/>
    <p:sldId id="295" r:id="rId19"/>
    <p:sldId id="297" r:id="rId20"/>
    <p:sldId id="296" r:id="rId21"/>
    <p:sldId id="363" r:id="rId22"/>
    <p:sldId id="364" r:id="rId23"/>
    <p:sldId id="278" r:id="rId24"/>
    <p:sldId id="298" r:id="rId25"/>
    <p:sldId id="300" r:id="rId26"/>
    <p:sldId id="301" r:id="rId27"/>
    <p:sldId id="302" r:id="rId28"/>
    <p:sldId id="303" r:id="rId29"/>
    <p:sldId id="299" r:id="rId30"/>
    <p:sldId id="279" r:id="rId31"/>
    <p:sldId id="319" r:id="rId32"/>
    <p:sldId id="320" r:id="rId33"/>
    <p:sldId id="321" r:id="rId34"/>
    <p:sldId id="322" r:id="rId35"/>
    <p:sldId id="276" r:id="rId36"/>
    <p:sldId id="277" r:id="rId37"/>
    <p:sldId id="310" r:id="rId38"/>
    <p:sldId id="313" r:id="rId39"/>
    <p:sldId id="311" r:id="rId40"/>
    <p:sldId id="314" r:id="rId41"/>
    <p:sldId id="312" r:id="rId42"/>
    <p:sldId id="315" r:id="rId43"/>
    <p:sldId id="316" r:id="rId44"/>
    <p:sldId id="318" r:id="rId45"/>
    <p:sldId id="317" r:id="rId46"/>
    <p:sldId id="280" r:id="rId47"/>
    <p:sldId id="304" r:id="rId48"/>
    <p:sldId id="305" r:id="rId49"/>
    <p:sldId id="306" r:id="rId50"/>
    <p:sldId id="307" r:id="rId51"/>
    <p:sldId id="308" r:id="rId52"/>
    <p:sldId id="309" r:id="rId53"/>
    <p:sldId id="282" r:id="rId54"/>
    <p:sldId id="325" r:id="rId55"/>
    <p:sldId id="374" r:id="rId56"/>
    <p:sldId id="326" r:id="rId57"/>
    <p:sldId id="327" r:id="rId58"/>
    <p:sldId id="329" r:id="rId59"/>
    <p:sldId id="328" r:id="rId60"/>
    <p:sldId id="330" r:id="rId61"/>
    <p:sldId id="375" r:id="rId62"/>
    <p:sldId id="331" r:id="rId63"/>
    <p:sldId id="332" r:id="rId64"/>
    <p:sldId id="352" r:id="rId65"/>
    <p:sldId id="334" r:id="rId66"/>
    <p:sldId id="333" r:id="rId67"/>
    <p:sldId id="335" r:id="rId68"/>
    <p:sldId id="338" r:id="rId69"/>
    <p:sldId id="339" r:id="rId70"/>
    <p:sldId id="341" r:id="rId71"/>
    <p:sldId id="340" r:id="rId72"/>
    <p:sldId id="342" r:id="rId73"/>
    <p:sldId id="343" r:id="rId74"/>
    <p:sldId id="365" r:id="rId75"/>
    <p:sldId id="344" r:id="rId76"/>
    <p:sldId id="346" r:id="rId77"/>
    <p:sldId id="366" r:id="rId78"/>
    <p:sldId id="376" r:id="rId79"/>
    <p:sldId id="347" r:id="rId80"/>
    <p:sldId id="345" r:id="rId81"/>
    <p:sldId id="367" r:id="rId82"/>
    <p:sldId id="348" r:id="rId83"/>
    <p:sldId id="349" r:id="rId84"/>
    <p:sldId id="368" r:id="rId85"/>
    <p:sldId id="350" r:id="rId86"/>
    <p:sldId id="369" r:id="rId87"/>
    <p:sldId id="351" r:id="rId88"/>
    <p:sldId id="336" r:id="rId89"/>
    <p:sldId id="337" r:id="rId90"/>
    <p:sldId id="353" r:id="rId91"/>
    <p:sldId id="355" r:id="rId92"/>
    <p:sldId id="354" r:id="rId93"/>
    <p:sldId id="284" r:id="rId94"/>
    <p:sldId id="356" r:id="rId95"/>
    <p:sldId id="357" r:id="rId96"/>
    <p:sldId id="370" r:id="rId97"/>
    <p:sldId id="358" r:id="rId98"/>
    <p:sldId id="371" r:id="rId99"/>
    <p:sldId id="359" r:id="rId100"/>
    <p:sldId id="372" r:id="rId101"/>
    <p:sldId id="360" r:id="rId102"/>
    <p:sldId id="361" r:id="rId103"/>
    <p:sldId id="362" r:id="rId104"/>
    <p:sldId id="373" r:id="rId10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67"/>
    <p:restoredTop sz="96327"/>
  </p:normalViewPr>
  <p:slideViewPr>
    <p:cSldViewPr snapToGrid="0">
      <p:cViewPr>
        <p:scale>
          <a:sx n="110" d="100"/>
          <a:sy n="110" d="100"/>
        </p:scale>
        <p:origin x="1448" y="9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presProps" Target="presProps.xml"/><Relationship Id="rId107" Type="http://schemas.openxmlformats.org/officeDocument/2006/relationships/viewProps" Target="viewProps.xml"/><Relationship Id="rId108" Type="http://schemas.openxmlformats.org/officeDocument/2006/relationships/theme" Target="theme/theme1.xml"/><Relationship Id="rId109" Type="http://schemas.openxmlformats.org/officeDocument/2006/relationships/tableStyles" Target="tableStyles.xml"/><Relationship Id="rId1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welcome to this 28-hour Cloud Computing course. My name is [Your Name], and I'll be your instructor throughout this journey. Over the next sessions, we're going to explore everything you need to know about cloud computing, from the fundamentals all the way to hands-on deployment of real applications on Google Cloud Platform. This course is designed to be practical and interactive, so don't hesitate to ask questions at any time.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quick overview of everything we'll be covering in this course. We'll start with the basics — understanding what an Information System is and what Cloud Computing actually means. Then we'll compare Cloud versus On-Premises infrastructure. After that, we'll dive into Google Cloud Platform, operating systems, Linux commands, virtualization, and containers. The second half of the course is more hands-on: we'll deploy a real machine learning application step by step, from a local VM all the way to a fully managed serverless service on GCP. We'll close with an overview of major GCP services and AI capabilities on the platform. A lot to cover — let's make the most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the Introduction section. Before we jump into technical content, I'd like to take a few minutes to get to know each other and understand your current level and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quick roundtable. I'd like each of you to introduce yourself — tell us your name, where you're currently doing your internship, what your main missions are, and how it's going so far. Also tell us a bit about your current knowledge in IT in general: have you ever worked with cloud infrastructure, set up a server, or deployed an application? This course will cover both theoretical concepts and practical hands-on work. The more you engage and interact, the more value you'll get out of it. So please, ask questions freely — there are no wrong questions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give you any definitions, I'd like to hear from you first. In your opinion, what is an Information System? And what is Cloud Computing? Take a moment to think about it, and share your ideas. This is a great way to start from what you already know and build on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now move into our first major topic: The Information System of a Company. Understanding this is essential before we talk about the Cloud, because the Cloud is fundamentally a way to host and manage an Information System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exactly is an Information System? An Information System — or IS — is an organized set of hardware, software, human resources, and processes that work together to collect, store, process, and distribute information within a company. Think of it as the backbone of any organization. It ensures that data flows correctly between departments and that decision-makers have access to the right information at the right time. Well-designed IS architecture is efficient, secure, and flexible enough to evolve with the company's needs.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the main components of an Information System. First, we have Servers — these are the physical or virtual machines that host applications and handle data processing. Then there's the Network — the infrastructure that connects all the components and allows data to travel between them. Next are Databases — these are systems dedicated to storing, organizing, and securing data. And finally, Application Software — programs designed to fulfill specific business functions, like an ERP, a CRM, or a custom internal tool. Traditionally, all of these components are physically located in a data center — either owned by the company, or in a shared data center where the company rents space.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what an Information System is, let's talk about Cloud Computing — which is essentially a new way of hosting and delivering that same Information System, but through the Internet instead of physical infrastructure on-site.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Computing is a model for delivering computing resources — like servers, storage, databases, and software — over the Internet, on demand. Instead of owning and maintaining physical hardware, companies simply access these resources as a service and pay for what they use. Cloud Computing offers the same components as a traditional IS — servers, networking, databases, software — but they are managed remotely by a cloud provider. The key advantages are scalability — you can instantly increase or decrease resources based on demand; flexibility — you choose exactly what you need; and cost reduction — you pay only for what you consume, with no large upfront investments.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cloud market is dominated by three major providers. First, Amazon Web Services — or AWS — which is the market leader and offers an incredibly wide range of cloud services. Then Microsoft Azure, which is particularly strong due to its deep integration with Microsoft products like Office 365 and Windows Server. And finally, Google Cloud Platform — or GCP — which is especially recognized for its strengths in artificial intelligence, machine learning, and big data analytics. All three providers offer very similar core services. The main differences are in pricing models, specific tooling, and ecosystem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also worth mentioning that there are French and European cloud providers that are increasingly popular, especially for companies with strict data sovereignty requirements. OVHcloud is the European leader, offering a full range of cloud services. Scaleway is a great option for startups and SMEs with competitive pricing. And Cloudwatt was designed specifically to address the needs of French public and private sector organizations. Choosing a French provider has specific advantages: it ensures compliance with French and European data protection laws — like the RGPD — and it means customer support is available in French, which can simplify communication and issue resolution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compare the two main models of infrastructure deployment: Cloud and On-Premises. This is one of the most common questions businesses face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talk about Cloud versus On-Premises — often called On-Prem — we're comparing two fundamentally different approaches to hosting and managing IT infrastructure. In the Cloud model, all resources are hosted and managed by an external provider. In On-Premises, everything is owned and maintained internally by the company itself. Let's compare them on four dimensions. Cost: Cloud uses a pay-as-you-go model with no upfront investment, while On-Prem requires significant capital expenditure upfront for hardware and software, plus ongoing maintenance costs. Management: with Cloud, the provider handles infrastructure, updates, and maintenance, whereas On-Prem means your own IT team handles everything. Scalability: Cloud lets you scale up or down instantly, while On-Prem scaling requires purchasing and installing new hardware — a process that can take weeks or months. Flexibility: Cloud adapts quickly to changing needs, while On-Prem is much less flexible and requires time and budget to implement changes.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summarize the key advantages of moving to the Cloud. The first major advantage is cost reduction: you eliminate expenses related to purchasing, maintaining, and upgrading hardware. You pay only for what you use, and you don't need to worry about managing a data center — things like electricity, cooling systems, physical security, and hardware refreshes. Second is immediate scalability and elasticity: imagine your web application goes viral overnight — with the Cloud, you can scale up your resources in minutes to handle the traffic spike, and then scale back down when things normalize. Third, you gain access to cutting-edge technologies without needing in-house expertise — a data scientist, for example, can deploy a machine learning model directly using managed cloud services, without depending on a separate infrastructure team. Finally, Cloud providers invest heavily in availability, security, and resilience — offering Service Level Agreements, redundancy, and built-in security that most companies couldn't afford to replicate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now focus on the cloud provider we'll be using throughout this course: Google Cloud Platform, or GCP.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Platform is Google's suite of cloud services, offering a comprehensive ecosystem for building, deploying, and managing applications. The key services we'll be working with include: Google Compute Engine, which is GCP's IaaS offering — it lets you create and run virtual machines in Google's infrastructure. Google Cloud Storage, a highly scalable object storage service for storing files, images, backups, and more. Google Kubernetes Engine, or GKE, a fully managed Kubernetes service for running containerized workloads. Google Cloud Functions, a serverless compute service that lets you run code in response to events without managing any servers. And Google Cloud Run, a fully managed platform for deploying containerized applications that scales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choose GCP? There are several strong reasons. Scalability: all GCP services are built to scale seamlessly, whether you're a startup or a large enterprise. Reliability: Google's global network of data centers ensures extremely high availability for your applications. Security: Google invests massively in infrastructure security, and GCP inherits those protections. And Innovation: GCP is particularly ahead in areas like artificial intelligence, machine learning, and data analytics — which is directly relevant if you're working on data science or ML projects. In terms of use cases, GCP is used for web and mobile app development, real-time data processing, machine learning pipelines, and full-stack DevOps infrastructure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this GCP introduction: Google Cloud Platform provides a rich and comprehensive ecosystem of cloud services that allows companies to build and operate at any scale. Whether you need a simple virtual machine, a managed database, or a fully automated AI pipeline, GCP has you covered. Its commitment to innovation — especially in AI and data — makes it a particularly relevant platform for those of you working in data science or engineering. Throughout this course, we'll be using GCP hands-on, so you'll get to see these capabilities in 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thing to understand about GCP — and cloud infrastructure in general — is how resources are geographically organized. GCP organizes its infrastructure into Regions and Zones. A Region is a specific geographical area in the world where Google has data centers — for example, europe-west1, which is located in Belgium. Each Region contains at least two Zones. A Zone is a distinct physical location within a Region — think of it as an individual data center or cluster of data centers. Zones are designed to be isolated from each other, meaning a failure in one zone doesn't affect another. By deploying your resources across multiple zones within a region, you achieve high availability and resilience. For example, Region europe-west1 in Belgium contains zones a, b, c, and d. When you deploy a critical application, you should spread it across at least two zones.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a visual map of all GCP Regions around the world. As you can see, Google has a truly global presence, with regions across North America, South America, Europe, Asia, and beyond. This global footprint means you can deploy your applications close to your users, minimizing latency and ensuring compliance with local data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layered structure of GCP's infrastructure — from the physical hardware at Google's data centers, up through the network fabric, the virtualization layer, the managed services, and finally the tools and APIs that you as developers interact with. This architecture is what enables GCP to deliver services that are fast, reliable, and secure at global scale.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deeper into cloud services, we need to make sure we all have a solid foundation in Operating Systems — because whether you're managing a VM, deploying a container, or SSHing into a cloud instance, you'll always be interacting with an 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Operating System — or OS — is the software that manages a computer's hardware resources and allows other programs to run on top of it. In the world of cloud and infrastructure, two operating systems dominate: Windows, developed by Microsoft, which is widely used in enterprise office environments and for certain server workloads. And Linux — a family of open-source Unix-based operating systems that is the dominant choice for servers, cloud infrastructure, and anything involving the command line. In virtually all cloud environments, Linux is the default OS. If you've never used Linux before, don't worry — we'll walk through the essentials together.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Windows and Linux on a few key dimensions. User Interface: Windows is known for its user-friendly Graphical User Interface — GUI — with tools like File Explorer. Linux, by default, uses a Command Line Interface — CLI — though graphical desktop environments like GNOME or KDE are available. File Management: Windows organizes files using drive letters like C: and D:. Linux uses a single hierarchical file system rooted at the forward slash — everything lives under that root directory. Security: Linux is renowned for its robust security model, based on granular file permissions and user-based access control. Windows, due to its widespread use, is more frequently targeted by malware — though it has significantly improved its security features in recent years.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some essential Windows command-line commands. These are used in the Command Prompt, or CMD. dir lists the files and directories in your current location. cd changes your current directory. mkdir creates a new folder. copy copies files from one place to another. del deletes files. And ipconfig displays your network configuration, including your IP address. Even if you're a Windows user, knowing these commands makes you much more efficient, especially when working on remote servers without a graphical interface.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Linux commands — these are used in the shell, typically Bash. ls lists files and directories, equivalent to dir in Windows. cd changes directory. mkdir creates a new directory. cp copies files. rm deletes files — be careful with this one, there's no recycle bin! And ifconfig — or ip a on modern systems — shows your network configuration. Linux also has some powerful commands that don't exist in the same way on Windows: grep allows you to search for patterns inside files, which is incredibly useful for log analysis. chmod modifies file and directory permissions. And sudo allows you to run a command with administrator — or root — privileges.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 we spend time on Linux commands in a cloud computing course? Because in the Cloud, the command line is everywhere. When you SSH into a virtual machine, you're dropped into a Linux terminal. When you manage containers, Kubernetes clusters, or deploy scripts, you're using CLI tools. Cloud tools like gcloud, kubectl, and the AWS CLI are all command-line based. Mastering the command line also allows you to automate repetitive tasks — like ETL pipelines, backups, or deployment scripts — which is a core skill for any cloud practitioner. My recommendation: practice every day, even for 15 minutes. The more you use these commands, the more natural they become.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now going to talk about Application Deployment — one of the most important topics in this course. Understanding how deployment has evolved will help you make smart decisions about where and how to run your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at the beginning. In the early days of computing, deploying a web application meant you had to physically set up and manage a server — either on-site or in a co-located data center. The process was entirely manual: you had to configure the hardware, install the operating system, install your software dependencies, manage updates and security patches, and so on. This approach had major limitations. Resources were often underutilized — a server running at 10% capacity most of the time is wasteful. Scaling was difficult — if you needed more capacity, you had to order, install, and configure new hardware, which could take weeks. And any hardware failure meant downtime.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emergence of Virtualization changed everything. Instead of one application per physical server, virtualization allowed running multiple Virtual Machines on a single physical machine — each with its own operating system, applications, and resources. This improved hardware utilization dramatically. Then came Cloud Computing, which introduced three delivery models: IaaS — Infrastructure as a Service — where you rent virtual machines and raw compute resources. PaaS — Platform as a Service — where you get a managed environment to run your applications without worrying about the underlying OS. And SaaS — Software as a Service — where you simply use a fully managed application like Gmail or Salesforce. Deploying on Cloud virtual servers simplified management, enabled on-demand scaling, and reduced costs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major evolution was Containerization. Docker introduced the concept of containers — lightweight, portable, self-contained units that package an application and everything it needs to run: the code, the runtime, the libraries, the configuration. Unlike VMs, containers don't need a full operating system — they share the host OS kernel, making them much faster to start and much lighter. But managing hundreds of containers manually is complex — that's where Kubernetes comes in. Kubernetes is the de facto standard for container orchestration: it automates deployment, scaling, load balancing, and self-healing of containerized applications. This combination has revolutionized how modern applications are built and deployed.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recent evolution is Serverless Computing — also known as Functions-as-a-Service or FaaS. With serverless, you don't manage any servers at all — you just write a function, upload it, and the cloud provider takes care of everything: provisioning, scaling, patching, and billing. You're only charged for the actual execution time of your code — down to the millisecond. Major serverless platforms include AWS Lambda, Google Cloud Functions, and Azure Functions. Serverless is perfect for event-driven workloads — things like processing a file when it's uploaded to storage, responding to an API call, or triggering a notification. For example, a Python function that runs every time a new image is uploaded to a bucket — it could resize it, classify it using a machine learning model, and save the result. No servers needed.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this evolution. From bare-metal servers, to virtual machines, to containers with Kubernetes, to fully serverless functions — each step has brought us more efficiency, more scalability, and less operational overhead. Today, companies have access to a wide spectrum of deployment options. The right choice depends on the specific needs of your application: how much control you need, how predictable your traffic is, how much you want to manage yourself, and what your budget looks like. Throughout the rest of this course, we'll explore all of these options hands-on.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now dive deeper into Virtualization — the technology that made the Cloud possible.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Virtualization is the technology that allows you to create multiple isolated virtual environments — called Virtual Machines — on a single physical server. This concept dates back to the 1960s, when IBM first experimented with virtualizing mainframe computers. It gained widespread adoption in the early 2000s with x86 virtualization technologies from companies like VMware. And in the 2010s, the concept evolved further with container virtualization, thanks to Docker and Kubernetes. Understanding virtualization is fundamental because every virtual machine you create in the Cloud — whether it's on GCP, AWS, or Azure — is built on this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Machine — or VM — is a complete, isolated computing environment that runs on top of physical hardware through a software layer called a Hypervisor. From the inside, a VM looks and behaves just like a real physical computer — it has its own CPU, memory, storage, and operating system. Virtual Machines are used for many purposes: Isolation — each VM can run its own applications without interfering with others. Development and Testing — you can spin up a VM, test your application, and discard it when done, without any risk to your real environment. Server Consolidation — instead of one application per physical server, you can run ten VMs on one physical machine, dramatically improving resource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Virtual Machines work technically. The key component is the Hypervisor — also called a Virtual Machine Monitor. The Hypervisor is a software layer that sits between the physical hardware and the VMs. It manages the allocation of physical resources — CPU, memory, storage — to each VM, and ensures they remain isolated from each other. Each VM contains a complete operating system — including the kernel, drivers, and applications — making them fully independent from other VMs on the same host. This architecture allows multiple VMs to run simultaneously on a single physical server, each thinking they have exclusive access to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Docker Containers — a lighter alternative to Virtual Machines. A Docker container is a lightweight, portable package that contains everything an application needs to run: the code, the runtime environment, the libraries, and all dependencies. Containers are ideal for Application Deployment because they run consistently across different environments — from your laptop to a cloud server. They ensure Consistent Development Environments, meaning a developer's code will behave the same way on any machine. And they're perfect for Microservices architectures, where each service is independently packaged, deployed, and scaled in its own container.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Docker works through a component called the Docker Engine, which is the containerization platform responsible for building, managing, and running containers. The main components are: the Docker Daemon — a background service that manages containers; the Docker Client — the command-line tool you use to interact with Docker; and Docker Registry — a repository where container images are stored and shared, like Docker Hub. The key difference from VMs: containers share the same OS kernel as the host. They only package the application-specific libraries and dependencies, which makes them extremely lightweight — we're talking megabytes versus gigabytes — and very fast to start, often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have dozens or hundreds of containers, managing them manually becomes impossible. That's where Kubernetes comes in. Kubernetes — often abbreviated as K8s — is an open-source container orchestration system that automates the deployment, scaling, and management of containerized applications. Use cases include: Container Orchestration — Kubernetes handles the complexity of managing large numbers of containers across multiple hosts. High Availability — if a container crashes, Kubernetes automatically restarts it on a healthy node. And Multi-Cloud Deployments — Kubernetes can run on any cloud provider or on-premises, making your applications highly portable.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Kubernetes architecture. A Kubernetes cluster consists of a Master — also called the Control Plane — and multiple worker Nodes. The Master is responsible for managing the cluster state. Its key components are the API Server, which is the entry point for all administrative commands; the Scheduler, which assigns workloads to nodes; the Controller Manager, which ensures the desired state of the cluster; and etcd, a distributed key-value store for cluster state data. The worker Nodes are where the actual application containers run. Each node runs a Kubelet — an agent that communicates with the master — a Kube-proxy for network routing, and a Container Runtime like Docker or containerd. The basic deployment unit in Kubernetes is a Pod — a group of one or more containers that share resources and network. Services abstract a set of pods and provide a stable network endpoint to reach them.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directly compare Virtual Machines and Containers. Isolation: VMs offer full hardware isolation — each one has its own complete OS. Containers share the host OS kernel, so their isolation is lighter but still effective for most use cases. Size: VMs are heavy — a typical VM image is several gigabytes because it includes a full OS. Containers are lightweight — often just a few hundred megabytes — because they only include app-specific dependencies. Startup Time: VMs take minutes to boot because they load a full operating system. Containers start in seconds or even milliseconds. Resource Usage: VMs consume significant resources due to OS overhead. Containers are much more efficient and allow higher density on the same hardware.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visually summarizes the difference between the architecture of Virtual Machines and Containers. On the left, you can see VMs — each with its own Guest OS running on top of the Hypervisor. On the right, containers — sharing the same Host OS kernel, with only the application layer being isolated. This architectural difference explains why containers are lighter, faster, and more portable than VMs.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virtualization section: VMs offer complete isolation and are ideal when you need full OS-level separation — for example, running Windows and Linux workloads on the same host. Containers are ideal for microservices, fast deployment, and cloud-native applications where lightweight and portability matter most. Kubernetes bridges the gap by automating the deployment and lifecycle management of containers at any scale. The right choice always depends on your specific requirements: how much isolation do you need? How fast must deployments be? How much operational complexity can your team handle? In cloud environments, you'll often use a combination of all three.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part many of you have been waiting for — the Demo! We're going to see step by step how to deploy a real Machine Learning application across different platforms. This will make everything we've discussed much more concrete and hands-on.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section, we'll explore the full journey of deploying a Streamlit machine learning application — from running it on a local virtual machine all the way to deploying it as a fully managed service on Google Cloud. We'll cover deployment on a local VM or physical server, on a GCP Compute Engine VM, inside a Docker container, on Google Cloud Run, and as a Google Cloud Function. Each approach has its own advantages and trade-offs, and by the end of this section, you'll have a clear picture of when to use which method.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traditional approach: deploying on a Virtual Machine. For a local server or VM, the process goes like this: first, download and install virtualization software — like VMware or VirtualBox. Then download a Debian 12 OS image. Create a Debian VM and install Python and all the necessary libraries. Transfer the Streamlit application files to the VM. Configure the web server — typically using Gunicorn — and open the necessary ports. Launch the application and verify it's accessible from a browser. Don't forget that running a VM in a data center comes with real costs: hardware, electricity, cooling, physical space, and IT staff to maintain it. On GCP Compute Engine, the process is very similar, but you create the VM in the cloud console, and you only pay while the VM is running. This is already a big improvement over physical servers.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 up is deploying in a Docker container. This approach offers much more portability and reproducibility. The steps are: write a Dockerfile that describes your application's environment and dependencies. Build a Docker image from that Dockerfile. Run the container locally to verify everything works. Push the image to Docker Hub or a private container registry. From that point, you can run the exact same container on any machine that has Docker installed — whether it's your laptop, a colleague's machine, a VM on GCP, or any other cloud provider. This "build once, run anywhere" approach is one of the biggest advantages of containerization.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Docker, we can deploy to Google Cloud Run — a fully managed serverless container platform. The steps are: first, prepare your Docker image of the Streamlit application. Deploy it to Cloud Run via the Google Cloud Console or the gcloud CLI. Configure parameters like memory, CPU, and concurrency settings. Cloud Run will automatically build and push the image to a private registry called Artifact Registry on GCP. Once deployed, Cloud Run provides a unique HTTPS URL for your application. Cloud Run automatically scales the number of running containers based on incoming traffic — from zero to thousands of instances — and you only pay for the actual requests being processed.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even more serverless usage, you can deploy as a Google Cloud Function. The process involves transforming your Streamlit application into an asynchronous function managed by Cloud Functions. You deploy it via the Cloud Console or CLI, configure a trigger — typically an HTTP trigger — and test it using a browser or a tool like curl. Cloud Functions is ideal for lightweight, event-driven processing. However, it's worth noting that Streamlit isn't naturally designed for serverless functions — Cloud Run is usually the better fit for Streamlit apps. Cloud Functions shine more for background tasks like file processing, notifications, or data transformation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deployment method should you choose? The answer is: it depends on your project's specific needs, your team's skills, and your constraints. Virtual Machines give you total flexibility and control — you can install anything, configure anything. But they require more management effort. Managed cloud services like Cloud Run offer simplified management, automatic scaling, and you only pay for actual usage — but you have less control over the underlying infrastructure. As a rule of thumb: use VMs when you need full control or have legacy applications. Use Cloud Run for containerized web applications that need to scale. Use Cloud Functions for lightweight, event-driven processing tasks. The key is to experiment with each option to understand its strengths and limitations for your specific use case.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covered deployment. Now let's take a broader look at the most important GCP services you need to know as a cloud practitioner. These are the building blocks you'll use to architect real-world solutions.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foundational to everything Google Cloud does, and it starts at the hardware level. Google designs its own server racks, network equipment, and even custom security chips — meaning security is baked in from day one. Boot Security: Google servers use cryptographic signatures to ensure they only boot with trusted, verified software. Physical Security: Google's data centers are built with multiple layers of physical protection — biometric access, security cameras, and limited staff access. Communication Encryption: all internal traffic between Google's data centers is automatically encrypted. And Encryption at Rest: all data stored in Google's infrastructure is encrypted using centrally managed keys. Additionally, Google's Identity service provides strong authentication — it goes beyond username and password by using risk-based factors and supports hardware security keys like U2F.</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security architecture also covers network-level protection. The Google Front End — or GFE — handles all internet-facing connections using TLS encryption and provides X.509 certificates, ensuring all communications are secure. Google's infrastructure can absorb massive DDoS attacks thanks to its global scale. Intrusion Detection: Google uses both rule-based systems and AI to detect and alert on potential security incidents, with regular internal exercises to sharpen response capabilities. To reduce insider risk, Google closely monitors the activities of employees with privileged access to infrastructure. All Google employees are required to use U2F hardware security keys to prevent phishing. And on the development side, Google uses centralized code review, two-party approval processes, and has a Vulnerability Rewards Program that incentivizes the responsible disclosure of bugs.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legitimate concern many companies have about cloud is vendor lock-in — the fear of becoming too dependent on a single cloud provider and being unable to switch later. Google's approach to addressing this is through openness. Google actively uses and contributes to open-source technologies, ensuring that the tools and frameworks you use on GCP — like Kubernetes, TensorFlow, and Apache Beam — are not proprietary. Google also ensures interoperability across different layers of the technology stack. This means you can build on GCP with the confidence that you're not trapped — your workloads can be migrated or run on other platforms if your needs change.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pricing — because understanding how you're billed is essential for controlling costs in the Cloud. Google was actually the first major cloud provider to introduce per-second billing for Compute Engine VMs. This means if your VM runs for 47 seconds, you only pay for 47 seconds — not a full minute or hour. Per-second billing also applies to GKE, Dataproc, and App Engine flexible VMs. Compute Engine also offers sustained use discounts — automatically applied if you run a VM for a significant portion of the month. For cost management, GCP provides budget tools: you can define budgets at the account or project level, create alerts when costs approach your budget, use reports to visualize spending, and set quotas to prevent unexpected resource consumption. There are two types of quotas: rate quotas that reset periodically, and allocation quotas that cap the total resources you can have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how GCP resources are organized is critical for managing access and billing. GCP uses a four-level hierarchy. At the bottom are individual Resources — like VMs, storage buckets, and databases. Resources are grouped into Projects — this is the fundamental organizing unit in GCP. Projects are organized into Folders, which can contain subfolders, allowing you to mirror your company's organizational structure. And at the very top is the Organization Node, which encompasses everything. This hierarchy is important for policy management: you can set access policies and permissions at any level — organization, folder, or project — and those policies are inherited downward. For example, a security policy applied to a folder automatically applies to all projects within that folder.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GCP resource hierarchy visually. Notice how policies flow from top to bottom — the organization node at the top, then folders, then projects, and finally individual resources. This inheritance model makes it easy to apply consistent security and compliance policies across your entire organization without having to configure each resource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stands for Identity and Access Management — it's the system GCP uses to control who can do what on which resources. There are three types of IAM roles. Basic roles are the broadest — they affect all resources within a project. They include Viewer, Editor, Owner, and Billing Administrator. These are simple but often too permissive for production use. Predefined roles are service-specific and define a precise set of allowed actions — for example, a Compute Engine instanceAdmin role that allows managing VMs but nothing else. Custom roles allow you to define exactly the permissions you need, following the principle of least privilege — giving users only the access they actually need. Service Accounts are special identities used by applications and VMs to authenticate with GCP services. For example, a VM running your application can be assigned a service account with only the permissions that application needs.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your understanding with two quick quiz questions. Quiz 1: Services and APIs are enabled on a per-blank basis — Folder, Project, Organization, or Billing Account? The correct answer is B — Project. Each GCP project has its own set of enabled APIs and services. Quiz 2: Order these IAM role types from broadest to finest-grained — the options are combinations of Custom, Predefined, and Basic roles. The correct answer is C — Basic roles are the broadest, Predefined roles are more specific, and Custom roles are the most fine-grained. Understanding this hierarchy helps you choose the right role type for each situation.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Private Cloud — or VPC — is a logically isolated network within Google Cloud where you can deploy and connect your resources securely. Despite using public cloud infrastructure, a VPC gives you the privacy and control of a private network. With a VPC, you can segment your network, apply firewall rules to control traffic, and define static routes for network communication. One important thing that surprises many GCP newcomers: GCP VPC networks are global — a single VPC can span multiple regions around the world. Within a VPC, you create Subnets — which are regional. A subnet in europe-west1 and a subnet in us-central1 can both be part of the same global VPC. Resources in different zones can even be on the same subnet, which makes designing highly available architectures much simpler.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Compute Engine is GCP's core IaaS offering — it allows you to create and run virtual machines on Google's infrastructure with no upfront investment. You can configure each VM precisely: choose the number of CPUs, the amount of RAM, the type and size of storage, and the operating system. VMs can be created through the Cloud Console, the gcloud command-line tool, or the Compute Engine API. Compute Engine offers custom machine types — meaning you're not limited to predefined sizes. You can request exactly the combination of CPU and memory that your workload needs. For storage, persistent disks are the recommended choice — they survive VM restarts and can be resized dynamically. Compute Engine is billed based on actual usage, with per-second billing and automatic sustained use discounts.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Marketplace is an online catalog of pre-configured, certified third-party software solutions ready to deploy on GCP. Instead of starting with an empty VM and manually installing and configuring software, you can find pre-built solutions — databases, web servers, security tools, business applications — and deploy them in just a few clicks. The benefits are significant: you get a wide variety of solutions, all tested for compatibility with GCP. Deployment is fast and reliable. Billing is consolidated — software costs are added directly to your GCP bill. However, there are some important caveats: some Marketplace solutions come with additional licensing costs on top of the underlying GCP infrastructure costs. And as always, you should verify that any third-party software meets your requirements in terms of functionality, performance, and security before deploying it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Load Balancer is a critical component for building scalable and resilient applications. Its job is to distribute incoming user traffic across multiple instances of your application, ensuring no single instance is overwhelmed. Google Cloud Load Balancing is a fully distributed, software-defined managed service — there's no infrastructure to provision or manage. It supports all types of traffic: HTTP and HTTPS, TCP, SSL, and UDP. It works across regions with automatic failover — if instances in one region become unhealthy, traffic is automatically routed to healthy instances elsewhere. And importantly, it requires no pre-warming — even in the event of a massive traffic spike, you don't need to contact Google in advance to prepare the system. It scales instantly and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how a Load Balancer sits in front of your application instances. Incoming requests arrive at the Load Balancer, which then distributes them across multiple backend instances based on health checks and load. Notice how the Load Balancer can route traffic across different zones and regions, providing both horizontal scaling and geographic redundancy. This architecture is the foundation of any highly available application in the Cloud.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quick quizzes before we continue. First: What scope do GCP VPC subnets have — Zonal, Regional, Global, or Multi-Regional? The answer is B — Regional. VPC subnets are regional, which means they can span all zones within a region. This is actually a major advantage — it allows you to build fault-tolerant architectures without needing to manage complex multi-subnet configurations. Second: What is the main reason customers choose Preemptible VMs? The answer is B — to reduce cost. Preemptible and Spot VMs offer a substantial discount — up to 80% cheaper than regular VMs — in exchange for the fact that Google can reclaim them at any time. They're ideal for batch processing jobs and fault-tolerant workloads that can handle interruptions.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explore Google Cloud's storage options. Cloud Storage is GCP's object storage service — it's designed for storing unstructured data as "objects." Each object has content, metadata describing it, and a globally unique identifier. Files are organized into Buckets, which you name and assign to a specific geographic location to minimize latency for your users. Cloud Storage is ideal for a wide range of use cases: storing backups and archives, delivering web content like images and videos, and distributing large datasets or machine learning model files. While it's not a traditional file system, you can mount a Cloud Storage bucket as a directory using third-party tools like GCSFuse.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Storage offers four storage classes, each optimized for different access patterns and price points. Standard Storage is for frequently accessed — or "hot" — data that you read and write often. Nearline Storage is designed for data you access roughly once a month — think monthly backups or media archives. Coldline Storage is for data accessed at most once per quarter — perhaps older project archives. And Archive Storage is the cheapest option, intended for long-term cold storage like compliance archives or disaster recovery data — but it has higher access costs and a minimum storage duration of 365 days. The key principle: the less frequently you access the data, the cheaper the storage but the more expensive the retrieval. You should choose your storage class based on your actual access patterns to optimize costs.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SQL is GCP's fully managed relational database service, supporting MySQL, PostgreSQL, and SQL Server. "Fully managed" means Google handles all the operational overhead: patches, updates, backups, and replication — so you can focus on your application, not your database. Cloud SQL is highly scalable — up to 64 CPU cores, over 400 GB of RAM, and 64 TB of storage. It supports automatic replication and managed backups to ensure data availability and durability. Data is encrypted both in transit and at rest, and there's a built-in network firewall. Cloud SQL integrates seamlessly with Compute Engine instances and external applications through standard database connectors, making it compatible with virtually any tech stack.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Cloud SQL architecture — showing how a Cloud SQL instance provides a managed, highly available relational database that can be accessed by Compute Engine VMs, GKE clusters, App Engine applications, and external clients through secure, encrypted connections. The read replicas shown here are key to achieving high read throughput and geographic distribution of your database workload.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Spanner takes managed relational databases to the next level. It's a globally distributed, horizontally scalable relational database that supports full SQL with strong consistency guarantees — something that was previously thought impossible in distributed systems. Cloud Spanner literally powers Google's own $80 billion business, including the backend infrastructure for Google Ads. It's designed for applications that need: full SQL support with joins and secondary indexes; built-in global high availability with no planned downtime; strong consistency across all writes, even across continents; and the ability to handle tens of thousands of read and write operations per second. The trade-off compared to Cloud SQL? Spanner is significantly more expensive — it's designed for mission-critical, globally distributed applications where traditional SQL databases simply can't scale.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Firestore is GCP's managed NoSQL document database, designed for mobile, web, and server applications. Data is organized in a flexible document model — documents grouped into collections — which is much more flexible than rigid relational tables. Firestore's killer feature is real-time synchronization: any connected client — whether a web browser or a mobile app — receives data updates in real time as they happen. It even works offline — data is cached locally, and changes are synchronized when the connection is restored. Built on Google Cloud's infrastructure, Firestore provides automatic multi-region replication, strong consistency, and full transactional support. Billing is based on the number of document reads, writes, and deletes, plus storage — and it offers a generous free tier that many developers can start with at no cost.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a typical Firestore use case: a mobile or web application communicating directly with Firestore through the real-time listener SDK. Notice the offline support — the app continues to function and write data even without internet connectivity, and Firestore synchronizes the data once the connection is restored. This makes Firestore particularly powerful for mobile applications that need to work in unreliable network conditions.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Bigtable is Google's NoSQL wide-column database service — the same technology that powers some of Google's largest internal services: Search, Analytics, and Gmail. If you need to store and process massive amounts of data at extremely low latency, Bigtable is your tool. It's designed for: very large data volumes — think petabytes; high throughput workloads — millions of read and write operations per second; time-series data — like IoT sensor data or financial market data; and both batch and real-time stream processing. Bigtable integrates with other GCP services and popular big data frameworks like Apache Beam, Spark, and Hadoop. It's typically used to feed dashboards, analytical APIs, and data pipelines that require sub-millisecond response times at massive scale.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all the GCP storage options side by side to understand when to use each one. Cloud Storage: best for large binary objects over 10 MB — images, videos, backups. Up to 5 TB per object. Cloud SQL and Cloud Spanner: for traditional relational data requiring full SQL support. Cloud SQL handles up to 64 TB; Spanner is for global horizontal scalability. Firestore: ideal for mobile and web applications needing real-time sync, flexible document data, and terabytes of storage. Cloud Bigtable: for extremely large volumes of structured data — petabytes — with a high frequency of reads and writes, especially time-series or analytical workloads. The key question to ask yourself when choosing: Is my data relational or non-relational? How large will it get? How frequently will it be accessed? Do I need real-time sync or global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gives you a visual summary of all GCP storage options with their key attributes. Use this as a quick reference when you need to decide which storage service to use for a given use case. Pay attention to the "best for" column — it summarizes the sweet spot for each service.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decision tree diagram helps you navigate the storage choice process. Start with your data type and access patterns, and follow the branches to the recommended storage solution. Having a visual framework like this is very helpful during architecture design and during technical interviews.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your knowledge on storage. Question 1: What is the correct use case for Cloud Storage? The answer is B — Cloud Storage is well suited to providing durable and highly available object storage. Not a file system, not a data warehouse, not a relational database — it's an object store for files, images, backups, and large binary data. Question 2: Which SQL database service can scale to higher database sizes? The answer is A — Cloud Spanner. While Cloud SQL supports up to 64 TB, Cloud Spanner is designed to scale horizontally to virtually unlimited sizes, making it the right choice for very large, globally distributed relational workloads. Note that Cloud Bigtable is also very large but it's NoSQL, not SQL.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BigQuery is GCP's fully managed, serverless data warehouse — one of the most powerful data analysis tools available in the cloud. It allows you to run SQL queries on petabytes of data in seconds. How does it work? You load your data into BigQuery tables, and then you run SQL queries — BigQuery automatically distributes the query processing across thousands of servers in parallel. The benefits are remarkable: exceptional query performance, fully managed infrastructure with no setup or maintenance, and seamless integration with other GCP services like Dataflow, Pub/Sub, and Looker Studio for visualization. The cost model is pay-per-query — you pay based on the amount of data scanned. This means it's important to write efficient queries and use partitioning and clustering to minimize data scanned. BigQuery is the tool of choice for business intelligence, data analytics, and machine learning feature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BigQuery architecture. Data is ingested from various sources — streaming via Pub/Sub, batch via Cloud Storage or direct upload — and stored in BigQuery's columnar format. When you run a query, it's executed by a massively parallel distributed processing engine called Dremel. The results are returned to you in seconds, even on petabyte-scale datasets. Notice also the integration with tools like Looker Studio for dashboards and Vertex AI for machine learning — BigQuery sits at the center of GCP's data and AI ecosystem.</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introduced containers earlier in the context of virtualization — now let's revisit them from a deployment perspective. Containers are like a virtual box around your code and its dependencies. They have limited access to the host file system and hardware — only what you explicitly allow. They start in milliseconds and consume very little memory and CPU overhead. Containers give you the flexibility of IaaS — you control what's inside the container — combined with the scalability of PaaS — the cloud platform handles running and scaling your containers. And most importantly, containers are fully portable: you build your container image once, and it runs exactly the same way on your laptop, a test server, a production VM, or a fully managed cloud platform.</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 already introduced in the virtualization section — is now our primary tool for managing containers in production. It's an open-source platform for automating the deployment, scaling, and management of containerized applications. With Kubernetes, you can run hundreds of containers across dozens of hosts, and Kubernetes handles all the orchestration: scheduling containers onto nodes, scaling them up or down, routing traffic, and restarting failed containers automatically. Clusters are made up of a Control Plane — which manages the cluster state — and worker Nodes — where containers actually run. Pods are the smallest deployable unit in Kubernetes — a pod wraps one or more containers that share storage and network. On GCP, you can create and manage Kubernetes clusters easily using Google Kubernetes Engine through the Cloud Console or gcloud commands.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a Kubernetes cluster in action. Notice the Control Plane at the top managing the worker nodes. Each worker node runs multiple pods — each pod containing one or more containers. The Kubernetes service routes external traffic to the appropriate pods. When a pod fails, Kubernetes detects it through health checks and automatically reschedules it on a healthy node. This self-healing capability is one of the most powerful features of Kubernetes.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Run is GCP's fully managed serverless container platform. It builds on all the advantages of containers — portability, isolation, reproducibility — but removes all the infrastructure management burden. It's completely Serverless: you don't manage servers, clusters, or nodes. Cloud Run automatically scales your containers up in response to incoming requests — and scales down to zero when there's no traffic, meaning you pay nothing when your app isn't being used. The workflow is simple: write your application, package it into a container image, push it to Artifact Registry, and deploy it to Cloud Run with a single command. Cloud Run provides a unique HTTPS URL for your application and handles all the routing, load balancing, and certificate management automatically. It's perfect for web APIs, machine learning inference endpoints, and background processing services.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Cloud Run request lifecycle. A request comes in via HTTPS to your Cloud Run service URL. Cloud Run routes it to a running container instance — or starts a new one in milliseconds if there's no warm instance available. The container processes the request and returns the response. If traffic increases, Cloud Run automatically spins up more container instances in parallel. When traffic drops, instances are terminated. This elastic scaling model means Cloud Run always has just the right amount of capacity for your current traffic — no more, no less.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quiz on Cloud Run. The question is: Cloud Run can only pull images from which registry? The options are Docker Hub, self-hosted registries, Artifact Registry, or GitHub. The correct answer is C — Artifact Registry. Cloud Run only deploys container images stored in Google Cloud's Artifact Registry. This is an important point to remember: before deploying to Cloud Run, you must first push your Docker image to Artifact Registry. This ensures the images are within GCP's secure environment and benefits from private, low-latency access between services.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Functions is GCP's serverless Functions-as-a-Service offering. It lets you write small, focused functions that execute automatically in response to cloud events — like a file being uploaded to Cloud Storage, a message arriving on a Pub/Sub topic, or an HTTP request hitting an endpoint. Cloud Functions is completely serverless — no servers, no containers, no infrastructure to manage whatsoever. Functions are event-driven and asynchronous by default. Billing is extremely granular — you pay only for the actual execution time, rounded to the nearest 100 milliseconds. Cloud Functions supports multiple languages: JavaScript via Node.js, Python, Go, Java, and more. A typical use case: every time a new image is uploaded to a Cloud Storage bucket, a Cloud Function automatically runs an ML model on it, extracts metadata, and saves the result to Firestore — all without any manual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on Cloud Functions. The question is: what is the advantage of putting event-driven components of your application into Cloud Functions? Option A says processing is always free — that's incorrect, Cloud Functions has a cost per invocation. Option C says functions can be written in C# or C++ — also incorrect, Cloud Functions supports JavaScript, Python, and Go. Option D suggests it eliminates the need for a separate trigger service — also incorrect, you still need triggers like Pub/Sub or HTTP. The correct answer is B: Cloud Functions handles scaling seamlessly. Your code executes whenever an event triggers it, whether that's once a day or a thousand times per second. You don't need to provision or manage any compute resources — Cloud Functions automatically scales to handle any volume of events.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Dataflow is GCP's fully managed data pipeline service, built on Apache Beam — an open-source unified programming model for both batch and streaming data processing. With Dataflow, you define your data processing logic as a pipeline: read data from a source, apply transformations, and write the results to a destination. Dataflow automatically handles distributing the processing across many workers, scaling up when data volume is high and scaling down when it's not. The key advantages are automatic scalability, deep integration with other GCP services like Pub/Sub and BigQuery, and the fact that it's fully managed — Google handles all the infrastructure. It's ideal for ETL pipelines, real-time event processing, log analysis, and ML feature engineering. The main trade-offs: pricing can get complex at scale, and there's a learning curve for those unfamiliar with Apache Beam's programming model.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Pub/Sub — short for Publisher/Subscriber — is GCP's fully managed asynchronous messaging service. It decouples the services that produce events from the services that consume them. Here's how it works: publishers send messages to a Topic. Subscribers listen to that topic and receive messages asynchronously. This decoupling is powerful because the publisher doesn't need to know who's listening — it just publishes the event, and any number of subscribers can react to it independently. Pub/Sub can handle millions of messages per second with very low latency. It ensures reliable delivery even if a subscriber is temporarily unavailable. It integrates seamlessly with Cloud Functions, Dataflow, BigQuery, and virtually any other GCP service. Use cases include event-driven architectures, notification systems, data ingestion pipelines, and real-time analytics. The main consideration is cost — it can scale quickly with message volume.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Dataproc is GCP's fully managed service for running Apache Hadoop and Apache Spark workloads in the cloud. If you have existing big data pipelines built on these frameworks, Dataproc lets you run them on GCP without any replatforming. Dataproc clusters can be created in 90 seconds or less — much faster than spinning up your own Hadoop cluster. You can scale clusters dynamically based on your data processing needs and shut them down when you're done, paying only for what you use. It integrates with Cloud Storage, BigQuery, and other GCP services, making it easy to build end-to-end data pipelines. Use cases include batch ETL processing, large-scale data analysis, and machine learning training jobs using Spark MLlib. The main challenges are pricing complexity — it depends on instance types, runtime, and other factors — and the fact that cluster configuration can be complex for users new to Hadoop and Spark ecosystems.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now reached the final major section of this course: AI Services on Google Cloud Platform. GCP is widely recognized as a leader in artificial intelligence and machine learning tooling. Let's explore what's available.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Vertex AI is GCP's unified AI and Machine Learning platform. It brings together all the tools you need for the complete ML lifecycle — from data preparation and model training to deployment, monitoring, and management — all in one place. Vertex AI supports two main approaches to building models: AutoML, which allows you to train high-quality models on your data with no code required — just upload your dataset and specify what you want to predict. And Custom Training, which gives data scientists full control to write their own training code using TensorFlow, PyTorch, scikit-learn, or any other framework. Beyond training, Vertex AI offers Model Garden — a catalog of pre-built open-source models you can deploy directly — and Generative AI tools that give you access to Google's large language models. The main considerations are pricing complexity and the fact that some advanced tasks may require significant ML expertise.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deeper into Vertex AI's training options. AutoML allows you to train models on tabular, image, text, and video data without writing a single line of code. You simply select your dataset and the target variable you want to predict — Vertex AI handles feature engineering, model selection, and hyperparameter tuning automatically. Custom Training gives you full flexibility — you write your own training code, choose your ML framework, and control every aspect of the training process. Model Garden lets you browse, test, and deploy open-source models from Google and the broader ML community — from classic ML models to large language models. And Generative AI gives you direct access to Google's foundation models — Gemini, PaLM, Imagen, and more — for text, code, images, and voice. You can also use BigQuery ML — BQML — to build predictive models directly in BigQuery using SQL, and then deploy those models through Vertex AI.</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your model is trained, Vertex AI provides everything you need to deploy and monitor it. You can use the Vertex AI Python SDK to build, train, and deploy models entirely from a Jupyter notebook in Vertex AI Workbench. For team collaboration, Colab Enterprise — a version of Google Colab integrated with Vertex AI — allows multiple data scientists to work together on the same notebooks with access to powerful GPU-backed compute. Vertex AI also supports labeling data in your datasets — useful when you need to annotate training data at scale. And for teams that don't want to build custom models, Google provides pre-trained models accessible via API: the Vision API for image analysis, the Speech API for audio transcription, the Natural Language API for text understanding, and more. Each API call has a cost, but it's a very fast way to add AI capabilities to your application without any ML expertise.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MLOps — Machine Learning Operations — is the practice of applying DevOps principles to the machine learning lifecycle. Once your model is deployed in production, you need to track changes in the data environment, monitor model performance over time, and update your models when they start to degrade. Vertex AI provides a full suite of MLOps tools. Vertex AI Pipelines let you automate your entire ML workflow — from data ingestion through training to deployment — as a repeatable, monitored pipeline. Vertex ML Metadata tracks all the parameters, datasets, and metrics used in your experiments, making it easy to reproduce results and audit your models. Vertex AI Experiments allow you to compare different model architectures and hyperparameters to find the best-performing model for your use case. And Vertex AI TensorBoard provides interactive visualizations of your training metrics, letting you monitor and compare experiments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with MLOps tools in Vertex AI. Model Registry is a central repository for all your model versions — it gives you a clear overview of what's deployed, what's in development, and the performance history of each version. From the registry, you can deploy models to endpoints, create batch predictions, and manage model versions systematically. Feature Store is a centralized repository for ML features — the input variables used by your models. By storing features centrally, multiple teams can reuse the same features across different models, ensuring consistency and accelerating development. Model Monitoring is critical for production ML systems. When the distribution of real-world input data shifts away from the training data — a phenomenon called data drift or concept drift — model performance degrades over time. Vertex AI Model Monitoring continuously tracks these shifts and sends alerts when the input data deviates too far from the training distribution, helping you decide when it's time to retrain your model.</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provides a complete visual overview of the Vertex AI MLOps workflow — from data ingestion and preparation on the left, through model training and evaluation in the center, to deployment, monitoring, and continuous improvement on the right. Notice how all the stages are connected in a feedback loop — model monitoring feeds back into new training runs, creating a continuous cycle of improvement. This end-to-end ML lifecycle management is what separates production-grade ML systems from notebook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Generative AI capabilities on Vertex AI. Vertex AI gives you access to Google's most powerful generative AI models so you can build AI-enhanced applications. The workflow starts with a Prompt — a natural language instruction sent to a model. Crafting effective prompts is a skill called Prompt Engineering. The prompt is sent to a Foundation Model. Google's models available on Vertex AI include: the Gemini API for advanced multi-modal reasoning, multi-turn chat, and code generation. The PaLM API for natural language tasks and continuous vector embeddings. The Codey API for code generation, completion, and explanation. The Imagen API for image generation, editing, and captioning. And MedLM, a specialized model for medical question-answering, currently in Private Beta. Each model has different capabilities, sizes, and costs. You can explore all of them — including open-source alternatives — in the Model Garden.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using models with simple prompts, Vertex AI allows you to customize Google's foundation models through Fine Tuning. Fine-tuning adjusts the model's weights based on your specific domain data, making it much more accurate for your use case. This also reduces prompt complexity — a shorter, simpler prompt can achieve the same result as a long, complex one on a non-fine-tuned model. After fine-tuning, you deploy the model to an endpoint and monitor it like any other production model. Another powerful customization technique is Retrieval-Augmented Generation — or RAG. RAG doesn't change the model itself, but instead gives it access to external knowledge — like your company's documents, databases, or APIs — at inference time. The model retrieves relevant information and uses it to answer questions accurately. RAG can be implemented outside of GCP or within GCP using the Gen App Builder platform.</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Generative AI development workflow on Vertex AI — from designing your prompt in the Prompt Design interface, to testing models in Model Garden, to deploying a fine-tuned model to an endpoint. Notice the safety filter layer — all inputs and outputs pass through Google's content safety filters before being returned to the user, ensuring responsible and appropriate AI responses.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RAG — Retrieval-Augmented Generation — architecture. When a user asks a question, the system first queries an external knowledge base — like a vector database or document store — to retrieve the most relevant pieces of information. That context is then combined with the original prompt and sent to the language model. The model generates an answer that is grounded in the retrieved documents, significantly reducing hallucinations and making the responses much more accurate and trustworthy for domain-specific applications. This is the architecture behind most enterprise chatbots and AI assistants built on GCP today.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 brings us to the end of this Cloud Computing course! Thank you all for your attention, your questions, and your engagement throughout these sessions. We've covered a lot of ground — from the fundamentals of Information Systems and Cloud Computing, through virtualization and containers, to hands-on deployment on GCP, and finally the most advanced AI and MLOps capabilities. I hope this course has given you a solid foundation that you can apply directly in your internships and future careers. The cloud is evolving rapidly — I encourage you to keep experimenting, keep learning, and take advantage of GCP's free tier to practice what you've learned. Good luck to all of you, and don't hesitate to reach out if you have any questions after the course.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3/26/24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3/26/24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3/26/24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3/26/24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3/26/24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3/26/24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3/26/24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3/26/24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3/26/24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3/26/24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3/26/24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3/26/24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3/26/24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e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A3BD2-6A36-AC59-00D7-FB005FC79426}"/>
              </a:ext>
            </a:extLst>
          </p:cNvPr>
          <p:cNvSpPr>
            <a:spLocks noGrp="1"/>
          </p:cNvSpPr>
          <p:nvPr>
            <p:ph type="ctrTitle"/>
          </p:nvPr>
        </p:nvSpPr>
        <p:spPr/>
        <p:txBody>
          <a:bodyPr/>
          <a:lstStyle/>
          <a:p>
            <a:r>
              <a:rPr lang="fr-FR" dirty="0"/>
              <a:t>Cloud </a:t>
            </a:r>
            <a:r>
              <a:rPr lang="en-US" dirty="0"/>
              <a:t>Computing</a:t>
            </a:r>
          </a:p>
        </p:txBody>
      </p:sp>
      <p:sp>
        <p:nvSpPr>
          <p:cNvPr id="3" name="Sous-titre 2">
            <a:extLst>
              <a:ext uri="{FF2B5EF4-FFF2-40B4-BE49-F238E27FC236}">
                <a16:creationId xmlns:a16="http://schemas.microsoft.com/office/drawing/2014/main" id="{BA070734-6B49-2211-9423-0646F85A1DC4}"/>
              </a:ext>
            </a:extLst>
          </p:cNvPr>
          <p:cNvSpPr>
            <a:spLocks noGrp="1"/>
          </p:cNvSpPr>
          <p:nvPr>
            <p:ph type="subTitle" idx="1"/>
          </p:nvPr>
        </p:nvSpPr>
        <p:spPr/>
        <p:txBody>
          <a:bodyPr/>
          <a:lstStyle/>
          <a:p>
            <a:r>
              <a:rPr lang="fr-FR" dirty="0"/>
              <a:t>28 </a:t>
            </a:r>
            <a:r>
              <a:rPr lang="en-US" dirty="0"/>
              <a:t>hours</a:t>
            </a:r>
            <a:r>
              <a:rPr lang="fr-FR" dirty="0"/>
              <a:t> course</a:t>
            </a:r>
          </a:p>
        </p:txBody>
      </p:sp>
    </p:spTree>
    <p:extLst>
      <p:ext uri="{BB962C8B-B14F-4D97-AF65-F5344CB8AC3E}">
        <p14:creationId xmlns:p14="http://schemas.microsoft.com/office/powerpoint/2010/main" val="3550515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479819"/>
            <a:ext cx="10820399" cy="812268"/>
          </a:xfrm>
        </p:spPr>
        <p:txBody>
          <a:bodyPr/>
          <a:lstStyle/>
          <a:p>
            <a:pPr algn="l"/>
            <a:r>
              <a:rPr lang="fr-FR" dirty="0"/>
              <a:t>TABLE OF CONTENTS</a:t>
            </a:r>
          </a:p>
        </p:txBody>
      </p:sp>
      <p:sp>
        <p:nvSpPr>
          <p:cNvPr id="3" name="Espace réservé du texte 2">
            <a:extLst>
              <a:ext uri="{FF2B5EF4-FFF2-40B4-BE49-F238E27FC236}">
                <a16:creationId xmlns:a16="http://schemas.microsoft.com/office/drawing/2014/main" id="{2939899A-846B-9AF8-853B-657CF34A4E91}"/>
              </a:ext>
            </a:extLst>
          </p:cNvPr>
          <p:cNvSpPr>
            <a:spLocks noGrp="1"/>
          </p:cNvSpPr>
          <p:nvPr>
            <p:ph type="body" idx="1"/>
          </p:nvPr>
        </p:nvSpPr>
        <p:spPr>
          <a:xfrm>
            <a:off x="685800" y="1461052"/>
            <a:ext cx="10490200" cy="4917129"/>
          </a:xfrm>
        </p:spPr>
        <p:txBody>
          <a:bodyPr>
            <a:normAutofit fontScale="77500" lnSpcReduction="20000"/>
          </a:bodyPr>
          <a:lstStyle/>
          <a:p>
            <a:pPr marL="342900" indent="-342900" algn="l">
              <a:buFont typeface="Arial" panose="020B0604020202020204" pitchFamily="34" charset="0"/>
              <a:buChar char="•"/>
            </a:pPr>
            <a:r>
              <a:rPr lang="fr-FR" b="0" i="0" dirty="0">
                <a:solidFill>
                  <a:srgbClr val="ECECEC"/>
                </a:solidFill>
                <a:effectLst/>
                <a:latin typeface="Söhne"/>
              </a:rPr>
              <a:t>Introduction</a:t>
            </a:r>
          </a:p>
          <a:p>
            <a:pPr marL="342900" indent="-342900" algn="l">
              <a:buFont typeface="Arial" panose="020B0604020202020204" pitchFamily="34" charset="0"/>
              <a:buChar char="•"/>
            </a:pPr>
            <a:r>
              <a:rPr lang="fr-FR" b="0" i="0" dirty="0">
                <a:solidFill>
                  <a:srgbClr val="ECECEC"/>
                </a:solidFill>
                <a:effectLst/>
                <a:latin typeface="Söhne"/>
              </a:rPr>
              <a:t>The Information System of a </a:t>
            </a:r>
            <a:r>
              <a:rPr lang="fr-FR" b="0" i="0" dirty="0" err="1">
                <a:solidFill>
                  <a:srgbClr val="ECECEC"/>
                </a:solidFill>
                <a:effectLst/>
                <a:latin typeface="Söhne"/>
              </a:rPr>
              <a:t>Company</a:t>
            </a:r>
            <a:endParaRPr lang="fr-FR" b="0" i="0" dirty="0">
              <a:solidFill>
                <a:srgbClr val="ECECEC"/>
              </a:solidFill>
              <a:effectLst/>
              <a:latin typeface="Söhne"/>
            </a:endParaRPr>
          </a:p>
          <a:p>
            <a:pPr marL="342900" indent="-342900" algn="l">
              <a:buFont typeface="Arial" panose="020B0604020202020204" pitchFamily="34" charset="0"/>
              <a:buChar char="•"/>
            </a:pPr>
            <a:r>
              <a:rPr lang="fr-FR" b="0" i="0" dirty="0">
                <a:solidFill>
                  <a:srgbClr val="ECECEC"/>
                </a:solidFill>
                <a:effectLst/>
                <a:latin typeface="Söhne"/>
              </a:rPr>
              <a:t>The Cloud</a:t>
            </a:r>
          </a:p>
          <a:p>
            <a:pPr marL="342900" indent="-342900" algn="l">
              <a:buFont typeface="Arial" panose="020B0604020202020204" pitchFamily="34" charset="0"/>
              <a:buChar char="•"/>
            </a:pPr>
            <a:r>
              <a:rPr lang="fr-FR" b="0" i="0" dirty="0">
                <a:solidFill>
                  <a:srgbClr val="ECECEC"/>
                </a:solidFill>
                <a:effectLst/>
                <a:latin typeface="Söhne"/>
              </a:rPr>
              <a:t>The </a:t>
            </a:r>
            <a:r>
              <a:rPr lang="fr-FR" b="0" i="0" dirty="0" err="1">
                <a:solidFill>
                  <a:srgbClr val="ECECEC"/>
                </a:solidFill>
                <a:effectLst/>
                <a:latin typeface="Söhne"/>
              </a:rPr>
              <a:t>Advantage</a:t>
            </a:r>
            <a:r>
              <a:rPr lang="fr-FR" b="0" i="0" dirty="0">
                <a:solidFill>
                  <a:srgbClr val="ECECEC"/>
                </a:solidFill>
                <a:effectLst/>
                <a:latin typeface="Söhne"/>
              </a:rPr>
              <a:t> of the Cloud (Cloud vs On-</a:t>
            </a:r>
            <a:r>
              <a:rPr lang="fr-FR" b="0" i="0" dirty="0" err="1">
                <a:solidFill>
                  <a:srgbClr val="ECECEC"/>
                </a:solidFill>
                <a:effectLst/>
                <a:latin typeface="Söhne"/>
              </a:rPr>
              <a:t>Premises</a:t>
            </a:r>
            <a:r>
              <a:rPr lang="fr-FR" b="0" i="0" dirty="0">
                <a:solidFill>
                  <a:srgbClr val="ECECEC"/>
                </a:solidFill>
                <a:effectLst/>
                <a:latin typeface="Söhne"/>
              </a:rPr>
              <a:t>)</a:t>
            </a:r>
          </a:p>
          <a:p>
            <a:pPr marL="342900" indent="-342900" algn="l">
              <a:buFont typeface="Arial" panose="020B0604020202020204" pitchFamily="34" charset="0"/>
              <a:buChar char="•"/>
            </a:pPr>
            <a:r>
              <a:rPr lang="fr-FR" b="0" i="0" dirty="0" err="1">
                <a:solidFill>
                  <a:srgbClr val="ECECEC"/>
                </a:solidFill>
                <a:effectLst/>
                <a:latin typeface="Söhne"/>
              </a:rPr>
              <a:t>Overview</a:t>
            </a:r>
            <a:r>
              <a:rPr lang="fr-FR" b="0" i="0" dirty="0">
                <a:solidFill>
                  <a:srgbClr val="ECECEC"/>
                </a:solidFill>
                <a:effectLst/>
                <a:latin typeface="Söhne"/>
              </a:rPr>
              <a:t> of Google Cloud Platform</a:t>
            </a:r>
          </a:p>
          <a:p>
            <a:pPr marL="342900" indent="-342900" algn="l">
              <a:buFont typeface="Arial" panose="020B0604020202020204" pitchFamily="34" charset="0"/>
              <a:buChar char="•"/>
            </a:pPr>
            <a:r>
              <a:rPr lang="fr-FR" b="0" i="0" dirty="0">
                <a:solidFill>
                  <a:srgbClr val="ECECEC"/>
                </a:solidFill>
                <a:effectLst/>
                <a:latin typeface="Söhne"/>
              </a:rPr>
              <a:t>Introduction to Operating </a:t>
            </a:r>
            <a:r>
              <a:rPr lang="fr-FR" b="0" i="0" dirty="0" err="1">
                <a:solidFill>
                  <a:srgbClr val="ECECEC"/>
                </a:solidFill>
                <a:effectLst/>
                <a:latin typeface="Söhne"/>
              </a:rPr>
              <a:t>Systems</a:t>
            </a:r>
            <a:endParaRPr lang="fr-FR" b="0" i="0" dirty="0">
              <a:solidFill>
                <a:srgbClr val="ECECEC"/>
              </a:solidFill>
              <a:effectLst/>
              <a:latin typeface="Söhne"/>
            </a:endParaRPr>
          </a:p>
          <a:p>
            <a:pPr marL="800100" lvl="1" indent="-342900">
              <a:buFont typeface="Arial" panose="020B0604020202020204" pitchFamily="34" charset="0"/>
              <a:buChar char="•"/>
            </a:pPr>
            <a:r>
              <a:rPr lang="fr-FR" b="0" i="0" dirty="0">
                <a:solidFill>
                  <a:srgbClr val="ECECEC"/>
                </a:solidFill>
                <a:effectLst/>
                <a:latin typeface="Söhne"/>
              </a:rPr>
              <a:t>Linux vs Windows</a:t>
            </a:r>
          </a:p>
          <a:p>
            <a:pPr marL="800100" lvl="1" indent="-342900">
              <a:buFont typeface="Arial" panose="020B0604020202020204" pitchFamily="34" charset="0"/>
              <a:buChar char="•"/>
            </a:pPr>
            <a:r>
              <a:rPr lang="fr-FR" b="0" i="0" dirty="0">
                <a:solidFill>
                  <a:srgbClr val="ECECEC"/>
                </a:solidFill>
                <a:effectLst/>
                <a:latin typeface="Söhne"/>
              </a:rPr>
              <a:t>Linux / Windows </a:t>
            </a:r>
            <a:r>
              <a:rPr lang="fr-FR" b="0" i="0" dirty="0" err="1">
                <a:solidFill>
                  <a:srgbClr val="ECECEC"/>
                </a:solidFill>
                <a:effectLst/>
                <a:latin typeface="Söhne"/>
              </a:rPr>
              <a:t>Commands</a:t>
            </a:r>
            <a:endParaRPr lang="fr-FR" b="0" i="0" dirty="0">
              <a:solidFill>
                <a:srgbClr val="ECECEC"/>
              </a:solidFill>
              <a:effectLst/>
              <a:latin typeface="Söhne"/>
            </a:endParaRPr>
          </a:p>
          <a:p>
            <a:pPr marL="342900" indent="-342900" algn="l">
              <a:buFont typeface="Arial" panose="020B0604020202020204" pitchFamily="34" charset="0"/>
              <a:buChar char="•"/>
            </a:pPr>
            <a:r>
              <a:rPr lang="fr-FR" b="0" i="0" dirty="0" err="1">
                <a:solidFill>
                  <a:srgbClr val="ECECEC"/>
                </a:solidFill>
                <a:effectLst/>
                <a:latin typeface="Söhne"/>
              </a:rPr>
              <a:t>Virtualization</a:t>
            </a:r>
            <a:endParaRPr lang="fr-FR" b="0" i="0" dirty="0">
              <a:solidFill>
                <a:srgbClr val="ECECEC"/>
              </a:solidFill>
              <a:effectLst/>
              <a:latin typeface="Söhne"/>
            </a:endParaRPr>
          </a:p>
          <a:p>
            <a:pPr marL="342900" indent="-342900" algn="l">
              <a:buFont typeface="Arial" panose="020B0604020202020204" pitchFamily="34" charset="0"/>
              <a:buChar char="•"/>
            </a:pPr>
            <a:r>
              <a:rPr lang="fr-FR" b="0" i="0" dirty="0">
                <a:solidFill>
                  <a:srgbClr val="ECECEC"/>
                </a:solidFill>
                <a:effectLst/>
                <a:latin typeface="Söhne"/>
              </a:rPr>
              <a:t>Evolution of Application </a:t>
            </a:r>
            <a:r>
              <a:rPr lang="fr-FR" b="0" i="0" dirty="0" err="1">
                <a:solidFill>
                  <a:srgbClr val="ECECEC"/>
                </a:solidFill>
                <a:effectLst/>
                <a:latin typeface="Söhne"/>
              </a:rPr>
              <a:t>Deployment</a:t>
            </a:r>
            <a:endParaRPr lang="fr-FR" b="0" i="0" dirty="0">
              <a:solidFill>
                <a:srgbClr val="ECECEC"/>
              </a:solidFill>
              <a:effectLst/>
              <a:latin typeface="Söhne"/>
            </a:endParaRPr>
          </a:p>
          <a:p>
            <a:pPr marL="342900" indent="-342900" algn="l">
              <a:buFont typeface="Arial" panose="020B0604020202020204" pitchFamily="34" charset="0"/>
              <a:buChar char="•"/>
            </a:pPr>
            <a:r>
              <a:rPr lang="fr-FR" b="0" i="0" dirty="0" err="1">
                <a:solidFill>
                  <a:srgbClr val="ECECEC"/>
                </a:solidFill>
                <a:effectLst/>
                <a:latin typeface="Söhne"/>
              </a:rPr>
              <a:t>Demo</a:t>
            </a:r>
            <a:r>
              <a:rPr lang="fr-FR" b="0" i="0" dirty="0">
                <a:solidFill>
                  <a:srgbClr val="ECECEC"/>
                </a:solidFill>
                <a:effectLst/>
                <a:latin typeface="Söhne"/>
              </a:rPr>
              <a:t>: </a:t>
            </a:r>
            <a:r>
              <a:rPr lang="fr-FR" b="0" i="0" dirty="0" err="1">
                <a:solidFill>
                  <a:srgbClr val="ECECEC"/>
                </a:solidFill>
                <a:effectLst/>
                <a:latin typeface="Söhne"/>
              </a:rPr>
              <a:t>Deployment</a:t>
            </a:r>
            <a:r>
              <a:rPr lang="fr-FR" b="0" i="0" dirty="0">
                <a:solidFill>
                  <a:srgbClr val="ECECEC"/>
                </a:solidFill>
                <a:effectLst/>
                <a:latin typeface="Söhne"/>
              </a:rPr>
              <a:t> of an ML Application</a:t>
            </a:r>
          </a:p>
          <a:p>
            <a:pPr marL="800100" lvl="1" indent="-342900">
              <a:buFont typeface="Arial" panose="020B0604020202020204" pitchFamily="34" charset="0"/>
              <a:buChar char="•"/>
            </a:pPr>
            <a:r>
              <a:rPr lang="fr-FR" b="0" i="0" dirty="0" err="1">
                <a:solidFill>
                  <a:srgbClr val="ECECEC"/>
                </a:solidFill>
                <a:effectLst/>
                <a:latin typeface="Söhne"/>
              </a:rPr>
              <a:t>Deployment</a:t>
            </a:r>
            <a:r>
              <a:rPr lang="fr-FR" b="0" i="0" dirty="0">
                <a:solidFill>
                  <a:srgbClr val="ECECEC"/>
                </a:solidFill>
                <a:effectLst/>
                <a:latin typeface="Söhne"/>
              </a:rPr>
              <a:t> on a Local Server (or VM) vs on GCP</a:t>
            </a:r>
          </a:p>
          <a:p>
            <a:pPr marL="1257300" lvl="2" indent="-342900">
              <a:buFont typeface="Arial" panose="020B0604020202020204" pitchFamily="34" charset="0"/>
              <a:buChar char="•"/>
            </a:pPr>
            <a:r>
              <a:rPr lang="fr-FR" b="0" i="0" dirty="0">
                <a:solidFill>
                  <a:srgbClr val="ECECEC"/>
                </a:solidFill>
                <a:effectLst/>
                <a:latin typeface="Söhne"/>
              </a:rPr>
              <a:t>This </a:t>
            </a:r>
            <a:r>
              <a:rPr lang="fr-FR" b="0" i="0" dirty="0" err="1">
                <a:solidFill>
                  <a:srgbClr val="ECECEC"/>
                </a:solidFill>
                <a:effectLst/>
                <a:latin typeface="Söhne"/>
              </a:rPr>
              <a:t>step</a:t>
            </a:r>
            <a:r>
              <a:rPr lang="fr-FR" b="0" i="0" dirty="0">
                <a:solidFill>
                  <a:srgbClr val="ECECEC"/>
                </a:solidFill>
                <a:effectLst/>
                <a:latin typeface="Söhne"/>
              </a:rPr>
              <a:t> </a:t>
            </a:r>
            <a:r>
              <a:rPr lang="fr-FR" b="0" i="0" dirty="0" err="1">
                <a:solidFill>
                  <a:srgbClr val="ECECEC"/>
                </a:solidFill>
                <a:effectLst/>
                <a:latin typeface="Söhne"/>
              </a:rPr>
              <a:t>includes</a:t>
            </a:r>
            <a:r>
              <a:rPr lang="fr-FR" b="0" i="0" dirty="0">
                <a:solidFill>
                  <a:srgbClr val="ECECEC"/>
                </a:solidFill>
                <a:effectLst/>
                <a:latin typeface="Söhne"/>
              </a:rPr>
              <a:t> the installation and configuration of a VM </a:t>
            </a:r>
            <a:r>
              <a:rPr lang="fr-FR" b="0" i="0" dirty="0" err="1">
                <a:solidFill>
                  <a:srgbClr val="ECECEC"/>
                </a:solidFill>
                <a:effectLst/>
                <a:latin typeface="Söhne"/>
              </a:rPr>
              <a:t>from</a:t>
            </a:r>
            <a:r>
              <a:rPr lang="fr-FR" b="0" i="0" dirty="0">
                <a:solidFill>
                  <a:srgbClr val="ECECEC"/>
                </a:solidFill>
                <a:effectLst/>
                <a:latin typeface="Söhne"/>
              </a:rPr>
              <a:t> scratch</a:t>
            </a:r>
          </a:p>
          <a:p>
            <a:pPr marL="800100" lvl="1" indent="-342900">
              <a:buFont typeface="Arial" panose="020B0604020202020204" pitchFamily="34" charset="0"/>
              <a:buChar char="•"/>
            </a:pPr>
            <a:r>
              <a:rPr lang="fr-FR" b="0" i="0" dirty="0" err="1">
                <a:solidFill>
                  <a:srgbClr val="ECECEC"/>
                </a:solidFill>
                <a:effectLst/>
                <a:latin typeface="Söhne"/>
              </a:rPr>
              <a:t>Deployment</a:t>
            </a:r>
            <a:r>
              <a:rPr lang="fr-FR" b="0" i="0" dirty="0">
                <a:solidFill>
                  <a:srgbClr val="ECECEC"/>
                </a:solidFill>
                <a:effectLst/>
                <a:latin typeface="Söhne"/>
              </a:rPr>
              <a:t> in a Container </a:t>
            </a:r>
            <a:r>
              <a:rPr lang="fr-FR" b="0" i="0" dirty="0" err="1">
                <a:solidFill>
                  <a:srgbClr val="ECECEC"/>
                </a:solidFill>
                <a:effectLst/>
                <a:latin typeface="Söhne"/>
              </a:rPr>
              <a:t>Locally</a:t>
            </a:r>
            <a:r>
              <a:rPr lang="fr-FR" b="0" i="0" dirty="0">
                <a:solidFill>
                  <a:srgbClr val="ECECEC"/>
                </a:solidFill>
                <a:effectLst/>
                <a:latin typeface="Söhne"/>
              </a:rPr>
              <a:t> vs on a </a:t>
            </a:r>
            <a:r>
              <a:rPr lang="fr-FR" b="0" i="0" dirty="0" err="1">
                <a:solidFill>
                  <a:srgbClr val="ECECEC"/>
                </a:solidFill>
                <a:effectLst/>
                <a:latin typeface="Söhne"/>
              </a:rPr>
              <a:t>Managed</a:t>
            </a:r>
            <a:r>
              <a:rPr lang="fr-FR" b="0" i="0" dirty="0">
                <a:solidFill>
                  <a:srgbClr val="ECECEC"/>
                </a:solidFill>
                <a:effectLst/>
                <a:latin typeface="Söhne"/>
              </a:rPr>
              <a:t> Service on GCP</a:t>
            </a:r>
          </a:p>
          <a:p>
            <a:pPr marL="800100" lvl="1" indent="-342900">
              <a:buFont typeface="Arial" panose="020B0604020202020204" pitchFamily="34" charset="0"/>
              <a:buChar char="•"/>
            </a:pPr>
            <a:r>
              <a:rPr lang="fr-FR" b="0" i="0" dirty="0" err="1">
                <a:solidFill>
                  <a:srgbClr val="ECECEC"/>
                </a:solidFill>
                <a:effectLst/>
                <a:latin typeface="Söhne"/>
              </a:rPr>
              <a:t>Deployment</a:t>
            </a:r>
            <a:r>
              <a:rPr lang="fr-FR" b="0" i="0" dirty="0">
                <a:solidFill>
                  <a:srgbClr val="ECECEC"/>
                </a:solidFill>
                <a:effectLst/>
                <a:latin typeface="Söhne"/>
              </a:rPr>
              <a:t> of a Google Cloud </a:t>
            </a:r>
            <a:r>
              <a:rPr lang="fr-FR" b="0" i="0" dirty="0" err="1">
                <a:solidFill>
                  <a:srgbClr val="ECECEC"/>
                </a:solidFill>
                <a:effectLst/>
                <a:latin typeface="Söhne"/>
              </a:rPr>
              <a:t>Function</a:t>
            </a:r>
            <a:endParaRPr lang="fr-FR" b="0" i="0" dirty="0">
              <a:solidFill>
                <a:srgbClr val="ECECEC"/>
              </a:solidFill>
              <a:effectLst/>
              <a:latin typeface="Söhne"/>
            </a:endParaRPr>
          </a:p>
          <a:p>
            <a:pPr marL="342900" indent="-342900" algn="l">
              <a:buFont typeface="Arial" panose="020B0604020202020204" pitchFamily="34" charset="0"/>
              <a:buChar char="•"/>
            </a:pPr>
            <a:r>
              <a:rPr lang="fr-FR" b="0" i="0" dirty="0">
                <a:solidFill>
                  <a:srgbClr val="ECECEC"/>
                </a:solidFill>
                <a:effectLst/>
                <a:latin typeface="Söhne"/>
              </a:rPr>
              <a:t>Main GCP Services</a:t>
            </a:r>
          </a:p>
          <a:p>
            <a:pPr marL="342900" indent="-342900" algn="l">
              <a:buFont typeface="Arial" panose="020B0604020202020204" pitchFamily="34" charset="0"/>
              <a:buChar char="•"/>
            </a:pPr>
            <a:r>
              <a:rPr lang="fr-FR" b="0" i="0" dirty="0">
                <a:solidFill>
                  <a:srgbClr val="ECECEC"/>
                </a:solidFill>
                <a:effectLst/>
                <a:latin typeface="Söhne"/>
              </a:rPr>
              <a:t>AI Services on GCP</a:t>
            </a:r>
          </a:p>
        </p:txBody>
      </p:sp>
    </p:spTree>
    <p:extLst>
      <p:ext uri="{BB962C8B-B14F-4D97-AF65-F5344CB8AC3E}">
        <p14:creationId xmlns:p14="http://schemas.microsoft.com/office/powerpoint/2010/main" val="81605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INTRODUCTION</a:t>
            </a:r>
          </a:p>
        </p:txBody>
      </p:sp>
    </p:spTree>
    <p:extLst>
      <p:ext uri="{BB962C8B-B14F-4D97-AF65-F5344CB8AC3E}">
        <p14:creationId xmlns:p14="http://schemas.microsoft.com/office/powerpoint/2010/main" val="330584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6" y="639315"/>
            <a:ext cx="8610600" cy="1293028"/>
          </a:xfrm>
        </p:spPr>
        <p:txBody>
          <a:bodyPr/>
          <a:lstStyle/>
          <a:p>
            <a:pPr algn="l"/>
            <a:r>
              <a:rPr lang="fr-FR" dirty="0"/>
              <a:t>INTRODUCTION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85800" y="1828801"/>
            <a:ext cx="10820400" cy="3677477"/>
          </a:xfrm>
        </p:spPr>
        <p:txBody>
          <a:bodyPr>
            <a:normAutofit/>
          </a:bodyPr>
          <a:lstStyle/>
          <a:p>
            <a:pPr algn="l">
              <a:buFont typeface="Arial" panose="020B0604020202020204" pitchFamily="34" charset="0"/>
              <a:buChar char="•"/>
            </a:pPr>
            <a:r>
              <a:rPr lang="en-US" b="0" i="0" dirty="0">
                <a:solidFill>
                  <a:srgbClr val="ECECEC"/>
                </a:solidFill>
                <a:effectLst/>
                <a:latin typeface="Söhne"/>
              </a:rPr>
              <a:t>Roundtable:</a:t>
            </a:r>
          </a:p>
          <a:p>
            <a:pPr marL="742950" lvl="1" indent="-285750" algn="l">
              <a:buFont typeface="Arial" panose="020B0604020202020204" pitchFamily="34" charset="0"/>
              <a:buChar char="•"/>
            </a:pPr>
            <a:r>
              <a:rPr lang="en-US" b="0" i="0" dirty="0">
                <a:solidFill>
                  <a:srgbClr val="ECECEC"/>
                </a:solidFill>
                <a:effectLst/>
                <a:latin typeface="Söhne"/>
              </a:rPr>
              <a:t>Name, internship, missions and feedback</a:t>
            </a:r>
          </a:p>
          <a:p>
            <a:pPr lvl="1"/>
            <a:r>
              <a:rPr lang="en-US" b="0" i="0" dirty="0">
                <a:solidFill>
                  <a:srgbClr val="ECECEC"/>
                </a:solidFill>
                <a:effectLst/>
                <a:latin typeface="Söhne"/>
              </a:rPr>
              <a:t>Your knowledge in IT in general (cloud, infrastructure, etc.)</a:t>
            </a:r>
          </a:p>
          <a:p>
            <a:pPr algn="l">
              <a:buFont typeface="Arial" panose="020B0604020202020204" pitchFamily="34" charset="0"/>
              <a:buChar char="•"/>
            </a:pPr>
            <a:r>
              <a:rPr lang="en-US" b="0" i="0" dirty="0">
                <a:solidFill>
                  <a:srgbClr val="ECECEC"/>
                </a:solidFill>
                <a:effectLst/>
                <a:latin typeface="Söhne"/>
              </a:rPr>
              <a:t>Presentation of an enterprise's IT infrastructure: on-premises vs. Cloud</a:t>
            </a:r>
          </a:p>
          <a:p>
            <a:pPr algn="l">
              <a:buFont typeface="Arial" panose="020B0604020202020204" pitchFamily="34" charset="0"/>
              <a:buChar char="•"/>
            </a:pPr>
            <a:r>
              <a:rPr lang="en-US" b="0" i="0" dirty="0">
                <a:solidFill>
                  <a:srgbClr val="ECECEC"/>
                </a:solidFill>
                <a:effectLst/>
                <a:latin typeface="Söhne"/>
              </a:rPr>
              <a:t>How to deploy a machine learning application</a:t>
            </a:r>
          </a:p>
          <a:p>
            <a:pPr algn="l">
              <a:buFont typeface="Arial" panose="020B0604020202020204" pitchFamily="34" charset="0"/>
              <a:buChar char="•"/>
            </a:pPr>
            <a:r>
              <a:rPr lang="en-US" b="0" i="0" dirty="0">
                <a:solidFill>
                  <a:srgbClr val="ECECEC"/>
                </a:solidFill>
                <a:effectLst/>
                <a:latin typeface="Söhne"/>
              </a:rPr>
              <a:t>Manipulation of cloud resources to better illustrate different concepts</a:t>
            </a:r>
          </a:p>
          <a:p>
            <a:pPr algn="l">
              <a:buFont typeface="Arial" panose="020B0604020202020204" pitchFamily="34" charset="0"/>
              <a:buChar char="•"/>
            </a:pPr>
            <a:r>
              <a:rPr lang="en-US" b="0" i="0" dirty="0">
                <a:solidFill>
                  <a:srgbClr val="ECECEC"/>
                </a:solidFill>
                <a:effectLst/>
                <a:latin typeface="Söhne"/>
              </a:rPr>
              <a:t>Application of acquired knowledge</a:t>
            </a:r>
          </a:p>
          <a:p>
            <a:pPr algn="l">
              <a:buFont typeface="Arial" panose="020B0604020202020204" pitchFamily="34" charset="0"/>
              <a:buChar char="•"/>
            </a:pPr>
            <a:r>
              <a:rPr lang="en-US" b="0" i="0" dirty="0">
                <a:solidFill>
                  <a:srgbClr val="ECECEC"/>
                </a:solidFill>
                <a:effectLst/>
                <a:latin typeface="Söhne"/>
              </a:rPr>
              <a:t>The more we interact, the more we learn, so take advantage of it!</a:t>
            </a:r>
          </a:p>
        </p:txBody>
      </p:sp>
    </p:spTree>
    <p:extLst>
      <p:ext uri="{BB962C8B-B14F-4D97-AF65-F5344CB8AC3E}">
        <p14:creationId xmlns:p14="http://schemas.microsoft.com/office/powerpoint/2010/main" val="152607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807626" y="2412274"/>
            <a:ext cx="10820399" cy="1208314"/>
          </a:xfrm>
        </p:spPr>
        <p:txBody>
          <a:bodyPr>
            <a:normAutofit fontScale="90000"/>
          </a:bodyPr>
          <a:lstStyle/>
          <a:p>
            <a:pPr algn="l"/>
            <a:br>
              <a:rPr lang="fr-FR" sz="3000" dirty="0"/>
            </a:br>
            <a:r>
              <a:rPr lang="fr-FR" sz="3000" dirty="0"/>
              <a:t>In </a:t>
            </a:r>
            <a:r>
              <a:rPr lang="fr-FR" sz="3000" dirty="0" err="1"/>
              <a:t>your</a:t>
            </a:r>
            <a:r>
              <a:rPr lang="fr-FR" sz="3000" dirty="0"/>
              <a:t> opinion,</a:t>
            </a:r>
            <a:br>
              <a:rPr lang="fr-FR" sz="3000" dirty="0"/>
            </a:br>
            <a:r>
              <a:rPr lang="fr-FR" sz="3000" dirty="0" err="1"/>
              <a:t>what</a:t>
            </a:r>
            <a:r>
              <a:rPr lang="fr-FR" sz="3000" dirty="0"/>
              <a:t> </a:t>
            </a:r>
            <a:r>
              <a:rPr lang="fr-FR" sz="3000" dirty="0" err="1"/>
              <a:t>is</a:t>
            </a:r>
            <a:r>
              <a:rPr lang="fr-FR" sz="3000" dirty="0"/>
              <a:t> information system ?</a:t>
            </a:r>
            <a:br>
              <a:rPr lang="fr-FR" sz="3000" dirty="0"/>
            </a:br>
            <a:r>
              <a:rPr lang="fr-FR" sz="3000" dirty="0" err="1"/>
              <a:t>What</a:t>
            </a:r>
            <a:r>
              <a:rPr lang="fr-FR" sz="3000" dirty="0"/>
              <a:t> </a:t>
            </a:r>
            <a:r>
              <a:rPr lang="fr-FR" sz="3000" dirty="0" err="1"/>
              <a:t>is</a:t>
            </a:r>
            <a:r>
              <a:rPr lang="fr-FR" sz="3000" dirty="0"/>
              <a:t> cloud </a:t>
            </a:r>
            <a:r>
              <a:rPr lang="en-US" sz="3000" dirty="0"/>
              <a:t>computing</a:t>
            </a:r>
            <a:r>
              <a:rPr lang="fr-FR" sz="3000" dirty="0"/>
              <a:t> ?</a:t>
            </a:r>
          </a:p>
        </p:txBody>
      </p:sp>
    </p:spTree>
    <p:extLst>
      <p:ext uri="{BB962C8B-B14F-4D97-AF65-F5344CB8AC3E}">
        <p14:creationId xmlns:p14="http://schemas.microsoft.com/office/powerpoint/2010/main" val="1812544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THE INFORMATION SYSTEM OF A COMPANY</a:t>
            </a:r>
          </a:p>
        </p:txBody>
      </p:sp>
    </p:spTree>
    <p:extLst>
      <p:ext uri="{BB962C8B-B14F-4D97-AF65-F5344CB8AC3E}">
        <p14:creationId xmlns:p14="http://schemas.microsoft.com/office/powerpoint/2010/main" val="155014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THE INFORMATION SYSTEM OF A COMPANY</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36104" y="2066392"/>
            <a:ext cx="10441200" cy="4172171"/>
          </a:xfrm>
        </p:spPr>
        <p:txBody>
          <a:bodyPr>
            <a:normAutofit/>
          </a:bodyPr>
          <a:lstStyle/>
          <a:p>
            <a:pPr algn="l">
              <a:buFont typeface="Arial" panose="020B0604020202020204" pitchFamily="34" charset="0"/>
              <a:buChar char="•"/>
            </a:pPr>
            <a:r>
              <a:rPr lang="en-US" b="0" i="0" dirty="0">
                <a:solidFill>
                  <a:srgbClr val="ECECEC"/>
                </a:solidFill>
                <a:effectLst/>
                <a:latin typeface="Söhne"/>
              </a:rPr>
              <a:t>The information system is an organized set of hardware, software, human, and procedural resources used to collect, store, process, and distribute information within a company.</a:t>
            </a:r>
          </a:p>
          <a:p>
            <a:pPr algn="l">
              <a:buFont typeface="Arial" panose="020B0604020202020204" pitchFamily="34" charset="0"/>
              <a:buChar char="•"/>
            </a:pPr>
            <a:r>
              <a:rPr lang="en-US" b="0" i="0" dirty="0">
                <a:solidFill>
                  <a:srgbClr val="ECECEC"/>
                </a:solidFill>
                <a:effectLst/>
                <a:latin typeface="Söhne"/>
              </a:rPr>
              <a:t>It ensures the management and circulation of data necessary for the operation and decision-making within the company.</a:t>
            </a:r>
          </a:p>
          <a:p>
            <a:pPr algn="l">
              <a:buFont typeface="Arial" panose="020B0604020202020204" pitchFamily="34" charset="0"/>
              <a:buChar char="•"/>
            </a:pPr>
            <a:r>
              <a:rPr lang="en-US" b="0" i="0" dirty="0">
                <a:solidFill>
                  <a:srgbClr val="ECECEC"/>
                </a:solidFill>
                <a:effectLst/>
                <a:latin typeface="Söhne"/>
              </a:rPr>
              <a:t>Well-designed architecture ensures the efficiency, security, and flexibility of the system, aligned with the company's objectives and needs.</a:t>
            </a:r>
          </a:p>
        </p:txBody>
      </p:sp>
    </p:spTree>
    <p:extLst>
      <p:ext uri="{BB962C8B-B14F-4D97-AF65-F5344CB8AC3E}">
        <p14:creationId xmlns:p14="http://schemas.microsoft.com/office/powerpoint/2010/main" val="3661892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755373"/>
            <a:ext cx="11530647" cy="719769"/>
          </a:xfrm>
        </p:spPr>
        <p:txBody>
          <a:bodyPr>
            <a:normAutofit/>
          </a:bodyPr>
          <a:lstStyle/>
          <a:p>
            <a:pPr algn="l"/>
            <a:r>
              <a:rPr lang="fr-FR" sz="3200" dirty="0"/>
              <a:t>INFORMATION SYSTEM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85799" y="1898375"/>
            <a:ext cx="10441200" cy="4005469"/>
          </a:xfrm>
        </p:spPr>
        <p:txBody>
          <a:bodyPr>
            <a:normAutofit fontScale="92500" lnSpcReduction="20000"/>
          </a:bodyPr>
          <a:lstStyle/>
          <a:p>
            <a:pPr marL="0" indent="0" algn="l">
              <a:buNone/>
            </a:pPr>
            <a:r>
              <a:rPr lang="fr-FR" b="1" i="0" dirty="0" err="1">
                <a:solidFill>
                  <a:srgbClr val="ECECEC"/>
                </a:solidFill>
                <a:effectLst/>
                <a:latin typeface="Söhne"/>
              </a:rPr>
              <a:t>Presentation</a:t>
            </a:r>
            <a:r>
              <a:rPr lang="fr-FR" b="1" i="0" dirty="0">
                <a:solidFill>
                  <a:srgbClr val="ECECEC"/>
                </a:solidFill>
                <a:effectLst/>
                <a:latin typeface="Söhne"/>
              </a:rPr>
              <a:t> of Main Components:</a:t>
            </a:r>
          </a:p>
          <a:p>
            <a:pPr algn="l">
              <a:buFont typeface="Arial" panose="020B0604020202020204" pitchFamily="34" charset="0"/>
              <a:buChar char="•"/>
            </a:pPr>
            <a:r>
              <a:rPr lang="fr-FR" b="1" i="0" dirty="0">
                <a:solidFill>
                  <a:srgbClr val="ECECEC"/>
                </a:solidFill>
                <a:effectLst/>
                <a:latin typeface="Söhne"/>
              </a:rPr>
              <a:t>Servers: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Computer hardware </a:t>
            </a:r>
            <a:r>
              <a:rPr lang="fr-FR" b="0" i="0" dirty="0" err="1">
                <a:solidFill>
                  <a:srgbClr val="ECECEC"/>
                </a:solidFill>
                <a:effectLst/>
                <a:latin typeface="Söhne"/>
              </a:rPr>
              <a:t>where</a:t>
            </a:r>
            <a:r>
              <a:rPr lang="fr-FR" b="0" i="0" dirty="0">
                <a:solidFill>
                  <a:srgbClr val="ECECEC"/>
                </a:solidFill>
                <a:effectLst/>
                <a:latin typeface="Söhne"/>
              </a:rPr>
              <a:t> applications and data are </a:t>
            </a:r>
            <a:r>
              <a:rPr lang="fr-FR" b="0" i="0" dirty="0" err="1">
                <a:solidFill>
                  <a:srgbClr val="ECECEC"/>
                </a:solidFill>
                <a:effectLst/>
                <a:latin typeface="Söhne"/>
              </a:rPr>
              <a:t>hosted</a:t>
            </a:r>
            <a:r>
              <a:rPr lang="fr-FR" b="0" i="0" dirty="0">
                <a:solidFill>
                  <a:srgbClr val="ECECEC"/>
                </a:solidFill>
                <a:effectLst/>
                <a:latin typeface="Söhne"/>
              </a:rPr>
              <a:t>.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handle</a:t>
            </a:r>
            <a:r>
              <a:rPr lang="fr-FR" b="0" i="0" dirty="0">
                <a:solidFill>
                  <a:srgbClr val="ECECEC"/>
                </a:solidFill>
                <a:effectLst/>
                <a:latin typeface="Söhne"/>
              </a:rPr>
              <a:t> the </a:t>
            </a:r>
            <a:r>
              <a:rPr lang="fr-FR" b="0" i="0" dirty="0" err="1">
                <a:solidFill>
                  <a:srgbClr val="ECECEC"/>
                </a:solidFill>
                <a:effectLst/>
                <a:latin typeface="Söhne"/>
              </a:rPr>
              <a:t>processing</a:t>
            </a:r>
            <a:r>
              <a:rPr lang="fr-FR" b="0" i="0" dirty="0">
                <a:solidFill>
                  <a:srgbClr val="ECECEC"/>
                </a:solidFill>
                <a:effectLst/>
                <a:latin typeface="Söhne"/>
              </a:rPr>
              <a:t> of </a:t>
            </a:r>
            <a:r>
              <a:rPr lang="fr-FR" b="0" i="0" dirty="0" err="1">
                <a:solidFill>
                  <a:srgbClr val="ECECEC"/>
                </a:solidFill>
                <a:effectLst/>
                <a:latin typeface="Söhne"/>
              </a:rPr>
              <a:t>various</a:t>
            </a:r>
            <a:r>
              <a:rPr lang="fr-FR" b="0" i="0" dirty="0">
                <a:solidFill>
                  <a:srgbClr val="ECECEC"/>
                </a:solidFill>
                <a:effectLst/>
                <a:latin typeface="Söhne"/>
              </a:rPr>
              <a:t> </a:t>
            </a:r>
            <a:r>
              <a:rPr lang="fr-FR" b="0" i="0" dirty="0" err="1">
                <a:solidFill>
                  <a:srgbClr val="ECECEC"/>
                </a:solidFill>
                <a:effectLst/>
                <a:latin typeface="Söhne"/>
              </a:rPr>
              <a:t>requests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Network:</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Infrastructure </a:t>
            </a:r>
            <a:r>
              <a:rPr lang="fr-FR" b="0" i="0" dirty="0" err="1">
                <a:solidFill>
                  <a:srgbClr val="ECECEC"/>
                </a:solidFill>
                <a:effectLst/>
                <a:latin typeface="Söhne"/>
              </a:rPr>
              <a:t>enabling</a:t>
            </a:r>
            <a:r>
              <a:rPr lang="fr-FR" b="0" i="0" dirty="0">
                <a:solidFill>
                  <a:srgbClr val="ECECEC"/>
                </a:solidFill>
                <a:effectLst/>
                <a:latin typeface="Söhne"/>
              </a:rPr>
              <a:t> communication and data transmission </a:t>
            </a:r>
            <a:r>
              <a:rPr lang="fr-FR" b="0" i="0" dirty="0" err="1">
                <a:solidFill>
                  <a:srgbClr val="ECECEC"/>
                </a:solidFill>
                <a:effectLst/>
                <a:latin typeface="Söhne"/>
              </a:rPr>
              <a:t>between</a:t>
            </a:r>
            <a:r>
              <a:rPr lang="fr-FR" b="0" i="0" dirty="0">
                <a:solidFill>
                  <a:srgbClr val="ECECEC"/>
                </a:solidFill>
                <a:effectLst/>
                <a:latin typeface="Söhne"/>
              </a:rPr>
              <a:t> </a:t>
            </a:r>
            <a:r>
              <a:rPr lang="fr-FR" b="0" i="0" dirty="0" err="1">
                <a:solidFill>
                  <a:srgbClr val="ECECEC"/>
                </a:solidFill>
                <a:effectLst/>
                <a:latin typeface="Söhne"/>
              </a:rPr>
              <a:t>different</a:t>
            </a:r>
            <a:r>
              <a:rPr lang="fr-FR" b="0" i="0" dirty="0">
                <a:solidFill>
                  <a:srgbClr val="ECECEC"/>
                </a:solidFill>
                <a:effectLst/>
                <a:latin typeface="Söhne"/>
              </a:rPr>
              <a:t> system components.</a:t>
            </a:r>
          </a:p>
          <a:p>
            <a:pPr algn="l">
              <a:buFont typeface="Arial" panose="020B0604020202020204" pitchFamily="34" charset="0"/>
              <a:buChar char="•"/>
            </a:pPr>
            <a:r>
              <a:rPr lang="fr-FR" b="1" i="0" dirty="0" err="1">
                <a:solidFill>
                  <a:srgbClr val="ECECEC"/>
                </a:solidFill>
                <a:effectLst/>
                <a:latin typeface="Söhne"/>
              </a:rPr>
              <a:t>Databases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Data management </a:t>
            </a:r>
            <a:r>
              <a:rPr lang="fr-FR" b="0" i="0" dirty="0" err="1">
                <a:solidFill>
                  <a:srgbClr val="ECECEC"/>
                </a:solidFill>
                <a:effectLst/>
                <a:latin typeface="Söhne"/>
              </a:rPr>
              <a:t>systems</a:t>
            </a:r>
            <a:r>
              <a:rPr lang="fr-FR" b="0" i="0" dirty="0">
                <a:solidFill>
                  <a:srgbClr val="ECECEC"/>
                </a:solidFill>
                <a:effectLst/>
                <a:latin typeface="Söhne"/>
              </a:rPr>
              <a:t> </a:t>
            </a:r>
            <a:r>
              <a:rPr lang="fr-FR" b="0" i="0" dirty="0" err="1">
                <a:solidFill>
                  <a:srgbClr val="ECECEC"/>
                </a:solidFill>
                <a:effectLst/>
                <a:latin typeface="Söhne"/>
              </a:rPr>
              <a:t>allowing</a:t>
            </a:r>
            <a:r>
              <a:rPr lang="fr-FR" b="0" i="0" dirty="0">
                <a:solidFill>
                  <a:srgbClr val="ECECEC"/>
                </a:solidFill>
                <a:effectLst/>
                <a:latin typeface="Söhne"/>
              </a:rPr>
              <a:t> </a:t>
            </a:r>
            <a:r>
              <a:rPr lang="fr-FR" b="0" i="0" dirty="0" err="1">
                <a:solidFill>
                  <a:srgbClr val="ECECEC"/>
                </a:solidFill>
                <a:effectLst/>
                <a:latin typeface="Söhne"/>
              </a:rPr>
              <a:t>storage</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and </a:t>
            </a:r>
            <a:r>
              <a:rPr lang="fr-FR" b="0" i="0" dirty="0" err="1">
                <a:solidFill>
                  <a:srgbClr val="ECECEC"/>
                </a:solidFill>
                <a:effectLst/>
                <a:latin typeface="Söhne"/>
              </a:rPr>
              <a:t>access</a:t>
            </a:r>
            <a:r>
              <a:rPr lang="fr-FR" b="0" i="0" dirty="0">
                <a:solidFill>
                  <a:srgbClr val="ECECEC"/>
                </a:solidFill>
                <a:effectLst/>
                <a:latin typeface="Söhne"/>
              </a:rPr>
              <a:t> to information.</a:t>
            </a:r>
          </a:p>
          <a:p>
            <a:pPr algn="l">
              <a:buFont typeface="Arial" panose="020B0604020202020204" pitchFamily="34" charset="0"/>
              <a:buChar char="•"/>
            </a:pPr>
            <a:r>
              <a:rPr lang="fr-FR" b="1" i="0" dirty="0">
                <a:solidFill>
                  <a:srgbClr val="ECECEC"/>
                </a:solidFill>
                <a:effectLst/>
                <a:latin typeface="Söhne"/>
              </a:rPr>
              <a:t>Application Software:</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Programs </a:t>
            </a:r>
            <a:r>
              <a:rPr lang="fr-FR" b="0" i="0" dirty="0" err="1">
                <a:solidFill>
                  <a:srgbClr val="ECECEC"/>
                </a:solidFill>
                <a:effectLst/>
                <a:latin typeface="Söhne"/>
              </a:rPr>
              <a:t>used</a:t>
            </a:r>
            <a:r>
              <a:rPr lang="fr-FR" b="0" i="0" dirty="0">
                <a:solidFill>
                  <a:srgbClr val="ECECEC"/>
                </a:solidFill>
                <a:effectLst/>
                <a:latin typeface="Söhne"/>
              </a:rPr>
              <a:t> to </a:t>
            </a:r>
            <a:r>
              <a:rPr lang="fr-FR" b="0" i="0" dirty="0" err="1">
                <a:solidFill>
                  <a:srgbClr val="ECECEC"/>
                </a:solidFill>
                <a:effectLst/>
                <a:latin typeface="Söhne"/>
              </a:rPr>
              <a:t>perform</a:t>
            </a:r>
            <a:r>
              <a:rPr lang="fr-FR" b="0" i="0" dirty="0">
                <a:solidFill>
                  <a:srgbClr val="ECECEC"/>
                </a:solidFill>
                <a:effectLst/>
                <a:latin typeface="Söhne"/>
              </a:rPr>
              <a:t> </a:t>
            </a:r>
            <a:r>
              <a:rPr lang="fr-FR" b="0" i="0" dirty="0" err="1">
                <a:solidFill>
                  <a:srgbClr val="ECECEC"/>
                </a:solidFill>
                <a:effectLst/>
                <a:latin typeface="Söhne"/>
              </a:rPr>
              <a:t>specific</a:t>
            </a:r>
            <a:r>
              <a:rPr lang="fr-FR" b="0" i="0" dirty="0">
                <a:solidFill>
                  <a:srgbClr val="ECECEC"/>
                </a:solidFill>
                <a:effectLst/>
                <a:latin typeface="Söhne"/>
              </a:rPr>
              <a:t> </a:t>
            </a:r>
            <a:r>
              <a:rPr lang="fr-FR" b="0" i="0" dirty="0" err="1">
                <a:solidFill>
                  <a:srgbClr val="ECECEC"/>
                </a:solidFill>
                <a:effectLst/>
                <a:latin typeface="Söhne"/>
              </a:rPr>
              <a:t>tasks</a:t>
            </a:r>
            <a:r>
              <a:rPr lang="fr-FR" b="0" i="0" dirty="0">
                <a:solidFill>
                  <a:srgbClr val="ECECEC"/>
                </a:solidFill>
                <a:effectLst/>
                <a:latin typeface="Söhne"/>
              </a:rPr>
              <a:t> </a:t>
            </a:r>
            <a:r>
              <a:rPr lang="fr-FR" b="0" i="0" dirty="0" err="1">
                <a:solidFill>
                  <a:srgbClr val="ECECEC"/>
                </a:solidFill>
                <a:effectLst/>
                <a:latin typeface="Söhne"/>
              </a:rPr>
              <a:t>within</a:t>
            </a:r>
            <a:r>
              <a:rPr lang="fr-FR" b="0" i="0" dirty="0">
                <a:solidFill>
                  <a:srgbClr val="ECECEC"/>
                </a:solidFill>
                <a:effectLst/>
                <a:latin typeface="Söhne"/>
              </a:rPr>
              <a:t> the </a:t>
            </a:r>
            <a:r>
              <a:rPr lang="fr-FR" b="0" i="0" dirty="0" err="1">
                <a:solidFill>
                  <a:srgbClr val="ECECEC"/>
                </a:solidFill>
                <a:effectLst/>
                <a:latin typeface="Söhne"/>
              </a:rPr>
              <a:t>company</a:t>
            </a:r>
            <a:r>
              <a:rPr lang="fr-FR" b="0" i="0" dirty="0">
                <a:solidFill>
                  <a:srgbClr val="ECECEC"/>
                </a:solidFill>
                <a:effectLst/>
                <a:latin typeface="Söhne"/>
              </a:rPr>
              <a:t>. This </a:t>
            </a:r>
            <a:r>
              <a:rPr lang="fr-FR" b="0" i="0" dirty="0" err="1">
                <a:solidFill>
                  <a:srgbClr val="ECECEC"/>
                </a:solidFill>
                <a:effectLst/>
                <a:latin typeface="Söhne"/>
              </a:rPr>
              <a:t>addresses</a:t>
            </a:r>
            <a:r>
              <a:rPr lang="fr-FR" b="0" i="0" dirty="0">
                <a:solidFill>
                  <a:srgbClr val="ECECEC"/>
                </a:solidFill>
                <a:effectLst/>
                <a:latin typeface="Söhne"/>
              </a:rPr>
              <a:t> business </a:t>
            </a:r>
            <a:r>
              <a:rPr lang="fr-FR" b="0" i="0" dirty="0" err="1">
                <a:solidFill>
                  <a:srgbClr val="ECECEC"/>
                </a:solidFill>
                <a:effectLst/>
                <a:latin typeface="Söhne"/>
              </a:rPr>
              <a:t>needs</a:t>
            </a:r>
            <a:r>
              <a:rPr lang="fr-FR" b="0" i="0" dirty="0">
                <a:solidFill>
                  <a:srgbClr val="ECECEC"/>
                </a:solidFill>
                <a:effectLst/>
                <a:latin typeface="Söhne"/>
              </a:rPr>
              <a:t>.</a:t>
            </a:r>
          </a:p>
          <a:p>
            <a:pPr algn="l">
              <a:buFont typeface="Arial" panose="020B0604020202020204" pitchFamily="34" charset="0"/>
              <a:buChar char="•"/>
            </a:pPr>
            <a:r>
              <a:rPr lang="fr-FR" b="0" i="0" dirty="0" err="1">
                <a:solidFill>
                  <a:srgbClr val="ECECEC"/>
                </a:solidFill>
                <a:effectLst/>
                <a:latin typeface="Söhne"/>
              </a:rPr>
              <a:t>These</a:t>
            </a:r>
            <a:r>
              <a:rPr lang="fr-FR" b="0" i="0" dirty="0">
                <a:solidFill>
                  <a:srgbClr val="ECECEC"/>
                </a:solidFill>
                <a:effectLst/>
                <a:latin typeface="Söhne"/>
              </a:rPr>
              <a:t> components are </a:t>
            </a:r>
            <a:r>
              <a:rPr lang="fr-FR" b="0" i="0" dirty="0" err="1">
                <a:solidFill>
                  <a:srgbClr val="ECECEC"/>
                </a:solidFill>
                <a:effectLst/>
                <a:latin typeface="Söhne"/>
              </a:rPr>
              <a:t>physically</a:t>
            </a:r>
            <a:r>
              <a:rPr lang="fr-FR" b="0" i="0" dirty="0">
                <a:solidFill>
                  <a:srgbClr val="ECECEC"/>
                </a:solidFill>
                <a:effectLst/>
                <a:latin typeface="Söhne"/>
              </a:rPr>
              <a:t> </a:t>
            </a:r>
            <a:r>
              <a:rPr lang="fr-FR" b="0" i="0" dirty="0" err="1">
                <a:solidFill>
                  <a:srgbClr val="ECECEC"/>
                </a:solidFill>
                <a:effectLst/>
                <a:latin typeface="Söhne"/>
              </a:rPr>
              <a:t>located</a:t>
            </a:r>
            <a:r>
              <a:rPr lang="fr-FR" b="0" i="0" dirty="0">
                <a:solidFill>
                  <a:srgbClr val="ECECEC"/>
                </a:solidFill>
                <a:effectLst/>
                <a:latin typeface="Söhne"/>
              </a:rPr>
              <a:t> in a data center </a:t>
            </a:r>
            <a:r>
              <a:rPr lang="fr-FR" b="0" i="0" dirty="0" err="1">
                <a:solidFill>
                  <a:srgbClr val="ECECEC"/>
                </a:solidFill>
                <a:effectLst/>
                <a:latin typeface="Söhne"/>
              </a:rPr>
              <a:t>managed</a:t>
            </a:r>
            <a:r>
              <a:rPr lang="fr-FR" b="0" i="0" dirty="0">
                <a:solidFill>
                  <a:srgbClr val="ECECEC"/>
                </a:solidFill>
                <a:effectLst/>
                <a:latin typeface="Söhne"/>
              </a:rPr>
              <a:t> by the </a:t>
            </a:r>
            <a:r>
              <a:rPr lang="fr-FR" b="0" i="0" dirty="0" err="1">
                <a:solidFill>
                  <a:srgbClr val="ECECEC"/>
                </a:solidFill>
                <a:effectLst/>
                <a:latin typeface="Söhne"/>
              </a:rPr>
              <a:t>company</a:t>
            </a:r>
            <a:r>
              <a:rPr lang="fr-FR" b="0" i="0" dirty="0">
                <a:solidFill>
                  <a:srgbClr val="ECECEC"/>
                </a:solidFill>
                <a:effectLst/>
                <a:latin typeface="Söhne"/>
              </a:rPr>
              <a:t> or in a portion of a data center </a:t>
            </a:r>
            <a:r>
              <a:rPr lang="fr-FR" b="0" i="0" dirty="0" err="1">
                <a:solidFill>
                  <a:srgbClr val="ECECEC"/>
                </a:solidFill>
                <a:effectLst/>
                <a:latin typeface="Söhne"/>
              </a:rPr>
              <a:t>leased</a:t>
            </a:r>
            <a:r>
              <a:rPr lang="fr-FR" b="0" i="0" dirty="0">
                <a:solidFill>
                  <a:srgbClr val="ECECEC"/>
                </a:solidFill>
                <a:effectLst/>
                <a:latin typeface="Söhne"/>
              </a:rPr>
              <a:t> by the </a:t>
            </a:r>
            <a:r>
              <a:rPr lang="fr-FR" b="0" i="0" dirty="0" err="1">
                <a:solidFill>
                  <a:srgbClr val="ECECEC"/>
                </a:solidFill>
                <a:effectLst/>
                <a:latin typeface="Söhne"/>
              </a:rPr>
              <a:t>company</a:t>
            </a:r>
            <a:r>
              <a:rPr lang="fr-FR" b="0" i="0" dirty="0">
                <a:solidFill>
                  <a:srgbClr val="ECECEC"/>
                </a:solidFill>
                <a:effectLst/>
                <a:latin typeface="Söhne"/>
              </a:rPr>
              <a:t>.</a:t>
            </a:r>
          </a:p>
        </p:txBody>
      </p:sp>
    </p:spTree>
    <p:extLst>
      <p:ext uri="{BB962C8B-B14F-4D97-AF65-F5344CB8AC3E}">
        <p14:creationId xmlns:p14="http://schemas.microsoft.com/office/powerpoint/2010/main" val="542667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Cloud </a:t>
            </a:r>
            <a:r>
              <a:rPr lang="fr-FR" sz="3000" dirty="0" err="1"/>
              <a:t>Computing</a:t>
            </a:r>
            <a:endParaRPr lang="fr-FR" sz="3000" dirty="0"/>
          </a:p>
        </p:txBody>
      </p:sp>
    </p:spTree>
    <p:extLst>
      <p:ext uri="{BB962C8B-B14F-4D97-AF65-F5344CB8AC3E}">
        <p14:creationId xmlns:p14="http://schemas.microsoft.com/office/powerpoint/2010/main" val="199945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fontScale="85000" lnSpcReduction="20000"/>
          </a:bodyPr>
          <a:lstStyle/>
          <a:p>
            <a:pPr algn="l">
              <a:buFont typeface="Arial" panose="020B0604020202020204" pitchFamily="34" charset="0"/>
              <a:buChar char="•"/>
            </a:pPr>
            <a:r>
              <a:rPr lang="fr-FR" b="1" i="0" dirty="0" err="1">
                <a:solidFill>
                  <a:srgbClr val="ECECEC"/>
                </a:solidFill>
                <a:effectLst/>
                <a:latin typeface="Söhne"/>
              </a:rPr>
              <a:t>Definition</a:t>
            </a:r>
            <a:r>
              <a:rPr lang="fr-FR" b="1" i="0" dirty="0">
                <a:solidFill>
                  <a:srgbClr val="ECECEC"/>
                </a:solidFill>
                <a:effectLst/>
                <a:latin typeface="Söhne"/>
              </a:rPr>
              <a:t> of Cloud </a:t>
            </a:r>
            <a:r>
              <a:rPr lang="fr-FR" b="1" i="0" dirty="0" err="1">
                <a:solidFill>
                  <a:srgbClr val="ECECEC"/>
                </a:solidFill>
                <a:effectLst/>
                <a:latin typeface="Söhne"/>
              </a:rPr>
              <a:t>Computing</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A model for </a:t>
            </a:r>
            <a:r>
              <a:rPr lang="fr-FR" b="0" i="0" dirty="0" err="1">
                <a:solidFill>
                  <a:srgbClr val="ECECEC"/>
                </a:solidFill>
                <a:effectLst/>
                <a:latin typeface="Söhne"/>
              </a:rPr>
              <a:t>delivering</a:t>
            </a:r>
            <a:r>
              <a:rPr lang="fr-FR" b="0" i="0" dirty="0">
                <a:solidFill>
                  <a:srgbClr val="ECECEC"/>
                </a:solidFill>
                <a:effectLst/>
                <a:latin typeface="Söhne"/>
              </a:rPr>
              <a:t> </a:t>
            </a:r>
            <a:r>
              <a:rPr lang="fr-FR" b="0" i="0" dirty="0" err="1">
                <a:solidFill>
                  <a:srgbClr val="ECECEC"/>
                </a:solidFill>
                <a:effectLst/>
                <a:latin typeface="Söhne"/>
              </a:rPr>
              <a:t>computing</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over the Internet, </a:t>
            </a:r>
            <a:r>
              <a:rPr lang="fr-FR" b="0" i="0" dirty="0" err="1">
                <a:solidFill>
                  <a:srgbClr val="ECECEC"/>
                </a:solidFill>
                <a:effectLst/>
                <a:latin typeface="Söhne"/>
              </a:rPr>
              <a:t>allowing</a:t>
            </a:r>
            <a:r>
              <a:rPr lang="fr-FR" b="0" i="0" dirty="0">
                <a:solidFill>
                  <a:srgbClr val="ECECEC"/>
                </a:solidFill>
                <a:effectLst/>
                <a:latin typeface="Söhne"/>
              </a:rPr>
              <a:t> </a:t>
            </a:r>
            <a:r>
              <a:rPr lang="fr-FR" b="0" i="0" dirty="0" err="1">
                <a:solidFill>
                  <a:srgbClr val="ECECEC"/>
                </a:solidFill>
                <a:effectLst/>
                <a:latin typeface="Söhne"/>
              </a:rPr>
              <a:t>access</a:t>
            </a:r>
            <a:r>
              <a:rPr lang="fr-FR" b="0" i="0" dirty="0">
                <a:solidFill>
                  <a:srgbClr val="ECECEC"/>
                </a:solidFill>
                <a:effectLst/>
                <a:latin typeface="Söhne"/>
              </a:rPr>
              <a:t> to services on </a:t>
            </a:r>
            <a:r>
              <a:rPr lang="fr-FR" b="0" i="0" dirty="0" err="1">
                <a:solidFill>
                  <a:srgbClr val="ECECEC"/>
                </a:solidFill>
                <a:effectLst/>
                <a:latin typeface="Söhne"/>
              </a:rPr>
              <a:t>demand</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err="1">
                <a:solidFill>
                  <a:srgbClr val="ECECEC"/>
                </a:solidFill>
                <a:effectLst/>
                <a:latin typeface="Söhne"/>
              </a:rPr>
              <a:t>Offers</a:t>
            </a:r>
            <a:r>
              <a:rPr lang="fr-FR" b="0" i="0" dirty="0">
                <a:solidFill>
                  <a:srgbClr val="ECECEC"/>
                </a:solidFill>
                <a:effectLst/>
                <a:latin typeface="Söhne"/>
              </a:rPr>
              <a:t> the </a:t>
            </a:r>
            <a:r>
              <a:rPr lang="fr-FR" b="0" i="0" dirty="0" err="1">
                <a:solidFill>
                  <a:srgbClr val="ECECEC"/>
                </a:solidFill>
                <a:effectLst/>
                <a:latin typeface="Söhne"/>
              </a:rPr>
              <a:t>same</a:t>
            </a:r>
            <a:r>
              <a:rPr lang="fr-FR" b="0" i="0" dirty="0">
                <a:solidFill>
                  <a:srgbClr val="ECECEC"/>
                </a:solidFill>
                <a:effectLst/>
                <a:latin typeface="Söhne"/>
              </a:rPr>
              <a:t> components of the IS infrastructure </a:t>
            </a:r>
            <a:r>
              <a:rPr lang="fr-FR" b="0" i="0" dirty="0" err="1">
                <a:solidFill>
                  <a:srgbClr val="ECECEC"/>
                </a:solidFill>
                <a:effectLst/>
                <a:latin typeface="Söhne"/>
              </a:rPr>
              <a:t>presented</a:t>
            </a:r>
            <a:r>
              <a:rPr lang="fr-FR" b="0" i="0" dirty="0">
                <a:solidFill>
                  <a:srgbClr val="ECECEC"/>
                </a:solidFill>
                <a:effectLst/>
                <a:latin typeface="Söhne"/>
              </a:rPr>
              <a:t> in the </a:t>
            </a:r>
            <a:r>
              <a:rPr lang="fr-FR" b="0" i="0" dirty="0" err="1">
                <a:solidFill>
                  <a:srgbClr val="ECECEC"/>
                </a:solidFill>
                <a:effectLst/>
                <a:latin typeface="Söhne"/>
              </a:rPr>
              <a:t>previous</a:t>
            </a:r>
            <a:r>
              <a:rPr lang="fr-FR" b="0" i="0" dirty="0">
                <a:solidFill>
                  <a:srgbClr val="ECECEC"/>
                </a:solidFill>
                <a:effectLst/>
                <a:latin typeface="Söhne"/>
              </a:rPr>
              <a:t> slides.</a:t>
            </a:r>
          </a:p>
          <a:p>
            <a:pPr algn="l">
              <a:buFont typeface="Arial" panose="020B0604020202020204" pitchFamily="34" charset="0"/>
              <a:buChar char="•"/>
            </a:pPr>
            <a:r>
              <a:rPr lang="fr-FR" b="1" i="0" dirty="0" err="1">
                <a:solidFill>
                  <a:srgbClr val="ECECEC"/>
                </a:solidFill>
                <a:effectLst/>
                <a:latin typeface="Söhne"/>
              </a:rPr>
              <a:t>Explanation</a:t>
            </a:r>
            <a:r>
              <a:rPr lang="fr-FR" b="1" i="0" dirty="0">
                <a:solidFill>
                  <a:srgbClr val="ECECEC"/>
                </a:solidFill>
                <a:effectLst/>
                <a:latin typeface="Söhne"/>
              </a:rPr>
              <a:t> of How </a:t>
            </a:r>
            <a:r>
              <a:rPr lang="fr-FR" b="1" i="0" dirty="0" err="1">
                <a:solidFill>
                  <a:srgbClr val="ECECEC"/>
                </a:solidFill>
                <a:effectLst/>
                <a:latin typeface="Söhne"/>
              </a:rPr>
              <a:t>it</a:t>
            </a:r>
            <a:r>
              <a:rPr lang="fr-FR" b="1" i="0" dirty="0">
                <a:solidFill>
                  <a:srgbClr val="ECECEC"/>
                </a:solidFill>
                <a:effectLst/>
                <a:latin typeface="Söhne"/>
              </a:rPr>
              <a:t> Works: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Data and applications are </a:t>
            </a:r>
            <a:r>
              <a:rPr lang="fr-FR" b="0" i="0" dirty="0" err="1">
                <a:solidFill>
                  <a:srgbClr val="ECECEC"/>
                </a:solidFill>
                <a:effectLst/>
                <a:latin typeface="Söhne"/>
              </a:rPr>
              <a:t>hosted</a:t>
            </a:r>
            <a:r>
              <a:rPr lang="fr-FR" b="0" i="0" dirty="0">
                <a:solidFill>
                  <a:srgbClr val="ECECEC"/>
                </a:solidFill>
                <a:effectLst/>
                <a:latin typeface="Söhne"/>
              </a:rPr>
              <a:t> on </a:t>
            </a:r>
            <a:r>
              <a:rPr lang="fr-FR" b="0" i="0" dirty="0" err="1">
                <a:solidFill>
                  <a:srgbClr val="ECECEC"/>
                </a:solidFill>
                <a:effectLst/>
                <a:latin typeface="Söhne"/>
              </a:rPr>
              <a:t>remote</a:t>
            </a:r>
            <a:r>
              <a:rPr lang="fr-FR" b="0" i="0" dirty="0">
                <a:solidFill>
                  <a:srgbClr val="ECECEC"/>
                </a:solidFill>
                <a:effectLst/>
                <a:latin typeface="Söhne"/>
              </a:rPr>
              <a:t> servers </a:t>
            </a:r>
            <a:r>
              <a:rPr lang="fr-FR" b="0" i="0" dirty="0" err="1">
                <a:solidFill>
                  <a:srgbClr val="ECECEC"/>
                </a:solidFill>
                <a:effectLst/>
                <a:latin typeface="Söhne"/>
              </a:rPr>
              <a:t>located</a:t>
            </a:r>
            <a:r>
              <a:rPr lang="fr-FR" b="0" i="0" dirty="0">
                <a:solidFill>
                  <a:srgbClr val="ECECEC"/>
                </a:solidFill>
                <a:effectLst/>
                <a:latin typeface="Söhne"/>
              </a:rPr>
              <a:t> in data centers </a:t>
            </a:r>
            <a:r>
              <a:rPr lang="fr-FR" b="0" i="0" dirty="0" err="1">
                <a:solidFill>
                  <a:srgbClr val="ECECEC"/>
                </a:solidFill>
                <a:effectLst/>
                <a:latin typeface="Söhne"/>
              </a:rPr>
              <a:t>managed</a:t>
            </a:r>
            <a:r>
              <a:rPr lang="fr-FR" b="0" i="0" dirty="0">
                <a:solidFill>
                  <a:srgbClr val="ECECEC"/>
                </a:solidFill>
                <a:effectLst/>
                <a:latin typeface="Söhne"/>
              </a:rPr>
              <a:t> by Cloud service providers.</a:t>
            </a:r>
          </a:p>
          <a:p>
            <a:pPr marL="742950" lvl="1" indent="-285750" algn="l">
              <a:buFont typeface="Arial" panose="020B0604020202020204" pitchFamily="34" charset="0"/>
              <a:buChar char="•"/>
            </a:pPr>
            <a:r>
              <a:rPr lang="fr-FR" b="0" i="0" dirty="0" err="1">
                <a:solidFill>
                  <a:srgbClr val="ECECEC"/>
                </a:solidFill>
                <a:effectLst/>
                <a:latin typeface="Söhne"/>
              </a:rPr>
              <a:t>Users</a:t>
            </a:r>
            <a:r>
              <a:rPr lang="fr-FR" b="0" i="0" dirty="0">
                <a:solidFill>
                  <a:srgbClr val="ECECEC"/>
                </a:solidFill>
                <a:effectLst/>
                <a:latin typeface="Söhne"/>
              </a:rPr>
              <a:t> </a:t>
            </a:r>
            <a:r>
              <a:rPr lang="fr-FR" b="0" i="0" dirty="0" err="1">
                <a:solidFill>
                  <a:srgbClr val="ECECEC"/>
                </a:solidFill>
                <a:effectLst/>
                <a:latin typeface="Söhne"/>
              </a:rPr>
              <a:t>access</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on </a:t>
            </a:r>
            <a:r>
              <a:rPr lang="fr-FR" b="0" i="0" dirty="0" err="1">
                <a:solidFill>
                  <a:srgbClr val="ECECEC"/>
                </a:solidFill>
                <a:effectLst/>
                <a:latin typeface="Söhne"/>
              </a:rPr>
              <a:t>demand</a:t>
            </a:r>
            <a:r>
              <a:rPr lang="fr-FR" b="0" i="0" dirty="0">
                <a:solidFill>
                  <a:srgbClr val="ECECEC"/>
                </a:solidFill>
                <a:effectLst/>
                <a:latin typeface="Söhne"/>
              </a:rPr>
              <a:t> via the Internet, </a:t>
            </a:r>
            <a:r>
              <a:rPr lang="fr-FR" b="0" i="0" dirty="0" err="1">
                <a:solidFill>
                  <a:srgbClr val="ECECEC"/>
                </a:solidFill>
                <a:effectLst/>
                <a:latin typeface="Söhne"/>
              </a:rPr>
              <a:t>based</a:t>
            </a:r>
            <a:r>
              <a:rPr lang="fr-FR" b="0" i="0" dirty="0">
                <a:solidFill>
                  <a:srgbClr val="ECECEC"/>
                </a:solidFill>
                <a:effectLst/>
                <a:latin typeface="Söhne"/>
              </a:rPr>
              <a:t> on </a:t>
            </a:r>
            <a:r>
              <a:rPr lang="fr-FR" b="0" i="0" dirty="0" err="1">
                <a:solidFill>
                  <a:srgbClr val="ECECEC"/>
                </a:solidFill>
                <a:effectLst/>
                <a:latin typeface="Söhne"/>
              </a:rPr>
              <a:t>their</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Key </a:t>
            </a:r>
            <a:r>
              <a:rPr lang="fr-FR" b="1" i="0" dirty="0" err="1">
                <a:solidFill>
                  <a:srgbClr val="ECECEC"/>
                </a:solidFill>
                <a:effectLst/>
                <a:latin typeface="Söhne"/>
              </a:rPr>
              <a:t>Advantages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Scalability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Quickly</a:t>
            </a:r>
            <a:r>
              <a:rPr lang="fr-FR" b="0" i="0" dirty="0">
                <a:solidFill>
                  <a:srgbClr val="ECECEC"/>
                </a:solidFill>
                <a:effectLst/>
                <a:latin typeface="Söhne"/>
              </a:rPr>
              <a:t> </a:t>
            </a:r>
            <a:r>
              <a:rPr lang="fr-FR" b="0" i="0" dirty="0" err="1">
                <a:solidFill>
                  <a:srgbClr val="ECECEC"/>
                </a:solidFill>
                <a:effectLst/>
                <a:latin typeface="Söhne"/>
              </a:rPr>
              <a:t>adjust</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t>
            </a:r>
            <a:r>
              <a:rPr lang="fr-FR" b="0" i="0" dirty="0" err="1">
                <a:solidFill>
                  <a:srgbClr val="ECECEC"/>
                </a:solidFill>
                <a:effectLst/>
                <a:latin typeface="Söhne"/>
              </a:rPr>
              <a:t>according</a:t>
            </a:r>
            <a:r>
              <a:rPr lang="fr-FR" b="0" i="0" dirty="0">
                <a:solidFill>
                  <a:srgbClr val="ECECEC"/>
                </a:solidFill>
                <a:effectLst/>
                <a:latin typeface="Söhne"/>
              </a:rPr>
              <a:t> to </a:t>
            </a:r>
            <a:r>
              <a:rPr lang="fr-FR" b="0" i="0" dirty="0" err="1">
                <a:solidFill>
                  <a:srgbClr val="ECECEC"/>
                </a:solidFill>
                <a:effectLst/>
                <a:latin typeface="Söhne"/>
              </a:rPr>
              <a:t>demand</a:t>
            </a:r>
            <a:r>
              <a:rPr lang="fr-FR" b="0" i="0" dirty="0">
                <a:solidFill>
                  <a:srgbClr val="ECECEC"/>
                </a:solidFill>
                <a:effectLst/>
                <a:latin typeface="Söhne"/>
              </a:rPr>
              <a:t>. For </a:t>
            </a:r>
            <a:r>
              <a:rPr lang="fr-FR" b="0" i="0" dirty="0" err="1">
                <a:solidFill>
                  <a:srgbClr val="ECECEC"/>
                </a:solidFill>
                <a:effectLst/>
                <a:latin typeface="Söhne"/>
              </a:rPr>
              <a:t>example</a:t>
            </a:r>
            <a:r>
              <a:rPr lang="fr-FR" b="0" i="0" dirty="0">
                <a:solidFill>
                  <a:srgbClr val="ECECEC"/>
                </a:solidFill>
                <a:effectLst/>
                <a:latin typeface="Söhne"/>
              </a:rPr>
              <a:t>, if </a:t>
            </a:r>
            <a:r>
              <a:rPr lang="fr-FR" b="0" i="0" dirty="0" err="1">
                <a:solidFill>
                  <a:srgbClr val="ECECEC"/>
                </a:solidFill>
                <a:effectLst/>
                <a:latin typeface="Söhne"/>
              </a:rPr>
              <a:t>there</a:t>
            </a:r>
            <a:r>
              <a:rPr lang="fr-FR" b="0" i="0" dirty="0">
                <a:solidFill>
                  <a:srgbClr val="ECECEC"/>
                </a:solidFill>
                <a:effectLst/>
                <a:latin typeface="Söhne"/>
              </a:rPr>
              <a:t> are </a:t>
            </a:r>
            <a:r>
              <a:rPr lang="fr-FR" b="0" i="0" dirty="0" err="1">
                <a:solidFill>
                  <a:srgbClr val="ECECEC"/>
                </a:solidFill>
                <a:effectLst/>
                <a:latin typeface="Söhne"/>
              </a:rPr>
              <a:t>too</a:t>
            </a:r>
            <a:r>
              <a:rPr lang="fr-FR" b="0" i="0" dirty="0">
                <a:solidFill>
                  <a:srgbClr val="ECECEC"/>
                </a:solidFill>
                <a:effectLst/>
                <a:latin typeface="Söhne"/>
              </a:rPr>
              <a:t> </a:t>
            </a:r>
            <a:r>
              <a:rPr lang="fr-FR" b="0" i="0" dirty="0" err="1">
                <a:solidFill>
                  <a:srgbClr val="ECECEC"/>
                </a:solidFill>
                <a:effectLst/>
                <a:latin typeface="Söhne"/>
              </a:rPr>
              <a:t>many</a:t>
            </a:r>
            <a:r>
              <a:rPr lang="fr-FR" b="0" i="0" dirty="0">
                <a:solidFill>
                  <a:srgbClr val="ECECEC"/>
                </a:solidFill>
                <a:effectLst/>
                <a:latin typeface="Söhne"/>
              </a:rPr>
              <a:t> </a:t>
            </a:r>
            <a:r>
              <a:rPr lang="fr-FR" b="0" i="0" dirty="0" err="1">
                <a:solidFill>
                  <a:srgbClr val="ECECEC"/>
                </a:solidFill>
                <a:effectLst/>
                <a:latin typeface="Söhne"/>
              </a:rPr>
              <a:t>requests</a:t>
            </a:r>
            <a:r>
              <a:rPr lang="fr-FR" b="0" i="0" dirty="0">
                <a:solidFill>
                  <a:srgbClr val="ECECEC"/>
                </a:solidFill>
                <a:effectLst/>
                <a:latin typeface="Söhne"/>
              </a:rPr>
              <a:t> on a </a:t>
            </a:r>
            <a:r>
              <a:rPr lang="fr-FR" b="0" i="0" dirty="0" err="1">
                <a:solidFill>
                  <a:srgbClr val="ECECEC"/>
                </a:solidFill>
                <a:effectLst/>
                <a:latin typeface="Söhne"/>
              </a:rPr>
              <a:t>website</a:t>
            </a:r>
            <a:r>
              <a:rPr lang="fr-FR" b="0" i="0" dirty="0">
                <a:solidFill>
                  <a:srgbClr val="ECECEC"/>
                </a:solidFill>
                <a:effectLst/>
                <a:latin typeface="Söhne"/>
              </a:rPr>
              <a:t>, launch multiple instances of the </a:t>
            </a:r>
            <a:r>
              <a:rPr lang="fr-FR" b="0" i="0" dirty="0" err="1">
                <a:solidFill>
                  <a:srgbClr val="ECECEC"/>
                </a:solidFill>
                <a:effectLst/>
                <a:latin typeface="Söhne"/>
              </a:rPr>
              <a:t>same</a:t>
            </a:r>
            <a:r>
              <a:rPr lang="fr-FR" b="0" i="0" dirty="0">
                <a:solidFill>
                  <a:srgbClr val="ECECEC"/>
                </a:solidFill>
                <a:effectLst/>
                <a:latin typeface="Söhne"/>
              </a:rPr>
              <a:t> </a:t>
            </a:r>
            <a:r>
              <a:rPr lang="fr-FR" b="0" i="0" dirty="0" err="1">
                <a:solidFill>
                  <a:srgbClr val="ECECEC"/>
                </a:solidFill>
                <a:effectLst/>
                <a:latin typeface="Söhne"/>
              </a:rPr>
              <a:t>virtual</a:t>
            </a:r>
            <a:r>
              <a:rPr lang="fr-FR" b="0" i="0" dirty="0">
                <a:solidFill>
                  <a:srgbClr val="ECECEC"/>
                </a:solidFill>
                <a:effectLst/>
                <a:latin typeface="Söhne"/>
              </a:rPr>
              <a:t> machine </a:t>
            </a:r>
            <a:r>
              <a:rPr lang="fr-FR" b="0" i="0" dirty="0" err="1">
                <a:solidFill>
                  <a:srgbClr val="ECECEC"/>
                </a:solidFill>
                <a:effectLst/>
                <a:latin typeface="Söhne"/>
              </a:rPr>
              <a:t>hosting</a:t>
            </a:r>
            <a:r>
              <a:rPr lang="fr-FR" b="0" i="0" dirty="0">
                <a:solidFill>
                  <a:srgbClr val="ECECEC"/>
                </a:solidFill>
                <a:effectLst/>
                <a:latin typeface="Söhne"/>
              </a:rPr>
              <a:t> </a:t>
            </a:r>
            <a:r>
              <a:rPr lang="fr-FR" b="0" i="0" dirty="0" err="1">
                <a:solidFill>
                  <a:srgbClr val="ECECEC"/>
                </a:solidFill>
                <a:effectLst/>
                <a:latin typeface="Söhne"/>
              </a:rPr>
              <a:t>it</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Flexibility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Choice</a:t>
            </a:r>
            <a:r>
              <a:rPr lang="fr-FR" b="0" i="0" dirty="0">
                <a:solidFill>
                  <a:srgbClr val="ECECEC"/>
                </a:solidFill>
                <a:effectLst/>
                <a:latin typeface="Söhne"/>
              </a:rPr>
              <a:t> of services and </a:t>
            </a:r>
            <a:r>
              <a:rPr lang="fr-FR" b="0" i="0" dirty="0" err="1">
                <a:solidFill>
                  <a:srgbClr val="ECECEC"/>
                </a:solidFill>
                <a:effectLst/>
                <a:latin typeface="Söhne"/>
              </a:rPr>
              <a:t>features</a:t>
            </a:r>
            <a:r>
              <a:rPr lang="fr-FR" b="0" i="0" dirty="0">
                <a:solidFill>
                  <a:srgbClr val="ECECEC"/>
                </a:solidFill>
                <a:effectLst/>
                <a:latin typeface="Söhne"/>
              </a:rPr>
              <a:t> </a:t>
            </a:r>
            <a:r>
              <a:rPr lang="fr-FR" b="0" i="0" dirty="0" err="1">
                <a:solidFill>
                  <a:srgbClr val="ECECEC"/>
                </a:solidFill>
                <a:effectLst/>
                <a:latin typeface="Söhne"/>
              </a:rPr>
              <a:t>according</a:t>
            </a:r>
            <a:r>
              <a:rPr lang="fr-FR" b="0" i="0" dirty="0">
                <a:solidFill>
                  <a:srgbClr val="ECECEC"/>
                </a:solidFill>
                <a:effectLst/>
                <a:latin typeface="Söhne"/>
              </a:rPr>
              <a:t> to the </a:t>
            </a:r>
            <a:r>
              <a:rPr lang="fr-FR" b="0" i="0" dirty="0" err="1">
                <a:solidFill>
                  <a:srgbClr val="ECECEC"/>
                </a:solidFill>
                <a:effectLst/>
                <a:latin typeface="Söhne"/>
              </a:rPr>
              <a:t>specific</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 of the </a:t>
            </a:r>
            <a:r>
              <a:rPr lang="fr-FR" b="0" i="0" dirty="0" err="1">
                <a:solidFill>
                  <a:srgbClr val="ECECEC"/>
                </a:solidFill>
                <a:effectLst/>
                <a:latin typeface="Söhne"/>
              </a:rPr>
              <a:t>company</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Cost</a:t>
            </a:r>
            <a:r>
              <a:rPr lang="fr-FR" b="1" i="0" dirty="0">
                <a:solidFill>
                  <a:srgbClr val="ECECEC"/>
                </a:solidFill>
                <a:effectLst/>
                <a:latin typeface="Söhne"/>
              </a:rPr>
              <a:t> Reduction: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Pay</a:t>
            </a:r>
            <a:r>
              <a:rPr lang="fr-FR" b="0" i="0" dirty="0">
                <a:solidFill>
                  <a:srgbClr val="ECECEC"/>
                </a:solidFill>
                <a:effectLst/>
                <a:latin typeface="Söhne"/>
              </a:rPr>
              <a:t>-as-</a:t>
            </a:r>
            <a:r>
              <a:rPr lang="fr-FR" b="0" i="0" dirty="0" err="1">
                <a:solidFill>
                  <a:srgbClr val="ECECEC"/>
                </a:solidFill>
                <a:effectLst/>
                <a:latin typeface="Söhne"/>
              </a:rPr>
              <a:t>you</a:t>
            </a:r>
            <a:r>
              <a:rPr lang="fr-FR" b="0" i="0" dirty="0">
                <a:solidFill>
                  <a:srgbClr val="ECECEC"/>
                </a:solidFill>
                <a:effectLst/>
                <a:latin typeface="Söhne"/>
              </a:rPr>
              <a:t>-go, </a:t>
            </a:r>
            <a:r>
              <a:rPr lang="fr-FR" b="0" i="0" dirty="0" err="1">
                <a:solidFill>
                  <a:srgbClr val="ECECEC"/>
                </a:solidFill>
                <a:effectLst/>
                <a:latin typeface="Söhne"/>
              </a:rPr>
              <a:t>avoiding</a:t>
            </a:r>
            <a:r>
              <a:rPr lang="fr-FR" b="0" i="0" dirty="0">
                <a:solidFill>
                  <a:srgbClr val="ECECEC"/>
                </a:solidFill>
                <a:effectLst/>
                <a:latin typeface="Söhne"/>
              </a:rPr>
              <a:t> </a:t>
            </a:r>
            <a:r>
              <a:rPr lang="fr-FR" b="0" i="0" dirty="0" err="1">
                <a:solidFill>
                  <a:srgbClr val="ECECEC"/>
                </a:solidFill>
                <a:effectLst/>
                <a:latin typeface="Söhne"/>
              </a:rPr>
              <a:t>significant</a:t>
            </a:r>
            <a:r>
              <a:rPr lang="fr-FR" b="0" i="0" dirty="0">
                <a:solidFill>
                  <a:srgbClr val="ECECEC"/>
                </a:solidFill>
                <a:effectLst/>
                <a:latin typeface="Söhne"/>
              </a:rPr>
              <a:t> initial </a:t>
            </a:r>
            <a:r>
              <a:rPr lang="fr-FR" b="0" i="0" dirty="0" err="1">
                <a:solidFill>
                  <a:srgbClr val="ECECEC"/>
                </a:solidFill>
                <a:effectLst/>
                <a:latin typeface="Söhne"/>
              </a:rPr>
              <a:t>investments</a:t>
            </a:r>
            <a:r>
              <a:rPr lang="fr-FR" b="0" i="0" dirty="0">
                <a:solidFill>
                  <a:srgbClr val="ECECEC"/>
                </a:solidFill>
                <a:effectLst/>
                <a:latin typeface="Söhne"/>
              </a:rPr>
              <a:t>. Start </a:t>
            </a:r>
            <a:r>
              <a:rPr lang="fr-FR" b="0" i="0" dirty="0" err="1">
                <a:solidFill>
                  <a:srgbClr val="ECECEC"/>
                </a:solidFill>
                <a:effectLst/>
                <a:latin typeface="Söhne"/>
              </a:rPr>
              <a:t>with</a:t>
            </a:r>
            <a:r>
              <a:rPr lang="fr-FR" b="0" i="0" dirty="0">
                <a:solidFill>
                  <a:srgbClr val="ECECEC"/>
                </a:solidFill>
                <a:effectLst/>
                <a:latin typeface="Söhne"/>
              </a:rPr>
              <a:t> basic usage and </a:t>
            </a:r>
            <a:r>
              <a:rPr lang="fr-FR" b="0" i="0" dirty="0" err="1">
                <a:solidFill>
                  <a:srgbClr val="ECECEC"/>
                </a:solidFill>
                <a:effectLst/>
                <a:latin typeface="Söhne"/>
              </a:rPr>
              <a:t>scale</a:t>
            </a:r>
            <a:r>
              <a:rPr lang="fr-FR" b="0" i="0" dirty="0">
                <a:solidFill>
                  <a:srgbClr val="ECECEC"/>
                </a:solidFill>
                <a:effectLst/>
                <a:latin typeface="Söhne"/>
              </a:rPr>
              <a:t> up as </a:t>
            </a:r>
            <a:r>
              <a:rPr lang="fr-FR" b="0" i="0" dirty="0" err="1">
                <a:solidFill>
                  <a:srgbClr val="ECECEC"/>
                </a:solidFill>
                <a:effectLst/>
                <a:latin typeface="Söhne"/>
              </a:rPr>
              <a:t>needed</a:t>
            </a:r>
            <a:r>
              <a:rPr lang="fr-FR" b="0" i="0" dirty="0">
                <a:solidFill>
                  <a:srgbClr val="ECECEC"/>
                </a:solidFill>
                <a:effectLst/>
                <a:latin typeface="Söhne"/>
              </a:rPr>
              <a:t>.</a:t>
            </a:r>
            <a:br>
              <a:rPr lang="fr-FR" dirty="0"/>
            </a:br>
            <a:endParaRPr lang="fr-FR" b="0" i="0" dirty="0">
              <a:solidFill>
                <a:srgbClr val="ECECEC"/>
              </a:solidFill>
              <a:effectLst/>
              <a:latin typeface="Söhne"/>
            </a:endParaRPr>
          </a:p>
        </p:txBody>
      </p:sp>
    </p:spTree>
    <p:extLst>
      <p:ext uri="{BB962C8B-B14F-4D97-AF65-F5344CB8AC3E}">
        <p14:creationId xmlns:p14="http://schemas.microsoft.com/office/powerpoint/2010/main" val="286249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Presentation</a:t>
            </a:r>
            <a:r>
              <a:rPr lang="fr-FR" b="1" i="0" dirty="0">
                <a:solidFill>
                  <a:srgbClr val="ECECEC"/>
                </a:solidFill>
                <a:effectLst/>
                <a:latin typeface="Söhne"/>
              </a:rPr>
              <a:t> of Major Cloud Service Providers: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Amazon Web Services (AWS):</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Offers</a:t>
            </a:r>
            <a:r>
              <a:rPr lang="fr-FR" b="0" i="0" dirty="0">
                <a:solidFill>
                  <a:srgbClr val="ECECEC"/>
                </a:solidFill>
                <a:effectLst/>
                <a:latin typeface="Söhne"/>
              </a:rPr>
              <a:t> a </a:t>
            </a:r>
            <a:r>
              <a:rPr lang="fr-FR" b="0" i="0" dirty="0" err="1">
                <a:solidFill>
                  <a:srgbClr val="ECECEC"/>
                </a:solidFill>
                <a:effectLst/>
                <a:latin typeface="Söhne"/>
              </a:rPr>
              <a:t>wide</a:t>
            </a:r>
            <a:r>
              <a:rPr lang="fr-FR" b="0" i="0" dirty="0">
                <a:solidFill>
                  <a:srgbClr val="ECECEC"/>
                </a:solidFill>
                <a:effectLst/>
                <a:latin typeface="Söhne"/>
              </a:rPr>
              <a:t> range of cloud services.</a:t>
            </a:r>
          </a:p>
          <a:p>
            <a:pPr marL="742950" lvl="1" indent="-285750" algn="l">
              <a:buFont typeface="Arial" panose="020B0604020202020204" pitchFamily="34" charset="0"/>
              <a:buChar char="•"/>
            </a:pPr>
            <a:r>
              <a:rPr lang="fr-FR" b="1" i="0" dirty="0">
                <a:solidFill>
                  <a:srgbClr val="ECECEC"/>
                </a:solidFill>
                <a:effectLst/>
                <a:latin typeface="Söhne"/>
              </a:rPr>
              <a:t>Microsoft Azure: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Strong </a:t>
            </a:r>
            <a:r>
              <a:rPr lang="fr-FR" b="0" i="0" dirty="0" err="1">
                <a:solidFill>
                  <a:srgbClr val="ECECEC"/>
                </a:solidFill>
                <a:effectLst/>
                <a:latin typeface="Söhne"/>
              </a:rPr>
              <a:t>integration</a:t>
            </a:r>
            <a:r>
              <a:rPr lang="fr-FR" b="0" i="0" dirty="0">
                <a:solidFill>
                  <a:srgbClr val="ECECEC"/>
                </a:solidFill>
                <a:effectLst/>
                <a:latin typeface="Söhne"/>
              </a:rPr>
              <a:t> </a:t>
            </a:r>
            <a:r>
              <a:rPr lang="fr-FR" b="0" i="0" dirty="0" err="1">
                <a:solidFill>
                  <a:srgbClr val="ECECEC"/>
                </a:solidFill>
                <a:effectLst/>
                <a:latin typeface="Söhne"/>
              </a:rPr>
              <a:t>with</a:t>
            </a:r>
            <a:r>
              <a:rPr lang="fr-FR" b="0" i="0" dirty="0">
                <a:solidFill>
                  <a:srgbClr val="ECECEC"/>
                </a:solidFill>
                <a:effectLst/>
                <a:latin typeface="Söhne"/>
              </a:rPr>
              <a:t> Microsoft </a:t>
            </a:r>
            <a:r>
              <a:rPr lang="fr-FR" b="0" i="0" dirty="0" err="1">
                <a:solidFill>
                  <a:srgbClr val="ECECEC"/>
                </a:solidFill>
                <a:effectLst/>
                <a:latin typeface="Söhne"/>
              </a:rPr>
              <a:t>products</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a:solidFill>
                  <a:srgbClr val="ECECEC"/>
                </a:solidFill>
                <a:effectLst/>
                <a:latin typeface="Söhne"/>
              </a:rPr>
              <a:t>Google Cloud Platform (GCP):</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Focuses</a:t>
            </a:r>
            <a:r>
              <a:rPr lang="fr-FR" b="0" i="0" dirty="0">
                <a:solidFill>
                  <a:srgbClr val="ECECEC"/>
                </a:solidFill>
                <a:effectLst/>
                <a:latin typeface="Söhne"/>
              </a:rPr>
              <a:t> on </a:t>
            </a:r>
            <a:r>
              <a:rPr lang="fr-FR" b="0" i="0" dirty="0" err="1">
                <a:solidFill>
                  <a:srgbClr val="ECECEC"/>
                </a:solidFill>
                <a:effectLst/>
                <a:latin typeface="Söhne"/>
              </a:rPr>
              <a:t>artificial</a:t>
            </a:r>
            <a:r>
              <a:rPr lang="fr-FR" b="0" i="0" dirty="0">
                <a:solidFill>
                  <a:srgbClr val="ECECEC"/>
                </a:solidFill>
                <a:effectLst/>
                <a:latin typeface="Söhne"/>
              </a:rPr>
              <a:t> intelligence and data </a:t>
            </a:r>
            <a:r>
              <a:rPr lang="fr-FR" b="0" i="0" dirty="0" err="1">
                <a:solidFill>
                  <a:srgbClr val="ECECEC"/>
                </a:solidFill>
                <a:effectLst/>
                <a:latin typeface="Söhne"/>
              </a:rPr>
              <a:t>analytics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Brief </a:t>
            </a:r>
            <a:r>
              <a:rPr lang="fr-FR" b="1" i="0" dirty="0" err="1">
                <a:solidFill>
                  <a:srgbClr val="ECECEC"/>
                </a:solidFill>
                <a:effectLst/>
                <a:latin typeface="Söhne"/>
              </a:rPr>
              <a:t>Overview</a:t>
            </a:r>
            <a:r>
              <a:rPr lang="fr-FR" b="1" i="0" dirty="0">
                <a:solidFill>
                  <a:srgbClr val="ECECEC"/>
                </a:solidFill>
                <a:effectLst/>
                <a:latin typeface="Söhne"/>
              </a:rPr>
              <a:t> of </a:t>
            </a:r>
            <a:r>
              <a:rPr lang="fr-FR" b="1" i="0" dirty="0" err="1">
                <a:solidFill>
                  <a:srgbClr val="ECECEC"/>
                </a:solidFill>
                <a:effectLst/>
                <a:latin typeface="Söhne"/>
              </a:rPr>
              <a:t>Their</a:t>
            </a:r>
            <a:r>
              <a:rPr lang="fr-FR" b="1" i="0" dirty="0">
                <a:solidFill>
                  <a:srgbClr val="ECECEC"/>
                </a:solidFill>
                <a:effectLst/>
                <a:latin typeface="Söhne"/>
              </a:rPr>
              <a:t> </a:t>
            </a:r>
            <a:r>
              <a:rPr lang="fr-FR" b="1" i="0" dirty="0" err="1">
                <a:solidFill>
                  <a:srgbClr val="ECECEC"/>
                </a:solidFill>
                <a:effectLst/>
                <a:latin typeface="Söhne"/>
              </a:rPr>
              <a:t>Offerings</a:t>
            </a:r>
            <a:r>
              <a:rPr lang="fr-FR" b="1" i="0" dirty="0">
                <a:solidFill>
                  <a:srgbClr val="ECECEC"/>
                </a:solidFill>
                <a:effectLst/>
                <a:latin typeface="Söhne"/>
              </a:rPr>
              <a:t> and </a:t>
            </a:r>
            <a:r>
              <a:rPr lang="fr-FR" b="1" i="0" dirty="0" err="1">
                <a:solidFill>
                  <a:srgbClr val="ECECEC"/>
                </a:solidFill>
                <a:effectLst/>
                <a:latin typeface="Söhne"/>
              </a:rPr>
              <a:t>Market</a:t>
            </a:r>
            <a:r>
              <a:rPr lang="fr-FR" b="1" i="0" dirty="0">
                <a:solidFill>
                  <a:srgbClr val="ECECEC"/>
                </a:solidFill>
                <a:effectLst/>
                <a:latin typeface="Söhne"/>
              </a:rPr>
              <a:t> Share:</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All </a:t>
            </a:r>
            <a:r>
              <a:rPr lang="fr-FR" b="0" i="0" dirty="0" err="1">
                <a:solidFill>
                  <a:srgbClr val="ECECEC"/>
                </a:solidFill>
                <a:effectLst/>
                <a:latin typeface="Söhne"/>
              </a:rPr>
              <a:t>these</a:t>
            </a:r>
            <a:r>
              <a:rPr lang="fr-FR" b="0" i="0" dirty="0">
                <a:solidFill>
                  <a:srgbClr val="ECECEC"/>
                </a:solidFill>
                <a:effectLst/>
                <a:latin typeface="Söhne"/>
              </a:rPr>
              <a:t> providers </a:t>
            </a:r>
            <a:r>
              <a:rPr lang="fr-FR" b="0" i="0" dirty="0" err="1">
                <a:solidFill>
                  <a:srgbClr val="ECECEC"/>
                </a:solidFill>
                <a:effectLst/>
                <a:latin typeface="Söhne"/>
              </a:rPr>
              <a:t>offer</a:t>
            </a:r>
            <a:r>
              <a:rPr lang="fr-FR" b="0" i="0" dirty="0">
                <a:solidFill>
                  <a:srgbClr val="ECECEC"/>
                </a:solidFill>
                <a:effectLst/>
                <a:latin typeface="Söhne"/>
              </a:rPr>
              <a:t> </a:t>
            </a:r>
            <a:r>
              <a:rPr lang="fr-FR" b="0" i="0" dirty="0" err="1">
                <a:solidFill>
                  <a:srgbClr val="ECECEC"/>
                </a:solidFill>
                <a:effectLst/>
                <a:latin typeface="Söhne"/>
              </a:rPr>
              <a:t>virtually</a:t>
            </a:r>
            <a:r>
              <a:rPr lang="fr-FR" b="0" i="0" dirty="0">
                <a:solidFill>
                  <a:srgbClr val="ECECEC"/>
                </a:solidFill>
                <a:effectLst/>
                <a:latin typeface="Söhne"/>
              </a:rPr>
              <a:t> the </a:t>
            </a:r>
            <a:r>
              <a:rPr lang="fr-FR" b="0" i="0" dirty="0" err="1">
                <a:solidFill>
                  <a:srgbClr val="ECECEC"/>
                </a:solidFill>
                <a:effectLst/>
                <a:latin typeface="Söhne"/>
              </a:rPr>
              <a:t>same</a:t>
            </a:r>
            <a:r>
              <a:rPr lang="fr-FR" b="0" i="0" dirty="0">
                <a:solidFill>
                  <a:srgbClr val="ECECEC"/>
                </a:solidFill>
                <a:effectLst/>
                <a:latin typeface="Söhne"/>
              </a:rPr>
              <a:t> services.</a:t>
            </a:r>
          </a:p>
          <a:p>
            <a:pPr marL="742950" lvl="1" indent="-28575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provider </a:t>
            </a:r>
            <a:r>
              <a:rPr lang="fr-FR" b="0" i="0" dirty="0" err="1">
                <a:solidFill>
                  <a:srgbClr val="ECECEC"/>
                </a:solidFill>
                <a:effectLst/>
                <a:latin typeface="Söhne"/>
              </a:rPr>
              <a:t>offers</a:t>
            </a:r>
            <a:r>
              <a:rPr lang="fr-FR" b="0" i="0" dirty="0">
                <a:solidFill>
                  <a:srgbClr val="ECECEC"/>
                </a:solidFill>
                <a:effectLst/>
                <a:latin typeface="Söhne"/>
              </a:rPr>
              <a:t> a diverse range of services </a:t>
            </a:r>
            <a:r>
              <a:rPr lang="fr-FR" b="0" i="0" dirty="0" err="1">
                <a:solidFill>
                  <a:srgbClr val="ECECEC"/>
                </a:solidFill>
                <a:effectLst/>
                <a:latin typeface="Söhne"/>
              </a:rPr>
              <a:t>tailored</a:t>
            </a:r>
            <a:r>
              <a:rPr lang="fr-FR" b="0" i="0" dirty="0">
                <a:solidFill>
                  <a:srgbClr val="ECECEC"/>
                </a:solidFill>
                <a:effectLst/>
                <a:latin typeface="Söhne"/>
              </a:rPr>
              <a:t> to the </a:t>
            </a:r>
            <a:r>
              <a:rPr lang="fr-FR" b="0" i="0" dirty="0" err="1">
                <a:solidFill>
                  <a:srgbClr val="ECECEC"/>
                </a:solidFill>
                <a:effectLst/>
                <a:latin typeface="Söhne"/>
              </a:rPr>
              <a:t>needs</a:t>
            </a:r>
            <a:r>
              <a:rPr lang="fr-FR" b="0" i="0" dirty="0">
                <a:solidFill>
                  <a:srgbClr val="ECECEC"/>
                </a:solidFill>
                <a:effectLst/>
                <a:latin typeface="Söhne"/>
              </a:rPr>
              <a:t> of businesses of all sizes.</a:t>
            </a:r>
          </a:p>
        </p:txBody>
      </p:sp>
    </p:spTree>
    <p:extLst>
      <p:ext uri="{BB962C8B-B14F-4D97-AF65-F5344CB8AC3E}">
        <p14:creationId xmlns:p14="http://schemas.microsoft.com/office/powerpoint/2010/main" val="379913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lnSpcReduction="10000"/>
          </a:bodyPr>
          <a:lstStyle/>
          <a:p>
            <a:pPr algn="l">
              <a:buFont typeface="Arial" panose="020B0604020202020204" pitchFamily="34" charset="0"/>
              <a:buChar char="•"/>
            </a:pPr>
            <a:r>
              <a:rPr lang="fr-FR" b="1" i="0" dirty="0" err="1">
                <a:solidFill>
                  <a:srgbClr val="ECECEC"/>
                </a:solidFill>
                <a:effectLst/>
                <a:latin typeface="Söhne"/>
              </a:rPr>
              <a:t>Highlighting</a:t>
            </a:r>
            <a:r>
              <a:rPr lang="fr-FR" b="1" i="0" dirty="0">
                <a:solidFill>
                  <a:srgbClr val="ECECEC"/>
                </a:solidFill>
                <a:effectLst/>
                <a:latin typeface="Söhne"/>
              </a:rPr>
              <a:t> French Cloud Providers: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OVHcloud</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European</a:t>
            </a:r>
            <a:r>
              <a:rPr lang="fr-FR" b="0" i="0" dirty="0">
                <a:solidFill>
                  <a:srgbClr val="ECECEC"/>
                </a:solidFill>
                <a:effectLst/>
                <a:latin typeface="Söhne"/>
              </a:rPr>
              <a:t> leader, </a:t>
            </a:r>
            <a:r>
              <a:rPr lang="fr-FR" b="0" i="0" dirty="0" err="1">
                <a:solidFill>
                  <a:srgbClr val="ECECEC"/>
                </a:solidFill>
                <a:effectLst/>
                <a:latin typeface="Söhne"/>
              </a:rPr>
              <a:t>offering</a:t>
            </a:r>
            <a:r>
              <a:rPr lang="fr-FR" b="0" i="0" dirty="0">
                <a:solidFill>
                  <a:srgbClr val="ECECEC"/>
                </a:solidFill>
                <a:effectLst/>
                <a:latin typeface="Söhne"/>
              </a:rPr>
              <a:t> a </a:t>
            </a:r>
            <a:r>
              <a:rPr lang="fr-FR" b="0" i="0" dirty="0" err="1">
                <a:solidFill>
                  <a:srgbClr val="ECECEC"/>
                </a:solidFill>
                <a:effectLst/>
                <a:latin typeface="Söhne"/>
              </a:rPr>
              <a:t>wide</a:t>
            </a:r>
            <a:r>
              <a:rPr lang="fr-FR" b="0" i="0" dirty="0">
                <a:solidFill>
                  <a:srgbClr val="ECECEC"/>
                </a:solidFill>
                <a:effectLst/>
                <a:latin typeface="Söhne"/>
              </a:rPr>
              <a:t> range of Cloud services.</a:t>
            </a:r>
          </a:p>
          <a:p>
            <a:pPr marL="742950" lvl="1" indent="-285750" algn="l">
              <a:buFont typeface="Arial" panose="020B0604020202020204" pitchFamily="34" charset="0"/>
              <a:buChar char="•"/>
            </a:pPr>
            <a:r>
              <a:rPr lang="fr-FR" b="1" i="0" dirty="0" err="1">
                <a:solidFill>
                  <a:srgbClr val="ECECEC"/>
                </a:solidFill>
                <a:effectLst/>
                <a:latin typeface="Söhne"/>
              </a:rPr>
              <a:t>Scaleway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Provides</a:t>
            </a:r>
            <a:r>
              <a:rPr lang="fr-FR" b="0" i="0" dirty="0">
                <a:solidFill>
                  <a:srgbClr val="ECECEC"/>
                </a:solidFill>
                <a:effectLst/>
                <a:latin typeface="Söhne"/>
              </a:rPr>
              <a:t> Cloud solutions </a:t>
            </a:r>
            <a:r>
              <a:rPr lang="fr-FR" b="0" i="0" dirty="0" err="1">
                <a:solidFill>
                  <a:srgbClr val="ECECEC"/>
                </a:solidFill>
                <a:effectLst/>
                <a:latin typeface="Söhne"/>
              </a:rPr>
              <a:t>tailored</a:t>
            </a:r>
            <a:r>
              <a:rPr lang="fr-FR" b="0" i="0" dirty="0">
                <a:solidFill>
                  <a:srgbClr val="ECECEC"/>
                </a:solidFill>
                <a:effectLst/>
                <a:latin typeface="Söhne"/>
              </a:rPr>
              <a:t> to startups and </a:t>
            </a:r>
            <a:r>
              <a:rPr lang="fr-FR" b="0" i="0" dirty="0" err="1">
                <a:solidFill>
                  <a:srgbClr val="ECECEC"/>
                </a:solidFill>
                <a:effectLst/>
                <a:latin typeface="Söhne"/>
              </a:rPr>
              <a:t>SMEs</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Cloudwatt</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Focused</a:t>
            </a:r>
            <a:r>
              <a:rPr lang="fr-FR" b="0" i="0" dirty="0">
                <a:solidFill>
                  <a:srgbClr val="ECECEC"/>
                </a:solidFill>
                <a:effectLst/>
                <a:latin typeface="Söhne"/>
              </a:rPr>
              <a:t> on meeting the </a:t>
            </a:r>
            <a:r>
              <a:rPr lang="fr-FR" b="0" i="0" dirty="0" err="1">
                <a:solidFill>
                  <a:srgbClr val="ECECEC"/>
                </a:solidFill>
                <a:effectLst/>
                <a:latin typeface="Söhne"/>
              </a:rPr>
              <a:t>needs</a:t>
            </a:r>
            <a:r>
              <a:rPr lang="fr-FR" b="0" i="0" dirty="0">
                <a:solidFill>
                  <a:srgbClr val="ECECEC"/>
                </a:solidFill>
                <a:effectLst/>
                <a:latin typeface="Söhne"/>
              </a:rPr>
              <a:t> of public and </a:t>
            </a:r>
            <a:r>
              <a:rPr lang="fr-FR" b="0" i="0" dirty="0" err="1">
                <a:solidFill>
                  <a:srgbClr val="ECECEC"/>
                </a:solidFill>
                <a:effectLst/>
                <a:latin typeface="Söhne"/>
              </a:rPr>
              <a:t>private</a:t>
            </a:r>
            <a:r>
              <a:rPr lang="fr-FR" b="0" i="0" dirty="0">
                <a:solidFill>
                  <a:srgbClr val="ECECEC"/>
                </a:solidFill>
                <a:effectLst/>
                <a:latin typeface="Söhne"/>
              </a:rPr>
              <a:t> </a:t>
            </a:r>
            <a:r>
              <a:rPr lang="fr-FR" b="0" i="0" dirty="0" err="1">
                <a:solidFill>
                  <a:srgbClr val="ECECEC"/>
                </a:solidFill>
                <a:effectLst/>
                <a:latin typeface="Söhne"/>
              </a:rPr>
              <a:t>sectors</a:t>
            </a:r>
            <a:r>
              <a:rPr lang="fr-FR" b="0" i="0" dirty="0">
                <a:solidFill>
                  <a:srgbClr val="ECECEC"/>
                </a:solidFill>
                <a:effectLst/>
                <a:latin typeface="Söhne"/>
              </a:rPr>
              <a:t> in France.</a:t>
            </a:r>
          </a:p>
          <a:p>
            <a:pPr algn="l">
              <a:buFont typeface="Arial" panose="020B0604020202020204" pitchFamily="34" charset="0"/>
              <a:buChar char="•"/>
            </a:pPr>
            <a:r>
              <a:rPr lang="fr-FR" b="1" i="0" dirty="0" err="1">
                <a:solidFill>
                  <a:srgbClr val="ECECEC"/>
                </a:solidFill>
                <a:effectLst/>
                <a:latin typeface="Söhne"/>
              </a:rPr>
              <a:t>Specific</a:t>
            </a:r>
            <a:r>
              <a:rPr lang="fr-FR" b="1" i="0" dirty="0">
                <a:solidFill>
                  <a:srgbClr val="ECECEC"/>
                </a:solidFill>
                <a:effectLst/>
                <a:latin typeface="Söhne"/>
              </a:rPr>
              <a:t> </a:t>
            </a:r>
            <a:r>
              <a:rPr lang="fr-FR" b="1" i="0" dirty="0" err="1">
                <a:solidFill>
                  <a:srgbClr val="ECECEC"/>
                </a:solidFill>
                <a:effectLst/>
                <a:latin typeface="Söhne"/>
              </a:rPr>
              <a:t>Advantages</a:t>
            </a:r>
            <a:r>
              <a:rPr lang="fr-FR" b="1" i="0" dirty="0">
                <a:solidFill>
                  <a:srgbClr val="ECECEC"/>
                </a:solidFill>
                <a:effectLst/>
                <a:latin typeface="Söhne"/>
              </a:rPr>
              <a:t> of </a:t>
            </a:r>
            <a:r>
              <a:rPr lang="fr-FR" b="1" i="0" dirty="0" err="1">
                <a:solidFill>
                  <a:srgbClr val="ECECEC"/>
                </a:solidFill>
                <a:effectLst/>
                <a:latin typeface="Söhne"/>
              </a:rPr>
              <a:t>Choosing</a:t>
            </a:r>
            <a:r>
              <a:rPr lang="fr-FR" b="1" i="0" dirty="0">
                <a:solidFill>
                  <a:srgbClr val="ECECEC"/>
                </a:solidFill>
                <a:effectLst/>
                <a:latin typeface="Söhne"/>
              </a:rPr>
              <a:t> a Local Provider:</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Regulatory</a:t>
            </a:r>
            <a:r>
              <a:rPr lang="fr-FR" b="1" i="0" dirty="0">
                <a:solidFill>
                  <a:srgbClr val="ECECEC"/>
                </a:solidFill>
                <a:effectLst/>
                <a:latin typeface="Söhne"/>
              </a:rPr>
              <a:t> Compliance: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Compliance </a:t>
            </a:r>
            <a:r>
              <a:rPr lang="fr-FR" b="0" i="0" dirty="0" err="1">
                <a:solidFill>
                  <a:srgbClr val="ECECEC"/>
                </a:solidFill>
                <a:effectLst/>
                <a:latin typeface="Söhne"/>
              </a:rPr>
              <a:t>with</a:t>
            </a:r>
            <a:r>
              <a:rPr lang="fr-FR" b="0" i="0" dirty="0">
                <a:solidFill>
                  <a:srgbClr val="ECECEC"/>
                </a:solidFill>
                <a:effectLst/>
                <a:latin typeface="Söhne"/>
              </a:rPr>
              <a:t> French </a:t>
            </a:r>
            <a:r>
              <a:rPr lang="fr-FR" b="0" i="0" dirty="0" err="1">
                <a:solidFill>
                  <a:srgbClr val="ECECEC"/>
                </a:solidFill>
                <a:effectLst/>
                <a:latin typeface="Söhne"/>
              </a:rPr>
              <a:t>laws</a:t>
            </a:r>
            <a:r>
              <a:rPr lang="fr-FR" b="0" i="0" dirty="0">
                <a:solidFill>
                  <a:srgbClr val="ECECEC"/>
                </a:solidFill>
                <a:effectLst/>
                <a:latin typeface="Söhne"/>
              </a:rPr>
              <a:t> and </a:t>
            </a:r>
            <a:r>
              <a:rPr lang="fr-FR" b="0" i="0" dirty="0" err="1">
                <a:solidFill>
                  <a:srgbClr val="ECECEC"/>
                </a:solidFill>
                <a:effectLst/>
                <a:latin typeface="Söhne"/>
              </a:rPr>
              <a:t>regulations</a:t>
            </a:r>
            <a:r>
              <a:rPr lang="fr-FR" b="0" i="0" dirty="0">
                <a:solidFill>
                  <a:srgbClr val="ECECEC"/>
                </a:solidFill>
                <a:effectLst/>
                <a:latin typeface="Söhne"/>
              </a:rPr>
              <a:t> </a:t>
            </a:r>
            <a:r>
              <a:rPr lang="fr-FR" b="0" i="0" dirty="0" err="1">
                <a:solidFill>
                  <a:srgbClr val="ECECEC"/>
                </a:solidFill>
                <a:effectLst/>
                <a:latin typeface="Söhne"/>
              </a:rPr>
              <a:t>regarding</a:t>
            </a:r>
            <a:r>
              <a:rPr lang="fr-FR" b="0" i="0" dirty="0">
                <a:solidFill>
                  <a:srgbClr val="ECECEC"/>
                </a:solidFill>
                <a:effectLst/>
                <a:latin typeface="Söhne"/>
              </a:rPr>
              <a:t> data protection.</a:t>
            </a:r>
          </a:p>
          <a:p>
            <a:pPr marL="742950" lvl="1" indent="-285750" algn="l">
              <a:buFont typeface="Arial" panose="020B0604020202020204" pitchFamily="34" charset="0"/>
              <a:buChar char="•"/>
            </a:pPr>
            <a:r>
              <a:rPr lang="fr-FR" b="1" i="0" dirty="0" err="1">
                <a:solidFill>
                  <a:srgbClr val="ECECEC"/>
                </a:solidFill>
                <a:effectLst/>
                <a:latin typeface="Söhne"/>
              </a:rPr>
              <a:t>Technical</a:t>
            </a:r>
            <a:r>
              <a:rPr lang="fr-FR" b="1" i="0" dirty="0">
                <a:solidFill>
                  <a:srgbClr val="ECECEC"/>
                </a:solidFill>
                <a:effectLst/>
                <a:latin typeface="Söhne"/>
              </a:rPr>
              <a:t> Support in French:</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Customer support and assistance in the local </a:t>
            </a:r>
            <a:r>
              <a:rPr lang="fr-FR" b="0" i="0" dirty="0" err="1">
                <a:solidFill>
                  <a:srgbClr val="ECECEC"/>
                </a:solidFill>
                <a:effectLst/>
                <a:latin typeface="Söhne"/>
              </a:rPr>
              <a:t>language</a:t>
            </a:r>
            <a:r>
              <a:rPr lang="fr-FR" b="0" i="0" dirty="0">
                <a:solidFill>
                  <a:srgbClr val="ECECEC"/>
                </a:solidFill>
                <a:effectLst/>
                <a:latin typeface="Söhne"/>
              </a:rPr>
              <a:t>, </a:t>
            </a:r>
            <a:r>
              <a:rPr lang="fr-FR" b="0" i="0" dirty="0" err="1">
                <a:solidFill>
                  <a:srgbClr val="ECECEC"/>
                </a:solidFill>
                <a:effectLst/>
                <a:latin typeface="Söhne"/>
              </a:rPr>
              <a:t>facilitating</a:t>
            </a:r>
            <a:r>
              <a:rPr lang="fr-FR" b="0" i="0" dirty="0">
                <a:solidFill>
                  <a:srgbClr val="ECECEC"/>
                </a:solidFill>
                <a:effectLst/>
                <a:latin typeface="Söhne"/>
              </a:rPr>
              <a:t> communication and issue </a:t>
            </a:r>
            <a:r>
              <a:rPr lang="fr-FR" b="0" i="0" dirty="0" err="1">
                <a:solidFill>
                  <a:srgbClr val="ECECEC"/>
                </a:solidFill>
                <a:effectLst/>
                <a:latin typeface="Söhne"/>
              </a:rPr>
              <a:t>resolution</a:t>
            </a:r>
            <a:r>
              <a:rPr lang="fr-FR" b="0" i="0" dirty="0">
                <a:solidFill>
                  <a:srgbClr val="ECECEC"/>
                </a:solidFill>
                <a:effectLst/>
                <a:latin typeface="Söhne"/>
              </a:rPr>
              <a:t>.</a:t>
            </a:r>
          </a:p>
        </p:txBody>
      </p:sp>
    </p:spTree>
    <p:extLst>
      <p:ext uri="{BB962C8B-B14F-4D97-AF65-F5344CB8AC3E}">
        <p14:creationId xmlns:p14="http://schemas.microsoft.com/office/powerpoint/2010/main" val="3269383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2800" dirty="0"/>
              <a:t>Cloud vs on-</a:t>
            </a:r>
            <a:r>
              <a:rPr lang="fr-FR" sz="2800" dirty="0" err="1"/>
              <a:t>prem</a:t>
            </a:r>
            <a:endParaRPr lang="fr-FR" sz="3000" dirty="0"/>
          </a:p>
        </p:txBody>
      </p:sp>
    </p:spTree>
    <p:extLst>
      <p:ext uri="{BB962C8B-B14F-4D97-AF65-F5344CB8AC3E}">
        <p14:creationId xmlns:p14="http://schemas.microsoft.com/office/powerpoint/2010/main" val="732473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9467" y="81966"/>
            <a:ext cx="11530647" cy="1293028"/>
          </a:xfrm>
        </p:spPr>
        <p:txBody>
          <a:bodyPr>
            <a:normAutofit/>
          </a:bodyPr>
          <a:lstStyle/>
          <a:p>
            <a:pPr algn="l"/>
            <a:r>
              <a:rPr lang="fr-FR" sz="3200" dirty="0"/>
              <a:t>Cloud vs on-</a:t>
            </a:r>
            <a:r>
              <a:rPr lang="fr-FR" sz="3200" dirty="0" err="1"/>
              <a:t>prem</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149531"/>
            <a:ext cx="10622502" cy="5399315"/>
          </a:xfrm>
        </p:spPr>
        <p:txBody>
          <a:bodyPr>
            <a:normAutofit fontScale="92500" lnSpcReduction="10000"/>
          </a:bodyPr>
          <a:lstStyle/>
          <a:p>
            <a:pPr algn="l">
              <a:buFont typeface="Arial" panose="020B0604020202020204" pitchFamily="34" charset="0"/>
              <a:buChar char="•"/>
            </a:pPr>
            <a:r>
              <a:rPr lang="fr-FR" b="1" i="0" dirty="0" err="1">
                <a:solidFill>
                  <a:srgbClr val="ECECEC"/>
                </a:solidFill>
                <a:effectLst/>
                <a:latin typeface="Söhne"/>
              </a:rPr>
              <a:t>Explanation</a:t>
            </a:r>
            <a:r>
              <a:rPr lang="fr-FR" b="1" i="0" dirty="0">
                <a:solidFill>
                  <a:srgbClr val="ECECEC"/>
                </a:solidFill>
                <a:effectLst/>
                <a:latin typeface="Söhne"/>
              </a:rPr>
              <a:t> of </a:t>
            </a:r>
            <a:r>
              <a:rPr lang="fr-FR" b="1" i="0" dirty="0" err="1">
                <a:solidFill>
                  <a:srgbClr val="ECECEC"/>
                </a:solidFill>
                <a:effectLst/>
                <a:latin typeface="Söhne"/>
              </a:rPr>
              <a:t>Two</a:t>
            </a:r>
            <a:r>
              <a:rPr lang="fr-FR" b="1" i="0" dirty="0">
                <a:solidFill>
                  <a:srgbClr val="ECECEC"/>
                </a:solidFill>
                <a:effectLst/>
                <a:latin typeface="Söhne"/>
              </a:rPr>
              <a:t> </a:t>
            </a:r>
            <a:r>
              <a:rPr lang="fr-FR" b="1" i="0" dirty="0" err="1">
                <a:solidFill>
                  <a:srgbClr val="ECECEC"/>
                </a:solidFill>
                <a:effectLst/>
                <a:latin typeface="Söhne"/>
              </a:rPr>
              <a:t>Models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Cloud :</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Computing</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are </a:t>
            </a:r>
            <a:r>
              <a:rPr lang="fr-FR" b="0" i="0" dirty="0" err="1">
                <a:solidFill>
                  <a:srgbClr val="ECECEC"/>
                </a:solidFill>
                <a:effectLst/>
                <a:latin typeface="Söhne"/>
              </a:rPr>
              <a:t>hosted</a:t>
            </a:r>
            <a:r>
              <a:rPr lang="fr-FR" b="0" i="0" dirty="0">
                <a:solidFill>
                  <a:srgbClr val="ECECEC"/>
                </a:solidFill>
                <a:effectLst/>
                <a:latin typeface="Söhne"/>
              </a:rPr>
              <a:t> and </a:t>
            </a:r>
            <a:r>
              <a:rPr lang="fr-FR" b="0" i="0" dirty="0" err="1">
                <a:solidFill>
                  <a:srgbClr val="ECECEC"/>
                </a:solidFill>
                <a:effectLst/>
                <a:latin typeface="Söhne"/>
              </a:rPr>
              <a:t>managed</a:t>
            </a:r>
            <a:r>
              <a:rPr lang="fr-FR" b="0" i="0" dirty="0">
                <a:solidFill>
                  <a:srgbClr val="ECECEC"/>
                </a:solidFill>
                <a:effectLst/>
                <a:latin typeface="Söhne"/>
              </a:rPr>
              <a:t> by </a:t>
            </a:r>
            <a:r>
              <a:rPr lang="fr-FR" b="0" i="0" dirty="0" err="1">
                <a:solidFill>
                  <a:srgbClr val="ECECEC"/>
                </a:solidFill>
                <a:effectLst/>
                <a:latin typeface="Söhne"/>
              </a:rPr>
              <a:t>external</a:t>
            </a:r>
            <a:r>
              <a:rPr lang="fr-FR" b="0" i="0" dirty="0">
                <a:solidFill>
                  <a:srgbClr val="ECECEC"/>
                </a:solidFill>
                <a:effectLst/>
                <a:latin typeface="Söhne"/>
              </a:rPr>
              <a:t> providers.</a:t>
            </a:r>
          </a:p>
          <a:p>
            <a:pPr marL="742950" lvl="1" indent="-285750" algn="l">
              <a:buFont typeface="Arial" panose="020B0604020202020204" pitchFamily="34" charset="0"/>
              <a:buChar char="•"/>
            </a:pPr>
            <a:r>
              <a:rPr lang="fr-FR" b="1" i="0" dirty="0">
                <a:solidFill>
                  <a:srgbClr val="ECECEC"/>
                </a:solidFill>
                <a:effectLst/>
                <a:latin typeface="Söhne"/>
              </a:rPr>
              <a:t>On-</a:t>
            </a:r>
            <a:r>
              <a:rPr lang="fr-FR" b="1" i="0" dirty="0" err="1">
                <a:solidFill>
                  <a:srgbClr val="ECECEC"/>
                </a:solidFill>
                <a:effectLst/>
                <a:latin typeface="Söhne"/>
              </a:rPr>
              <a:t>Premises</a:t>
            </a:r>
            <a:r>
              <a:rPr lang="fr-FR" b="1" i="0" dirty="0">
                <a:solidFill>
                  <a:srgbClr val="ECECEC"/>
                </a:solidFill>
                <a:effectLst/>
                <a:latin typeface="Söhne"/>
              </a:rPr>
              <a:t> Infrastructure: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Computing</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are </a:t>
            </a:r>
            <a:r>
              <a:rPr lang="fr-FR" b="0" i="0" dirty="0" err="1">
                <a:solidFill>
                  <a:srgbClr val="ECECEC"/>
                </a:solidFill>
                <a:effectLst/>
                <a:latin typeface="Söhne"/>
              </a:rPr>
              <a:t>hosted</a:t>
            </a:r>
            <a:r>
              <a:rPr lang="fr-FR" b="0" i="0" dirty="0">
                <a:solidFill>
                  <a:srgbClr val="ECECEC"/>
                </a:solidFill>
                <a:effectLst/>
                <a:latin typeface="Söhne"/>
              </a:rPr>
              <a:t> and </a:t>
            </a:r>
            <a:r>
              <a:rPr lang="fr-FR" b="0" i="0" dirty="0" err="1">
                <a:solidFill>
                  <a:srgbClr val="ECECEC"/>
                </a:solidFill>
                <a:effectLst/>
                <a:latin typeface="Söhne"/>
              </a:rPr>
              <a:t>managed</a:t>
            </a:r>
            <a:r>
              <a:rPr lang="fr-FR" b="0" i="0" dirty="0">
                <a:solidFill>
                  <a:srgbClr val="ECECEC"/>
                </a:solidFill>
                <a:effectLst/>
                <a:latin typeface="Söhne"/>
              </a:rPr>
              <a:t> </a:t>
            </a:r>
            <a:r>
              <a:rPr lang="fr-FR" b="0" i="0" dirty="0" err="1">
                <a:solidFill>
                  <a:srgbClr val="ECECEC"/>
                </a:solidFill>
                <a:effectLst/>
                <a:latin typeface="Söhne"/>
              </a:rPr>
              <a:t>internally</a:t>
            </a:r>
            <a:r>
              <a:rPr lang="fr-FR" b="0" i="0" dirty="0">
                <a:solidFill>
                  <a:srgbClr val="ECECEC"/>
                </a:solidFill>
                <a:effectLst/>
                <a:latin typeface="Söhne"/>
              </a:rPr>
              <a:t> by the </a:t>
            </a:r>
            <a:r>
              <a:rPr lang="fr-FR" b="0" i="0" dirty="0" err="1">
                <a:solidFill>
                  <a:srgbClr val="ECECEC"/>
                </a:solidFill>
                <a:effectLst/>
                <a:latin typeface="Söhne"/>
              </a:rPr>
              <a:t>company</a:t>
            </a:r>
            <a:r>
              <a:rPr lang="fr-FR" b="0" i="0" dirty="0">
                <a:solidFill>
                  <a:srgbClr val="ECECEC"/>
                </a:solidFill>
                <a:effectLst/>
                <a:latin typeface="Söhne"/>
              </a:rPr>
              <a:t>.</a:t>
            </a:r>
          </a:p>
          <a:p>
            <a:pPr algn="l">
              <a:buFont typeface="Arial" panose="020B0604020202020204" pitchFamily="34" charset="0"/>
              <a:buChar char="•"/>
            </a:pPr>
            <a:r>
              <a:rPr lang="fr-FR" b="1" i="0" dirty="0" err="1">
                <a:solidFill>
                  <a:srgbClr val="ECECEC"/>
                </a:solidFill>
                <a:effectLst/>
                <a:latin typeface="Söhne"/>
              </a:rPr>
              <a:t>Contrast</a:t>
            </a:r>
            <a:r>
              <a:rPr lang="fr-FR" b="1" i="0" dirty="0">
                <a:solidFill>
                  <a:srgbClr val="ECECEC"/>
                </a:solidFill>
                <a:effectLst/>
                <a:latin typeface="Söhne"/>
              </a:rPr>
              <a:t> </a:t>
            </a:r>
            <a:r>
              <a:rPr lang="fr-FR" b="1" i="0" dirty="0" err="1">
                <a:solidFill>
                  <a:srgbClr val="ECECEC"/>
                </a:solidFill>
                <a:effectLst/>
                <a:latin typeface="Söhne"/>
              </a:rPr>
              <a:t>Between</a:t>
            </a:r>
            <a:r>
              <a:rPr lang="fr-FR" b="1" i="0" dirty="0">
                <a:solidFill>
                  <a:srgbClr val="ECECEC"/>
                </a:solidFill>
                <a:effectLst/>
                <a:latin typeface="Söhne"/>
              </a:rPr>
              <a:t> </a:t>
            </a:r>
            <a:r>
              <a:rPr lang="fr-FR" b="1" i="0" dirty="0" err="1">
                <a:solidFill>
                  <a:srgbClr val="ECECEC"/>
                </a:solidFill>
                <a:effectLst/>
                <a:latin typeface="Söhne"/>
              </a:rPr>
              <a:t>Costs</a:t>
            </a:r>
            <a:r>
              <a:rPr lang="fr-FR" b="1" i="0" dirty="0">
                <a:solidFill>
                  <a:srgbClr val="ECECEC"/>
                </a:solidFill>
                <a:effectLst/>
                <a:latin typeface="Söhne"/>
              </a:rPr>
              <a:t>, Management, </a:t>
            </a:r>
            <a:r>
              <a:rPr lang="fr-FR" b="1" i="0" dirty="0" err="1">
                <a:solidFill>
                  <a:srgbClr val="ECECEC"/>
                </a:solidFill>
                <a:effectLst/>
                <a:latin typeface="Söhne"/>
              </a:rPr>
              <a:t>Scalability</a:t>
            </a:r>
            <a:r>
              <a:rPr lang="fr-FR" b="1" i="0" dirty="0">
                <a:solidFill>
                  <a:srgbClr val="ECECEC"/>
                </a:solidFill>
                <a:effectLst/>
                <a:latin typeface="Söhne"/>
              </a:rPr>
              <a:t>, and </a:t>
            </a:r>
            <a:r>
              <a:rPr lang="fr-FR" b="1" i="0" dirty="0" err="1">
                <a:solidFill>
                  <a:srgbClr val="ECECEC"/>
                </a:solidFill>
                <a:effectLst/>
                <a:latin typeface="Söhne"/>
              </a:rPr>
              <a:t>Flexibility</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Costs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Cloud: </a:t>
            </a:r>
            <a:r>
              <a:rPr lang="fr-FR" b="0" i="0" dirty="0" err="1">
                <a:solidFill>
                  <a:srgbClr val="ECECEC"/>
                </a:solidFill>
                <a:effectLst/>
                <a:latin typeface="Söhne"/>
              </a:rPr>
              <a:t>Pay</a:t>
            </a:r>
            <a:r>
              <a:rPr lang="fr-FR" b="0" i="0" dirty="0">
                <a:solidFill>
                  <a:srgbClr val="ECECEC"/>
                </a:solidFill>
                <a:effectLst/>
                <a:latin typeface="Söhne"/>
              </a:rPr>
              <a:t>-as-</a:t>
            </a:r>
            <a:r>
              <a:rPr lang="fr-FR" b="0" i="0" dirty="0" err="1">
                <a:solidFill>
                  <a:srgbClr val="ECECEC"/>
                </a:solidFill>
                <a:effectLst/>
                <a:latin typeface="Söhne"/>
              </a:rPr>
              <a:t>you</a:t>
            </a:r>
            <a:r>
              <a:rPr lang="fr-FR" b="0" i="0" dirty="0">
                <a:solidFill>
                  <a:srgbClr val="ECECEC"/>
                </a:solidFill>
                <a:effectLst/>
                <a:latin typeface="Söhne"/>
              </a:rPr>
              <a:t>-go model, no </a:t>
            </a:r>
            <a:r>
              <a:rPr lang="fr-FR" b="0" i="0" dirty="0" err="1">
                <a:solidFill>
                  <a:srgbClr val="ECECEC"/>
                </a:solidFill>
                <a:effectLst/>
                <a:latin typeface="Söhne"/>
              </a:rPr>
              <a:t>upfront</a:t>
            </a:r>
            <a:r>
              <a:rPr lang="fr-FR" b="0" i="0" dirty="0">
                <a:solidFill>
                  <a:srgbClr val="ECECEC"/>
                </a:solidFill>
                <a:effectLst/>
                <a:latin typeface="Söhne"/>
              </a:rPr>
              <a:t> </a:t>
            </a:r>
            <a:r>
              <a:rPr lang="fr-FR" b="0" i="0" dirty="0" err="1">
                <a:solidFill>
                  <a:srgbClr val="ECECEC"/>
                </a:solidFill>
                <a:effectLst/>
                <a:latin typeface="Söhne"/>
              </a:rPr>
              <a:t>investment</a:t>
            </a:r>
            <a:r>
              <a:rPr lang="fr-FR" b="0" i="0" dirty="0">
                <a:solidFill>
                  <a:srgbClr val="ECECEC"/>
                </a:solidFill>
                <a:effectLst/>
                <a:latin typeface="Söhne"/>
              </a:rPr>
              <a:t>.</a:t>
            </a:r>
          </a:p>
          <a:p>
            <a:pPr marL="1143000" lvl="2" indent="-228600" algn="l">
              <a:buFont typeface="Arial" panose="020B0604020202020204" pitchFamily="34" charset="0"/>
              <a:buChar char="•"/>
            </a:pPr>
            <a:r>
              <a:rPr lang="fr-FR" b="0" i="0" dirty="0">
                <a:solidFill>
                  <a:srgbClr val="ECECEC"/>
                </a:solidFill>
                <a:effectLst/>
                <a:latin typeface="Söhne"/>
              </a:rPr>
              <a:t>On-</a:t>
            </a:r>
            <a:r>
              <a:rPr lang="fr-FR" b="0" i="0" dirty="0" err="1">
                <a:solidFill>
                  <a:srgbClr val="ECECEC"/>
                </a:solidFill>
                <a:effectLst/>
                <a:latin typeface="Söhne"/>
              </a:rPr>
              <a:t>Premises</a:t>
            </a:r>
            <a:r>
              <a:rPr lang="fr-FR" b="0" i="0" dirty="0">
                <a:solidFill>
                  <a:srgbClr val="ECECEC"/>
                </a:solidFill>
                <a:effectLst/>
                <a:latin typeface="Söhne"/>
              </a:rPr>
              <a:t>: </a:t>
            </a:r>
            <a:r>
              <a:rPr lang="fr-FR" b="0" i="0" dirty="0" err="1">
                <a:solidFill>
                  <a:srgbClr val="ECECEC"/>
                </a:solidFill>
                <a:effectLst/>
                <a:latin typeface="Söhne"/>
              </a:rPr>
              <a:t>Upfront</a:t>
            </a:r>
            <a:r>
              <a:rPr lang="fr-FR" b="0" i="0" dirty="0">
                <a:solidFill>
                  <a:srgbClr val="ECECEC"/>
                </a:solidFill>
                <a:effectLst/>
                <a:latin typeface="Söhne"/>
              </a:rPr>
              <a:t> </a:t>
            </a:r>
            <a:r>
              <a:rPr lang="fr-FR" b="0" i="0" dirty="0" err="1">
                <a:solidFill>
                  <a:srgbClr val="ECECEC"/>
                </a:solidFill>
                <a:effectLst/>
                <a:latin typeface="Söhne"/>
              </a:rPr>
              <a:t>investment</a:t>
            </a:r>
            <a:r>
              <a:rPr lang="fr-FR" b="0" i="0" dirty="0">
                <a:solidFill>
                  <a:srgbClr val="ECECEC"/>
                </a:solidFill>
                <a:effectLst/>
                <a:latin typeface="Söhne"/>
              </a:rPr>
              <a:t> in hardware, software, and maintenance </a:t>
            </a:r>
            <a:r>
              <a:rPr lang="fr-FR" b="0" i="0" dirty="0" err="1">
                <a:solidFill>
                  <a:srgbClr val="ECECEC"/>
                </a:solidFill>
                <a:effectLst/>
                <a:latin typeface="Söhne"/>
              </a:rPr>
              <a:t>costs</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a:solidFill>
                  <a:srgbClr val="ECECEC"/>
                </a:solidFill>
                <a:effectLst/>
                <a:latin typeface="Söhne"/>
              </a:rPr>
              <a:t>Management: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Cloud: Provider manages infrastructure, updates, and maintenance.</a:t>
            </a:r>
          </a:p>
          <a:p>
            <a:pPr marL="1143000" lvl="2" indent="-228600" algn="l">
              <a:buFont typeface="Arial" panose="020B0604020202020204" pitchFamily="34" charset="0"/>
              <a:buChar char="•"/>
            </a:pPr>
            <a:r>
              <a:rPr lang="fr-FR" b="0" i="0" dirty="0">
                <a:solidFill>
                  <a:srgbClr val="ECECEC"/>
                </a:solidFill>
                <a:effectLst/>
                <a:latin typeface="Söhne"/>
              </a:rPr>
              <a:t>On-</a:t>
            </a:r>
            <a:r>
              <a:rPr lang="fr-FR" b="0" i="0" dirty="0" err="1">
                <a:solidFill>
                  <a:srgbClr val="ECECEC"/>
                </a:solidFill>
                <a:effectLst/>
                <a:latin typeface="Söhne"/>
              </a:rPr>
              <a:t>Premises</a:t>
            </a:r>
            <a:r>
              <a:rPr lang="fr-FR" b="0" i="0" dirty="0">
                <a:solidFill>
                  <a:srgbClr val="ECECEC"/>
                </a:solidFill>
                <a:effectLst/>
                <a:latin typeface="Söhne"/>
              </a:rPr>
              <a:t>: </a:t>
            </a:r>
            <a:r>
              <a:rPr lang="fr-FR" b="0" i="0" dirty="0" err="1">
                <a:solidFill>
                  <a:srgbClr val="ECECEC"/>
                </a:solidFill>
                <a:effectLst/>
                <a:latin typeface="Söhne"/>
              </a:rPr>
              <a:t>Company</a:t>
            </a:r>
            <a:r>
              <a:rPr lang="fr-FR" b="0" i="0" dirty="0">
                <a:solidFill>
                  <a:srgbClr val="ECECEC"/>
                </a:solidFill>
                <a:effectLst/>
                <a:latin typeface="Söhne"/>
              </a:rPr>
              <a:t> manages infrastructure, updates, and maintenance.</a:t>
            </a:r>
          </a:p>
          <a:p>
            <a:pPr marL="742950" lvl="1" indent="-285750" algn="l">
              <a:buFont typeface="Arial" panose="020B0604020202020204" pitchFamily="34" charset="0"/>
              <a:buChar char="•"/>
            </a:pPr>
            <a:r>
              <a:rPr lang="fr-FR" b="1" i="0" dirty="0" err="1">
                <a:solidFill>
                  <a:srgbClr val="ECECEC"/>
                </a:solidFill>
                <a:effectLst/>
                <a:latin typeface="Söhne"/>
              </a:rPr>
              <a:t>Scalability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Cloud: </a:t>
            </a:r>
            <a:r>
              <a:rPr lang="fr-FR" b="0" i="0" dirty="0" err="1">
                <a:solidFill>
                  <a:srgbClr val="ECECEC"/>
                </a:solidFill>
                <a:effectLst/>
                <a:latin typeface="Söhne"/>
              </a:rPr>
              <a:t>Easily</a:t>
            </a:r>
            <a:r>
              <a:rPr lang="fr-FR" b="0" i="0" dirty="0">
                <a:solidFill>
                  <a:srgbClr val="ECECEC"/>
                </a:solidFill>
                <a:effectLst/>
                <a:latin typeface="Söhne"/>
              </a:rPr>
              <a:t> </a:t>
            </a:r>
            <a:r>
              <a:rPr lang="fr-FR" b="0" i="0" dirty="0" err="1">
                <a:solidFill>
                  <a:srgbClr val="ECECEC"/>
                </a:solidFill>
                <a:effectLst/>
                <a:latin typeface="Söhne"/>
              </a:rPr>
              <a:t>scale</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up or down </a:t>
            </a:r>
            <a:r>
              <a:rPr lang="fr-FR" b="0" i="0" dirty="0" err="1">
                <a:solidFill>
                  <a:srgbClr val="ECECEC"/>
                </a:solidFill>
                <a:effectLst/>
                <a:latin typeface="Söhne"/>
              </a:rPr>
              <a:t>based</a:t>
            </a:r>
            <a:r>
              <a:rPr lang="fr-FR" b="0" i="0" dirty="0">
                <a:solidFill>
                  <a:srgbClr val="ECECEC"/>
                </a:solidFill>
                <a:effectLst/>
                <a:latin typeface="Söhne"/>
              </a:rPr>
              <a:t> on </a:t>
            </a:r>
            <a:r>
              <a:rPr lang="fr-FR" b="0" i="0" dirty="0" err="1">
                <a:solidFill>
                  <a:srgbClr val="ECECEC"/>
                </a:solidFill>
                <a:effectLst/>
                <a:latin typeface="Söhne"/>
              </a:rPr>
              <a:t>demand</a:t>
            </a:r>
            <a:r>
              <a:rPr lang="fr-FR" b="0" i="0" dirty="0">
                <a:solidFill>
                  <a:srgbClr val="ECECEC"/>
                </a:solidFill>
                <a:effectLst/>
                <a:latin typeface="Söhne"/>
              </a:rPr>
              <a:t>.</a:t>
            </a:r>
          </a:p>
          <a:p>
            <a:pPr marL="1143000" lvl="2" indent="-228600" algn="l">
              <a:buFont typeface="Arial" panose="020B0604020202020204" pitchFamily="34" charset="0"/>
              <a:buChar char="•"/>
            </a:pPr>
            <a:r>
              <a:rPr lang="fr-FR" b="0" i="0" dirty="0">
                <a:solidFill>
                  <a:srgbClr val="ECECEC"/>
                </a:solidFill>
                <a:effectLst/>
                <a:latin typeface="Söhne"/>
              </a:rPr>
              <a:t>On-</a:t>
            </a:r>
            <a:r>
              <a:rPr lang="fr-FR" b="0" i="0" dirty="0" err="1">
                <a:solidFill>
                  <a:srgbClr val="ECECEC"/>
                </a:solidFill>
                <a:effectLst/>
                <a:latin typeface="Söhne"/>
              </a:rPr>
              <a:t>Premises</a:t>
            </a:r>
            <a:r>
              <a:rPr lang="fr-FR" b="0" i="0" dirty="0">
                <a:solidFill>
                  <a:srgbClr val="ECECEC"/>
                </a:solidFill>
                <a:effectLst/>
                <a:latin typeface="Söhne"/>
              </a:rPr>
              <a:t>: Limited </a:t>
            </a:r>
            <a:r>
              <a:rPr lang="fr-FR" b="0" i="0" dirty="0" err="1">
                <a:solidFill>
                  <a:srgbClr val="ECECEC"/>
                </a:solidFill>
                <a:effectLst/>
                <a:latin typeface="Söhne"/>
              </a:rPr>
              <a:t>scalability</a:t>
            </a:r>
            <a:r>
              <a:rPr lang="fr-FR" b="0" i="0" dirty="0">
                <a:solidFill>
                  <a:srgbClr val="ECECEC"/>
                </a:solidFill>
                <a:effectLst/>
                <a:latin typeface="Söhne"/>
              </a:rPr>
              <a:t>, </a:t>
            </a:r>
            <a:r>
              <a:rPr lang="fr-FR" b="0" i="0" dirty="0" err="1">
                <a:solidFill>
                  <a:srgbClr val="ECECEC"/>
                </a:solidFill>
                <a:effectLst/>
                <a:latin typeface="Söhne"/>
              </a:rPr>
              <a:t>requires</a:t>
            </a:r>
            <a:r>
              <a:rPr lang="fr-FR" b="0" i="0" dirty="0">
                <a:solidFill>
                  <a:srgbClr val="ECECEC"/>
                </a:solidFill>
                <a:effectLst/>
                <a:latin typeface="Söhne"/>
              </a:rPr>
              <a:t> </a:t>
            </a:r>
            <a:r>
              <a:rPr lang="fr-FR" b="0" i="0" dirty="0" err="1">
                <a:solidFill>
                  <a:srgbClr val="ECECEC"/>
                </a:solidFill>
                <a:effectLst/>
                <a:latin typeface="Söhne"/>
              </a:rPr>
              <a:t>investment</a:t>
            </a:r>
            <a:r>
              <a:rPr lang="fr-FR" b="0" i="0" dirty="0">
                <a:solidFill>
                  <a:srgbClr val="ECECEC"/>
                </a:solidFill>
                <a:effectLst/>
                <a:latin typeface="Söhne"/>
              </a:rPr>
              <a:t> in </a:t>
            </a:r>
            <a:r>
              <a:rPr lang="fr-FR" b="0" i="0" dirty="0" err="1">
                <a:solidFill>
                  <a:srgbClr val="ECECEC"/>
                </a:solidFill>
                <a:effectLst/>
                <a:latin typeface="Söhne"/>
              </a:rPr>
              <a:t>additional</a:t>
            </a:r>
            <a:r>
              <a:rPr lang="fr-FR" b="0" i="0" dirty="0">
                <a:solidFill>
                  <a:srgbClr val="ECECEC"/>
                </a:solidFill>
                <a:effectLst/>
                <a:latin typeface="Söhne"/>
              </a:rPr>
              <a:t> hardware for expansion.</a:t>
            </a:r>
          </a:p>
          <a:p>
            <a:pPr marL="742950" lvl="1" indent="-285750" algn="l">
              <a:buFont typeface="Arial" panose="020B0604020202020204" pitchFamily="34" charset="0"/>
              <a:buChar char="•"/>
            </a:pPr>
            <a:r>
              <a:rPr lang="fr-FR" b="1" i="0" dirty="0" err="1">
                <a:solidFill>
                  <a:srgbClr val="ECECEC"/>
                </a:solidFill>
                <a:effectLst/>
                <a:latin typeface="Söhne"/>
              </a:rPr>
              <a:t>Flexibility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Cloud: </a:t>
            </a:r>
            <a:r>
              <a:rPr lang="fr-FR" b="0" i="0" dirty="0" err="1">
                <a:solidFill>
                  <a:srgbClr val="ECECEC"/>
                </a:solidFill>
                <a:effectLst/>
                <a:latin typeface="Söhne"/>
              </a:rPr>
              <a:t>Offers</a:t>
            </a:r>
            <a:r>
              <a:rPr lang="fr-FR" b="0" i="0" dirty="0">
                <a:solidFill>
                  <a:srgbClr val="ECECEC"/>
                </a:solidFill>
                <a:effectLst/>
                <a:latin typeface="Söhne"/>
              </a:rPr>
              <a:t> </a:t>
            </a:r>
            <a:r>
              <a:rPr lang="fr-FR" b="0" i="0" dirty="0" err="1">
                <a:solidFill>
                  <a:srgbClr val="ECECEC"/>
                </a:solidFill>
                <a:effectLst/>
                <a:latin typeface="Söhne"/>
              </a:rPr>
              <a:t>flexibility</a:t>
            </a:r>
            <a:r>
              <a:rPr lang="fr-FR" b="0" i="0" dirty="0">
                <a:solidFill>
                  <a:srgbClr val="ECECEC"/>
                </a:solidFill>
                <a:effectLst/>
                <a:latin typeface="Söhne"/>
              </a:rPr>
              <a:t> to </a:t>
            </a:r>
            <a:r>
              <a:rPr lang="fr-FR" b="0" i="0" dirty="0" err="1">
                <a:solidFill>
                  <a:srgbClr val="ECECEC"/>
                </a:solidFill>
                <a:effectLst/>
                <a:latin typeface="Söhne"/>
              </a:rPr>
              <a:t>adapt</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to </a:t>
            </a:r>
            <a:r>
              <a:rPr lang="fr-FR" b="0" i="0" dirty="0" err="1">
                <a:solidFill>
                  <a:srgbClr val="ECECEC"/>
                </a:solidFill>
                <a:effectLst/>
                <a:latin typeface="Söhne"/>
              </a:rPr>
              <a:t>changing</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 </a:t>
            </a:r>
            <a:r>
              <a:rPr lang="fr-FR" b="0" i="0" dirty="0" err="1">
                <a:solidFill>
                  <a:srgbClr val="ECECEC"/>
                </a:solidFill>
                <a:effectLst/>
                <a:latin typeface="Söhne"/>
              </a:rPr>
              <a:t>quickly</a:t>
            </a:r>
            <a:r>
              <a:rPr lang="fr-FR" b="0" i="0" dirty="0">
                <a:solidFill>
                  <a:srgbClr val="ECECEC"/>
                </a:solidFill>
                <a:effectLst/>
                <a:latin typeface="Söhne"/>
              </a:rPr>
              <a:t>.</a:t>
            </a:r>
          </a:p>
          <a:p>
            <a:pPr marL="1143000" lvl="2" indent="-228600" algn="l">
              <a:buFont typeface="Arial" panose="020B0604020202020204" pitchFamily="34" charset="0"/>
              <a:buChar char="•"/>
            </a:pPr>
            <a:r>
              <a:rPr lang="fr-FR" b="0" i="0" dirty="0">
                <a:solidFill>
                  <a:srgbClr val="ECECEC"/>
                </a:solidFill>
                <a:effectLst/>
                <a:latin typeface="Söhne"/>
              </a:rPr>
              <a:t>On-</a:t>
            </a:r>
            <a:r>
              <a:rPr lang="fr-FR" b="0" i="0" dirty="0" err="1">
                <a:solidFill>
                  <a:srgbClr val="ECECEC"/>
                </a:solidFill>
                <a:effectLst/>
                <a:latin typeface="Söhne"/>
              </a:rPr>
              <a:t>Premises</a:t>
            </a:r>
            <a:r>
              <a:rPr lang="fr-FR" b="0" i="0" dirty="0">
                <a:solidFill>
                  <a:srgbClr val="ECECEC"/>
                </a:solidFill>
                <a:effectLst/>
                <a:latin typeface="Söhne"/>
              </a:rPr>
              <a:t>: </a:t>
            </a:r>
            <a:r>
              <a:rPr lang="fr-FR" b="0" i="0" dirty="0" err="1">
                <a:solidFill>
                  <a:srgbClr val="ECECEC"/>
                </a:solidFill>
                <a:effectLst/>
                <a:latin typeface="Söhne"/>
              </a:rPr>
              <a:t>Less</a:t>
            </a:r>
            <a:r>
              <a:rPr lang="fr-FR" b="0" i="0" dirty="0">
                <a:solidFill>
                  <a:srgbClr val="ECECEC"/>
                </a:solidFill>
                <a:effectLst/>
                <a:latin typeface="Söhne"/>
              </a:rPr>
              <a:t> flexible, </a:t>
            </a:r>
            <a:r>
              <a:rPr lang="fr-FR" b="0" i="0" dirty="0" err="1">
                <a:solidFill>
                  <a:srgbClr val="ECECEC"/>
                </a:solidFill>
                <a:effectLst/>
                <a:latin typeface="Söhne"/>
              </a:rPr>
              <a:t>requires</a:t>
            </a:r>
            <a:r>
              <a:rPr lang="fr-FR" b="0" i="0" dirty="0">
                <a:solidFill>
                  <a:srgbClr val="ECECEC"/>
                </a:solidFill>
                <a:effectLst/>
                <a:latin typeface="Söhne"/>
              </a:rPr>
              <a:t> time and </a:t>
            </a:r>
            <a:r>
              <a:rPr lang="fr-FR" b="0" i="0" dirty="0" err="1">
                <a:solidFill>
                  <a:srgbClr val="ECECEC"/>
                </a:solidFill>
                <a:effectLst/>
                <a:latin typeface="Söhne"/>
              </a:rPr>
              <a:t>resources</a:t>
            </a:r>
            <a:r>
              <a:rPr lang="fr-FR" b="0" i="0" dirty="0">
                <a:solidFill>
                  <a:srgbClr val="ECECEC"/>
                </a:solidFill>
                <a:effectLst/>
                <a:latin typeface="Söhne"/>
              </a:rPr>
              <a:t> to </a:t>
            </a:r>
            <a:r>
              <a:rPr lang="fr-FR" b="0" i="0" dirty="0" err="1">
                <a:solidFill>
                  <a:srgbClr val="ECECEC"/>
                </a:solidFill>
                <a:effectLst/>
                <a:latin typeface="Söhne"/>
              </a:rPr>
              <a:t>implement</a:t>
            </a:r>
            <a:r>
              <a:rPr lang="fr-FR" b="0" i="0" dirty="0">
                <a:solidFill>
                  <a:srgbClr val="ECECEC"/>
                </a:solidFill>
                <a:effectLst/>
                <a:latin typeface="Söhne"/>
              </a:rPr>
              <a:t> changes.</a:t>
            </a:r>
          </a:p>
        </p:txBody>
      </p:sp>
    </p:spTree>
    <p:extLst>
      <p:ext uri="{BB962C8B-B14F-4D97-AF65-F5344CB8AC3E}">
        <p14:creationId xmlns:p14="http://schemas.microsoft.com/office/powerpoint/2010/main" val="1837663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THE ADVANTAGE OF THE CLOUD</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32343"/>
            <a:ext cx="10448076" cy="4286342"/>
          </a:xfrm>
        </p:spPr>
        <p:txBody>
          <a:bodyPr>
            <a:normAutofit fontScale="92500" lnSpcReduction="10000"/>
          </a:bodyPr>
          <a:lstStyle/>
          <a:p>
            <a:pPr algn="l">
              <a:buFont typeface="Arial" panose="020B0604020202020204" pitchFamily="34" charset="0"/>
              <a:buChar char="•"/>
            </a:pPr>
            <a:r>
              <a:rPr lang="fr-FR" b="1" i="0" dirty="0">
                <a:solidFill>
                  <a:srgbClr val="ECECEC"/>
                </a:solidFill>
                <a:effectLst/>
                <a:latin typeface="Söhne"/>
              </a:rPr>
              <a:t>Reduction of </a:t>
            </a:r>
            <a:r>
              <a:rPr lang="fr-FR" b="1" i="0" dirty="0" err="1">
                <a:solidFill>
                  <a:srgbClr val="ECECEC"/>
                </a:solidFill>
                <a:effectLst/>
                <a:latin typeface="Söhne"/>
              </a:rPr>
              <a:t>Operational</a:t>
            </a:r>
            <a:r>
              <a:rPr lang="fr-FR" b="1" i="0" dirty="0">
                <a:solidFill>
                  <a:srgbClr val="ECECEC"/>
                </a:solidFill>
                <a:effectLst/>
                <a:latin typeface="Söhne"/>
              </a:rPr>
              <a:t> and Initial Investment </a:t>
            </a:r>
            <a:r>
              <a:rPr lang="fr-FR" b="1" i="0" dirty="0" err="1">
                <a:solidFill>
                  <a:srgbClr val="ECECEC"/>
                </a:solidFill>
                <a:effectLst/>
                <a:latin typeface="Söhne"/>
              </a:rPr>
              <a:t>Costs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Elimination of </a:t>
            </a:r>
            <a:r>
              <a:rPr lang="fr-FR" b="0" i="0" dirty="0" err="1">
                <a:solidFill>
                  <a:srgbClr val="ECECEC"/>
                </a:solidFill>
                <a:effectLst/>
                <a:latin typeface="Söhne"/>
              </a:rPr>
              <a:t>costs</a:t>
            </a:r>
            <a:r>
              <a:rPr lang="fr-FR" b="0" i="0" dirty="0">
                <a:solidFill>
                  <a:srgbClr val="ECECEC"/>
                </a:solidFill>
                <a:effectLst/>
                <a:latin typeface="Söhne"/>
              </a:rPr>
              <a:t> </a:t>
            </a:r>
            <a:r>
              <a:rPr lang="fr-FR" b="0" i="0" dirty="0" err="1">
                <a:solidFill>
                  <a:srgbClr val="ECECEC"/>
                </a:solidFill>
                <a:effectLst/>
                <a:latin typeface="Söhne"/>
              </a:rPr>
              <a:t>associated</a:t>
            </a:r>
            <a:r>
              <a:rPr lang="fr-FR" b="0" i="0" dirty="0">
                <a:solidFill>
                  <a:srgbClr val="ECECEC"/>
                </a:solidFill>
                <a:effectLst/>
                <a:latin typeface="Söhne"/>
              </a:rPr>
              <a:t> </a:t>
            </a:r>
            <a:r>
              <a:rPr lang="fr-FR" b="0" i="0" dirty="0" err="1">
                <a:solidFill>
                  <a:srgbClr val="ECECEC"/>
                </a:solidFill>
                <a:effectLst/>
                <a:latin typeface="Söhne"/>
              </a:rPr>
              <a:t>with</a:t>
            </a:r>
            <a:r>
              <a:rPr lang="fr-FR" b="0" i="0" dirty="0">
                <a:solidFill>
                  <a:srgbClr val="ECECEC"/>
                </a:solidFill>
                <a:effectLst/>
                <a:latin typeface="Söhne"/>
              </a:rPr>
              <a:t> </a:t>
            </a:r>
            <a:r>
              <a:rPr lang="fr-FR" b="0" i="0" dirty="0" err="1">
                <a:solidFill>
                  <a:srgbClr val="ECECEC"/>
                </a:solidFill>
                <a:effectLst/>
                <a:latin typeface="Söhne"/>
              </a:rPr>
              <a:t>purchasing</a:t>
            </a:r>
            <a:r>
              <a:rPr lang="fr-FR" b="0" i="0" dirty="0">
                <a:solidFill>
                  <a:srgbClr val="ECECEC"/>
                </a:solidFill>
                <a:effectLst/>
                <a:latin typeface="Söhne"/>
              </a:rPr>
              <a:t>, </a:t>
            </a:r>
            <a:r>
              <a:rPr lang="fr-FR" b="0" i="0" dirty="0" err="1">
                <a:solidFill>
                  <a:srgbClr val="ECECEC"/>
                </a:solidFill>
                <a:effectLst/>
                <a:latin typeface="Söhne"/>
              </a:rPr>
              <a:t>maintaining</a:t>
            </a:r>
            <a:r>
              <a:rPr lang="fr-FR" b="0" i="0" dirty="0">
                <a:solidFill>
                  <a:srgbClr val="ECECEC"/>
                </a:solidFill>
                <a:effectLst/>
                <a:latin typeface="Söhne"/>
              </a:rPr>
              <a:t>, and </a:t>
            </a:r>
            <a:r>
              <a:rPr lang="fr-FR" b="0" i="0" dirty="0" err="1">
                <a:solidFill>
                  <a:srgbClr val="ECECEC"/>
                </a:solidFill>
                <a:effectLst/>
                <a:latin typeface="Söhne"/>
              </a:rPr>
              <a:t>upgrading</a:t>
            </a:r>
            <a:r>
              <a:rPr lang="fr-FR" b="0" i="0" dirty="0">
                <a:solidFill>
                  <a:srgbClr val="ECECEC"/>
                </a:solidFill>
                <a:effectLst/>
                <a:latin typeface="Söhne"/>
              </a:rPr>
              <a:t> infrastructure.</a:t>
            </a:r>
          </a:p>
          <a:p>
            <a:pPr marL="742950" lvl="1" indent="-285750" algn="l">
              <a:buFont typeface="Arial" panose="020B0604020202020204" pitchFamily="34" charset="0"/>
              <a:buChar char="•"/>
            </a:pPr>
            <a:r>
              <a:rPr lang="fr-FR" b="0" i="0" dirty="0" err="1">
                <a:solidFill>
                  <a:srgbClr val="ECECEC"/>
                </a:solidFill>
                <a:effectLst/>
                <a:latin typeface="Söhne"/>
              </a:rPr>
              <a:t>Pay</a:t>
            </a:r>
            <a:r>
              <a:rPr lang="fr-FR" b="0" i="0" dirty="0">
                <a:solidFill>
                  <a:srgbClr val="ECECEC"/>
                </a:solidFill>
                <a:effectLst/>
                <a:latin typeface="Söhne"/>
              </a:rPr>
              <a:t> </a:t>
            </a:r>
            <a:r>
              <a:rPr lang="fr-FR" b="0" i="0" dirty="0" err="1">
                <a:solidFill>
                  <a:srgbClr val="ECECEC"/>
                </a:solidFill>
                <a:effectLst/>
                <a:latin typeface="Söhne"/>
              </a:rPr>
              <a:t>only</a:t>
            </a:r>
            <a:r>
              <a:rPr lang="fr-FR" b="0" i="0" dirty="0">
                <a:solidFill>
                  <a:srgbClr val="ECECEC"/>
                </a:solidFill>
                <a:effectLst/>
                <a:latin typeface="Söhne"/>
              </a:rPr>
              <a:t> for </a:t>
            </a:r>
            <a:r>
              <a:rPr lang="fr-FR" b="0" i="0" dirty="0" err="1">
                <a:solidFill>
                  <a:srgbClr val="ECECEC"/>
                </a:solidFill>
                <a:effectLst/>
                <a:latin typeface="Söhne"/>
              </a:rPr>
              <a:t>what</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No </a:t>
            </a:r>
            <a:r>
              <a:rPr lang="fr-FR" b="0" i="0" dirty="0" err="1">
                <a:solidFill>
                  <a:srgbClr val="ECECEC"/>
                </a:solidFill>
                <a:effectLst/>
                <a:latin typeface="Söhne"/>
              </a:rPr>
              <a:t>need</a:t>
            </a:r>
            <a:r>
              <a:rPr lang="fr-FR" b="0" i="0" dirty="0">
                <a:solidFill>
                  <a:srgbClr val="ECECEC"/>
                </a:solidFill>
                <a:effectLst/>
                <a:latin typeface="Söhne"/>
              </a:rPr>
              <a:t> to manage a data center and </a:t>
            </a:r>
            <a:r>
              <a:rPr lang="fr-FR" b="0" i="0" dirty="0" err="1">
                <a:solidFill>
                  <a:srgbClr val="ECECEC"/>
                </a:solidFill>
                <a:effectLst/>
                <a:latin typeface="Söhne"/>
              </a:rPr>
              <a:t>physical</a:t>
            </a:r>
            <a:r>
              <a:rPr lang="fr-FR" b="0" i="0" dirty="0">
                <a:solidFill>
                  <a:srgbClr val="ECECEC"/>
                </a:solidFill>
                <a:effectLst/>
                <a:latin typeface="Söhne"/>
              </a:rPr>
              <a:t> servers (</a:t>
            </a:r>
            <a:r>
              <a:rPr lang="fr-FR" b="0" i="0" dirty="0" err="1">
                <a:solidFill>
                  <a:srgbClr val="ECECEC"/>
                </a:solidFill>
                <a:effectLst/>
                <a:latin typeface="Söhne"/>
              </a:rPr>
              <a:t>electricity</a:t>
            </a:r>
            <a:r>
              <a:rPr lang="fr-FR" b="0" i="0" dirty="0">
                <a:solidFill>
                  <a:srgbClr val="ECECEC"/>
                </a:solidFill>
                <a:effectLst/>
                <a:latin typeface="Söhne"/>
              </a:rPr>
              <a:t>, </a:t>
            </a:r>
            <a:r>
              <a:rPr lang="fr-FR" b="0" i="0" dirty="0" err="1">
                <a:solidFill>
                  <a:srgbClr val="ECECEC"/>
                </a:solidFill>
                <a:effectLst/>
                <a:latin typeface="Söhne"/>
              </a:rPr>
              <a:t>cooling</a:t>
            </a:r>
            <a:r>
              <a:rPr lang="fr-FR" b="0" i="0" dirty="0">
                <a:solidFill>
                  <a:srgbClr val="ECECEC"/>
                </a:solidFill>
                <a:effectLst/>
                <a:latin typeface="Söhne"/>
              </a:rPr>
              <a:t>, updates, etc.).</a:t>
            </a:r>
          </a:p>
          <a:p>
            <a:pPr algn="l">
              <a:buFont typeface="Arial" panose="020B0604020202020204" pitchFamily="34" charset="0"/>
              <a:buChar char="•"/>
            </a:pPr>
            <a:r>
              <a:rPr lang="fr-FR" b="1" i="0" dirty="0" err="1">
                <a:solidFill>
                  <a:srgbClr val="ECECEC"/>
                </a:solidFill>
                <a:effectLst/>
                <a:latin typeface="Söhne"/>
              </a:rPr>
              <a:t>Immediate</a:t>
            </a:r>
            <a:r>
              <a:rPr lang="fr-FR" b="1" i="0" dirty="0">
                <a:solidFill>
                  <a:srgbClr val="ECECEC"/>
                </a:solidFill>
                <a:effectLst/>
                <a:latin typeface="Söhne"/>
              </a:rPr>
              <a:t> </a:t>
            </a:r>
            <a:r>
              <a:rPr lang="fr-FR" b="1" i="0" dirty="0" err="1">
                <a:solidFill>
                  <a:srgbClr val="ECECEC"/>
                </a:solidFill>
                <a:effectLst/>
                <a:latin typeface="Söhne"/>
              </a:rPr>
              <a:t>Scalability</a:t>
            </a:r>
            <a:r>
              <a:rPr lang="fr-FR" b="1" i="0" dirty="0">
                <a:solidFill>
                  <a:srgbClr val="ECECEC"/>
                </a:solidFill>
                <a:effectLst/>
                <a:latin typeface="Söhne"/>
              </a:rPr>
              <a:t> and Resource </a:t>
            </a:r>
            <a:r>
              <a:rPr lang="fr-FR" b="1" i="0" dirty="0" err="1">
                <a:solidFill>
                  <a:srgbClr val="ECECEC"/>
                </a:solidFill>
                <a:effectLst/>
                <a:latin typeface="Söhne"/>
              </a:rPr>
              <a:t>Elasticity</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Quickly</a:t>
            </a:r>
            <a:r>
              <a:rPr lang="fr-FR" b="0" i="0" dirty="0">
                <a:solidFill>
                  <a:srgbClr val="ECECEC"/>
                </a:solidFill>
                <a:effectLst/>
                <a:latin typeface="Söhne"/>
              </a:rPr>
              <a:t> </a:t>
            </a:r>
            <a:r>
              <a:rPr lang="fr-FR" b="0" i="0" dirty="0" err="1">
                <a:solidFill>
                  <a:srgbClr val="ECECEC"/>
                </a:solidFill>
                <a:effectLst/>
                <a:latin typeface="Söhne"/>
              </a:rPr>
              <a:t>adjust</a:t>
            </a:r>
            <a:r>
              <a:rPr lang="fr-FR" b="0" i="0" dirty="0">
                <a:solidFill>
                  <a:srgbClr val="ECECEC"/>
                </a:solidFill>
                <a:effectLst/>
                <a:latin typeface="Söhne"/>
              </a:rPr>
              <a:t> </a:t>
            </a:r>
            <a:r>
              <a:rPr lang="fr-FR" b="0" i="0" dirty="0" err="1">
                <a:solidFill>
                  <a:srgbClr val="ECECEC"/>
                </a:solidFill>
                <a:effectLst/>
                <a:latin typeface="Söhne"/>
              </a:rPr>
              <a:t>capacities</a:t>
            </a:r>
            <a:r>
              <a:rPr lang="fr-FR" b="0" i="0" dirty="0">
                <a:solidFill>
                  <a:srgbClr val="ECECEC"/>
                </a:solidFill>
                <a:effectLst/>
                <a:latin typeface="Söhne"/>
              </a:rPr>
              <a:t> </a:t>
            </a:r>
            <a:r>
              <a:rPr lang="fr-FR" b="0" i="0" dirty="0" err="1">
                <a:solidFill>
                  <a:srgbClr val="ECECEC"/>
                </a:solidFill>
                <a:effectLst/>
                <a:latin typeface="Söhne"/>
              </a:rPr>
              <a:t>based</a:t>
            </a:r>
            <a:r>
              <a:rPr lang="fr-FR" b="0" i="0" dirty="0">
                <a:solidFill>
                  <a:srgbClr val="ECECEC"/>
                </a:solidFill>
                <a:effectLst/>
                <a:latin typeface="Söhne"/>
              </a:rPr>
              <a:t> on </a:t>
            </a:r>
            <a:r>
              <a:rPr lang="fr-FR" b="0" i="0" dirty="0" err="1">
                <a:solidFill>
                  <a:srgbClr val="ECECEC"/>
                </a:solidFill>
                <a:effectLst/>
                <a:latin typeface="Söhne"/>
              </a:rPr>
              <a:t>fluctuating</a:t>
            </a:r>
            <a:r>
              <a:rPr lang="fr-FR" b="0" i="0" dirty="0">
                <a:solidFill>
                  <a:srgbClr val="ECECEC"/>
                </a:solidFill>
                <a:effectLst/>
                <a:latin typeface="Söhne"/>
              </a:rPr>
              <a:t> business </a:t>
            </a:r>
            <a:r>
              <a:rPr lang="fr-FR" b="0" i="0" dirty="0" err="1">
                <a:solidFill>
                  <a:srgbClr val="ECECEC"/>
                </a:solidFill>
                <a:effectLst/>
                <a:latin typeface="Söhne"/>
              </a:rPr>
              <a:t>needs</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Example of a web application.</a:t>
            </a:r>
          </a:p>
          <a:p>
            <a:pPr algn="l">
              <a:buFont typeface="Arial" panose="020B0604020202020204" pitchFamily="34" charset="0"/>
              <a:buChar char="•"/>
            </a:pPr>
            <a:r>
              <a:rPr lang="fr-FR" b="1" i="0" dirty="0">
                <a:solidFill>
                  <a:srgbClr val="ECECEC"/>
                </a:solidFill>
                <a:effectLst/>
                <a:latin typeface="Söhne"/>
              </a:rPr>
              <a:t>Access to Cutting-Edge Technologies </a:t>
            </a:r>
            <a:r>
              <a:rPr lang="fr-FR" b="1" i="0" dirty="0" err="1">
                <a:solidFill>
                  <a:srgbClr val="ECECEC"/>
                </a:solidFill>
                <a:effectLst/>
                <a:latin typeface="Söhne"/>
              </a:rPr>
              <a:t>without</a:t>
            </a:r>
            <a:r>
              <a:rPr lang="fr-FR" b="1" i="0" dirty="0">
                <a:solidFill>
                  <a:srgbClr val="ECECEC"/>
                </a:solidFill>
                <a:effectLst/>
                <a:latin typeface="Söhne"/>
              </a:rPr>
              <a:t> </a:t>
            </a:r>
            <a:r>
              <a:rPr lang="fr-FR" b="1" i="0" dirty="0" err="1">
                <a:solidFill>
                  <a:srgbClr val="ECECEC"/>
                </a:solidFill>
                <a:effectLst/>
                <a:latin typeface="Söhne"/>
              </a:rPr>
              <a:t>Internal</a:t>
            </a:r>
            <a:r>
              <a:rPr lang="fr-FR" b="1" i="0" dirty="0">
                <a:solidFill>
                  <a:srgbClr val="ECECEC"/>
                </a:solidFill>
                <a:effectLst/>
                <a:latin typeface="Söhne"/>
              </a:rPr>
              <a:t> Expertise </a:t>
            </a:r>
            <a:r>
              <a:rPr lang="fr-FR" b="1" i="0" dirty="0" err="1">
                <a:solidFill>
                  <a:srgbClr val="ECECEC"/>
                </a:solidFill>
                <a:effectLst/>
                <a:latin typeface="Söhne"/>
              </a:rPr>
              <a:t>Requirement</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Cloud providers </a:t>
            </a:r>
            <a:r>
              <a:rPr lang="fr-FR" b="0" i="0" dirty="0" err="1">
                <a:solidFill>
                  <a:srgbClr val="ECECEC"/>
                </a:solidFill>
                <a:effectLst/>
                <a:latin typeface="Söhne"/>
              </a:rPr>
              <a:t>offer</a:t>
            </a:r>
            <a:r>
              <a:rPr lang="fr-FR" b="0" i="0" dirty="0">
                <a:solidFill>
                  <a:srgbClr val="ECECEC"/>
                </a:solidFill>
                <a:effectLst/>
                <a:latin typeface="Söhne"/>
              </a:rPr>
              <a:t> a </a:t>
            </a:r>
            <a:r>
              <a:rPr lang="fr-FR" b="0" i="0" dirty="0" err="1">
                <a:solidFill>
                  <a:srgbClr val="ECECEC"/>
                </a:solidFill>
                <a:effectLst/>
                <a:latin typeface="Söhne"/>
              </a:rPr>
              <a:t>wide</a:t>
            </a:r>
            <a:r>
              <a:rPr lang="fr-FR" b="0" i="0" dirty="0">
                <a:solidFill>
                  <a:srgbClr val="ECECEC"/>
                </a:solidFill>
                <a:effectLst/>
                <a:latin typeface="Söhne"/>
              </a:rPr>
              <a:t> range of </a:t>
            </a:r>
            <a:r>
              <a:rPr lang="fr-FR" b="0" i="0" dirty="0" err="1">
                <a:solidFill>
                  <a:srgbClr val="ECECEC"/>
                </a:solidFill>
                <a:effectLst/>
                <a:latin typeface="Söhne"/>
              </a:rPr>
              <a:t>ready</a:t>
            </a:r>
            <a:r>
              <a:rPr lang="fr-FR" b="0" i="0" dirty="0">
                <a:solidFill>
                  <a:srgbClr val="ECECEC"/>
                </a:solidFill>
                <a:effectLst/>
                <a:latin typeface="Söhne"/>
              </a:rPr>
              <a:t>-to-use services and solutions.</a:t>
            </a:r>
          </a:p>
          <a:p>
            <a:pPr marL="742950" lvl="1" indent="-285750" algn="l">
              <a:buFont typeface="Arial" panose="020B0604020202020204" pitchFamily="34" charset="0"/>
              <a:buChar char="•"/>
            </a:pPr>
            <a:r>
              <a:rPr lang="fr-FR" b="0" i="0" dirty="0">
                <a:solidFill>
                  <a:srgbClr val="ECECEC"/>
                </a:solidFill>
                <a:effectLst/>
                <a:latin typeface="Söhne"/>
              </a:rPr>
              <a:t>For </a:t>
            </a:r>
            <a:r>
              <a:rPr lang="fr-FR" b="0" i="0" dirty="0" err="1">
                <a:solidFill>
                  <a:srgbClr val="ECECEC"/>
                </a:solidFill>
                <a:effectLst/>
                <a:latin typeface="Söhne"/>
              </a:rPr>
              <a:t>example</a:t>
            </a:r>
            <a:r>
              <a:rPr lang="fr-FR" b="0" i="0" dirty="0">
                <a:solidFill>
                  <a:srgbClr val="ECECEC"/>
                </a:solidFill>
                <a:effectLst/>
                <a:latin typeface="Söhne"/>
              </a:rPr>
              <a:t>, a data </a:t>
            </a:r>
            <a:r>
              <a:rPr lang="fr-FR" b="0" i="0" dirty="0" err="1">
                <a:solidFill>
                  <a:srgbClr val="ECECEC"/>
                </a:solidFill>
                <a:effectLst/>
                <a:latin typeface="Söhne"/>
              </a:rPr>
              <a:t>scientist</a:t>
            </a:r>
            <a:r>
              <a:rPr lang="fr-FR" b="0" i="0" dirty="0">
                <a:solidFill>
                  <a:srgbClr val="ECECEC"/>
                </a:solidFill>
                <a:effectLst/>
                <a:latin typeface="Söhne"/>
              </a:rPr>
              <a:t> can </a:t>
            </a:r>
            <a:r>
              <a:rPr lang="fr-FR" b="0" i="0" dirty="0" err="1">
                <a:solidFill>
                  <a:srgbClr val="ECECEC"/>
                </a:solidFill>
                <a:effectLst/>
                <a:latin typeface="Söhne"/>
              </a:rPr>
              <a:t>typically</a:t>
            </a:r>
            <a:r>
              <a:rPr lang="fr-FR" b="0" i="0" dirty="0">
                <a:solidFill>
                  <a:srgbClr val="ECECEC"/>
                </a:solidFill>
                <a:effectLst/>
                <a:latin typeface="Söhne"/>
              </a:rPr>
              <a:t> </a:t>
            </a:r>
            <a:r>
              <a:rPr lang="fr-FR" b="0" i="0" dirty="0" err="1">
                <a:solidFill>
                  <a:srgbClr val="ECECEC"/>
                </a:solidFill>
                <a:effectLst/>
                <a:latin typeface="Söhne"/>
              </a:rPr>
              <a:t>deploy</a:t>
            </a:r>
            <a:r>
              <a:rPr lang="fr-FR" b="0" i="0" dirty="0">
                <a:solidFill>
                  <a:srgbClr val="ECECEC"/>
                </a:solidFill>
                <a:effectLst/>
                <a:latin typeface="Söhne"/>
              </a:rPr>
              <a:t> ML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without</a:t>
            </a:r>
            <a:r>
              <a:rPr lang="fr-FR" b="0" i="0" dirty="0">
                <a:solidFill>
                  <a:srgbClr val="ECECEC"/>
                </a:solidFill>
                <a:effectLst/>
                <a:latin typeface="Söhne"/>
              </a:rPr>
              <a:t> </a:t>
            </a:r>
            <a:r>
              <a:rPr lang="fr-FR" b="0" i="0" dirty="0" err="1">
                <a:solidFill>
                  <a:srgbClr val="ECECEC"/>
                </a:solidFill>
                <a:effectLst/>
                <a:latin typeface="Söhne"/>
              </a:rPr>
              <a:t>needing</a:t>
            </a:r>
            <a:r>
              <a:rPr lang="fr-FR" b="0" i="0" dirty="0">
                <a:solidFill>
                  <a:srgbClr val="ECECEC"/>
                </a:solidFill>
                <a:effectLst/>
                <a:latin typeface="Söhne"/>
              </a:rPr>
              <a:t> </a:t>
            </a:r>
            <a:r>
              <a:rPr lang="fr-FR" b="0" i="0" dirty="0" err="1">
                <a:solidFill>
                  <a:srgbClr val="ECECEC"/>
                </a:solidFill>
                <a:effectLst/>
                <a:latin typeface="Söhne"/>
              </a:rPr>
              <a:t>another</a:t>
            </a:r>
            <a:r>
              <a:rPr lang="fr-FR" b="0" i="0" dirty="0">
                <a:solidFill>
                  <a:srgbClr val="ECECEC"/>
                </a:solidFill>
                <a:effectLst/>
                <a:latin typeface="Söhne"/>
              </a:rPr>
              <a:t> IT team.</a:t>
            </a:r>
          </a:p>
          <a:p>
            <a:pPr algn="l">
              <a:buFont typeface="Arial" panose="020B0604020202020204" pitchFamily="34" charset="0"/>
              <a:buChar char="•"/>
            </a:pPr>
            <a:r>
              <a:rPr lang="fr-FR" b="1" i="0" dirty="0" err="1">
                <a:solidFill>
                  <a:srgbClr val="ECECEC"/>
                </a:solidFill>
                <a:effectLst/>
                <a:latin typeface="Söhne"/>
              </a:rPr>
              <a:t>Improvement</a:t>
            </a:r>
            <a:r>
              <a:rPr lang="fr-FR" b="1" i="0" dirty="0">
                <a:solidFill>
                  <a:srgbClr val="ECECEC"/>
                </a:solidFill>
                <a:effectLst/>
                <a:latin typeface="Söhne"/>
              </a:rPr>
              <a:t> of </a:t>
            </a:r>
            <a:r>
              <a:rPr lang="fr-FR" b="1" i="0" dirty="0" err="1">
                <a:solidFill>
                  <a:srgbClr val="ECECEC"/>
                </a:solidFill>
                <a:effectLst/>
                <a:latin typeface="Söhne"/>
              </a:rPr>
              <a:t>Availability</a:t>
            </a:r>
            <a:r>
              <a:rPr lang="fr-FR" b="1" i="0" dirty="0">
                <a:solidFill>
                  <a:srgbClr val="ECECEC"/>
                </a:solidFill>
                <a:effectLst/>
                <a:latin typeface="Söhne"/>
              </a:rPr>
              <a:t>, Security, and </a:t>
            </a:r>
            <a:r>
              <a:rPr lang="fr-FR" b="1" i="0" dirty="0" err="1">
                <a:solidFill>
                  <a:srgbClr val="ECECEC"/>
                </a:solidFill>
                <a:effectLst/>
                <a:latin typeface="Söhne"/>
              </a:rPr>
              <a:t>Resilience</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Cloud providers </a:t>
            </a:r>
            <a:r>
              <a:rPr lang="fr-FR" b="0" i="0" dirty="0" err="1">
                <a:solidFill>
                  <a:srgbClr val="ECECEC"/>
                </a:solidFill>
                <a:effectLst/>
                <a:latin typeface="Söhne"/>
              </a:rPr>
              <a:t>generally</a:t>
            </a:r>
            <a:r>
              <a:rPr lang="fr-FR" b="0" i="0" dirty="0">
                <a:solidFill>
                  <a:srgbClr val="ECECEC"/>
                </a:solidFill>
                <a:effectLst/>
                <a:latin typeface="Söhne"/>
              </a:rPr>
              <a:t> </a:t>
            </a:r>
            <a:r>
              <a:rPr lang="fr-FR" b="0" i="0" dirty="0" err="1">
                <a:solidFill>
                  <a:srgbClr val="ECECEC"/>
                </a:solidFill>
                <a:effectLst/>
                <a:latin typeface="Söhne"/>
              </a:rPr>
              <a:t>ensure</a:t>
            </a:r>
            <a:r>
              <a:rPr lang="fr-FR" b="0" i="0" dirty="0">
                <a:solidFill>
                  <a:srgbClr val="ECECEC"/>
                </a:solidFill>
                <a:effectLst/>
                <a:latin typeface="Söhne"/>
              </a:rPr>
              <a:t> high </a:t>
            </a:r>
            <a:r>
              <a:rPr lang="fr-FR" b="0" i="0" dirty="0" err="1">
                <a:solidFill>
                  <a:srgbClr val="ECECEC"/>
                </a:solidFill>
                <a:effectLst/>
                <a:latin typeface="Söhne"/>
              </a:rPr>
              <a:t>levels</a:t>
            </a:r>
            <a:r>
              <a:rPr lang="fr-FR" b="0" i="0" dirty="0">
                <a:solidFill>
                  <a:srgbClr val="ECECEC"/>
                </a:solidFill>
                <a:effectLst/>
                <a:latin typeface="Söhne"/>
              </a:rPr>
              <a:t> of service and </a:t>
            </a:r>
            <a:r>
              <a:rPr lang="fr-FR" b="0" i="0" dirty="0" err="1">
                <a:solidFill>
                  <a:srgbClr val="ECECEC"/>
                </a:solidFill>
                <a:effectLst/>
                <a:latin typeface="Söhne"/>
              </a:rPr>
              <a:t>advanced</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t>
            </a:r>
            <a:r>
              <a:rPr lang="fr-FR" b="0" i="0" dirty="0" err="1">
                <a:solidFill>
                  <a:srgbClr val="ECECEC"/>
                </a:solidFill>
                <a:effectLst/>
                <a:latin typeface="Söhne"/>
              </a:rPr>
              <a:t>measures</a:t>
            </a:r>
            <a:r>
              <a:rPr lang="fr-FR" b="0" i="0" dirty="0">
                <a:solidFill>
                  <a:srgbClr val="ECECEC"/>
                </a:solidFill>
                <a:effectLst/>
                <a:latin typeface="Söhne"/>
              </a:rPr>
              <a:t> to </a:t>
            </a:r>
            <a:r>
              <a:rPr lang="fr-FR" b="0" i="0" dirty="0" err="1">
                <a:solidFill>
                  <a:srgbClr val="ECECEC"/>
                </a:solidFill>
                <a:effectLst/>
                <a:latin typeface="Söhne"/>
              </a:rPr>
              <a:t>protect</a:t>
            </a:r>
            <a:r>
              <a:rPr lang="fr-FR" b="0" i="0" dirty="0">
                <a:solidFill>
                  <a:srgbClr val="ECECEC"/>
                </a:solidFill>
                <a:effectLst/>
                <a:latin typeface="Söhne"/>
              </a:rPr>
              <a:t> data and applications.</a:t>
            </a:r>
          </a:p>
        </p:txBody>
      </p:sp>
    </p:spTree>
    <p:extLst>
      <p:ext uri="{BB962C8B-B14F-4D97-AF65-F5344CB8AC3E}">
        <p14:creationId xmlns:p14="http://schemas.microsoft.com/office/powerpoint/2010/main" val="195833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Google Cloud platform</a:t>
            </a:r>
          </a:p>
        </p:txBody>
      </p:sp>
    </p:spTree>
    <p:extLst>
      <p:ext uri="{BB962C8B-B14F-4D97-AF65-F5344CB8AC3E}">
        <p14:creationId xmlns:p14="http://schemas.microsoft.com/office/powerpoint/2010/main" val="2324019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808922"/>
            <a:ext cx="10461078" cy="4409763"/>
          </a:xfrm>
        </p:spPr>
        <p:txBody>
          <a:bodyPr>
            <a:normAutofit lnSpcReduction="10000"/>
          </a:bodyPr>
          <a:lstStyle/>
          <a:p>
            <a:pPr algn="l">
              <a:buFont typeface="Arial" panose="020B0604020202020204" pitchFamily="34" charset="0"/>
              <a:buChar char="•"/>
            </a:pPr>
            <a:r>
              <a:rPr lang="fr-FR" b="1" i="0" dirty="0">
                <a:solidFill>
                  <a:srgbClr val="ECECEC"/>
                </a:solidFill>
                <a:effectLst/>
                <a:latin typeface="Söhne"/>
              </a:rPr>
              <a:t>Introduction to Google Cloud Platform (GCP):</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GCP </a:t>
            </a:r>
            <a:r>
              <a:rPr lang="fr-FR" b="0" i="0" dirty="0" err="1">
                <a:solidFill>
                  <a:srgbClr val="ECECEC"/>
                </a:solidFill>
                <a:effectLst/>
                <a:latin typeface="Söhne"/>
              </a:rPr>
              <a:t>is</a:t>
            </a:r>
            <a:r>
              <a:rPr lang="fr-FR" b="0" i="0" dirty="0">
                <a:solidFill>
                  <a:srgbClr val="ECECEC"/>
                </a:solidFill>
                <a:effectLst/>
                <a:latin typeface="Söhne"/>
              </a:rPr>
              <a:t> a suite of cloud services </a:t>
            </a:r>
            <a:r>
              <a:rPr lang="fr-FR" b="0" i="0" dirty="0" err="1">
                <a:solidFill>
                  <a:srgbClr val="ECECEC"/>
                </a:solidFill>
                <a:effectLst/>
                <a:latin typeface="Söhne"/>
              </a:rPr>
              <a:t>offered</a:t>
            </a:r>
            <a:r>
              <a:rPr lang="fr-FR" b="0" i="0" dirty="0">
                <a:solidFill>
                  <a:srgbClr val="ECECEC"/>
                </a:solidFill>
                <a:effectLst/>
                <a:latin typeface="Söhne"/>
              </a:rPr>
              <a:t> by Google, </a:t>
            </a:r>
            <a:r>
              <a:rPr lang="fr-FR" b="0" i="0" dirty="0" err="1">
                <a:solidFill>
                  <a:srgbClr val="ECECEC"/>
                </a:solidFill>
                <a:effectLst/>
                <a:latin typeface="Söhne"/>
              </a:rPr>
              <a:t>providing</a:t>
            </a:r>
            <a:r>
              <a:rPr lang="fr-FR" b="0" i="0" dirty="0">
                <a:solidFill>
                  <a:srgbClr val="ECECEC"/>
                </a:solidFill>
                <a:effectLst/>
                <a:latin typeface="Söhne"/>
              </a:rPr>
              <a:t> a </a:t>
            </a:r>
            <a:r>
              <a:rPr lang="fr-FR" b="0" i="0" dirty="0" err="1">
                <a:solidFill>
                  <a:srgbClr val="ECECEC"/>
                </a:solidFill>
                <a:effectLst/>
                <a:latin typeface="Söhne"/>
              </a:rPr>
              <a:t>comprehensive</a:t>
            </a:r>
            <a:r>
              <a:rPr lang="fr-FR" b="0" i="0" dirty="0">
                <a:solidFill>
                  <a:srgbClr val="ECECEC"/>
                </a:solidFill>
                <a:effectLst/>
                <a:latin typeface="Söhne"/>
              </a:rPr>
              <a:t> range of solutions for </a:t>
            </a:r>
            <a:r>
              <a:rPr lang="fr-FR" b="0" i="0" dirty="0" err="1">
                <a:solidFill>
                  <a:srgbClr val="ECECEC"/>
                </a:solidFill>
                <a:effectLst/>
                <a:latin typeface="Söhne"/>
              </a:rPr>
              <a:t>development</a:t>
            </a:r>
            <a:r>
              <a:rPr lang="fr-FR" b="0" i="0" dirty="0">
                <a:solidFill>
                  <a:srgbClr val="ECECEC"/>
                </a:solidFill>
                <a:effectLst/>
                <a:latin typeface="Söhne"/>
              </a:rPr>
              <a:t>, </a:t>
            </a:r>
            <a:r>
              <a:rPr lang="fr-FR" b="0" i="0" dirty="0" err="1">
                <a:solidFill>
                  <a:srgbClr val="ECECEC"/>
                </a:solidFill>
                <a:effectLst/>
                <a:latin typeface="Söhne"/>
              </a:rPr>
              <a:t>deployment</a:t>
            </a:r>
            <a:r>
              <a:rPr lang="fr-FR" b="0" i="0" dirty="0">
                <a:solidFill>
                  <a:srgbClr val="ECECEC"/>
                </a:solidFill>
                <a:effectLst/>
                <a:latin typeface="Söhne"/>
              </a:rPr>
              <a:t>, and management of applications on the cloud.</a:t>
            </a:r>
          </a:p>
          <a:p>
            <a:pPr algn="l">
              <a:buFont typeface="Arial" panose="020B0604020202020204" pitchFamily="34" charset="0"/>
              <a:buChar char="•"/>
            </a:pPr>
            <a:r>
              <a:rPr lang="fr-FR" b="1" i="0" dirty="0">
                <a:solidFill>
                  <a:srgbClr val="ECECEC"/>
                </a:solidFill>
                <a:effectLst/>
                <a:latin typeface="Söhne"/>
              </a:rPr>
              <a:t>Key GCP Services: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Google </a:t>
            </a:r>
            <a:r>
              <a:rPr lang="fr-FR" b="1" i="0" dirty="0" err="1">
                <a:solidFill>
                  <a:srgbClr val="ECECEC"/>
                </a:solidFill>
                <a:effectLst/>
                <a:latin typeface="Söhne"/>
              </a:rPr>
              <a:t>Compute</a:t>
            </a:r>
            <a:r>
              <a:rPr lang="fr-FR" b="1" i="0" dirty="0">
                <a:solidFill>
                  <a:srgbClr val="ECECEC"/>
                </a:solidFill>
                <a:effectLst/>
                <a:latin typeface="Söhne"/>
              </a:rPr>
              <a:t> Engine: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Infrastructure as a Service (IaaS) </a:t>
            </a:r>
            <a:r>
              <a:rPr lang="fr-FR" b="0" i="0" dirty="0" err="1">
                <a:solidFill>
                  <a:srgbClr val="ECECEC"/>
                </a:solidFill>
                <a:effectLst/>
                <a:latin typeface="Söhne"/>
              </a:rPr>
              <a:t>allowing</a:t>
            </a:r>
            <a:r>
              <a:rPr lang="fr-FR" b="0" i="0" dirty="0">
                <a:solidFill>
                  <a:srgbClr val="ECECEC"/>
                </a:solidFill>
                <a:effectLst/>
                <a:latin typeface="Söhne"/>
              </a:rPr>
              <a:t> </a:t>
            </a:r>
            <a:r>
              <a:rPr lang="fr-FR" b="0" i="0" dirty="0" err="1">
                <a:solidFill>
                  <a:srgbClr val="ECECEC"/>
                </a:solidFill>
                <a:effectLst/>
                <a:latin typeface="Söhne"/>
              </a:rPr>
              <a:t>deployment</a:t>
            </a:r>
            <a:r>
              <a:rPr lang="fr-FR" b="0" i="0" dirty="0">
                <a:solidFill>
                  <a:srgbClr val="ECECEC"/>
                </a:solidFill>
                <a:effectLst/>
                <a:latin typeface="Söhne"/>
              </a:rPr>
              <a:t> of </a:t>
            </a:r>
            <a:r>
              <a:rPr lang="fr-FR" b="0" i="0" dirty="0" err="1">
                <a:solidFill>
                  <a:srgbClr val="ECECEC"/>
                </a:solidFill>
                <a:effectLst/>
                <a:latin typeface="Söhne"/>
              </a:rPr>
              <a:t>virtual</a:t>
            </a:r>
            <a:r>
              <a:rPr lang="fr-FR" b="0" i="0" dirty="0">
                <a:solidFill>
                  <a:srgbClr val="ECECEC"/>
                </a:solidFill>
                <a:effectLst/>
                <a:latin typeface="Söhne"/>
              </a:rPr>
              <a:t> machines.</a:t>
            </a:r>
          </a:p>
          <a:p>
            <a:pPr marL="742950" lvl="1" indent="-285750" algn="l">
              <a:buFont typeface="Arial" panose="020B0604020202020204" pitchFamily="34" charset="0"/>
              <a:buChar char="•"/>
            </a:pPr>
            <a:r>
              <a:rPr lang="fr-FR" b="1" i="0" dirty="0">
                <a:solidFill>
                  <a:srgbClr val="ECECEC"/>
                </a:solidFill>
                <a:effectLst/>
                <a:latin typeface="Söhne"/>
              </a:rPr>
              <a:t>Google Cloud Storage: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Highly</a:t>
            </a:r>
            <a:r>
              <a:rPr lang="fr-FR" b="0" i="0" dirty="0">
                <a:solidFill>
                  <a:srgbClr val="ECECEC"/>
                </a:solidFill>
                <a:effectLst/>
                <a:latin typeface="Söhne"/>
              </a:rPr>
              <a:t> scalable and durable </a:t>
            </a:r>
            <a:r>
              <a:rPr lang="fr-FR" b="0" i="0" dirty="0" err="1">
                <a:solidFill>
                  <a:srgbClr val="ECECEC"/>
                </a:solidFill>
                <a:effectLst/>
                <a:latin typeface="Söhne"/>
              </a:rPr>
              <a:t>object</a:t>
            </a:r>
            <a:r>
              <a:rPr lang="fr-FR" b="0" i="0" dirty="0">
                <a:solidFill>
                  <a:srgbClr val="ECECEC"/>
                </a:solidFill>
                <a:effectLst/>
                <a:latin typeface="Söhne"/>
              </a:rPr>
              <a:t> </a:t>
            </a:r>
            <a:r>
              <a:rPr lang="fr-FR" b="0" i="0" dirty="0" err="1">
                <a:solidFill>
                  <a:srgbClr val="ECECEC"/>
                </a:solidFill>
                <a:effectLst/>
                <a:latin typeface="Söhne"/>
              </a:rPr>
              <a:t>storage</a:t>
            </a:r>
            <a:r>
              <a:rPr lang="fr-FR" b="0" i="0" dirty="0">
                <a:solidFill>
                  <a:srgbClr val="ECECEC"/>
                </a:solidFill>
                <a:effectLst/>
                <a:latin typeface="Söhne"/>
              </a:rPr>
              <a:t> service.</a:t>
            </a:r>
          </a:p>
          <a:p>
            <a:pPr marL="742950" lvl="1" indent="-285750" algn="l">
              <a:buFont typeface="Arial" panose="020B0604020202020204" pitchFamily="34" charset="0"/>
              <a:buChar char="•"/>
            </a:pPr>
            <a:r>
              <a:rPr lang="fr-FR" b="1" i="0" dirty="0">
                <a:solidFill>
                  <a:srgbClr val="ECECEC"/>
                </a:solidFill>
                <a:effectLst/>
                <a:latin typeface="Söhne"/>
              </a:rPr>
              <a:t>Google </a:t>
            </a:r>
            <a:r>
              <a:rPr lang="fr-FR" b="1" i="0" dirty="0" err="1">
                <a:solidFill>
                  <a:srgbClr val="ECECEC"/>
                </a:solidFill>
                <a:effectLst/>
                <a:latin typeface="Söhne"/>
              </a:rPr>
              <a:t>Kubernetes</a:t>
            </a:r>
            <a:r>
              <a:rPr lang="fr-FR" b="1" i="0" dirty="0">
                <a:solidFill>
                  <a:srgbClr val="ECECEC"/>
                </a:solidFill>
                <a:effectLst/>
                <a:latin typeface="Söhne"/>
              </a:rPr>
              <a:t> Engine (GKE):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Fully</a:t>
            </a:r>
            <a:r>
              <a:rPr lang="fr-FR" b="0" i="0" dirty="0">
                <a:solidFill>
                  <a:srgbClr val="ECECEC"/>
                </a:solidFill>
                <a:effectLst/>
                <a:latin typeface="Söhne"/>
              </a:rPr>
              <a:t> </a:t>
            </a:r>
            <a:r>
              <a:rPr lang="fr-FR" b="0" i="0" dirty="0" err="1">
                <a:solidFill>
                  <a:srgbClr val="ECECEC"/>
                </a:solidFill>
                <a:effectLst/>
                <a:latin typeface="Söhne"/>
              </a:rPr>
              <a:t>managed</a:t>
            </a:r>
            <a:r>
              <a:rPr lang="fr-FR" b="0" i="0" dirty="0">
                <a:solidFill>
                  <a:srgbClr val="ECECEC"/>
                </a:solidFill>
                <a:effectLst/>
                <a:latin typeface="Söhne"/>
              </a:rPr>
              <a:t> </a:t>
            </a:r>
            <a:r>
              <a:rPr lang="fr-FR" b="0" i="0" dirty="0" err="1">
                <a:solidFill>
                  <a:srgbClr val="ECECEC"/>
                </a:solidFill>
                <a:effectLst/>
                <a:latin typeface="Söhne"/>
              </a:rPr>
              <a:t>Kubernetes</a:t>
            </a:r>
            <a:r>
              <a:rPr lang="fr-FR" b="0" i="0" dirty="0">
                <a:solidFill>
                  <a:srgbClr val="ECECEC"/>
                </a:solidFill>
                <a:effectLst/>
                <a:latin typeface="Söhne"/>
              </a:rPr>
              <a:t> container management service.</a:t>
            </a:r>
          </a:p>
          <a:p>
            <a:pPr marL="742950" lvl="1" indent="-285750" algn="l">
              <a:buFont typeface="Arial" panose="020B0604020202020204" pitchFamily="34" charset="0"/>
              <a:buChar char="•"/>
            </a:pPr>
            <a:r>
              <a:rPr lang="fr-FR" b="1" i="0" dirty="0">
                <a:solidFill>
                  <a:srgbClr val="ECECEC"/>
                </a:solidFill>
                <a:effectLst/>
                <a:latin typeface="Söhne"/>
              </a:rPr>
              <a:t>Google Cloud </a:t>
            </a:r>
            <a:r>
              <a:rPr lang="fr-FR" b="1" i="0" dirty="0" err="1">
                <a:solidFill>
                  <a:srgbClr val="ECECEC"/>
                </a:solidFill>
                <a:effectLst/>
                <a:latin typeface="Söhne"/>
              </a:rPr>
              <a:t>Functions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Serverless</a:t>
            </a:r>
            <a:r>
              <a:rPr lang="fr-FR" b="0" i="0" dirty="0">
                <a:solidFill>
                  <a:srgbClr val="ECECEC"/>
                </a:solidFill>
                <a:effectLst/>
                <a:latin typeface="Söhne"/>
              </a:rPr>
              <a:t> service for </a:t>
            </a:r>
            <a:r>
              <a:rPr lang="fr-FR" b="0" i="0" dirty="0" err="1">
                <a:solidFill>
                  <a:srgbClr val="ECECEC"/>
                </a:solidFill>
                <a:effectLst/>
                <a:latin typeface="Söhne"/>
              </a:rPr>
              <a:t>executing</a:t>
            </a:r>
            <a:r>
              <a:rPr lang="fr-FR" b="0" i="0" dirty="0">
                <a:solidFill>
                  <a:srgbClr val="ECECEC"/>
                </a:solidFill>
                <a:effectLst/>
                <a:latin typeface="Söhne"/>
              </a:rPr>
              <a:t> code in </a:t>
            </a:r>
            <a:r>
              <a:rPr lang="fr-FR" b="0" i="0" dirty="0" err="1">
                <a:solidFill>
                  <a:srgbClr val="ECECEC"/>
                </a:solidFill>
                <a:effectLst/>
                <a:latin typeface="Söhne"/>
              </a:rPr>
              <a:t>response</a:t>
            </a:r>
            <a:r>
              <a:rPr lang="fr-FR" b="0" i="0" dirty="0">
                <a:solidFill>
                  <a:srgbClr val="ECECEC"/>
                </a:solidFill>
                <a:effectLst/>
                <a:latin typeface="Söhne"/>
              </a:rPr>
              <a:t> to </a:t>
            </a:r>
            <a:r>
              <a:rPr lang="fr-FR" b="0" i="0" dirty="0" err="1">
                <a:solidFill>
                  <a:srgbClr val="ECECEC"/>
                </a:solidFill>
                <a:effectLst/>
                <a:latin typeface="Söhne"/>
              </a:rPr>
              <a:t>events</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a:solidFill>
                  <a:srgbClr val="ECECEC"/>
                </a:solidFill>
                <a:effectLst/>
                <a:latin typeface="Söhne"/>
              </a:rPr>
              <a:t>Google Cloud Run: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Fully</a:t>
            </a:r>
            <a:r>
              <a:rPr lang="fr-FR" b="0" i="0" dirty="0">
                <a:solidFill>
                  <a:srgbClr val="ECECEC"/>
                </a:solidFill>
                <a:effectLst/>
                <a:latin typeface="Söhne"/>
              </a:rPr>
              <a:t> </a:t>
            </a:r>
            <a:r>
              <a:rPr lang="fr-FR" b="0" i="0" dirty="0" err="1">
                <a:solidFill>
                  <a:srgbClr val="ECECEC"/>
                </a:solidFill>
                <a:effectLst/>
                <a:latin typeface="Söhne"/>
              </a:rPr>
              <a:t>managed</a:t>
            </a:r>
            <a:r>
              <a:rPr lang="fr-FR" b="0" i="0" dirty="0">
                <a:solidFill>
                  <a:srgbClr val="ECECEC"/>
                </a:solidFill>
                <a:effectLst/>
                <a:latin typeface="Söhne"/>
              </a:rPr>
              <a:t> container platform for </a:t>
            </a:r>
            <a:r>
              <a:rPr lang="fr-FR" b="0" i="0" dirty="0" err="1">
                <a:solidFill>
                  <a:srgbClr val="ECECEC"/>
                </a:solidFill>
                <a:effectLst/>
                <a:latin typeface="Söhne"/>
              </a:rPr>
              <a:t>deploying</a:t>
            </a:r>
            <a:r>
              <a:rPr lang="fr-FR" b="0" i="0" dirty="0">
                <a:solidFill>
                  <a:srgbClr val="ECECEC"/>
                </a:solidFill>
                <a:effectLst/>
                <a:latin typeface="Söhne"/>
              </a:rPr>
              <a:t> and </a:t>
            </a:r>
            <a:r>
              <a:rPr lang="fr-FR" b="0" i="0" dirty="0" err="1">
                <a:solidFill>
                  <a:srgbClr val="ECECEC"/>
                </a:solidFill>
                <a:effectLst/>
                <a:latin typeface="Söhne"/>
              </a:rPr>
              <a:t>managing</a:t>
            </a:r>
            <a:r>
              <a:rPr lang="fr-FR" b="0" i="0" dirty="0">
                <a:solidFill>
                  <a:srgbClr val="ECECEC"/>
                </a:solidFill>
                <a:effectLst/>
                <a:latin typeface="Söhne"/>
              </a:rPr>
              <a:t> containers.</a:t>
            </a:r>
          </a:p>
        </p:txBody>
      </p:sp>
      <p:sp>
        <p:nvSpPr>
          <p:cNvPr id="6" name="Titre 1">
            <a:extLst>
              <a:ext uri="{FF2B5EF4-FFF2-40B4-BE49-F238E27FC236}">
                <a16:creationId xmlns:a16="http://schemas.microsoft.com/office/drawing/2014/main" id="{AFFB5950-8CEF-0C25-7980-2CD232BA843A}"/>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Tree>
    <p:extLst>
      <p:ext uri="{BB962C8B-B14F-4D97-AF65-F5344CB8AC3E}">
        <p14:creationId xmlns:p14="http://schemas.microsoft.com/office/powerpoint/2010/main" val="6508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540566"/>
            <a:ext cx="10923104" cy="4880112"/>
          </a:xfrm>
        </p:spPr>
        <p:txBody>
          <a:bodyPr>
            <a:normAutofit lnSpcReduction="10000"/>
          </a:bodyPr>
          <a:lstStyle/>
          <a:p>
            <a:pPr algn="l">
              <a:buFont typeface="Arial" panose="020B0604020202020204" pitchFamily="34" charset="0"/>
              <a:buChar char="•"/>
            </a:pPr>
            <a:r>
              <a:rPr lang="fr-FR" b="1" i="0" dirty="0" err="1">
                <a:solidFill>
                  <a:srgbClr val="ECECEC"/>
                </a:solidFill>
                <a:effectLst/>
                <a:latin typeface="Söhne"/>
              </a:rPr>
              <a:t>Advantages</a:t>
            </a:r>
            <a:r>
              <a:rPr lang="fr-FR" b="1" i="0" dirty="0">
                <a:solidFill>
                  <a:srgbClr val="ECECEC"/>
                </a:solidFill>
                <a:effectLst/>
                <a:latin typeface="Söhne"/>
              </a:rPr>
              <a:t> of GCP:</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Scalability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GCP services are </a:t>
            </a:r>
            <a:r>
              <a:rPr lang="fr-FR" b="0" i="0" dirty="0" err="1">
                <a:solidFill>
                  <a:srgbClr val="ECECEC"/>
                </a:solidFill>
                <a:effectLst/>
                <a:latin typeface="Söhne"/>
              </a:rPr>
              <a:t>designed</a:t>
            </a:r>
            <a:r>
              <a:rPr lang="fr-FR" b="0" i="0" dirty="0">
                <a:solidFill>
                  <a:srgbClr val="ECECEC"/>
                </a:solidFill>
                <a:effectLst/>
                <a:latin typeface="Söhne"/>
              </a:rPr>
              <a:t> to </a:t>
            </a:r>
            <a:r>
              <a:rPr lang="fr-FR" b="0" i="0" dirty="0" err="1">
                <a:solidFill>
                  <a:srgbClr val="ECECEC"/>
                </a:solidFill>
                <a:effectLst/>
                <a:latin typeface="Söhne"/>
              </a:rPr>
              <a:t>adapt</a:t>
            </a:r>
            <a:r>
              <a:rPr lang="fr-FR" b="0" i="0" dirty="0">
                <a:solidFill>
                  <a:srgbClr val="ECECEC"/>
                </a:solidFill>
                <a:effectLst/>
                <a:latin typeface="Söhne"/>
              </a:rPr>
              <a:t> to the </a:t>
            </a:r>
            <a:r>
              <a:rPr lang="fr-FR" b="0" i="0" dirty="0" err="1">
                <a:solidFill>
                  <a:srgbClr val="ECECEC"/>
                </a:solidFill>
                <a:effectLst/>
                <a:latin typeface="Söhne"/>
              </a:rPr>
              <a:t>evolving</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 of businesses, </a:t>
            </a:r>
            <a:r>
              <a:rPr lang="fr-FR" b="0" i="0" dirty="0" err="1">
                <a:solidFill>
                  <a:srgbClr val="ECECEC"/>
                </a:solidFill>
                <a:effectLst/>
                <a:latin typeface="Söhne"/>
              </a:rPr>
              <a:t>allowing</a:t>
            </a:r>
            <a:r>
              <a:rPr lang="fr-FR" b="0" i="0" dirty="0">
                <a:solidFill>
                  <a:srgbClr val="ECECEC"/>
                </a:solidFill>
                <a:effectLst/>
                <a:latin typeface="Söhne"/>
              </a:rPr>
              <a:t> for </a:t>
            </a:r>
            <a:r>
              <a:rPr lang="fr-FR" b="0" i="0" dirty="0" err="1">
                <a:solidFill>
                  <a:srgbClr val="ECECEC"/>
                </a:solidFill>
                <a:effectLst/>
                <a:latin typeface="Söhne"/>
              </a:rPr>
              <a:t>starting</a:t>
            </a:r>
            <a:r>
              <a:rPr lang="fr-FR" b="0" i="0" dirty="0">
                <a:solidFill>
                  <a:srgbClr val="ECECEC"/>
                </a:solidFill>
                <a:effectLst/>
                <a:latin typeface="Söhne"/>
              </a:rPr>
              <a:t> </a:t>
            </a:r>
            <a:r>
              <a:rPr lang="fr-FR" b="0" i="0" dirty="0" err="1">
                <a:solidFill>
                  <a:srgbClr val="ECECEC"/>
                </a:solidFill>
                <a:effectLst/>
                <a:latin typeface="Söhne"/>
              </a:rPr>
              <a:t>small</a:t>
            </a:r>
            <a:r>
              <a:rPr lang="fr-FR" b="0" i="0" dirty="0">
                <a:solidFill>
                  <a:srgbClr val="ECECEC"/>
                </a:solidFill>
                <a:effectLst/>
                <a:latin typeface="Söhne"/>
              </a:rPr>
              <a:t> and </a:t>
            </a:r>
            <a:r>
              <a:rPr lang="fr-FR" b="0" i="0" dirty="0" err="1">
                <a:solidFill>
                  <a:srgbClr val="ECECEC"/>
                </a:solidFill>
                <a:effectLst/>
                <a:latin typeface="Söhne"/>
              </a:rPr>
              <a:t>growing</a:t>
            </a:r>
            <a:r>
              <a:rPr lang="fr-FR" b="0" i="0" dirty="0">
                <a:solidFill>
                  <a:srgbClr val="ECECEC"/>
                </a:solidFill>
                <a:effectLst/>
                <a:latin typeface="Söhne"/>
              </a:rPr>
              <a:t> as </a:t>
            </a:r>
            <a:r>
              <a:rPr lang="fr-FR" b="0" i="0" dirty="0" err="1">
                <a:solidFill>
                  <a:srgbClr val="ECECEC"/>
                </a:solidFill>
                <a:effectLst/>
                <a:latin typeface="Söhne"/>
              </a:rPr>
              <a:t>needed</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Reliability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GCP </a:t>
            </a:r>
            <a:r>
              <a:rPr lang="fr-FR" b="0" i="0" dirty="0" err="1">
                <a:solidFill>
                  <a:srgbClr val="ECECEC"/>
                </a:solidFill>
                <a:effectLst/>
                <a:latin typeface="Söhne"/>
              </a:rPr>
              <a:t>ensures</a:t>
            </a:r>
            <a:r>
              <a:rPr lang="fr-FR" b="0" i="0" dirty="0">
                <a:solidFill>
                  <a:srgbClr val="ECECEC"/>
                </a:solidFill>
                <a:effectLst/>
                <a:latin typeface="Söhne"/>
              </a:rPr>
              <a:t> high </a:t>
            </a:r>
            <a:r>
              <a:rPr lang="fr-FR" b="0" i="0" dirty="0" err="1">
                <a:solidFill>
                  <a:srgbClr val="ECECEC"/>
                </a:solidFill>
                <a:effectLst/>
                <a:latin typeface="Söhne"/>
              </a:rPr>
              <a:t>availability</a:t>
            </a:r>
            <a:r>
              <a:rPr lang="fr-FR" b="0" i="0" dirty="0">
                <a:solidFill>
                  <a:srgbClr val="ECECEC"/>
                </a:solidFill>
                <a:effectLst/>
                <a:latin typeface="Söhne"/>
              </a:rPr>
              <a:t> </a:t>
            </a:r>
            <a:r>
              <a:rPr lang="fr-FR" b="0" i="0" dirty="0" err="1">
                <a:solidFill>
                  <a:srgbClr val="ECECEC"/>
                </a:solidFill>
                <a:effectLst/>
                <a:latin typeface="Söhne"/>
              </a:rPr>
              <a:t>levels</a:t>
            </a:r>
            <a:r>
              <a:rPr lang="fr-FR" b="0" i="0" dirty="0">
                <a:solidFill>
                  <a:srgbClr val="ECECEC"/>
                </a:solidFill>
                <a:effectLst/>
                <a:latin typeface="Söhne"/>
              </a:rPr>
              <a:t> </a:t>
            </a:r>
            <a:r>
              <a:rPr lang="fr-FR" b="0" i="0" dirty="0" err="1">
                <a:solidFill>
                  <a:srgbClr val="ECECEC"/>
                </a:solidFill>
                <a:effectLst/>
                <a:latin typeface="Söhne"/>
              </a:rPr>
              <a:t>through</a:t>
            </a:r>
            <a:r>
              <a:rPr lang="fr-FR" b="0" i="0" dirty="0">
                <a:solidFill>
                  <a:srgbClr val="ECECEC"/>
                </a:solidFill>
                <a:effectLst/>
                <a:latin typeface="Söhne"/>
              </a:rPr>
              <a:t> </a:t>
            </a:r>
            <a:r>
              <a:rPr lang="fr-FR" b="0" i="0" dirty="0" err="1">
                <a:solidFill>
                  <a:srgbClr val="ECECEC"/>
                </a:solidFill>
                <a:effectLst/>
                <a:latin typeface="Söhne"/>
              </a:rPr>
              <a:t>its</a:t>
            </a:r>
            <a:r>
              <a:rPr lang="fr-FR" b="0" i="0" dirty="0">
                <a:solidFill>
                  <a:srgbClr val="ECECEC"/>
                </a:solidFill>
                <a:effectLst/>
                <a:latin typeface="Söhne"/>
              </a:rPr>
              <a:t> global network of data centers.</a:t>
            </a:r>
          </a:p>
          <a:p>
            <a:pPr marL="742950" lvl="1" indent="-285750" algn="l">
              <a:buFont typeface="Arial" panose="020B0604020202020204" pitchFamily="34" charset="0"/>
              <a:buChar char="•"/>
            </a:pPr>
            <a:r>
              <a:rPr lang="fr-FR" b="1" i="0" dirty="0">
                <a:solidFill>
                  <a:srgbClr val="ECECEC"/>
                </a:solidFill>
                <a:effectLst/>
                <a:latin typeface="Söhne"/>
              </a:rPr>
              <a:t>Security:</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Google </a:t>
            </a:r>
            <a:r>
              <a:rPr lang="fr-FR" b="0" i="0" dirty="0" err="1">
                <a:solidFill>
                  <a:srgbClr val="ECECEC"/>
                </a:solidFill>
                <a:effectLst/>
                <a:latin typeface="Söhne"/>
              </a:rPr>
              <a:t>heavily</a:t>
            </a:r>
            <a:r>
              <a:rPr lang="fr-FR" b="0" i="0" dirty="0">
                <a:solidFill>
                  <a:srgbClr val="ECECEC"/>
                </a:solidFill>
                <a:effectLst/>
                <a:latin typeface="Söhne"/>
              </a:rPr>
              <a:t> </a:t>
            </a:r>
            <a:r>
              <a:rPr lang="fr-FR" b="0" i="0" dirty="0" err="1">
                <a:solidFill>
                  <a:srgbClr val="ECECEC"/>
                </a:solidFill>
                <a:effectLst/>
                <a:latin typeface="Söhne"/>
              </a:rPr>
              <a:t>invests</a:t>
            </a:r>
            <a:r>
              <a:rPr lang="fr-FR" b="0" i="0" dirty="0">
                <a:solidFill>
                  <a:srgbClr val="ECECEC"/>
                </a:solidFill>
                <a:effectLst/>
                <a:latin typeface="Söhne"/>
              </a:rPr>
              <a:t> in </a:t>
            </a:r>
            <a:r>
              <a:rPr lang="fr-FR" b="0" i="0" dirty="0" err="1">
                <a:solidFill>
                  <a:srgbClr val="ECECEC"/>
                </a:solidFill>
                <a:effectLst/>
                <a:latin typeface="Söhne"/>
              </a:rPr>
              <a:t>securing</a:t>
            </a:r>
            <a:r>
              <a:rPr lang="fr-FR" b="0" i="0" dirty="0">
                <a:solidFill>
                  <a:srgbClr val="ECECEC"/>
                </a:solidFill>
                <a:effectLst/>
                <a:latin typeface="Söhne"/>
              </a:rPr>
              <a:t> </a:t>
            </a:r>
            <a:r>
              <a:rPr lang="fr-FR" b="0" i="0" dirty="0" err="1">
                <a:solidFill>
                  <a:srgbClr val="ECECEC"/>
                </a:solidFill>
                <a:effectLst/>
                <a:latin typeface="Söhne"/>
              </a:rPr>
              <a:t>its</a:t>
            </a:r>
            <a:r>
              <a:rPr lang="fr-FR" b="0" i="0" dirty="0">
                <a:solidFill>
                  <a:srgbClr val="ECECEC"/>
                </a:solidFill>
                <a:effectLst/>
                <a:latin typeface="Söhne"/>
              </a:rPr>
              <a:t> infrastructure, </a:t>
            </a:r>
            <a:r>
              <a:rPr lang="fr-FR" b="0" i="0" dirty="0" err="1">
                <a:solidFill>
                  <a:srgbClr val="ECECEC"/>
                </a:solidFill>
                <a:effectLst/>
                <a:latin typeface="Söhne"/>
              </a:rPr>
              <a:t>providing</a:t>
            </a:r>
            <a:r>
              <a:rPr lang="fr-FR" b="0" i="0" dirty="0">
                <a:solidFill>
                  <a:srgbClr val="ECECEC"/>
                </a:solidFill>
                <a:effectLst/>
                <a:latin typeface="Söhne"/>
              </a:rPr>
              <a:t> a </a:t>
            </a:r>
            <a:r>
              <a:rPr lang="fr-FR" b="0" i="0" dirty="0" err="1">
                <a:solidFill>
                  <a:srgbClr val="ECECEC"/>
                </a:solidFill>
                <a:effectLst/>
                <a:latin typeface="Söhne"/>
              </a:rPr>
              <a:t>highly</a:t>
            </a:r>
            <a:r>
              <a:rPr lang="fr-FR" b="0" i="0" dirty="0">
                <a:solidFill>
                  <a:srgbClr val="ECECEC"/>
                </a:solidFill>
                <a:effectLst/>
                <a:latin typeface="Söhne"/>
              </a:rPr>
              <a:t> </a:t>
            </a:r>
            <a:r>
              <a:rPr lang="fr-FR" b="0" i="0" dirty="0" err="1">
                <a:solidFill>
                  <a:srgbClr val="ECECEC"/>
                </a:solidFill>
                <a:effectLst/>
                <a:latin typeface="Söhne"/>
              </a:rPr>
              <a:t>secure</a:t>
            </a:r>
            <a:r>
              <a:rPr lang="fr-FR" b="0" i="0" dirty="0">
                <a:solidFill>
                  <a:srgbClr val="ECECEC"/>
                </a:solidFill>
                <a:effectLst/>
                <a:latin typeface="Söhne"/>
              </a:rPr>
              <a:t> Cloud </a:t>
            </a:r>
            <a:r>
              <a:rPr lang="fr-FR" b="0" i="0" dirty="0" err="1">
                <a:solidFill>
                  <a:srgbClr val="ECECEC"/>
                </a:solidFill>
                <a:effectLst/>
                <a:latin typeface="Söhne"/>
              </a:rPr>
              <a:t>environment</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a:solidFill>
                  <a:srgbClr val="ECECEC"/>
                </a:solidFill>
                <a:effectLst/>
                <a:latin typeface="Söhne"/>
              </a:rPr>
              <a:t>Innovation: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GCP </a:t>
            </a:r>
            <a:r>
              <a:rPr lang="fr-FR" b="0" i="0" dirty="0" err="1">
                <a:solidFill>
                  <a:srgbClr val="ECECEC"/>
                </a:solidFill>
                <a:effectLst/>
                <a:latin typeface="Söhne"/>
              </a:rPr>
              <a:t>offers</a:t>
            </a:r>
            <a:r>
              <a:rPr lang="fr-FR" b="0" i="0" dirty="0">
                <a:solidFill>
                  <a:srgbClr val="ECECEC"/>
                </a:solidFill>
                <a:effectLst/>
                <a:latin typeface="Söhne"/>
              </a:rPr>
              <a:t> </a:t>
            </a:r>
            <a:r>
              <a:rPr lang="fr-FR" b="0" i="0" dirty="0" err="1">
                <a:solidFill>
                  <a:srgbClr val="ECECEC"/>
                </a:solidFill>
                <a:effectLst/>
                <a:latin typeface="Söhne"/>
              </a:rPr>
              <a:t>cutting-edge</a:t>
            </a:r>
            <a:r>
              <a:rPr lang="fr-FR" b="0" i="0" dirty="0">
                <a:solidFill>
                  <a:srgbClr val="ECECEC"/>
                </a:solidFill>
                <a:effectLst/>
                <a:latin typeface="Söhne"/>
              </a:rPr>
              <a:t> services in areas </a:t>
            </a:r>
            <a:r>
              <a:rPr lang="fr-FR" b="0" i="0" dirty="0" err="1">
                <a:solidFill>
                  <a:srgbClr val="ECECEC"/>
                </a:solidFill>
                <a:effectLst/>
                <a:latin typeface="Söhne"/>
              </a:rPr>
              <a:t>such</a:t>
            </a:r>
            <a:r>
              <a:rPr lang="fr-FR" b="0" i="0" dirty="0">
                <a:solidFill>
                  <a:srgbClr val="ECECEC"/>
                </a:solidFill>
                <a:effectLst/>
                <a:latin typeface="Söhne"/>
              </a:rPr>
              <a:t> as </a:t>
            </a:r>
            <a:r>
              <a:rPr lang="fr-FR" b="0" i="0" dirty="0" err="1">
                <a:solidFill>
                  <a:srgbClr val="ECECEC"/>
                </a:solidFill>
                <a:effectLst/>
                <a:latin typeface="Söhne"/>
              </a:rPr>
              <a:t>artificial</a:t>
            </a:r>
            <a:r>
              <a:rPr lang="fr-FR" b="0" i="0" dirty="0">
                <a:solidFill>
                  <a:srgbClr val="ECECEC"/>
                </a:solidFill>
                <a:effectLst/>
                <a:latin typeface="Söhne"/>
              </a:rPr>
              <a:t> intelligence, machine </a:t>
            </a:r>
            <a:r>
              <a:rPr lang="fr-FR" b="0" i="0" dirty="0" err="1">
                <a:solidFill>
                  <a:srgbClr val="ECECEC"/>
                </a:solidFill>
                <a:effectLst/>
                <a:latin typeface="Söhne"/>
              </a:rPr>
              <a:t>learning</a:t>
            </a:r>
            <a:r>
              <a:rPr lang="fr-FR" b="0" i="0" dirty="0">
                <a:solidFill>
                  <a:srgbClr val="ECECEC"/>
                </a:solidFill>
                <a:effectLst/>
                <a:latin typeface="Söhne"/>
              </a:rPr>
              <a:t>, and data </a:t>
            </a:r>
            <a:r>
              <a:rPr lang="fr-FR" b="0" i="0" dirty="0" err="1">
                <a:solidFill>
                  <a:srgbClr val="ECECEC"/>
                </a:solidFill>
                <a:effectLst/>
                <a:latin typeface="Söhne"/>
              </a:rPr>
              <a:t>analytics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Use Cases of GCP:</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Web and mobile application </a:t>
            </a:r>
            <a:r>
              <a:rPr lang="fr-FR" b="0" i="0" dirty="0" err="1">
                <a:solidFill>
                  <a:srgbClr val="ECECEC"/>
                </a:solidFill>
                <a:effectLst/>
                <a:latin typeface="Söhne"/>
              </a:rPr>
              <a:t>development</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Data </a:t>
            </a:r>
            <a:r>
              <a:rPr lang="fr-FR" b="0" i="0" dirty="0" err="1">
                <a:solidFill>
                  <a:srgbClr val="ECECEC"/>
                </a:solidFill>
                <a:effectLst/>
                <a:latin typeface="Söhne"/>
              </a:rPr>
              <a:t>analysis</a:t>
            </a:r>
            <a:r>
              <a:rPr lang="fr-FR" b="0" i="0" dirty="0">
                <a:solidFill>
                  <a:srgbClr val="ECECEC"/>
                </a:solidFill>
                <a:effectLst/>
                <a:latin typeface="Söhne"/>
              </a:rPr>
              <a:t> and real-time </a:t>
            </a:r>
            <a:r>
              <a:rPr lang="fr-FR" b="0" i="0" dirty="0" err="1">
                <a:solidFill>
                  <a:srgbClr val="ECECEC"/>
                </a:solidFill>
                <a:effectLst/>
                <a:latin typeface="Söhne"/>
              </a:rPr>
              <a:t>processing</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Machine </a:t>
            </a:r>
            <a:r>
              <a:rPr lang="fr-FR" b="0" i="0" dirty="0" err="1">
                <a:solidFill>
                  <a:srgbClr val="ECECEC"/>
                </a:solidFill>
                <a:effectLst/>
                <a:latin typeface="Söhne"/>
              </a:rPr>
              <a:t>learning</a:t>
            </a:r>
            <a:r>
              <a:rPr lang="fr-FR" b="0" i="0" dirty="0">
                <a:solidFill>
                  <a:srgbClr val="ECECEC"/>
                </a:solidFill>
                <a:effectLst/>
                <a:latin typeface="Söhne"/>
              </a:rPr>
              <a:t> and </a:t>
            </a:r>
            <a:r>
              <a:rPr lang="fr-FR" b="0" i="0" dirty="0" err="1">
                <a:solidFill>
                  <a:srgbClr val="ECECEC"/>
                </a:solidFill>
                <a:effectLst/>
                <a:latin typeface="Söhne"/>
              </a:rPr>
              <a:t>artificial</a:t>
            </a:r>
            <a:r>
              <a:rPr lang="fr-FR" b="0" i="0" dirty="0">
                <a:solidFill>
                  <a:srgbClr val="ECECEC"/>
                </a:solidFill>
                <a:effectLst/>
                <a:latin typeface="Söhne"/>
              </a:rPr>
              <a:t> intelligence.</a:t>
            </a:r>
          </a:p>
          <a:p>
            <a:pPr marL="742950" lvl="1" indent="-285750" algn="l">
              <a:buFont typeface="Arial" panose="020B0604020202020204" pitchFamily="34" charset="0"/>
              <a:buChar char="•"/>
            </a:pPr>
            <a:r>
              <a:rPr lang="fr-FR" b="0" i="0" dirty="0">
                <a:solidFill>
                  <a:srgbClr val="ECECEC"/>
                </a:solidFill>
                <a:effectLst/>
                <a:latin typeface="Söhne"/>
              </a:rPr>
              <a:t>Infrastructure management and DevOps.</a:t>
            </a:r>
          </a:p>
        </p:txBody>
      </p:sp>
    </p:spTree>
    <p:extLst>
      <p:ext uri="{BB962C8B-B14F-4D97-AF65-F5344CB8AC3E}">
        <p14:creationId xmlns:p14="http://schemas.microsoft.com/office/powerpoint/2010/main" val="1478601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56591" y="2577447"/>
            <a:ext cx="10923104" cy="1729408"/>
          </a:xfrm>
        </p:spPr>
        <p:txBody>
          <a:bodyPr>
            <a:normAutofit/>
          </a:bodyPr>
          <a:lstStyle/>
          <a:p>
            <a:pPr marL="0" indent="0" algn="l">
              <a:buNone/>
            </a:pPr>
            <a:r>
              <a:rPr lang="fr-FR" b="1" i="0" dirty="0">
                <a:solidFill>
                  <a:srgbClr val="ECECEC"/>
                </a:solidFill>
                <a:effectLst/>
                <a:latin typeface="Söhne"/>
              </a:rPr>
              <a:t>Conclusion:</a:t>
            </a:r>
          </a:p>
          <a:p>
            <a:pPr lvl="1"/>
            <a:r>
              <a:rPr lang="fr-FR" b="0" i="0" dirty="0">
                <a:solidFill>
                  <a:srgbClr val="ECECEC"/>
                </a:solidFill>
                <a:effectLst/>
                <a:latin typeface="Söhne"/>
              </a:rPr>
              <a:t>Google Cloud Platform </a:t>
            </a:r>
            <a:r>
              <a:rPr lang="fr-FR" b="0" i="0" dirty="0" err="1">
                <a:solidFill>
                  <a:srgbClr val="ECECEC"/>
                </a:solidFill>
                <a:effectLst/>
                <a:latin typeface="Söhne"/>
              </a:rPr>
              <a:t>provides</a:t>
            </a:r>
            <a:r>
              <a:rPr lang="fr-FR" b="0" i="0" dirty="0">
                <a:solidFill>
                  <a:srgbClr val="ECECEC"/>
                </a:solidFill>
                <a:effectLst/>
                <a:latin typeface="Söhne"/>
              </a:rPr>
              <a:t> a </a:t>
            </a:r>
            <a:r>
              <a:rPr lang="fr-FR" b="0" i="0" dirty="0" err="1">
                <a:solidFill>
                  <a:srgbClr val="ECECEC"/>
                </a:solidFill>
                <a:effectLst/>
                <a:latin typeface="Söhne"/>
              </a:rPr>
              <a:t>comprehensive</a:t>
            </a:r>
            <a:r>
              <a:rPr lang="fr-FR" b="0" i="0" dirty="0">
                <a:solidFill>
                  <a:srgbClr val="ECECEC"/>
                </a:solidFill>
                <a:effectLst/>
                <a:latin typeface="Söhne"/>
              </a:rPr>
              <a:t> range of cloud services </a:t>
            </a:r>
            <a:r>
              <a:rPr lang="fr-FR" b="0" i="0" dirty="0" err="1">
                <a:solidFill>
                  <a:srgbClr val="ECECEC"/>
                </a:solidFill>
                <a:effectLst/>
                <a:latin typeface="Söhne"/>
              </a:rPr>
              <a:t>allowing</a:t>
            </a:r>
            <a:r>
              <a:rPr lang="fr-FR" b="0" i="0" dirty="0">
                <a:solidFill>
                  <a:srgbClr val="ECECEC"/>
                </a:solidFill>
                <a:effectLst/>
                <a:latin typeface="Söhne"/>
              </a:rPr>
              <a:t> businesses to </a:t>
            </a:r>
            <a:r>
              <a:rPr lang="fr-FR" b="0" i="0" dirty="0" err="1">
                <a:solidFill>
                  <a:srgbClr val="ECECEC"/>
                </a:solidFill>
                <a:effectLst/>
                <a:latin typeface="Söhne"/>
              </a:rPr>
              <a:t>develop</a:t>
            </a:r>
            <a:r>
              <a:rPr lang="fr-FR" b="0" i="0" dirty="0">
                <a:solidFill>
                  <a:srgbClr val="ECECEC"/>
                </a:solidFill>
                <a:effectLst/>
                <a:latin typeface="Söhne"/>
              </a:rPr>
              <a:t>, </a:t>
            </a:r>
            <a:r>
              <a:rPr lang="fr-FR" b="0" i="0" dirty="0" err="1">
                <a:solidFill>
                  <a:srgbClr val="ECECEC"/>
                </a:solidFill>
                <a:effectLst/>
                <a:latin typeface="Söhne"/>
              </a:rPr>
              <a:t>deploy</a:t>
            </a:r>
            <a:r>
              <a:rPr lang="fr-FR" b="0" i="0" dirty="0">
                <a:solidFill>
                  <a:srgbClr val="ECECEC"/>
                </a:solidFill>
                <a:effectLst/>
                <a:latin typeface="Söhne"/>
              </a:rPr>
              <a:t>, and manage </a:t>
            </a:r>
            <a:r>
              <a:rPr lang="fr-FR" b="0" i="0" dirty="0" err="1">
                <a:solidFill>
                  <a:srgbClr val="ECECEC"/>
                </a:solidFill>
                <a:effectLst/>
                <a:latin typeface="Söhne"/>
              </a:rPr>
              <a:t>their</a:t>
            </a:r>
            <a:r>
              <a:rPr lang="fr-FR" b="0" i="0" dirty="0">
                <a:solidFill>
                  <a:srgbClr val="ECECEC"/>
                </a:solidFill>
                <a:effectLst/>
                <a:latin typeface="Söhne"/>
              </a:rPr>
              <a:t> applications </a:t>
            </a:r>
            <a:r>
              <a:rPr lang="fr-FR" b="0" i="0" dirty="0" err="1">
                <a:solidFill>
                  <a:srgbClr val="ECECEC"/>
                </a:solidFill>
                <a:effectLst/>
                <a:latin typeface="Söhne"/>
              </a:rPr>
              <a:t>efficiently</a:t>
            </a:r>
            <a:r>
              <a:rPr lang="fr-FR" b="0" i="0" dirty="0">
                <a:solidFill>
                  <a:srgbClr val="ECECEC"/>
                </a:solidFill>
                <a:effectLst/>
                <a:latin typeface="Söhne"/>
              </a:rPr>
              <a:t> and at </a:t>
            </a:r>
            <a:r>
              <a:rPr lang="fr-FR" b="0" i="0" dirty="0" err="1">
                <a:solidFill>
                  <a:srgbClr val="ECECEC"/>
                </a:solidFill>
                <a:effectLst/>
                <a:latin typeface="Söhne"/>
              </a:rPr>
              <a:t>scale</a:t>
            </a:r>
            <a:r>
              <a:rPr lang="fr-FR" b="0" i="0" dirty="0">
                <a:solidFill>
                  <a:srgbClr val="ECECEC"/>
                </a:solidFill>
                <a:effectLst/>
                <a:latin typeface="Söhne"/>
              </a:rPr>
              <a:t>.</a:t>
            </a:r>
          </a:p>
          <a:p>
            <a:pPr lvl="1"/>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feature-rich</a:t>
            </a:r>
            <a:r>
              <a:rPr lang="fr-FR" b="0" i="0" dirty="0">
                <a:solidFill>
                  <a:srgbClr val="ECECEC"/>
                </a:solidFill>
                <a:effectLst/>
                <a:latin typeface="Söhne"/>
              </a:rPr>
              <a:t> </a:t>
            </a:r>
            <a:r>
              <a:rPr lang="fr-FR" b="0" i="0" dirty="0" err="1">
                <a:solidFill>
                  <a:srgbClr val="ECECEC"/>
                </a:solidFill>
                <a:effectLst/>
                <a:latin typeface="Söhne"/>
              </a:rPr>
              <a:t>ecosystem</a:t>
            </a:r>
            <a:r>
              <a:rPr lang="fr-FR" b="0" i="0" dirty="0">
                <a:solidFill>
                  <a:srgbClr val="ECECEC"/>
                </a:solidFill>
                <a:effectLst/>
                <a:latin typeface="Söhne"/>
              </a:rPr>
              <a:t> and </a:t>
            </a:r>
            <a:r>
              <a:rPr lang="fr-FR" b="0" i="0" dirty="0" err="1">
                <a:solidFill>
                  <a:srgbClr val="ECECEC"/>
                </a:solidFill>
                <a:effectLst/>
                <a:latin typeface="Söhne"/>
              </a:rPr>
              <a:t>commitment</a:t>
            </a:r>
            <a:r>
              <a:rPr lang="fr-FR" b="0" i="0" dirty="0">
                <a:solidFill>
                  <a:srgbClr val="ECECEC"/>
                </a:solidFill>
                <a:effectLst/>
                <a:latin typeface="Söhne"/>
              </a:rPr>
              <a:t> to innovation </a:t>
            </a:r>
            <a:r>
              <a:rPr lang="fr-FR" b="0" i="0" dirty="0" err="1">
                <a:solidFill>
                  <a:srgbClr val="ECECEC"/>
                </a:solidFill>
                <a:effectLst/>
                <a:latin typeface="Söhne"/>
              </a:rPr>
              <a:t>make</a:t>
            </a:r>
            <a:r>
              <a:rPr lang="fr-FR" b="0" i="0" dirty="0">
                <a:solidFill>
                  <a:srgbClr val="ECECEC"/>
                </a:solidFill>
                <a:effectLst/>
                <a:latin typeface="Söhne"/>
              </a:rPr>
              <a:t> </a:t>
            </a:r>
            <a:r>
              <a:rPr lang="fr-FR" b="0" i="0" dirty="0" err="1">
                <a:solidFill>
                  <a:srgbClr val="ECECEC"/>
                </a:solidFill>
                <a:effectLst/>
                <a:latin typeface="Söhne"/>
              </a:rPr>
              <a:t>it</a:t>
            </a:r>
            <a:r>
              <a:rPr lang="fr-FR" b="0" i="0" dirty="0">
                <a:solidFill>
                  <a:srgbClr val="ECECEC"/>
                </a:solidFill>
                <a:effectLst/>
                <a:latin typeface="Söhne"/>
              </a:rPr>
              <a:t> a </a:t>
            </a:r>
            <a:r>
              <a:rPr lang="fr-FR" b="0" i="0" dirty="0" err="1">
                <a:solidFill>
                  <a:srgbClr val="ECECEC"/>
                </a:solidFill>
                <a:effectLst/>
                <a:latin typeface="Söhne"/>
              </a:rPr>
              <a:t>popular</a:t>
            </a:r>
            <a:r>
              <a:rPr lang="fr-FR" b="0" i="0" dirty="0">
                <a:solidFill>
                  <a:srgbClr val="ECECEC"/>
                </a:solidFill>
                <a:effectLst/>
                <a:latin typeface="Söhne"/>
              </a:rPr>
              <a:t> </a:t>
            </a:r>
            <a:r>
              <a:rPr lang="fr-FR" b="0" i="0" dirty="0" err="1">
                <a:solidFill>
                  <a:srgbClr val="ECECEC"/>
                </a:solidFill>
                <a:effectLst/>
                <a:latin typeface="Söhne"/>
              </a:rPr>
              <a:t>choice</a:t>
            </a:r>
            <a:r>
              <a:rPr lang="fr-FR" b="0" i="0" dirty="0">
                <a:solidFill>
                  <a:srgbClr val="ECECEC"/>
                </a:solidFill>
                <a:effectLst/>
                <a:latin typeface="Söhne"/>
              </a:rPr>
              <a:t> for </a:t>
            </a:r>
            <a:r>
              <a:rPr lang="fr-FR" b="0" i="0" dirty="0" err="1">
                <a:solidFill>
                  <a:srgbClr val="ECECEC"/>
                </a:solidFill>
                <a:effectLst/>
                <a:latin typeface="Söhne"/>
              </a:rPr>
              <a:t>many</a:t>
            </a:r>
            <a:r>
              <a:rPr lang="fr-FR" b="0" i="0" dirty="0">
                <a:solidFill>
                  <a:srgbClr val="ECECEC"/>
                </a:solidFill>
                <a:effectLst/>
                <a:latin typeface="Söhne"/>
              </a:rPr>
              <a:t> businesses </a:t>
            </a:r>
            <a:r>
              <a:rPr lang="fr-FR" b="0" i="0" dirty="0" err="1">
                <a:solidFill>
                  <a:srgbClr val="ECECEC"/>
                </a:solidFill>
                <a:effectLst/>
                <a:latin typeface="Söhne"/>
              </a:rPr>
              <a:t>seeking</a:t>
            </a:r>
            <a:r>
              <a:rPr lang="fr-FR" b="0" i="0" dirty="0">
                <a:solidFill>
                  <a:srgbClr val="ECECEC"/>
                </a:solidFill>
                <a:effectLst/>
                <a:latin typeface="Söhne"/>
              </a:rPr>
              <a:t> cloud solutions.</a:t>
            </a:r>
          </a:p>
        </p:txBody>
      </p:sp>
    </p:spTree>
    <p:extLst>
      <p:ext uri="{BB962C8B-B14F-4D97-AF65-F5344CB8AC3E}">
        <p14:creationId xmlns:p14="http://schemas.microsoft.com/office/powerpoint/2010/main" val="1528932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540566"/>
            <a:ext cx="10923104" cy="4880112"/>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Regions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Regions</a:t>
            </a:r>
            <a:r>
              <a:rPr lang="fr-FR" b="0" i="0" dirty="0">
                <a:solidFill>
                  <a:srgbClr val="ECECEC"/>
                </a:solidFill>
                <a:effectLst/>
                <a:latin typeface="Söhne"/>
              </a:rPr>
              <a:t> </a:t>
            </a:r>
            <a:r>
              <a:rPr lang="fr-FR" b="0" i="0" dirty="0" err="1">
                <a:solidFill>
                  <a:srgbClr val="ECECEC"/>
                </a:solidFill>
                <a:effectLst/>
                <a:latin typeface="Söhne"/>
              </a:rPr>
              <a:t>represent</a:t>
            </a:r>
            <a:r>
              <a:rPr lang="fr-FR" b="0" i="0" dirty="0">
                <a:solidFill>
                  <a:srgbClr val="ECECEC"/>
                </a:solidFill>
                <a:effectLst/>
                <a:latin typeface="Söhne"/>
              </a:rPr>
              <a:t> </a:t>
            </a:r>
            <a:r>
              <a:rPr lang="fr-FR" b="0" i="0" dirty="0" err="1">
                <a:solidFill>
                  <a:srgbClr val="ECECEC"/>
                </a:solidFill>
                <a:effectLst/>
                <a:latin typeface="Söhne"/>
              </a:rPr>
              <a:t>specific</a:t>
            </a:r>
            <a:r>
              <a:rPr lang="fr-FR" b="0" i="0" dirty="0">
                <a:solidFill>
                  <a:srgbClr val="ECECEC"/>
                </a:solidFill>
                <a:effectLst/>
                <a:latin typeface="Söhne"/>
              </a:rPr>
              <a:t> </a:t>
            </a:r>
            <a:r>
              <a:rPr lang="fr-FR" b="0" i="0" dirty="0" err="1">
                <a:solidFill>
                  <a:srgbClr val="ECECEC"/>
                </a:solidFill>
                <a:effectLst/>
                <a:latin typeface="Söhne"/>
              </a:rPr>
              <a:t>geographical</a:t>
            </a:r>
            <a:r>
              <a:rPr lang="fr-FR" b="0" i="0" dirty="0">
                <a:solidFill>
                  <a:srgbClr val="ECECEC"/>
                </a:solidFill>
                <a:effectLst/>
                <a:latin typeface="Söhne"/>
              </a:rPr>
              <a:t> areas </a:t>
            </a:r>
            <a:r>
              <a:rPr lang="fr-FR" b="0" i="0" dirty="0" err="1">
                <a:solidFill>
                  <a:srgbClr val="ECECEC"/>
                </a:solidFill>
                <a:effectLst/>
                <a:latin typeface="Söhne"/>
              </a:rPr>
              <a:t>where</a:t>
            </a:r>
            <a:r>
              <a:rPr lang="fr-FR" b="0" i="0" dirty="0">
                <a:solidFill>
                  <a:srgbClr val="ECECEC"/>
                </a:solidFill>
                <a:effectLst/>
                <a:latin typeface="Söhne"/>
              </a:rPr>
              <a:t> Google Cloud </a:t>
            </a:r>
            <a:r>
              <a:rPr lang="fr-FR" b="0" i="0" dirty="0" err="1">
                <a:solidFill>
                  <a:srgbClr val="ECECEC"/>
                </a:solidFill>
                <a:effectLst/>
                <a:latin typeface="Söhne"/>
              </a:rPr>
              <a:t>resources</a:t>
            </a:r>
            <a:r>
              <a:rPr lang="fr-FR" b="0" i="0" dirty="0">
                <a:solidFill>
                  <a:srgbClr val="ECECEC"/>
                </a:solidFill>
                <a:effectLst/>
                <a:latin typeface="Söhne"/>
              </a:rPr>
              <a:t> are </a:t>
            </a:r>
            <a:r>
              <a:rPr lang="fr-FR" b="0" i="0" dirty="0" err="1">
                <a:solidFill>
                  <a:srgbClr val="ECECEC"/>
                </a:solidFill>
                <a:effectLst/>
                <a:latin typeface="Söhne"/>
              </a:rPr>
              <a:t>located</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a:t>
            </a:r>
            <a:r>
              <a:rPr lang="fr-FR" b="0" i="0" dirty="0" err="1">
                <a:solidFill>
                  <a:srgbClr val="ECECEC"/>
                </a:solidFill>
                <a:effectLst/>
                <a:latin typeface="Söhne"/>
              </a:rPr>
              <a:t>region</a:t>
            </a:r>
            <a:r>
              <a:rPr lang="fr-FR" b="0" i="0" dirty="0">
                <a:solidFill>
                  <a:srgbClr val="ECECEC"/>
                </a:solidFill>
                <a:effectLst/>
                <a:latin typeface="Söhne"/>
              </a:rPr>
              <a:t> </a:t>
            </a:r>
            <a:r>
              <a:rPr lang="fr-FR" b="0" i="0" dirty="0" err="1">
                <a:solidFill>
                  <a:srgbClr val="ECECEC"/>
                </a:solidFill>
                <a:effectLst/>
                <a:latin typeface="Söhne"/>
              </a:rPr>
              <a:t>consists</a:t>
            </a:r>
            <a:r>
              <a:rPr lang="fr-FR" b="0" i="0" dirty="0">
                <a:solidFill>
                  <a:srgbClr val="ECECEC"/>
                </a:solidFill>
                <a:effectLst/>
                <a:latin typeface="Söhne"/>
              </a:rPr>
              <a:t> of at least </a:t>
            </a:r>
            <a:r>
              <a:rPr lang="fr-FR" b="0" i="0" dirty="0" err="1">
                <a:solidFill>
                  <a:srgbClr val="ECECEC"/>
                </a:solidFill>
                <a:effectLst/>
                <a:latin typeface="Söhne"/>
              </a:rPr>
              <a:t>two</a:t>
            </a:r>
            <a:r>
              <a:rPr lang="fr-FR" b="0" i="0" dirty="0">
                <a:solidFill>
                  <a:srgbClr val="ECECEC"/>
                </a:solidFill>
                <a:effectLst/>
                <a:latin typeface="Söhne"/>
              </a:rPr>
              <a:t> zones.</a:t>
            </a:r>
          </a:p>
          <a:p>
            <a:pPr marL="742950" lvl="1" indent="-285750" algn="l">
              <a:buFont typeface="Arial" panose="020B0604020202020204" pitchFamily="34" charset="0"/>
              <a:buChar char="•"/>
            </a:pPr>
            <a:r>
              <a:rPr lang="fr-FR" b="0" i="0" dirty="0">
                <a:solidFill>
                  <a:srgbClr val="ECECEC"/>
                </a:solidFill>
                <a:effectLst/>
                <a:latin typeface="Söhne"/>
              </a:rPr>
              <a:t>Google Cloud </a:t>
            </a:r>
            <a:r>
              <a:rPr lang="fr-FR" b="0" i="0" dirty="0" err="1">
                <a:solidFill>
                  <a:srgbClr val="ECECEC"/>
                </a:solidFill>
                <a:effectLst/>
                <a:latin typeface="Söhne"/>
              </a:rPr>
              <a:t>offers</a:t>
            </a:r>
            <a:r>
              <a:rPr lang="fr-FR" b="0" i="0" dirty="0">
                <a:solidFill>
                  <a:srgbClr val="ECECEC"/>
                </a:solidFill>
                <a:effectLst/>
                <a:latin typeface="Söhne"/>
              </a:rPr>
              <a:t> a </a:t>
            </a:r>
            <a:r>
              <a:rPr lang="fr-FR" b="0" i="0" dirty="0" err="1">
                <a:solidFill>
                  <a:srgbClr val="ECECEC"/>
                </a:solidFill>
                <a:effectLst/>
                <a:latin typeface="Söhne"/>
              </a:rPr>
              <a:t>wide</a:t>
            </a:r>
            <a:r>
              <a:rPr lang="fr-FR" b="0" i="0" dirty="0">
                <a:solidFill>
                  <a:srgbClr val="ECECEC"/>
                </a:solidFill>
                <a:effectLst/>
                <a:latin typeface="Söhne"/>
              </a:rPr>
              <a:t> range of </a:t>
            </a:r>
            <a:r>
              <a:rPr lang="fr-FR" b="0" i="0" dirty="0" err="1">
                <a:solidFill>
                  <a:srgbClr val="ECECEC"/>
                </a:solidFill>
                <a:effectLst/>
                <a:latin typeface="Söhne"/>
              </a:rPr>
              <a:t>regions</a:t>
            </a:r>
            <a:r>
              <a:rPr lang="fr-FR" b="0" i="0" dirty="0">
                <a:solidFill>
                  <a:srgbClr val="ECECEC"/>
                </a:solidFill>
                <a:effectLst/>
                <a:latin typeface="Söhne"/>
              </a:rPr>
              <a:t> to </a:t>
            </a:r>
            <a:r>
              <a:rPr lang="fr-FR" b="0" i="0" dirty="0" err="1">
                <a:solidFill>
                  <a:srgbClr val="ECECEC"/>
                </a:solidFill>
                <a:effectLst/>
                <a:latin typeface="Söhne"/>
              </a:rPr>
              <a:t>meet</a:t>
            </a:r>
            <a:r>
              <a:rPr lang="fr-FR" b="0" i="0" dirty="0">
                <a:solidFill>
                  <a:srgbClr val="ECECEC"/>
                </a:solidFill>
                <a:effectLst/>
                <a:latin typeface="Söhne"/>
              </a:rPr>
              <a:t> data </a:t>
            </a:r>
            <a:r>
              <a:rPr lang="fr-FR" b="0" i="0" dirty="0" err="1">
                <a:solidFill>
                  <a:srgbClr val="ECECEC"/>
                </a:solidFill>
                <a:effectLst/>
                <a:latin typeface="Söhne"/>
              </a:rPr>
              <a:t>localization</a:t>
            </a:r>
            <a:r>
              <a:rPr lang="fr-FR" b="0" i="0" dirty="0">
                <a:solidFill>
                  <a:srgbClr val="ECECEC"/>
                </a:solidFill>
                <a:effectLst/>
                <a:latin typeface="Söhne"/>
              </a:rPr>
              <a:t> and </a:t>
            </a:r>
            <a:r>
              <a:rPr lang="fr-FR" b="0" i="0" dirty="0" err="1">
                <a:solidFill>
                  <a:srgbClr val="ECECEC"/>
                </a:solidFill>
                <a:effectLst/>
                <a:latin typeface="Söhne"/>
              </a:rPr>
              <a:t>latency</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Zones: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Zones are distinct locations </a:t>
            </a:r>
            <a:r>
              <a:rPr lang="fr-FR" b="0" i="0" dirty="0" err="1">
                <a:solidFill>
                  <a:srgbClr val="ECECEC"/>
                </a:solidFill>
                <a:effectLst/>
                <a:latin typeface="Söhne"/>
              </a:rPr>
              <a:t>within</a:t>
            </a:r>
            <a:r>
              <a:rPr lang="fr-FR" b="0" i="0" dirty="0">
                <a:solidFill>
                  <a:srgbClr val="ECECEC"/>
                </a:solidFill>
                <a:effectLst/>
                <a:latin typeface="Söhne"/>
              </a:rPr>
              <a:t> a </a:t>
            </a:r>
            <a:r>
              <a:rPr lang="fr-FR" b="0" i="0" dirty="0" err="1">
                <a:solidFill>
                  <a:srgbClr val="ECECEC"/>
                </a:solidFill>
                <a:effectLst/>
                <a:latin typeface="Söhne"/>
              </a:rPr>
              <a:t>region</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zone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designed</a:t>
            </a:r>
            <a:r>
              <a:rPr lang="fr-FR" b="0" i="0" dirty="0">
                <a:solidFill>
                  <a:srgbClr val="ECECEC"/>
                </a:solidFill>
                <a:effectLst/>
                <a:latin typeface="Söhne"/>
              </a:rPr>
              <a:t> to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isolated</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a:t>
            </a:r>
            <a:r>
              <a:rPr lang="fr-FR" b="0" i="0" dirty="0" err="1">
                <a:solidFill>
                  <a:srgbClr val="ECECEC"/>
                </a:solidFill>
                <a:effectLst/>
                <a:latin typeface="Söhne"/>
              </a:rPr>
              <a:t>failures</a:t>
            </a:r>
            <a:r>
              <a:rPr lang="fr-FR" b="0" i="0" dirty="0">
                <a:solidFill>
                  <a:srgbClr val="ECECEC"/>
                </a:solidFill>
                <a:effectLst/>
                <a:latin typeface="Söhne"/>
              </a:rPr>
              <a:t> in </a:t>
            </a:r>
            <a:r>
              <a:rPr lang="fr-FR" b="0" i="0" dirty="0" err="1">
                <a:solidFill>
                  <a:srgbClr val="ECECEC"/>
                </a:solidFill>
                <a:effectLst/>
                <a:latin typeface="Söhne"/>
              </a:rPr>
              <a:t>other</a:t>
            </a:r>
            <a:r>
              <a:rPr lang="fr-FR" b="0" i="0" dirty="0">
                <a:solidFill>
                  <a:srgbClr val="ECECEC"/>
                </a:solidFill>
                <a:effectLst/>
                <a:latin typeface="Söhne"/>
              </a:rPr>
              <a:t> zones.</a:t>
            </a:r>
          </a:p>
          <a:p>
            <a:pPr marL="742950" lvl="1" indent="-285750" algn="l">
              <a:buFont typeface="Arial" panose="020B0604020202020204" pitchFamily="34" charset="0"/>
              <a:buChar char="•"/>
            </a:pPr>
            <a:r>
              <a:rPr lang="fr-FR" b="0" i="0" dirty="0" err="1">
                <a:solidFill>
                  <a:srgbClr val="ECECEC"/>
                </a:solidFill>
                <a:effectLst/>
                <a:latin typeface="Söhne"/>
              </a:rPr>
              <a:t>Resources</a:t>
            </a:r>
            <a:r>
              <a:rPr lang="fr-FR" b="0" i="0" dirty="0">
                <a:solidFill>
                  <a:srgbClr val="ECECEC"/>
                </a:solidFill>
                <a:effectLst/>
                <a:latin typeface="Söhne"/>
              </a:rPr>
              <a:t> </a:t>
            </a:r>
            <a:r>
              <a:rPr lang="fr-FR" b="0" i="0" dirty="0" err="1">
                <a:solidFill>
                  <a:srgbClr val="ECECEC"/>
                </a:solidFill>
                <a:effectLst/>
                <a:latin typeface="Söhne"/>
              </a:rPr>
              <a:t>deployed</a:t>
            </a:r>
            <a:r>
              <a:rPr lang="fr-FR" b="0" i="0" dirty="0">
                <a:solidFill>
                  <a:srgbClr val="ECECEC"/>
                </a:solidFill>
                <a:effectLst/>
                <a:latin typeface="Söhne"/>
              </a:rPr>
              <a:t> in </a:t>
            </a:r>
            <a:r>
              <a:rPr lang="fr-FR" b="0" i="0" dirty="0" err="1">
                <a:solidFill>
                  <a:srgbClr val="ECECEC"/>
                </a:solidFill>
                <a:effectLst/>
                <a:latin typeface="Söhne"/>
              </a:rPr>
              <a:t>different</a:t>
            </a:r>
            <a:r>
              <a:rPr lang="fr-FR" b="0" i="0" dirty="0">
                <a:solidFill>
                  <a:srgbClr val="ECECEC"/>
                </a:solidFill>
                <a:effectLst/>
                <a:latin typeface="Söhne"/>
              </a:rPr>
              <a:t> zones </a:t>
            </a:r>
            <a:r>
              <a:rPr lang="fr-FR" b="0" i="0" dirty="0" err="1">
                <a:solidFill>
                  <a:srgbClr val="ECECEC"/>
                </a:solidFill>
                <a:effectLst/>
                <a:latin typeface="Söhne"/>
              </a:rPr>
              <a:t>offer</a:t>
            </a:r>
            <a:r>
              <a:rPr lang="fr-FR" b="0" i="0" dirty="0">
                <a:solidFill>
                  <a:srgbClr val="ECECEC"/>
                </a:solidFill>
                <a:effectLst/>
                <a:latin typeface="Söhne"/>
              </a:rPr>
              <a:t> high </a:t>
            </a:r>
            <a:r>
              <a:rPr lang="fr-FR" b="0" i="0" dirty="0" err="1">
                <a:solidFill>
                  <a:srgbClr val="ECECEC"/>
                </a:solidFill>
                <a:effectLst/>
                <a:latin typeface="Söhne"/>
              </a:rPr>
              <a:t>availability</a:t>
            </a:r>
            <a:r>
              <a:rPr lang="fr-FR" b="0" i="0" dirty="0">
                <a:solidFill>
                  <a:srgbClr val="ECECEC"/>
                </a:solidFill>
                <a:effectLst/>
                <a:latin typeface="Söhne"/>
              </a:rPr>
              <a:t> and </a:t>
            </a:r>
            <a:r>
              <a:rPr lang="fr-FR" b="0" i="0" dirty="0" err="1">
                <a:solidFill>
                  <a:srgbClr val="ECECEC"/>
                </a:solidFill>
                <a:effectLst/>
                <a:latin typeface="Söhne"/>
              </a:rPr>
              <a:t>increased</a:t>
            </a:r>
            <a:r>
              <a:rPr lang="fr-FR" b="0" i="0" dirty="0">
                <a:solidFill>
                  <a:srgbClr val="ECECEC"/>
                </a:solidFill>
                <a:effectLst/>
                <a:latin typeface="Söhne"/>
              </a:rPr>
              <a:t> </a:t>
            </a:r>
            <a:r>
              <a:rPr lang="fr-FR" b="0" i="0" dirty="0" err="1">
                <a:solidFill>
                  <a:srgbClr val="ECECEC"/>
                </a:solidFill>
                <a:effectLst/>
                <a:latin typeface="Söhne"/>
              </a:rPr>
              <a:t>resilience</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Example:</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Region</a:t>
            </a:r>
            <a:r>
              <a:rPr lang="fr-FR" b="1" i="0" dirty="0">
                <a:solidFill>
                  <a:srgbClr val="ECECEC"/>
                </a:solidFill>
                <a:effectLst/>
                <a:latin typeface="Söhne"/>
              </a:rPr>
              <a:t>:</a:t>
            </a:r>
            <a:r>
              <a:rPr lang="fr-FR" b="0" i="0" dirty="0">
                <a:solidFill>
                  <a:srgbClr val="ECECEC"/>
                </a:solidFill>
                <a:effectLst/>
                <a:latin typeface="Söhne"/>
              </a:rPr>
              <a:t> europe-west1 (</a:t>
            </a:r>
            <a:r>
              <a:rPr lang="fr-FR" b="0" i="0" dirty="0" err="1">
                <a:solidFill>
                  <a:srgbClr val="ECECEC"/>
                </a:solidFill>
                <a:effectLst/>
                <a:latin typeface="Söhne"/>
              </a:rPr>
              <a:t>Belgium</a:t>
            </a:r>
            <a:r>
              <a:rPr lang="fr-FR" b="0" i="0" dirty="0">
                <a:solidFill>
                  <a:srgbClr val="ECECEC"/>
                </a:solidFill>
                <a:effectLst/>
                <a:latin typeface="Söhne"/>
              </a:rPr>
              <a:t>)</a:t>
            </a:r>
          </a:p>
          <a:p>
            <a:pPr marL="1143000" lvl="2" indent="-228600" algn="l">
              <a:buFont typeface="Arial" panose="020B0604020202020204" pitchFamily="34" charset="0"/>
              <a:buChar char="•"/>
            </a:pPr>
            <a:r>
              <a:rPr lang="fr-FR" b="1" i="0" dirty="0">
                <a:solidFill>
                  <a:srgbClr val="ECECEC"/>
                </a:solidFill>
                <a:effectLst/>
                <a:latin typeface="Söhne"/>
              </a:rPr>
              <a:t>Zone:</a:t>
            </a:r>
            <a:r>
              <a:rPr lang="fr-FR" b="0" i="0" dirty="0">
                <a:solidFill>
                  <a:srgbClr val="ECECEC"/>
                </a:solidFill>
                <a:effectLst/>
                <a:latin typeface="Söhne"/>
              </a:rPr>
              <a:t> europe-west1-b</a:t>
            </a:r>
          </a:p>
          <a:p>
            <a:pPr marL="1143000" lvl="2" indent="-228600" algn="l">
              <a:buFont typeface="Arial" panose="020B0604020202020204" pitchFamily="34" charset="0"/>
              <a:buChar char="•"/>
            </a:pPr>
            <a:r>
              <a:rPr lang="fr-FR" b="1" i="0" dirty="0">
                <a:solidFill>
                  <a:srgbClr val="ECECEC"/>
                </a:solidFill>
                <a:effectLst/>
                <a:latin typeface="Söhne"/>
              </a:rPr>
              <a:t>Zone:</a:t>
            </a:r>
            <a:r>
              <a:rPr lang="fr-FR" b="0" i="0" dirty="0">
                <a:solidFill>
                  <a:srgbClr val="ECECEC"/>
                </a:solidFill>
                <a:effectLst/>
                <a:latin typeface="Söhne"/>
              </a:rPr>
              <a:t> europe-west1-c</a:t>
            </a:r>
          </a:p>
          <a:p>
            <a:pPr marL="1143000" lvl="2" indent="-228600" algn="l">
              <a:buFont typeface="Arial" panose="020B0604020202020204" pitchFamily="34" charset="0"/>
              <a:buChar char="•"/>
            </a:pPr>
            <a:r>
              <a:rPr lang="fr-FR" b="1" i="0" dirty="0">
                <a:solidFill>
                  <a:srgbClr val="ECECEC"/>
                </a:solidFill>
                <a:effectLst/>
                <a:latin typeface="Söhne"/>
              </a:rPr>
              <a:t>Zone:</a:t>
            </a:r>
            <a:r>
              <a:rPr lang="fr-FR" b="0" i="0" dirty="0">
                <a:solidFill>
                  <a:srgbClr val="ECECEC"/>
                </a:solidFill>
                <a:effectLst/>
                <a:latin typeface="Söhne"/>
              </a:rPr>
              <a:t> europe-west1-d</a:t>
            </a:r>
          </a:p>
        </p:txBody>
      </p:sp>
    </p:spTree>
    <p:extLst>
      <p:ext uri="{BB962C8B-B14F-4D97-AF65-F5344CB8AC3E}">
        <p14:creationId xmlns:p14="http://schemas.microsoft.com/office/powerpoint/2010/main" val="2800448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pic>
        <p:nvPicPr>
          <p:cNvPr id="6" name="Image 5">
            <a:extLst>
              <a:ext uri="{FF2B5EF4-FFF2-40B4-BE49-F238E27FC236}">
                <a16:creationId xmlns:a16="http://schemas.microsoft.com/office/drawing/2014/main" id="{47B3E0CA-6E8A-FAB9-82A6-13C61DA8D519}"/>
              </a:ext>
            </a:extLst>
          </p:cNvPr>
          <p:cNvPicPr>
            <a:picLocks noChangeAspect="1"/>
          </p:cNvPicPr>
          <p:nvPr/>
        </p:nvPicPr>
        <p:blipFill>
          <a:blip r:embed="rId2"/>
          <a:stretch>
            <a:fillRect/>
          </a:stretch>
        </p:blipFill>
        <p:spPr>
          <a:xfrm>
            <a:off x="513806" y="1348130"/>
            <a:ext cx="5529692" cy="2788441"/>
          </a:xfrm>
          <a:prstGeom prst="rect">
            <a:avLst/>
          </a:prstGeom>
        </p:spPr>
      </p:pic>
      <p:pic>
        <p:nvPicPr>
          <p:cNvPr id="7" name="Image 6">
            <a:extLst>
              <a:ext uri="{FF2B5EF4-FFF2-40B4-BE49-F238E27FC236}">
                <a16:creationId xmlns:a16="http://schemas.microsoft.com/office/drawing/2014/main" id="{F2168BEF-D150-E20F-1A85-341E92479A93}"/>
              </a:ext>
            </a:extLst>
          </p:cNvPr>
          <p:cNvPicPr>
            <a:picLocks noChangeAspect="1"/>
          </p:cNvPicPr>
          <p:nvPr/>
        </p:nvPicPr>
        <p:blipFill>
          <a:blip r:embed="rId3"/>
          <a:stretch>
            <a:fillRect/>
          </a:stretch>
        </p:blipFill>
        <p:spPr>
          <a:xfrm>
            <a:off x="6148502" y="1348130"/>
            <a:ext cx="5529692" cy="2788441"/>
          </a:xfrm>
          <a:prstGeom prst="rect">
            <a:avLst/>
          </a:prstGeom>
        </p:spPr>
      </p:pic>
      <p:pic>
        <p:nvPicPr>
          <p:cNvPr id="11" name="Image 10">
            <a:extLst>
              <a:ext uri="{FF2B5EF4-FFF2-40B4-BE49-F238E27FC236}">
                <a16:creationId xmlns:a16="http://schemas.microsoft.com/office/drawing/2014/main" id="{C4CF6E5A-0602-F572-C1E1-7E0E3DBCEA45}"/>
              </a:ext>
            </a:extLst>
          </p:cNvPr>
          <p:cNvPicPr>
            <a:picLocks noChangeAspect="1"/>
          </p:cNvPicPr>
          <p:nvPr/>
        </p:nvPicPr>
        <p:blipFill>
          <a:blip r:embed="rId4"/>
          <a:stretch>
            <a:fillRect/>
          </a:stretch>
        </p:blipFill>
        <p:spPr>
          <a:xfrm>
            <a:off x="2157298" y="4262766"/>
            <a:ext cx="7772400" cy="2389699"/>
          </a:xfrm>
          <a:prstGeom prst="rect">
            <a:avLst/>
          </a:prstGeom>
        </p:spPr>
      </p:pic>
    </p:spTree>
    <p:extLst>
      <p:ext uri="{BB962C8B-B14F-4D97-AF65-F5344CB8AC3E}">
        <p14:creationId xmlns:p14="http://schemas.microsoft.com/office/powerpoint/2010/main" val="706985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pic>
        <p:nvPicPr>
          <p:cNvPr id="3" name="Image 2">
            <a:extLst>
              <a:ext uri="{FF2B5EF4-FFF2-40B4-BE49-F238E27FC236}">
                <a16:creationId xmlns:a16="http://schemas.microsoft.com/office/drawing/2014/main" id="{4A5EFD00-2C1A-0855-0C83-4404667BE1C3}"/>
              </a:ext>
            </a:extLst>
          </p:cNvPr>
          <p:cNvPicPr>
            <a:picLocks noChangeAspect="1"/>
          </p:cNvPicPr>
          <p:nvPr/>
        </p:nvPicPr>
        <p:blipFill>
          <a:blip r:embed="rId2"/>
          <a:stretch>
            <a:fillRect/>
          </a:stretch>
        </p:blipFill>
        <p:spPr>
          <a:xfrm>
            <a:off x="6096000" y="2070960"/>
            <a:ext cx="5593343" cy="2872388"/>
          </a:xfrm>
          <a:prstGeom prst="rect">
            <a:avLst/>
          </a:prstGeom>
        </p:spPr>
      </p:pic>
      <p:pic>
        <p:nvPicPr>
          <p:cNvPr id="5" name="Image 4">
            <a:extLst>
              <a:ext uri="{FF2B5EF4-FFF2-40B4-BE49-F238E27FC236}">
                <a16:creationId xmlns:a16="http://schemas.microsoft.com/office/drawing/2014/main" id="{3619678E-B54A-F418-E095-6B0CC6C0F4F5}"/>
              </a:ext>
            </a:extLst>
          </p:cNvPr>
          <p:cNvPicPr>
            <a:picLocks noChangeAspect="1"/>
          </p:cNvPicPr>
          <p:nvPr/>
        </p:nvPicPr>
        <p:blipFill>
          <a:blip r:embed="rId3"/>
          <a:stretch>
            <a:fillRect/>
          </a:stretch>
        </p:blipFill>
        <p:spPr>
          <a:xfrm>
            <a:off x="502657" y="2070960"/>
            <a:ext cx="5386514" cy="2872388"/>
          </a:xfrm>
          <a:prstGeom prst="rect">
            <a:avLst/>
          </a:prstGeom>
        </p:spPr>
      </p:pic>
    </p:spTree>
    <p:extLst>
      <p:ext uri="{BB962C8B-B14F-4D97-AF65-F5344CB8AC3E}">
        <p14:creationId xmlns:p14="http://schemas.microsoft.com/office/powerpoint/2010/main" val="3180387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OPERATING SYSTEMS</a:t>
            </a:r>
          </a:p>
        </p:txBody>
      </p:sp>
    </p:spTree>
    <p:extLst>
      <p:ext uri="{BB962C8B-B14F-4D97-AF65-F5344CB8AC3E}">
        <p14:creationId xmlns:p14="http://schemas.microsoft.com/office/powerpoint/2010/main" val="374166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OPERATING SYSTEMS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828800"/>
            <a:ext cx="10923104" cy="3756992"/>
          </a:xfrm>
        </p:spPr>
        <p:txBody>
          <a:bodyPr>
            <a:normAutofit/>
          </a:bodyPr>
          <a:lstStyle/>
          <a:p>
            <a:pPr algn="l">
              <a:buFont typeface="Arial" panose="020B0604020202020204" pitchFamily="34" charset="0"/>
              <a:buChar char="•"/>
            </a:pPr>
            <a:r>
              <a:rPr lang="fr-FR" b="1" i="0" dirty="0">
                <a:solidFill>
                  <a:srgbClr val="ECECEC"/>
                </a:solidFill>
                <a:effectLst/>
                <a:latin typeface="Söhne"/>
              </a:rPr>
              <a:t>Introduction to Operating </a:t>
            </a:r>
            <a:r>
              <a:rPr lang="fr-FR" b="1" i="0" dirty="0" err="1">
                <a:solidFill>
                  <a:srgbClr val="ECECEC"/>
                </a:solidFill>
                <a:effectLst/>
                <a:latin typeface="Söhne"/>
              </a:rPr>
              <a:t>Systems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Operating </a:t>
            </a:r>
            <a:r>
              <a:rPr lang="fr-FR" b="0" i="0" dirty="0" err="1">
                <a:solidFill>
                  <a:srgbClr val="ECECEC"/>
                </a:solidFill>
                <a:effectLst/>
                <a:latin typeface="Söhne"/>
              </a:rPr>
              <a:t>systems</a:t>
            </a:r>
            <a:r>
              <a:rPr lang="fr-FR" b="0" i="0" dirty="0">
                <a:solidFill>
                  <a:srgbClr val="ECECEC"/>
                </a:solidFill>
                <a:effectLst/>
                <a:latin typeface="Söhne"/>
              </a:rPr>
              <a:t> are software </a:t>
            </a:r>
            <a:r>
              <a:rPr lang="fr-FR" b="0" i="0" dirty="0" err="1">
                <a:solidFill>
                  <a:srgbClr val="ECECEC"/>
                </a:solidFill>
                <a:effectLst/>
                <a:latin typeface="Söhne"/>
              </a:rPr>
              <a:t>that</a:t>
            </a:r>
            <a:r>
              <a:rPr lang="fr-FR" b="0" i="0" dirty="0">
                <a:solidFill>
                  <a:srgbClr val="ECECEC"/>
                </a:solidFill>
                <a:effectLst/>
                <a:latin typeface="Söhne"/>
              </a:rPr>
              <a:t> manage hardware </a:t>
            </a:r>
            <a:r>
              <a:rPr lang="fr-FR" b="0" i="0" dirty="0" err="1">
                <a:solidFill>
                  <a:srgbClr val="ECECEC"/>
                </a:solidFill>
                <a:effectLst/>
                <a:latin typeface="Söhne"/>
              </a:rPr>
              <a:t>resources</a:t>
            </a:r>
            <a:r>
              <a:rPr lang="fr-FR" b="0" i="0" dirty="0">
                <a:solidFill>
                  <a:srgbClr val="ECECEC"/>
                </a:solidFill>
                <a:effectLst/>
                <a:latin typeface="Söhne"/>
              </a:rPr>
              <a:t> and enable the </a:t>
            </a:r>
            <a:r>
              <a:rPr lang="fr-FR" b="0" i="0" dirty="0" err="1">
                <a:solidFill>
                  <a:srgbClr val="ECECEC"/>
                </a:solidFill>
                <a:effectLst/>
                <a:latin typeface="Söhne"/>
              </a:rPr>
              <a:t>execution</a:t>
            </a:r>
            <a:r>
              <a:rPr lang="fr-FR" b="0" i="0" dirty="0">
                <a:solidFill>
                  <a:srgbClr val="ECECEC"/>
                </a:solidFill>
                <a:effectLst/>
                <a:latin typeface="Söhne"/>
              </a:rPr>
              <a:t> of </a:t>
            </a:r>
            <a:r>
              <a:rPr lang="fr-FR" b="0" i="0" dirty="0" err="1">
                <a:solidFill>
                  <a:srgbClr val="ECECEC"/>
                </a:solidFill>
                <a:effectLst/>
                <a:latin typeface="Söhne"/>
              </a:rPr>
              <a:t>other</a:t>
            </a:r>
            <a:r>
              <a:rPr lang="fr-FR" b="0" i="0" dirty="0">
                <a:solidFill>
                  <a:srgbClr val="ECECEC"/>
                </a:solidFill>
                <a:effectLst/>
                <a:latin typeface="Söhne"/>
              </a:rPr>
              <a:t> programs on a computer.</a:t>
            </a:r>
          </a:p>
          <a:p>
            <a:pPr algn="l">
              <a:buFont typeface="Arial" panose="020B0604020202020204" pitchFamily="34" charset="0"/>
              <a:buChar char="•"/>
            </a:pPr>
            <a:r>
              <a:rPr lang="fr-FR" b="1" i="0" dirty="0">
                <a:solidFill>
                  <a:srgbClr val="ECECEC"/>
                </a:solidFill>
                <a:effectLst/>
                <a:latin typeface="Söhne"/>
              </a:rPr>
              <a:t>Windows: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Developed</a:t>
            </a:r>
            <a:r>
              <a:rPr lang="fr-FR" b="0" i="0" dirty="0">
                <a:solidFill>
                  <a:srgbClr val="ECECEC"/>
                </a:solidFill>
                <a:effectLst/>
                <a:latin typeface="Söhne"/>
              </a:rPr>
              <a:t> by Microsoft, </a:t>
            </a:r>
            <a:r>
              <a:rPr lang="fr-FR" b="0" i="0" dirty="0" err="1">
                <a:solidFill>
                  <a:srgbClr val="ECECEC"/>
                </a:solidFill>
                <a:effectLst/>
                <a:latin typeface="Söhne"/>
              </a:rPr>
              <a:t>widely</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in office and </a:t>
            </a:r>
            <a:r>
              <a:rPr lang="fr-FR" b="0" i="0" dirty="0" err="1">
                <a:solidFill>
                  <a:srgbClr val="ECECEC"/>
                </a:solidFill>
                <a:effectLst/>
                <a:latin typeface="Söhne"/>
              </a:rPr>
              <a:t>enterprise</a:t>
            </a:r>
            <a:r>
              <a:rPr lang="fr-FR" b="0" i="0" dirty="0">
                <a:solidFill>
                  <a:srgbClr val="ECECEC"/>
                </a:solidFill>
                <a:effectLst/>
                <a:latin typeface="Söhne"/>
              </a:rPr>
              <a:t> </a:t>
            </a:r>
            <a:r>
              <a:rPr lang="fr-FR" b="0" i="0" dirty="0" err="1">
                <a:solidFill>
                  <a:srgbClr val="ECECEC"/>
                </a:solidFill>
                <a:effectLst/>
                <a:latin typeface="Söhne"/>
              </a:rPr>
              <a:t>environments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Linux (Unix):</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Family of open-source operating </a:t>
            </a:r>
            <a:r>
              <a:rPr lang="fr-FR" b="0" i="0" dirty="0" err="1">
                <a:solidFill>
                  <a:srgbClr val="ECECEC"/>
                </a:solidFill>
                <a:effectLst/>
                <a:latin typeface="Söhne"/>
              </a:rPr>
              <a:t>systems</a:t>
            </a:r>
            <a:r>
              <a:rPr lang="fr-FR" b="0" i="0" dirty="0">
                <a:solidFill>
                  <a:srgbClr val="ECECEC"/>
                </a:solidFill>
                <a:effectLst/>
                <a:latin typeface="Söhne"/>
              </a:rPr>
              <a:t> </a:t>
            </a:r>
            <a:r>
              <a:rPr lang="fr-FR" b="0" i="0" dirty="0" err="1">
                <a:solidFill>
                  <a:srgbClr val="ECECEC"/>
                </a:solidFill>
                <a:effectLst/>
                <a:latin typeface="Söhne"/>
              </a:rPr>
              <a:t>based</a:t>
            </a:r>
            <a:r>
              <a:rPr lang="fr-FR" b="0" i="0" dirty="0">
                <a:solidFill>
                  <a:srgbClr val="ECECEC"/>
                </a:solidFill>
                <a:effectLst/>
                <a:latin typeface="Söhne"/>
              </a:rPr>
              <a:t> on Unix, </a:t>
            </a:r>
            <a:r>
              <a:rPr lang="fr-FR" b="0" i="0" dirty="0" err="1">
                <a:solidFill>
                  <a:srgbClr val="ECECEC"/>
                </a:solidFill>
                <a:effectLst/>
                <a:latin typeface="Söhne"/>
              </a:rPr>
              <a:t>used</a:t>
            </a:r>
            <a:r>
              <a:rPr lang="fr-FR" b="0" i="0" dirty="0">
                <a:solidFill>
                  <a:srgbClr val="ECECEC"/>
                </a:solidFill>
                <a:effectLst/>
                <a:latin typeface="Söhne"/>
              </a:rPr>
              <a:t> </a:t>
            </a:r>
            <a:r>
              <a:rPr lang="fr-FR" b="0" i="0" dirty="0" err="1">
                <a:solidFill>
                  <a:srgbClr val="ECECEC"/>
                </a:solidFill>
                <a:effectLst/>
                <a:latin typeface="Söhne"/>
              </a:rPr>
              <a:t>notably</a:t>
            </a:r>
            <a:r>
              <a:rPr lang="fr-FR" b="0" i="0" dirty="0">
                <a:solidFill>
                  <a:srgbClr val="ECECEC"/>
                </a:solidFill>
                <a:effectLst/>
                <a:latin typeface="Söhne"/>
              </a:rPr>
              <a:t> in server </a:t>
            </a:r>
            <a:r>
              <a:rPr lang="fr-FR" b="0" i="0" dirty="0" err="1">
                <a:solidFill>
                  <a:srgbClr val="ECECEC"/>
                </a:solidFill>
                <a:effectLst/>
                <a:latin typeface="Söhne"/>
              </a:rPr>
              <a:t>environments</a:t>
            </a:r>
            <a:r>
              <a:rPr lang="fr-FR" b="0" i="0" dirty="0">
                <a:solidFill>
                  <a:srgbClr val="ECECEC"/>
                </a:solidFill>
                <a:effectLst/>
                <a:latin typeface="Söhne"/>
              </a:rPr>
              <a:t> and in the Cloud.</a:t>
            </a:r>
          </a:p>
        </p:txBody>
      </p:sp>
    </p:spTree>
    <p:extLst>
      <p:ext uri="{BB962C8B-B14F-4D97-AF65-F5344CB8AC3E}">
        <p14:creationId xmlns:p14="http://schemas.microsoft.com/office/powerpoint/2010/main" val="184706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Windows vs linux</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828799"/>
            <a:ext cx="10923104" cy="4066903"/>
          </a:xfrm>
        </p:spPr>
        <p:txBody>
          <a:bodyPr>
            <a:normAutofit lnSpcReduction="10000"/>
          </a:bodyPr>
          <a:lstStyle/>
          <a:p>
            <a:pPr algn="l">
              <a:buFont typeface="Arial" panose="020B0604020202020204" pitchFamily="34" charset="0"/>
              <a:buChar char="•"/>
            </a:pPr>
            <a:r>
              <a:rPr lang="fr-FR" b="1" i="0" dirty="0">
                <a:solidFill>
                  <a:srgbClr val="ECECEC"/>
                </a:solidFill>
                <a:effectLst/>
                <a:latin typeface="Söhne"/>
              </a:rPr>
              <a:t>User Interface:</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Windows:</a:t>
            </a:r>
            <a:r>
              <a:rPr lang="fr-FR" b="0" i="0" dirty="0">
                <a:solidFill>
                  <a:srgbClr val="ECECEC"/>
                </a:solidFill>
                <a:effectLst/>
                <a:latin typeface="Söhne"/>
              </a:rPr>
              <a:t> User-</a:t>
            </a:r>
            <a:r>
              <a:rPr lang="fr-FR" b="0" i="0" dirty="0" err="1">
                <a:solidFill>
                  <a:srgbClr val="ECECEC"/>
                </a:solidFill>
                <a:effectLst/>
                <a:latin typeface="Söhne"/>
              </a:rPr>
              <a:t>friendly</a:t>
            </a:r>
            <a:r>
              <a:rPr lang="fr-FR" b="0" i="0" dirty="0">
                <a:solidFill>
                  <a:srgbClr val="ECECEC"/>
                </a:solidFill>
                <a:effectLst/>
                <a:latin typeface="Söhne"/>
              </a:rPr>
              <a:t> </a:t>
            </a:r>
            <a:r>
              <a:rPr lang="fr-FR" b="0" i="0" dirty="0" err="1">
                <a:solidFill>
                  <a:srgbClr val="ECECEC"/>
                </a:solidFill>
                <a:effectLst/>
                <a:latin typeface="Söhne"/>
              </a:rPr>
              <a:t>Graphical</a:t>
            </a:r>
            <a:r>
              <a:rPr lang="fr-FR" b="0" i="0" dirty="0">
                <a:solidFill>
                  <a:srgbClr val="ECECEC"/>
                </a:solidFill>
                <a:effectLst/>
                <a:latin typeface="Söhne"/>
              </a:rPr>
              <a:t> User Interface (GUI) </a:t>
            </a:r>
            <a:r>
              <a:rPr lang="fr-FR" b="0" i="0" dirty="0" err="1">
                <a:solidFill>
                  <a:srgbClr val="ECECEC"/>
                </a:solidFill>
                <a:effectLst/>
                <a:latin typeface="Söhne"/>
              </a:rPr>
              <a:t>with</a:t>
            </a:r>
            <a:r>
              <a:rPr lang="fr-FR" b="0" i="0" dirty="0">
                <a:solidFill>
                  <a:srgbClr val="ECECEC"/>
                </a:solidFill>
                <a:effectLst/>
                <a:latin typeface="Söhne"/>
              </a:rPr>
              <a:t> File Explorer.</a:t>
            </a:r>
          </a:p>
          <a:p>
            <a:pPr marL="742950" lvl="1" indent="-285750" algn="l">
              <a:buFont typeface="Arial" panose="020B0604020202020204" pitchFamily="34" charset="0"/>
              <a:buChar char="•"/>
            </a:pPr>
            <a:r>
              <a:rPr lang="fr-FR" b="1" i="0" dirty="0">
                <a:solidFill>
                  <a:srgbClr val="ECECEC"/>
                </a:solidFill>
                <a:effectLst/>
                <a:latin typeface="Söhne"/>
              </a:rPr>
              <a:t>Linux:</a:t>
            </a:r>
            <a:r>
              <a:rPr lang="fr-FR" b="0" i="0" dirty="0">
                <a:solidFill>
                  <a:srgbClr val="ECECEC"/>
                </a:solidFill>
                <a:effectLst/>
                <a:latin typeface="Söhne"/>
              </a:rPr>
              <a:t> Default Command Line Interface (CLI), but </a:t>
            </a:r>
            <a:r>
              <a:rPr lang="fr-FR" b="0" i="0" dirty="0" err="1">
                <a:solidFill>
                  <a:srgbClr val="ECECEC"/>
                </a:solidFill>
                <a:effectLst/>
                <a:latin typeface="Söhne"/>
              </a:rPr>
              <a:t>graphical</a:t>
            </a:r>
            <a:r>
              <a:rPr lang="fr-FR" b="0" i="0" dirty="0">
                <a:solidFill>
                  <a:srgbClr val="ECECEC"/>
                </a:solidFill>
                <a:effectLst/>
                <a:latin typeface="Söhne"/>
              </a:rPr>
              <a:t> desktop </a:t>
            </a:r>
            <a:r>
              <a:rPr lang="fr-FR" b="0" i="0" dirty="0" err="1">
                <a:solidFill>
                  <a:srgbClr val="ECECEC"/>
                </a:solidFill>
                <a:effectLst/>
                <a:latin typeface="Söhne"/>
              </a:rPr>
              <a:t>environments</a:t>
            </a:r>
            <a:r>
              <a:rPr lang="fr-FR" b="0" i="0" dirty="0">
                <a:solidFill>
                  <a:srgbClr val="ECECEC"/>
                </a:solidFill>
                <a:effectLst/>
                <a:latin typeface="Söhne"/>
              </a:rPr>
              <a:t> are </a:t>
            </a:r>
            <a:r>
              <a:rPr lang="fr-FR" b="0" i="0" dirty="0" err="1">
                <a:solidFill>
                  <a:srgbClr val="ECECEC"/>
                </a:solidFill>
                <a:effectLst/>
                <a:latin typeface="Söhne"/>
              </a:rPr>
              <a:t>also</a:t>
            </a:r>
            <a:r>
              <a:rPr lang="fr-FR" b="0" i="0" dirty="0">
                <a:solidFill>
                  <a:srgbClr val="ECECEC"/>
                </a:solidFill>
                <a:effectLst/>
                <a:latin typeface="Söhne"/>
              </a:rPr>
              <a:t> </a:t>
            </a:r>
            <a:r>
              <a:rPr lang="fr-FR" b="0" i="0" dirty="0" err="1">
                <a:solidFill>
                  <a:srgbClr val="ECECEC"/>
                </a:solidFill>
                <a:effectLst/>
                <a:latin typeface="Söhne"/>
              </a:rPr>
              <a:t>available</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File Management: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Windows:</a:t>
            </a:r>
            <a:r>
              <a:rPr lang="fr-FR" b="0" i="0" dirty="0">
                <a:solidFill>
                  <a:srgbClr val="ECECEC"/>
                </a:solidFill>
                <a:effectLst/>
                <a:latin typeface="Söhne"/>
              </a:rPr>
              <a:t> Uses drives (C:, D:, etc.) to </a:t>
            </a:r>
            <a:r>
              <a:rPr lang="fr-FR" b="0" i="0" dirty="0" err="1">
                <a:solidFill>
                  <a:srgbClr val="ECECEC"/>
                </a:solidFill>
                <a:effectLst/>
                <a:latin typeface="Söhne"/>
              </a:rPr>
              <a:t>organize</a:t>
            </a:r>
            <a:r>
              <a:rPr lang="fr-FR" b="0" i="0" dirty="0">
                <a:solidFill>
                  <a:srgbClr val="ECECEC"/>
                </a:solidFill>
                <a:effectLst/>
                <a:latin typeface="Söhne"/>
              </a:rPr>
              <a:t> files.</a:t>
            </a:r>
          </a:p>
          <a:p>
            <a:pPr marL="742950" lvl="1" indent="-285750" algn="l">
              <a:buFont typeface="Arial" panose="020B0604020202020204" pitchFamily="34" charset="0"/>
              <a:buChar char="•"/>
            </a:pPr>
            <a:r>
              <a:rPr lang="fr-FR" b="1" i="0" dirty="0">
                <a:solidFill>
                  <a:srgbClr val="ECECEC"/>
                </a:solidFill>
                <a:effectLst/>
                <a:latin typeface="Söhne"/>
              </a:rPr>
              <a:t>Linux:</a:t>
            </a:r>
            <a:r>
              <a:rPr lang="fr-FR" b="0" i="0" dirty="0">
                <a:solidFill>
                  <a:srgbClr val="ECECEC"/>
                </a:solidFill>
                <a:effectLst/>
                <a:latin typeface="Söhne"/>
              </a:rPr>
              <a:t> Single </a:t>
            </a:r>
            <a:r>
              <a:rPr lang="fr-FR" b="0" i="0" dirty="0" err="1">
                <a:solidFill>
                  <a:srgbClr val="ECECEC"/>
                </a:solidFill>
                <a:effectLst/>
                <a:latin typeface="Söhne"/>
              </a:rPr>
              <a:t>hierarchical</a:t>
            </a:r>
            <a:r>
              <a:rPr lang="fr-FR" b="0" i="0" dirty="0">
                <a:solidFill>
                  <a:srgbClr val="ECECEC"/>
                </a:solidFill>
                <a:effectLst/>
                <a:latin typeface="Söhne"/>
              </a:rPr>
              <a:t> file system (root /) </a:t>
            </a:r>
            <a:r>
              <a:rPr lang="fr-FR" b="0" i="0" dirty="0" err="1">
                <a:solidFill>
                  <a:srgbClr val="ECECEC"/>
                </a:solidFill>
                <a:effectLst/>
                <a:latin typeface="Söhne"/>
              </a:rPr>
              <a:t>with</a:t>
            </a:r>
            <a:r>
              <a:rPr lang="fr-FR" b="0" i="0" dirty="0">
                <a:solidFill>
                  <a:srgbClr val="ECECEC"/>
                </a:solidFill>
                <a:effectLst/>
                <a:latin typeface="Söhne"/>
              </a:rPr>
              <a:t> a standard directory structure.</a:t>
            </a:r>
          </a:p>
          <a:p>
            <a:pPr algn="l">
              <a:buFont typeface="Arial" panose="020B0604020202020204" pitchFamily="34" charset="0"/>
              <a:buChar char="•"/>
            </a:pPr>
            <a:r>
              <a:rPr lang="fr-FR" b="1" i="0" dirty="0">
                <a:solidFill>
                  <a:srgbClr val="ECECEC"/>
                </a:solidFill>
                <a:effectLst/>
                <a:latin typeface="Söhne"/>
              </a:rPr>
              <a:t>Security:</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Linux:</a:t>
            </a:r>
            <a:r>
              <a:rPr lang="fr-FR" b="0" i="0" dirty="0">
                <a:solidFill>
                  <a:srgbClr val="ECECEC"/>
                </a:solidFill>
                <a:effectLst/>
                <a:latin typeface="Söhne"/>
              </a:rPr>
              <a:t> </a:t>
            </a:r>
            <a:r>
              <a:rPr lang="fr-FR" b="0" i="0" dirty="0" err="1">
                <a:solidFill>
                  <a:srgbClr val="ECECEC"/>
                </a:solidFill>
                <a:effectLst/>
                <a:latin typeface="Söhne"/>
              </a:rPr>
              <a:t>Known</a:t>
            </a:r>
            <a:r>
              <a:rPr lang="fr-FR" b="0" i="0" dirty="0">
                <a:solidFill>
                  <a:srgbClr val="ECECEC"/>
                </a:solidFill>
                <a:effectLst/>
                <a:latin typeface="Söhne"/>
              </a:rPr>
              <a:t> for </a:t>
            </a:r>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robust</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t>
            </a:r>
            <a:r>
              <a:rPr lang="fr-FR" b="0" i="0" dirty="0" err="1">
                <a:solidFill>
                  <a:srgbClr val="ECECEC"/>
                </a:solidFill>
                <a:effectLst/>
                <a:latin typeface="Söhne"/>
              </a:rPr>
              <a:t>thanks</a:t>
            </a:r>
            <a:r>
              <a:rPr lang="fr-FR" b="0" i="0" dirty="0">
                <a:solidFill>
                  <a:srgbClr val="ECECEC"/>
                </a:solidFill>
                <a:effectLst/>
                <a:latin typeface="Söhne"/>
              </a:rPr>
              <a:t> to </a:t>
            </a:r>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granular</a:t>
            </a:r>
            <a:r>
              <a:rPr lang="fr-FR" b="0" i="0" dirty="0">
                <a:solidFill>
                  <a:srgbClr val="ECECEC"/>
                </a:solidFill>
                <a:effectLst/>
                <a:latin typeface="Söhne"/>
              </a:rPr>
              <a:t> permissions and user-</a:t>
            </a:r>
            <a:r>
              <a:rPr lang="fr-FR" b="0" i="0" dirty="0" err="1">
                <a:solidFill>
                  <a:srgbClr val="ECECEC"/>
                </a:solidFill>
                <a:effectLst/>
                <a:latin typeface="Söhne"/>
              </a:rPr>
              <a:t>based</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model.</a:t>
            </a:r>
          </a:p>
          <a:p>
            <a:pPr marL="742950" lvl="1" indent="-285750" algn="l">
              <a:buFont typeface="Arial" panose="020B0604020202020204" pitchFamily="34" charset="0"/>
              <a:buChar char="•"/>
            </a:pPr>
            <a:r>
              <a:rPr lang="fr-FR" b="1" i="0" dirty="0">
                <a:solidFill>
                  <a:srgbClr val="ECECEC"/>
                </a:solidFill>
                <a:effectLst/>
                <a:latin typeface="Söhne"/>
              </a:rPr>
              <a:t>Windows:</a:t>
            </a:r>
            <a:r>
              <a:rPr lang="fr-FR" b="0" i="0" dirty="0">
                <a:solidFill>
                  <a:srgbClr val="ECECEC"/>
                </a:solidFill>
                <a:effectLst/>
                <a:latin typeface="Söhne"/>
              </a:rPr>
              <a:t> </a:t>
            </a:r>
            <a:r>
              <a:rPr lang="fr-FR" b="0" i="0" dirty="0" err="1">
                <a:solidFill>
                  <a:srgbClr val="ECECEC"/>
                </a:solidFill>
                <a:effectLst/>
                <a:latin typeface="Söhne"/>
              </a:rPr>
              <a:t>Often</a:t>
            </a:r>
            <a:r>
              <a:rPr lang="fr-FR" b="0" i="0" dirty="0">
                <a:solidFill>
                  <a:srgbClr val="ECECEC"/>
                </a:solidFill>
                <a:effectLst/>
                <a:latin typeface="Söhne"/>
              </a:rPr>
              <a:t> </a:t>
            </a:r>
            <a:r>
              <a:rPr lang="fr-FR" b="0" i="0" dirty="0" err="1">
                <a:solidFill>
                  <a:srgbClr val="ECECEC"/>
                </a:solidFill>
                <a:effectLst/>
                <a:latin typeface="Söhne"/>
              </a:rPr>
              <a:t>targeted</a:t>
            </a:r>
            <a:r>
              <a:rPr lang="fr-FR" b="0" i="0" dirty="0">
                <a:solidFill>
                  <a:srgbClr val="ECECEC"/>
                </a:solidFill>
                <a:effectLst/>
                <a:latin typeface="Söhne"/>
              </a:rPr>
              <a:t> by malware due to </a:t>
            </a:r>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widespread</a:t>
            </a:r>
            <a:r>
              <a:rPr lang="fr-FR" b="0" i="0" dirty="0">
                <a:solidFill>
                  <a:srgbClr val="ECECEC"/>
                </a:solidFill>
                <a:effectLst/>
                <a:latin typeface="Söhne"/>
              </a:rPr>
              <a:t> </a:t>
            </a:r>
            <a:r>
              <a:rPr lang="fr-FR" b="0" i="0" dirty="0" err="1">
                <a:solidFill>
                  <a:srgbClr val="ECECEC"/>
                </a:solidFill>
                <a:effectLst/>
                <a:latin typeface="Söhne"/>
              </a:rPr>
              <a:t>popularity</a:t>
            </a:r>
            <a:r>
              <a:rPr lang="fr-FR" b="0" i="0" dirty="0">
                <a:solidFill>
                  <a:srgbClr val="ECECEC"/>
                </a:solidFill>
                <a:effectLst/>
                <a:latin typeface="Söhne"/>
              </a:rPr>
              <a:t>, but </a:t>
            </a:r>
            <a:r>
              <a:rPr lang="fr-FR" b="0" i="0" dirty="0" err="1">
                <a:solidFill>
                  <a:srgbClr val="ECECEC"/>
                </a:solidFill>
                <a:effectLst/>
                <a:latin typeface="Söhne"/>
              </a:rPr>
              <a:t>also</a:t>
            </a:r>
            <a:r>
              <a:rPr lang="fr-FR" b="0" i="0" dirty="0">
                <a:solidFill>
                  <a:srgbClr val="ECECEC"/>
                </a:solidFill>
                <a:effectLst/>
                <a:latin typeface="Söhne"/>
              </a:rPr>
              <a:t> has </a:t>
            </a:r>
            <a:r>
              <a:rPr lang="fr-FR" b="0" i="0" dirty="0" err="1">
                <a:solidFill>
                  <a:srgbClr val="ECECEC"/>
                </a:solidFill>
                <a:effectLst/>
                <a:latin typeface="Söhne"/>
              </a:rPr>
              <a:t>advanced</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t>
            </a:r>
            <a:r>
              <a:rPr lang="fr-FR" b="0" i="0" dirty="0" err="1">
                <a:solidFill>
                  <a:srgbClr val="ECECEC"/>
                </a:solidFill>
                <a:effectLst/>
                <a:latin typeface="Söhne"/>
              </a:rPr>
              <a:t>measures</a:t>
            </a:r>
            <a:r>
              <a:rPr lang="fr-FR" b="0" i="0" dirty="0">
                <a:solidFill>
                  <a:srgbClr val="ECECEC"/>
                </a:solidFill>
                <a:effectLst/>
                <a:latin typeface="Söhne"/>
              </a:rPr>
              <a:t>.</a:t>
            </a:r>
          </a:p>
        </p:txBody>
      </p:sp>
    </p:spTree>
    <p:extLst>
      <p:ext uri="{BB962C8B-B14F-4D97-AF65-F5344CB8AC3E}">
        <p14:creationId xmlns:p14="http://schemas.microsoft.com/office/powerpoint/2010/main" val="13956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SOME WINDOWS COMMANDS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2723322"/>
          </a:xfrm>
        </p:spPr>
        <p:txBody>
          <a:bodyPr>
            <a:normAutofit/>
          </a:bodyPr>
          <a:lstStyle/>
          <a:p>
            <a:pPr marL="0" indent="0" algn="l">
              <a:buNone/>
            </a:pPr>
            <a:r>
              <a:rPr lang="fr-FR" b="1" i="0" dirty="0">
                <a:solidFill>
                  <a:srgbClr val="ECECEC"/>
                </a:solidFill>
                <a:effectLst/>
                <a:latin typeface="Söhne"/>
              </a:rPr>
              <a:t>Command Prompt (CMD) </a:t>
            </a:r>
            <a:r>
              <a:rPr lang="fr-FR" b="1" i="0" dirty="0" err="1">
                <a:solidFill>
                  <a:srgbClr val="ECECEC"/>
                </a:solidFill>
                <a:effectLst/>
                <a:latin typeface="Söhne"/>
              </a:rPr>
              <a:t>Commands:dir</a:t>
            </a:r>
            <a:r>
              <a:rPr lang="fr-FR" b="1" i="0" dirty="0">
                <a:solidFill>
                  <a:srgbClr val="ECECEC"/>
                </a:solidFill>
                <a:effectLst/>
                <a:latin typeface="Söhne"/>
              </a:rPr>
              <a:t>:</a:t>
            </a:r>
            <a:r>
              <a:rPr lang="fr-FR" b="0" i="0" dirty="0">
                <a:solidFill>
                  <a:srgbClr val="ECECEC"/>
                </a:solidFill>
                <a:effectLst/>
                <a:latin typeface="Söhne"/>
              </a:rPr>
              <a:t> </a:t>
            </a:r>
          </a:p>
          <a:p>
            <a:pPr lvl="1"/>
            <a:r>
              <a:rPr lang="fr-FR" b="0" i="0" dirty="0">
                <a:solidFill>
                  <a:srgbClr val="ECECEC"/>
                </a:solidFill>
                <a:effectLst/>
                <a:latin typeface="Söhne"/>
              </a:rPr>
              <a:t>Displays a </a:t>
            </a:r>
            <a:r>
              <a:rPr lang="fr-FR" b="0" i="0" dirty="0" err="1">
                <a:solidFill>
                  <a:srgbClr val="ECECEC"/>
                </a:solidFill>
                <a:effectLst/>
                <a:latin typeface="Söhne"/>
              </a:rPr>
              <a:t>list</a:t>
            </a:r>
            <a:r>
              <a:rPr lang="fr-FR" b="0" i="0" dirty="0">
                <a:solidFill>
                  <a:srgbClr val="ECECEC"/>
                </a:solidFill>
                <a:effectLst/>
                <a:latin typeface="Söhne"/>
              </a:rPr>
              <a:t> of files and directories in the </a:t>
            </a:r>
            <a:r>
              <a:rPr lang="fr-FR" b="0" i="0" dirty="0" err="1">
                <a:solidFill>
                  <a:srgbClr val="ECECEC"/>
                </a:solidFill>
                <a:effectLst/>
                <a:latin typeface="Söhne"/>
              </a:rPr>
              <a:t>current</a:t>
            </a:r>
            <a:r>
              <a:rPr lang="fr-FR" b="0" i="0" dirty="0">
                <a:solidFill>
                  <a:srgbClr val="ECECEC"/>
                </a:solidFill>
                <a:effectLst/>
                <a:latin typeface="Söhne"/>
              </a:rPr>
              <a:t> directory.</a:t>
            </a:r>
          </a:p>
          <a:p>
            <a:pPr lvl="1"/>
            <a:r>
              <a:rPr lang="fr-FR" b="1" i="0" dirty="0">
                <a:solidFill>
                  <a:srgbClr val="ECECEC"/>
                </a:solidFill>
                <a:effectLst/>
                <a:latin typeface="Söhne"/>
              </a:rPr>
              <a:t>cd:</a:t>
            </a:r>
            <a:r>
              <a:rPr lang="fr-FR" b="0" i="0" dirty="0">
                <a:solidFill>
                  <a:srgbClr val="ECECEC"/>
                </a:solidFill>
                <a:effectLst/>
                <a:latin typeface="Söhne"/>
              </a:rPr>
              <a:t> Changes the active directory.</a:t>
            </a:r>
          </a:p>
          <a:p>
            <a:pPr lvl="1"/>
            <a:r>
              <a:rPr lang="fr-FR" b="1" i="0" dirty="0" err="1">
                <a:solidFill>
                  <a:srgbClr val="ECECEC"/>
                </a:solidFill>
                <a:effectLst/>
                <a:latin typeface="Söhne"/>
              </a:rPr>
              <a:t>mkdir</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Creates</a:t>
            </a:r>
            <a:r>
              <a:rPr lang="fr-FR" b="0" i="0" dirty="0">
                <a:solidFill>
                  <a:srgbClr val="ECECEC"/>
                </a:solidFill>
                <a:effectLst/>
                <a:latin typeface="Söhne"/>
              </a:rPr>
              <a:t> a new directory.</a:t>
            </a:r>
          </a:p>
          <a:p>
            <a:pPr lvl="1"/>
            <a:r>
              <a:rPr lang="fr-FR" b="1" i="0" dirty="0">
                <a:solidFill>
                  <a:srgbClr val="ECECEC"/>
                </a:solidFill>
                <a:effectLst/>
                <a:latin typeface="Söhne"/>
              </a:rPr>
              <a:t>copy:</a:t>
            </a:r>
            <a:r>
              <a:rPr lang="fr-FR" b="0" i="0" dirty="0">
                <a:solidFill>
                  <a:srgbClr val="ECECEC"/>
                </a:solidFill>
                <a:effectLst/>
                <a:latin typeface="Söhne"/>
              </a:rPr>
              <a:t> Copies files.</a:t>
            </a:r>
          </a:p>
          <a:p>
            <a:pPr lvl="1"/>
            <a:r>
              <a:rPr lang="fr-FR" b="1" i="0" dirty="0" err="1">
                <a:solidFill>
                  <a:srgbClr val="ECECEC"/>
                </a:solidFill>
                <a:effectLst/>
                <a:latin typeface="Söhne"/>
              </a:rPr>
              <a:t>del</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Deletes</a:t>
            </a:r>
            <a:r>
              <a:rPr lang="fr-FR" b="0" i="0" dirty="0">
                <a:solidFill>
                  <a:srgbClr val="ECECEC"/>
                </a:solidFill>
                <a:effectLst/>
                <a:latin typeface="Söhne"/>
              </a:rPr>
              <a:t> files.</a:t>
            </a:r>
          </a:p>
          <a:p>
            <a:pPr lvl="1"/>
            <a:r>
              <a:rPr lang="fr-FR" b="1" i="0" dirty="0">
                <a:solidFill>
                  <a:srgbClr val="ECECEC"/>
                </a:solidFill>
                <a:effectLst/>
                <a:latin typeface="Söhne"/>
              </a:rPr>
              <a:t>ipconfig:</a:t>
            </a:r>
            <a:r>
              <a:rPr lang="fr-FR" b="0" i="0" dirty="0">
                <a:solidFill>
                  <a:srgbClr val="ECECEC"/>
                </a:solidFill>
                <a:effectLst/>
                <a:latin typeface="Söhne"/>
              </a:rPr>
              <a:t> Displays the </a:t>
            </a:r>
            <a:r>
              <a:rPr lang="fr-FR" b="0" i="0" dirty="0" err="1">
                <a:solidFill>
                  <a:srgbClr val="ECECEC"/>
                </a:solidFill>
                <a:effectLst/>
                <a:latin typeface="Söhne"/>
              </a:rPr>
              <a:t>system's</a:t>
            </a:r>
            <a:r>
              <a:rPr lang="fr-FR" b="0" i="0" dirty="0">
                <a:solidFill>
                  <a:srgbClr val="ECECEC"/>
                </a:solidFill>
                <a:effectLst/>
                <a:latin typeface="Söhne"/>
              </a:rPr>
              <a:t> IP configuration.</a:t>
            </a:r>
          </a:p>
        </p:txBody>
      </p:sp>
    </p:spTree>
    <p:extLst>
      <p:ext uri="{BB962C8B-B14F-4D97-AF65-F5344CB8AC3E}">
        <p14:creationId xmlns:p14="http://schemas.microsoft.com/office/powerpoint/2010/main" val="2543040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err="1"/>
              <a:t>Some</a:t>
            </a:r>
            <a:r>
              <a:rPr lang="fr-FR" sz="3200" dirty="0"/>
              <a:t> linux </a:t>
            </a:r>
            <a:r>
              <a:rPr lang="fr-FR" sz="3200" dirty="0" err="1"/>
              <a:t>commands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3866322"/>
          </a:xfrm>
        </p:spPr>
        <p:txBody>
          <a:bodyPr>
            <a:normAutofit/>
          </a:bodyPr>
          <a:lstStyle/>
          <a:p>
            <a:pPr algn="l">
              <a:buFont typeface="Arial" panose="020B0604020202020204" pitchFamily="34" charset="0"/>
              <a:buChar char="•"/>
            </a:pPr>
            <a:r>
              <a:rPr lang="fr-FR" b="1" i="0" dirty="0">
                <a:solidFill>
                  <a:srgbClr val="ECECEC"/>
                </a:solidFill>
                <a:effectLst/>
                <a:latin typeface="Söhne"/>
              </a:rPr>
              <a:t>Shell (Bash) </a:t>
            </a:r>
            <a:r>
              <a:rPr lang="fr-FR" b="1" i="0" dirty="0" err="1">
                <a:solidFill>
                  <a:srgbClr val="ECECEC"/>
                </a:solidFill>
                <a:effectLst/>
                <a:latin typeface="Söhne"/>
              </a:rPr>
              <a:t>Commands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ls:</a:t>
            </a:r>
            <a:r>
              <a:rPr lang="fr-FR" b="0" i="0" dirty="0">
                <a:solidFill>
                  <a:srgbClr val="ECECEC"/>
                </a:solidFill>
                <a:effectLst/>
                <a:latin typeface="Söhne"/>
              </a:rPr>
              <a:t> Displays a </a:t>
            </a:r>
            <a:r>
              <a:rPr lang="fr-FR" b="0" i="0" dirty="0" err="1">
                <a:solidFill>
                  <a:srgbClr val="ECECEC"/>
                </a:solidFill>
                <a:effectLst/>
                <a:latin typeface="Söhne"/>
              </a:rPr>
              <a:t>list</a:t>
            </a:r>
            <a:r>
              <a:rPr lang="fr-FR" b="0" i="0" dirty="0">
                <a:solidFill>
                  <a:srgbClr val="ECECEC"/>
                </a:solidFill>
                <a:effectLst/>
                <a:latin typeface="Söhne"/>
              </a:rPr>
              <a:t> of files and directories in the </a:t>
            </a:r>
            <a:r>
              <a:rPr lang="fr-FR" b="0" i="0" dirty="0" err="1">
                <a:solidFill>
                  <a:srgbClr val="ECECEC"/>
                </a:solidFill>
                <a:effectLst/>
                <a:latin typeface="Söhne"/>
              </a:rPr>
              <a:t>current</a:t>
            </a:r>
            <a:r>
              <a:rPr lang="fr-FR" b="0" i="0" dirty="0">
                <a:solidFill>
                  <a:srgbClr val="ECECEC"/>
                </a:solidFill>
                <a:effectLst/>
                <a:latin typeface="Söhne"/>
              </a:rPr>
              <a:t> directory.</a:t>
            </a:r>
          </a:p>
          <a:p>
            <a:pPr marL="742950" lvl="1" indent="-285750" algn="l">
              <a:buFont typeface="Arial" panose="020B0604020202020204" pitchFamily="34" charset="0"/>
              <a:buChar char="•"/>
            </a:pPr>
            <a:r>
              <a:rPr lang="fr-FR" b="1" i="0" dirty="0">
                <a:solidFill>
                  <a:srgbClr val="ECECEC"/>
                </a:solidFill>
                <a:effectLst/>
                <a:latin typeface="Söhne"/>
              </a:rPr>
              <a:t>cd:</a:t>
            </a:r>
            <a:r>
              <a:rPr lang="fr-FR" b="0" i="0" dirty="0">
                <a:solidFill>
                  <a:srgbClr val="ECECEC"/>
                </a:solidFill>
                <a:effectLst/>
                <a:latin typeface="Söhne"/>
              </a:rPr>
              <a:t> Changes the active directory.</a:t>
            </a:r>
          </a:p>
          <a:p>
            <a:pPr marL="742950" lvl="1" indent="-285750" algn="l">
              <a:buFont typeface="Arial" panose="020B0604020202020204" pitchFamily="34" charset="0"/>
              <a:buChar char="•"/>
            </a:pPr>
            <a:r>
              <a:rPr lang="fr-FR" b="1" i="0" dirty="0" err="1">
                <a:solidFill>
                  <a:srgbClr val="ECECEC"/>
                </a:solidFill>
                <a:effectLst/>
                <a:latin typeface="Söhne"/>
              </a:rPr>
              <a:t>mkdir</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Creates</a:t>
            </a:r>
            <a:r>
              <a:rPr lang="fr-FR" b="0" i="0" dirty="0">
                <a:solidFill>
                  <a:srgbClr val="ECECEC"/>
                </a:solidFill>
                <a:effectLst/>
                <a:latin typeface="Söhne"/>
              </a:rPr>
              <a:t> a new directory.</a:t>
            </a:r>
          </a:p>
          <a:p>
            <a:pPr marL="742950" lvl="1" indent="-285750" algn="l">
              <a:buFont typeface="Arial" panose="020B0604020202020204" pitchFamily="34" charset="0"/>
              <a:buChar char="•"/>
            </a:pPr>
            <a:r>
              <a:rPr lang="fr-FR" b="1" i="0" dirty="0" err="1">
                <a:solidFill>
                  <a:srgbClr val="ECECEC"/>
                </a:solidFill>
                <a:effectLst/>
                <a:latin typeface="Söhne"/>
              </a:rPr>
              <a:t>cp</a:t>
            </a:r>
            <a:r>
              <a:rPr lang="fr-FR" b="1" i="0" dirty="0">
                <a:solidFill>
                  <a:srgbClr val="ECECEC"/>
                </a:solidFill>
                <a:effectLst/>
                <a:latin typeface="Söhne"/>
              </a:rPr>
              <a:t>:</a:t>
            </a:r>
            <a:r>
              <a:rPr lang="fr-FR" b="0" i="0" dirty="0">
                <a:solidFill>
                  <a:srgbClr val="ECECEC"/>
                </a:solidFill>
                <a:effectLst/>
                <a:latin typeface="Söhne"/>
              </a:rPr>
              <a:t> Copies files.</a:t>
            </a:r>
          </a:p>
          <a:p>
            <a:pPr marL="742950" lvl="1" indent="-285750" algn="l">
              <a:buFont typeface="Arial" panose="020B0604020202020204" pitchFamily="34" charset="0"/>
              <a:buChar char="•"/>
            </a:pPr>
            <a:r>
              <a:rPr lang="fr-FR" b="1" i="0" dirty="0" err="1">
                <a:solidFill>
                  <a:srgbClr val="ECECEC"/>
                </a:solidFill>
                <a:effectLst/>
                <a:latin typeface="Söhne"/>
              </a:rPr>
              <a:t>rm</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Deletes</a:t>
            </a:r>
            <a:r>
              <a:rPr lang="fr-FR" b="0" i="0" dirty="0">
                <a:solidFill>
                  <a:srgbClr val="ECECEC"/>
                </a:solidFill>
                <a:effectLst/>
                <a:latin typeface="Söhne"/>
              </a:rPr>
              <a:t> files.</a:t>
            </a:r>
          </a:p>
          <a:p>
            <a:pPr marL="742950" lvl="1" indent="-285750" algn="l">
              <a:buFont typeface="Arial" panose="020B0604020202020204" pitchFamily="34" charset="0"/>
              <a:buChar char="•"/>
            </a:pPr>
            <a:r>
              <a:rPr lang="fr-FR" b="1" i="0" dirty="0" err="1">
                <a:solidFill>
                  <a:srgbClr val="ECECEC"/>
                </a:solidFill>
                <a:effectLst/>
                <a:latin typeface="Söhne"/>
              </a:rPr>
              <a:t>ifconfig</a:t>
            </a:r>
            <a:r>
              <a:rPr lang="fr-FR" b="1" i="0" dirty="0">
                <a:solidFill>
                  <a:srgbClr val="ECECEC"/>
                </a:solidFill>
                <a:effectLst/>
                <a:latin typeface="Söhne"/>
              </a:rPr>
              <a:t>:</a:t>
            </a:r>
            <a:r>
              <a:rPr lang="fr-FR" b="0" i="0" dirty="0">
                <a:solidFill>
                  <a:srgbClr val="ECECEC"/>
                </a:solidFill>
                <a:effectLst/>
                <a:latin typeface="Söhne"/>
              </a:rPr>
              <a:t> Displays the </a:t>
            </a:r>
            <a:r>
              <a:rPr lang="fr-FR" b="0" i="0" dirty="0" err="1">
                <a:solidFill>
                  <a:srgbClr val="ECECEC"/>
                </a:solidFill>
                <a:effectLst/>
                <a:latin typeface="Söhne"/>
              </a:rPr>
              <a:t>system's</a:t>
            </a:r>
            <a:r>
              <a:rPr lang="fr-FR" b="0" i="0" dirty="0">
                <a:solidFill>
                  <a:srgbClr val="ECECEC"/>
                </a:solidFill>
                <a:effectLst/>
                <a:latin typeface="Söhne"/>
              </a:rPr>
              <a:t> network configuration.</a:t>
            </a:r>
          </a:p>
          <a:p>
            <a:pPr algn="l">
              <a:buFont typeface="Arial" panose="020B0604020202020204" pitchFamily="34" charset="0"/>
              <a:buChar char="•"/>
            </a:pPr>
            <a:r>
              <a:rPr lang="fr-FR" b="1" i="0" dirty="0" err="1">
                <a:solidFill>
                  <a:srgbClr val="ECECEC"/>
                </a:solidFill>
                <a:effectLst/>
                <a:latin typeface="Söhne"/>
              </a:rPr>
              <a:t>Some</a:t>
            </a:r>
            <a:r>
              <a:rPr lang="fr-FR" b="1" i="0" dirty="0">
                <a:solidFill>
                  <a:srgbClr val="ECECEC"/>
                </a:solidFill>
                <a:effectLst/>
                <a:latin typeface="Söhne"/>
              </a:rPr>
              <a:t> </a:t>
            </a:r>
            <a:r>
              <a:rPr lang="fr-FR" b="1" i="0" dirty="0" err="1">
                <a:solidFill>
                  <a:srgbClr val="ECECEC"/>
                </a:solidFill>
                <a:effectLst/>
                <a:latin typeface="Söhne"/>
              </a:rPr>
              <a:t>Additional</a:t>
            </a:r>
            <a:r>
              <a:rPr lang="fr-FR" b="1" i="0" dirty="0">
                <a:solidFill>
                  <a:srgbClr val="ECECEC"/>
                </a:solidFill>
                <a:effectLst/>
                <a:latin typeface="Söhne"/>
              </a:rPr>
              <a:t> Linux-</a:t>
            </a:r>
            <a:r>
              <a:rPr lang="fr-FR" b="1" i="0" dirty="0" err="1">
                <a:solidFill>
                  <a:srgbClr val="ECECEC"/>
                </a:solidFill>
                <a:effectLst/>
                <a:latin typeface="Söhne"/>
              </a:rPr>
              <a:t>Specific</a:t>
            </a:r>
            <a:r>
              <a:rPr lang="fr-FR" b="1" i="0" dirty="0">
                <a:solidFill>
                  <a:srgbClr val="ECECEC"/>
                </a:solidFill>
                <a:effectLst/>
                <a:latin typeface="Söhne"/>
              </a:rPr>
              <a:t> </a:t>
            </a:r>
            <a:r>
              <a:rPr lang="fr-FR" b="1" i="0" dirty="0" err="1">
                <a:solidFill>
                  <a:srgbClr val="ECECEC"/>
                </a:solidFill>
                <a:effectLst/>
                <a:latin typeface="Söhne"/>
              </a:rPr>
              <a:t>Commands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err="1">
                <a:solidFill>
                  <a:srgbClr val="ECECEC"/>
                </a:solidFill>
                <a:effectLst/>
                <a:latin typeface="Söhne"/>
              </a:rPr>
              <a:t>grep</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Searches</a:t>
            </a:r>
            <a:r>
              <a:rPr lang="fr-FR" b="0" i="0" dirty="0">
                <a:solidFill>
                  <a:srgbClr val="ECECEC"/>
                </a:solidFill>
                <a:effectLst/>
                <a:latin typeface="Söhne"/>
              </a:rPr>
              <a:t> for patterns in files.</a:t>
            </a:r>
          </a:p>
          <a:p>
            <a:pPr marL="742950" lvl="1" indent="-285750" algn="l">
              <a:buFont typeface="Arial" panose="020B0604020202020204" pitchFamily="34" charset="0"/>
              <a:buChar char="•"/>
            </a:pPr>
            <a:r>
              <a:rPr lang="fr-FR" b="1" i="0" dirty="0">
                <a:solidFill>
                  <a:srgbClr val="ECECEC"/>
                </a:solidFill>
                <a:effectLst/>
                <a:latin typeface="Söhne"/>
              </a:rPr>
              <a:t>chmod:</a:t>
            </a:r>
            <a:r>
              <a:rPr lang="fr-FR" b="0" i="0" dirty="0">
                <a:solidFill>
                  <a:srgbClr val="ECECEC"/>
                </a:solidFill>
                <a:effectLst/>
                <a:latin typeface="Söhne"/>
              </a:rPr>
              <a:t> Modifies permissions of files and directories.</a:t>
            </a:r>
          </a:p>
          <a:p>
            <a:pPr marL="742950" lvl="1" indent="-285750" algn="l">
              <a:buFont typeface="Arial" panose="020B0604020202020204" pitchFamily="34" charset="0"/>
              <a:buChar char="•"/>
            </a:pPr>
            <a:r>
              <a:rPr lang="fr-FR" b="1" i="0" dirty="0" err="1">
                <a:solidFill>
                  <a:srgbClr val="ECECEC"/>
                </a:solidFill>
                <a:effectLst/>
                <a:latin typeface="Söhne"/>
              </a:rPr>
              <a:t>sudo</a:t>
            </a:r>
            <a:r>
              <a:rPr lang="fr-FR" b="1" i="0" dirty="0">
                <a:solidFill>
                  <a:srgbClr val="ECECEC"/>
                </a:solidFill>
                <a:effectLst/>
                <a:latin typeface="Söhne"/>
              </a:rPr>
              <a:t>:</a:t>
            </a:r>
            <a:r>
              <a:rPr lang="fr-FR" b="0" i="0" dirty="0">
                <a:solidFill>
                  <a:srgbClr val="ECECEC"/>
                </a:solidFill>
                <a:effectLst/>
                <a:latin typeface="Söhne"/>
              </a:rPr>
              <a:t> </a:t>
            </a:r>
            <a:r>
              <a:rPr lang="fr-FR" b="0" i="0" dirty="0" err="1">
                <a:solidFill>
                  <a:srgbClr val="ECECEC"/>
                </a:solidFill>
                <a:effectLst/>
                <a:latin typeface="Söhne"/>
              </a:rPr>
              <a:t>Executes</a:t>
            </a:r>
            <a:r>
              <a:rPr lang="fr-FR" b="0" i="0" dirty="0">
                <a:solidFill>
                  <a:srgbClr val="ECECEC"/>
                </a:solidFill>
                <a:effectLst/>
                <a:latin typeface="Söhne"/>
              </a:rPr>
              <a:t> a command </a:t>
            </a:r>
            <a:r>
              <a:rPr lang="fr-FR" b="0" i="0" dirty="0" err="1">
                <a:solidFill>
                  <a:srgbClr val="ECECEC"/>
                </a:solidFill>
                <a:effectLst/>
                <a:latin typeface="Söhne"/>
              </a:rPr>
              <a:t>with</a:t>
            </a:r>
            <a:r>
              <a:rPr lang="fr-FR" b="0" i="0" dirty="0">
                <a:solidFill>
                  <a:srgbClr val="ECECEC"/>
                </a:solidFill>
                <a:effectLst/>
                <a:latin typeface="Söhne"/>
              </a:rPr>
              <a:t> administrative </a:t>
            </a:r>
            <a:r>
              <a:rPr lang="fr-FR" b="0" i="0" dirty="0" err="1">
                <a:solidFill>
                  <a:srgbClr val="ECECEC"/>
                </a:solidFill>
                <a:effectLst/>
                <a:latin typeface="Söhne"/>
              </a:rPr>
              <a:t>privileges</a:t>
            </a:r>
            <a:r>
              <a:rPr lang="fr-FR" b="0" i="0" dirty="0">
                <a:solidFill>
                  <a:srgbClr val="ECECEC"/>
                </a:solidFill>
                <a:effectLst/>
                <a:latin typeface="Söhne"/>
              </a:rPr>
              <a:t>.</a:t>
            </a:r>
          </a:p>
        </p:txBody>
      </p:sp>
    </p:spTree>
    <p:extLst>
      <p:ext uri="{BB962C8B-B14F-4D97-AF65-F5344CB8AC3E}">
        <p14:creationId xmlns:p14="http://schemas.microsoft.com/office/powerpoint/2010/main" val="2646103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err="1"/>
              <a:t>Why</a:t>
            </a:r>
            <a:r>
              <a:rPr lang="fr-FR" sz="3200" dirty="0"/>
              <a:t> linux </a:t>
            </a:r>
            <a:r>
              <a:rPr lang="fr-FR" sz="3200" dirty="0" err="1"/>
              <a:t>commands</a:t>
            </a:r>
            <a:r>
              <a:rPr lang="fr-FR" sz="3200" dirty="0"/>
              <a:t> are important ?</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3866322"/>
          </a:xfrm>
        </p:spPr>
        <p:txBody>
          <a:bodyPr>
            <a:normAutofit/>
          </a:bodyPr>
          <a:lstStyle/>
          <a:p>
            <a:pPr algn="l">
              <a:buFont typeface="Arial" panose="020B0604020202020204" pitchFamily="34" charset="0"/>
              <a:buChar char="•"/>
            </a:pPr>
            <a:r>
              <a:rPr lang="fr-FR" b="1" i="0" dirty="0">
                <a:solidFill>
                  <a:srgbClr val="ECECEC"/>
                </a:solidFill>
                <a:effectLst/>
                <a:latin typeface="Söhne"/>
              </a:rPr>
              <a:t>In the Cloud:</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Knowledge</a:t>
            </a:r>
            <a:r>
              <a:rPr lang="fr-FR" b="0" i="0" dirty="0">
                <a:solidFill>
                  <a:srgbClr val="ECECEC"/>
                </a:solidFill>
                <a:effectLst/>
                <a:latin typeface="Söhne"/>
              </a:rPr>
              <a:t> of basic </a:t>
            </a:r>
            <a:r>
              <a:rPr lang="fr-FR" b="0" i="0" dirty="0" err="1">
                <a:solidFill>
                  <a:srgbClr val="ECECEC"/>
                </a:solidFill>
                <a:effectLst/>
                <a:latin typeface="Söhne"/>
              </a:rPr>
              <a:t>commands</a:t>
            </a:r>
            <a:r>
              <a:rPr lang="fr-FR" b="0" i="0" dirty="0">
                <a:solidFill>
                  <a:srgbClr val="ECECEC"/>
                </a:solidFill>
                <a:effectLst/>
                <a:latin typeface="Söhne"/>
              </a:rPr>
              <a:t> for </a:t>
            </a:r>
            <a:r>
              <a:rPr lang="fr-FR" b="0" i="0" dirty="0" err="1">
                <a:solidFill>
                  <a:srgbClr val="ECECEC"/>
                </a:solidFill>
                <a:effectLst/>
                <a:latin typeface="Söhne"/>
              </a:rPr>
              <a:t>navigating</a:t>
            </a:r>
            <a:r>
              <a:rPr lang="fr-FR" b="0" i="0" dirty="0">
                <a:solidFill>
                  <a:srgbClr val="ECECEC"/>
                </a:solidFill>
                <a:effectLst/>
                <a:latin typeface="Söhne"/>
              </a:rPr>
              <a:t>, </a:t>
            </a:r>
            <a:r>
              <a:rPr lang="fr-FR" b="0" i="0" dirty="0" err="1">
                <a:solidFill>
                  <a:srgbClr val="ECECEC"/>
                </a:solidFill>
                <a:effectLst/>
                <a:latin typeface="Söhne"/>
              </a:rPr>
              <a:t>managing</a:t>
            </a:r>
            <a:r>
              <a:rPr lang="fr-FR" b="0" i="0" dirty="0">
                <a:solidFill>
                  <a:srgbClr val="ECECEC"/>
                </a:solidFill>
                <a:effectLst/>
                <a:latin typeface="Söhne"/>
              </a:rPr>
              <a:t>, and </a:t>
            </a:r>
            <a:r>
              <a:rPr lang="fr-FR" b="0" i="0" dirty="0" err="1">
                <a:solidFill>
                  <a:srgbClr val="ECECEC"/>
                </a:solidFill>
                <a:effectLst/>
                <a:latin typeface="Söhne"/>
              </a:rPr>
              <a:t>automating</a:t>
            </a:r>
            <a:r>
              <a:rPr lang="fr-FR" b="0" i="0" dirty="0">
                <a:solidFill>
                  <a:srgbClr val="ECECEC"/>
                </a:solidFill>
                <a:effectLst/>
                <a:latin typeface="Söhne"/>
              </a:rPr>
              <a:t> </a:t>
            </a:r>
            <a:r>
              <a:rPr lang="fr-FR" b="0" i="0" dirty="0" err="1">
                <a:solidFill>
                  <a:srgbClr val="ECECEC"/>
                </a:solidFill>
                <a:effectLst/>
                <a:latin typeface="Söhne"/>
              </a:rPr>
              <a:t>tasks</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crucial.</a:t>
            </a:r>
          </a:p>
          <a:p>
            <a:pPr algn="l">
              <a:buFont typeface="Arial" panose="020B0604020202020204" pitchFamily="34" charset="0"/>
              <a:buChar char="•"/>
            </a:pPr>
            <a:r>
              <a:rPr lang="fr-FR" b="1" i="0" dirty="0">
                <a:solidFill>
                  <a:srgbClr val="ECECEC"/>
                </a:solidFill>
                <a:effectLst/>
                <a:latin typeface="Söhne"/>
              </a:rPr>
              <a:t>Usage in Cloud </a:t>
            </a:r>
            <a:r>
              <a:rPr lang="fr-FR" b="1" i="0" dirty="0" err="1">
                <a:solidFill>
                  <a:srgbClr val="ECECEC"/>
                </a:solidFill>
                <a:effectLst/>
                <a:latin typeface="Söhne"/>
              </a:rPr>
              <a:t>Environments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Administration of </a:t>
            </a:r>
            <a:r>
              <a:rPr lang="fr-FR" b="0" i="0" dirty="0" err="1">
                <a:solidFill>
                  <a:srgbClr val="ECECEC"/>
                </a:solidFill>
                <a:effectLst/>
                <a:latin typeface="Söhne"/>
              </a:rPr>
              <a:t>virtual</a:t>
            </a:r>
            <a:r>
              <a:rPr lang="fr-FR" b="0" i="0" dirty="0">
                <a:solidFill>
                  <a:srgbClr val="ECECEC"/>
                </a:solidFill>
                <a:effectLst/>
                <a:latin typeface="Söhne"/>
              </a:rPr>
              <a:t> instances, </a:t>
            </a:r>
            <a:r>
              <a:rPr lang="fr-FR" b="0" i="0" dirty="0" err="1">
                <a:solidFill>
                  <a:srgbClr val="ECECEC"/>
                </a:solidFill>
                <a:effectLst/>
                <a:latin typeface="Söhne"/>
              </a:rPr>
              <a:t>deployment</a:t>
            </a:r>
            <a:r>
              <a:rPr lang="fr-FR" b="0" i="0" dirty="0">
                <a:solidFill>
                  <a:srgbClr val="ECECEC"/>
                </a:solidFill>
                <a:effectLst/>
                <a:latin typeface="Söhne"/>
              </a:rPr>
              <a:t>, and management of Cloud services can </a:t>
            </a:r>
            <a:r>
              <a:rPr lang="fr-FR" b="0" i="0" dirty="0" err="1">
                <a:solidFill>
                  <a:srgbClr val="ECECEC"/>
                </a:solidFill>
                <a:effectLst/>
                <a:latin typeface="Söhne"/>
              </a:rPr>
              <a:t>often</a:t>
            </a:r>
            <a:r>
              <a:rPr lang="fr-FR" b="0" i="0" dirty="0">
                <a:solidFill>
                  <a:srgbClr val="ECECEC"/>
                </a:solidFill>
                <a:effectLst/>
                <a:latin typeface="Söhne"/>
              </a:rPr>
              <a:t>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performed</a:t>
            </a:r>
            <a:r>
              <a:rPr lang="fr-FR" b="0" i="0" dirty="0">
                <a:solidFill>
                  <a:srgbClr val="ECECEC"/>
                </a:solidFill>
                <a:effectLst/>
                <a:latin typeface="Söhne"/>
              </a:rPr>
              <a:t> via command line interfaces.</a:t>
            </a:r>
          </a:p>
          <a:p>
            <a:pPr algn="l">
              <a:buFont typeface="Arial" panose="020B0604020202020204" pitchFamily="34" charset="0"/>
              <a:buChar char="•"/>
            </a:pPr>
            <a:r>
              <a:rPr lang="fr-FR" b="1" i="0" dirty="0" err="1">
                <a:solidFill>
                  <a:srgbClr val="ECECEC"/>
                </a:solidFill>
                <a:effectLst/>
                <a:latin typeface="Söhne"/>
              </a:rPr>
              <a:t>Examples</a:t>
            </a:r>
            <a:r>
              <a:rPr lang="fr-FR" b="1" i="0" dirty="0">
                <a:solidFill>
                  <a:srgbClr val="ECECEC"/>
                </a:solidFill>
                <a:effectLst/>
                <a:latin typeface="Söhne"/>
              </a:rPr>
              <a:t> of Applications: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Automation of ETL (</a:t>
            </a:r>
            <a:r>
              <a:rPr lang="fr-FR" b="0" i="0" dirty="0" err="1">
                <a:solidFill>
                  <a:srgbClr val="ECECEC"/>
                </a:solidFill>
                <a:effectLst/>
                <a:latin typeface="Söhne"/>
              </a:rPr>
              <a:t>Extract</a:t>
            </a:r>
            <a:r>
              <a:rPr lang="fr-FR" b="0" i="0" dirty="0">
                <a:solidFill>
                  <a:srgbClr val="ECECEC"/>
                </a:solidFill>
                <a:effectLst/>
                <a:latin typeface="Söhne"/>
              </a:rPr>
              <a:t>, </a:t>
            </a:r>
            <a:r>
              <a:rPr lang="fr-FR" b="0" i="0" dirty="0" err="1">
                <a:solidFill>
                  <a:srgbClr val="ECECEC"/>
                </a:solidFill>
                <a:effectLst/>
                <a:latin typeface="Söhne"/>
              </a:rPr>
              <a:t>Transform</a:t>
            </a:r>
            <a:r>
              <a:rPr lang="fr-FR" b="0" i="0" dirty="0">
                <a:solidFill>
                  <a:srgbClr val="ECECEC"/>
                </a:solidFill>
                <a:effectLst/>
                <a:latin typeface="Söhne"/>
              </a:rPr>
              <a:t>, </a:t>
            </a:r>
            <a:r>
              <a:rPr lang="fr-FR" b="0" i="0" dirty="0" err="1">
                <a:solidFill>
                  <a:srgbClr val="ECECEC"/>
                </a:solidFill>
                <a:effectLst/>
                <a:latin typeface="Söhne"/>
              </a:rPr>
              <a:t>Load</a:t>
            </a:r>
            <a:r>
              <a:rPr lang="fr-FR" b="0" i="0" dirty="0">
                <a:solidFill>
                  <a:srgbClr val="ECECEC"/>
                </a:solidFill>
                <a:effectLst/>
                <a:latin typeface="Söhne"/>
              </a:rPr>
              <a:t>) </a:t>
            </a:r>
            <a:r>
              <a:rPr lang="fr-FR" b="0" i="0" dirty="0" err="1">
                <a:solidFill>
                  <a:srgbClr val="ECECEC"/>
                </a:solidFill>
                <a:effectLst/>
                <a:latin typeface="Söhne"/>
              </a:rPr>
              <a:t>processes</a:t>
            </a:r>
            <a:r>
              <a:rPr lang="fr-FR" b="0" i="0" dirty="0">
                <a:solidFill>
                  <a:srgbClr val="ECECEC"/>
                </a:solidFill>
                <a:effectLst/>
                <a:latin typeface="Söhne"/>
              </a:rPr>
              <a:t>, configuration management, </a:t>
            </a:r>
            <a:r>
              <a:rPr lang="fr-FR" b="0" i="0" dirty="0" err="1">
                <a:solidFill>
                  <a:srgbClr val="ECECEC"/>
                </a:solidFill>
                <a:effectLst/>
                <a:latin typeface="Söhne"/>
              </a:rPr>
              <a:t>resource</a:t>
            </a:r>
            <a:r>
              <a:rPr lang="fr-FR" b="0" i="0" dirty="0">
                <a:solidFill>
                  <a:srgbClr val="ECECEC"/>
                </a:solidFill>
                <a:effectLst/>
                <a:latin typeface="Söhne"/>
              </a:rPr>
              <a:t> monitoring, etc.</a:t>
            </a:r>
          </a:p>
          <a:p>
            <a:pPr algn="l">
              <a:buFont typeface="Arial" panose="020B0604020202020204" pitchFamily="34" charset="0"/>
              <a:buChar char="•"/>
            </a:pPr>
            <a:r>
              <a:rPr lang="fr-FR" b="1" i="0" dirty="0" err="1">
                <a:solidFill>
                  <a:srgbClr val="ECECEC"/>
                </a:solidFill>
                <a:effectLst/>
                <a:latin typeface="Söhne"/>
              </a:rPr>
              <a:t>Continuous</a:t>
            </a:r>
            <a:r>
              <a:rPr lang="fr-FR" b="1" i="0" dirty="0">
                <a:solidFill>
                  <a:srgbClr val="ECECEC"/>
                </a:solidFill>
                <a:effectLst/>
                <a:latin typeface="Söhne"/>
              </a:rPr>
              <a:t> Learning:</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It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recommended</a:t>
            </a:r>
            <a:r>
              <a:rPr lang="fr-FR" b="0" i="0" dirty="0">
                <a:solidFill>
                  <a:srgbClr val="ECECEC"/>
                </a:solidFill>
                <a:effectLst/>
                <a:latin typeface="Söhne"/>
              </a:rPr>
              <a:t> to </a:t>
            </a:r>
            <a:r>
              <a:rPr lang="fr-FR" b="0" i="0" dirty="0" err="1">
                <a:solidFill>
                  <a:srgbClr val="ECECEC"/>
                </a:solidFill>
                <a:effectLst/>
                <a:latin typeface="Söhne"/>
              </a:rPr>
              <a:t>invest</a:t>
            </a:r>
            <a:r>
              <a:rPr lang="fr-FR" b="0" i="0" dirty="0">
                <a:solidFill>
                  <a:srgbClr val="ECECEC"/>
                </a:solidFill>
                <a:effectLst/>
                <a:latin typeface="Söhne"/>
              </a:rPr>
              <a:t> time in </a:t>
            </a:r>
            <a:r>
              <a:rPr lang="fr-FR" b="0" i="0" dirty="0" err="1">
                <a:solidFill>
                  <a:srgbClr val="ECECEC"/>
                </a:solidFill>
                <a:effectLst/>
                <a:latin typeface="Söhne"/>
              </a:rPr>
              <a:t>learning</a:t>
            </a:r>
            <a:r>
              <a:rPr lang="fr-FR" b="0" i="0" dirty="0">
                <a:solidFill>
                  <a:srgbClr val="ECECEC"/>
                </a:solidFill>
                <a:effectLst/>
                <a:latin typeface="Söhne"/>
              </a:rPr>
              <a:t> and </a:t>
            </a:r>
            <a:r>
              <a:rPr lang="fr-FR" b="0" i="0" dirty="0" err="1">
                <a:solidFill>
                  <a:srgbClr val="ECECEC"/>
                </a:solidFill>
                <a:effectLst/>
                <a:latin typeface="Söhne"/>
              </a:rPr>
              <a:t>practicing</a:t>
            </a:r>
            <a:r>
              <a:rPr lang="fr-FR" b="0" i="0" dirty="0">
                <a:solidFill>
                  <a:srgbClr val="ECECEC"/>
                </a:solidFill>
                <a:effectLst/>
                <a:latin typeface="Söhne"/>
              </a:rPr>
              <a:t> </a:t>
            </a:r>
            <a:r>
              <a:rPr lang="fr-FR" b="0" i="0" dirty="0" err="1">
                <a:solidFill>
                  <a:srgbClr val="ECECEC"/>
                </a:solidFill>
                <a:effectLst/>
                <a:latin typeface="Söhne"/>
              </a:rPr>
              <a:t>commands</a:t>
            </a:r>
            <a:r>
              <a:rPr lang="fr-FR" b="0" i="0" dirty="0">
                <a:solidFill>
                  <a:srgbClr val="ECECEC"/>
                </a:solidFill>
                <a:effectLst/>
                <a:latin typeface="Söhne"/>
              </a:rPr>
              <a:t> to </a:t>
            </a:r>
            <a:r>
              <a:rPr lang="fr-FR" b="0" i="0" dirty="0" err="1">
                <a:solidFill>
                  <a:srgbClr val="ECECEC"/>
                </a:solidFill>
                <a:effectLst/>
                <a:latin typeface="Söhne"/>
              </a:rPr>
              <a:t>become</a:t>
            </a:r>
            <a:r>
              <a:rPr lang="fr-FR" b="0" i="0" dirty="0">
                <a:solidFill>
                  <a:srgbClr val="ECECEC"/>
                </a:solidFill>
                <a:effectLst/>
                <a:latin typeface="Söhne"/>
              </a:rPr>
              <a:t> more efficient and </a:t>
            </a:r>
            <a:r>
              <a:rPr lang="fr-FR" b="0" i="0" dirty="0" err="1">
                <a:solidFill>
                  <a:srgbClr val="ECECEC"/>
                </a:solidFill>
                <a:effectLst/>
                <a:latin typeface="Söhne"/>
              </a:rPr>
              <a:t>skilled</a:t>
            </a:r>
            <a:r>
              <a:rPr lang="fr-FR" b="0" i="0" dirty="0">
                <a:solidFill>
                  <a:srgbClr val="ECECEC"/>
                </a:solidFill>
                <a:effectLst/>
                <a:latin typeface="Söhne"/>
              </a:rPr>
              <a:t> in the cloud.</a:t>
            </a:r>
          </a:p>
        </p:txBody>
      </p:sp>
    </p:spTree>
    <p:extLst>
      <p:ext uri="{BB962C8B-B14F-4D97-AF65-F5344CB8AC3E}">
        <p14:creationId xmlns:p14="http://schemas.microsoft.com/office/powerpoint/2010/main" val="4257740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APPLICATION DEPLOYMENT</a:t>
            </a:r>
          </a:p>
        </p:txBody>
      </p:sp>
    </p:spTree>
    <p:extLst>
      <p:ext uri="{BB962C8B-B14F-4D97-AF65-F5344CB8AC3E}">
        <p14:creationId xmlns:p14="http://schemas.microsoft.com/office/powerpoint/2010/main" val="2461911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Evolution of application </a:t>
            </a:r>
            <a:r>
              <a:rPr lang="fr-FR" sz="3200" dirty="0" err="1"/>
              <a:t>deployment</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algn="l">
              <a:buFont typeface="Arial" panose="020B0604020202020204" pitchFamily="34" charset="0"/>
              <a:buChar char="•"/>
            </a:pPr>
            <a:r>
              <a:rPr lang="fr-FR" b="1" i="0" dirty="0">
                <a:solidFill>
                  <a:srgbClr val="ECECEC"/>
                </a:solidFill>
                <a:effectLst/>
                <a:latin typeface="Söhne"/>
              </a:rPr>
              <a:t>Evolution of Technologies and Practices: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The </a:t>
            </a:r>
            <a:r>
              <a:rPr lang="fr-FR" b="0" i="0" dirty="0" err="1">
                <a:solidFill>
                  <a:srgbClr val="ECECEC"/>
                </a:solidFill>
                <a:effectLst/>
                <a:latin typeface="Söhne"/>
              </a:rPr>
              <a:t>evolution</a:t>
            </a:r>
            <a:r>
              <a:rPr lang="fr-FR" b="0" i="0" dirty="0">
                <a:solidFill>
                  <a:srgbClr val="ECECEC"/>
                </a:solidFill>
                <a:effectLst/>
                <a:latin typeface="Söhne"/>
              </a:rPr>
              <a:t> of technologies and practices has </a:t>
            </a:r>
            <a:r>
              <a:rPr lang="fr-FR" b="0" i="0" dirty="0" err="1">
                <a:solidFill>
                  <a:srgbClr val="ECECEC"/>
                </a:solidFill>
                <a:effectLst/>
                <a:latin typeface="Söhne"/>
              </a:rPr>
              <a:t>significantly</a:t>
            </a:r>
            <a:r>
              <a:rPr lang="fr-FR" b="0" i="0" dirty="0">
                <a:solidFill>
                  <a:srgbClr val="ECECEC"/>
                </a:solidFill>
                <a:effectLst/>
                <a:latin typeface="Söhne"/>
              </a:rPr>
              <a:t> </a:t>
            </a:r>
            <a:r>
              <a:rPr lang="fr-FR" b="0" i="0" dirty="0" err="1">
                <a:solidFill>
                  <a:srgbClr val="ECECEC"/>
                </a:solidFill>
                <a:effectLst/>
                <a:latin typeface="Söhne"/>
              </a:rPr>
              <a:t>influenced</a:t>
            </a:r>
            <a:r>
              <a:rPr lang="fr-FR" b="0" i="0" dirty="0">
                <a:solidFill>
                  <a:srgbClr val="ECECEC"/>
                </a:solidFill>
                <a:effectLst/>
                <a:latin typeface="Söhne"/>
              </a:rPr>
              <a:t> how applications, </a:t>
            </a:r>
            <a:r>
              <a:rPr lang="fr-FR" b="0" i="0" dirty="0" err="1">
                <a:solidFill>
                  <a:srgbClr val="ECECEC"/>
                </a:solidFill>
                <a:effectLst/>
                <a:latin typeface="Söhne"/>
              </a:rPr>
              <a:t>including</a:t>
            </a:r>
            <a:r>
              <a:rPr lang="fr-FR" b="0" i="0" dirty="0">
                <a:solidFill>
                  <a:srgbClr val="ECECEC"/>
                </a:solidFill>
                <a:effectLst/>
                <a:latin typeface="Söhne"/>
              </a:rPr>
              <a:t> </a:t>
            </a:r>
            <a:r>
              <a:rPr lang="fr-FR" b="0" i="0" dirty="0" err="1">
                <a:solidFill>
                  <a:srgbClr val="ECECEC"/>
                </a:solidFill>
                <a:effectLst/>
                <a:latin typeface="Söhne"/>
              </a:rPr>
              <a:t>websites</a:t>
            </a:r>
            <a:r>
              <a:rPr lang="fr-FR" b="0" i="0" dirty="0">
                <a:solidFill>
                  <a:srgbClr val="ECECEC"/>
                </a:solidFill>
                <a:effectLst/>
                <a:latin typeface="Söhne"/>
              </a:rPr>
              <a:t>, are </a:t>
            </a:r>
            <a:r>
              <a:rPr lang="fr-FR" b="0" i="0" dirty="0" err="1">
                <a:solidFill>
                  <a:srgbClr val="ECECEC"/>
                </a:solidFill>
                <a:effectLst/>
                <a:latin typeface="Söhne"/>
              </a:rPr>
              <a:t>deployed</a:t>
            </a:r>
            <a:r>
              <a:rPr lang="fr-FR" b="0" i="0" dirty="0">
                <a:solidFill>
                  <a:srgbClr val="ECECEC"/>
                </a:solidFill>
                <a:effectLst/>
                <a:latin typeface="Söhne"/>
              </a:rPr>
              <a:t> and </a:t>
            </a:r>
            <a:r>
              <a:rPr lang="fr-FR" b="0" i="0" dirty="0" err="1">
                <a:solidFill>
                  <a:srgbClr val="ECECEC"/>
                </a:solidFill>
                <a:effectLst/>
                <a:latin typeface="Söhne"/>
              </a:rPr>
              <a:t>managed</a:t>
            </a:r>
            <a:r>
              <a:rPr lang="fr-FR" b="0" i="0" dirty="0">
                <a:solidFill>
                  <a:srgbClr val="ECECEC"/>
                </a:solidFill>
                <a:effectLst/>
                <a:latin typeface="Söhne"/>
              </a:rPr>
              <a:t>.</a:t>
            </a:r>
          </a:p>
          <a:p>
            <a:pPr algn="l">
              <a:buFont typeface="Arial" panose="020B0604020202020204" pitchFamily="34" charset="0"/>
              <a:buChar char="•"/>
            </a:pPr>
            <a:r>
              <a:rPr lang="fr-FR" b="1" i="0" dirty="0" err="1">
                <a:solidFill>
                  <a:srgbClr val="ECECEC"/>
                </a:solidFill>
                <a:effectLst/>
                <a:latin typeface="Söhne"/>
              </a:rPr>
              <a:t>Traditional</a:t>
            </a:r>
            <a:r>
              <a:rPr lang="fr-FR" b="1" i="0" dirty="0">
                <a:solidFill>
                  <a:srgbClr val="ECECEC"/>
                </a:solidFill>
                <a:effectLst/>
                <a:latin typeface="Söhne"/>
              </a:rPr>
              <a:t> </a:t>
            </a:r>
            <a:r>
              <a:rPr lang="fr-FR" b="1" i="0" dirty="0" err="1">
                <a:solidFill>
                  <a:srgbClr val="ECECEC"/>
                </a:solidFill>
                <a:effectLst/>
                <a:latin typeface="Söhne"/>
              </a:rPr>
              <a:t>Deployment</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In the </a:t>
            </a:r>
            <a:r>
              <a:rPr lang="fr-FR" b="0" i="0" dirty="0" err="1">
                <a:solidFill>
                  <a:srgbClr val="ECECEC"/>
                </a:solidFill>
                <a:effectLst/>
                <a:latin typeface="Söhne"/>
              </a:rPr>
              <a:t>pre</a:t>
            </a:r>
            <a:r>
              <a:rPr lang="fr-FR" b="0" i="0" dirty="0">
                <a:solidFill>
                  <a:srgbClr val="ECECEC"/>
                </a:solidFill>
                <a:effectLst/>
                <a:latin typeface="Söhne"/>
              </a:rPr>
              <a:t>-cloud </a:t>
            </a:r>
            <a:r>
              <a:rPr lang="fr-FR" b="0" i="0" dirty="0" err="1">
                <a:solidFill>
                  <a:srgbClr val="ECECEC"/>
                </a:solidFill>
                <a:effectLst/>
                <a:latin typeface="Söhne"/>
              </a:rPr>
              <a:t>era</a:t>
            </a:r>
            <a:r>
              <a:rPr lang="fr-FR" b="0" i="0" dirty="0">
                <a:solidFill>
                  <a:srgbClr val="ECECEC"/>
                </a:solidFill>
                <a:effectLst/>
                <a:latin typeface="Söhne"/>
              </a:rPr>
              <a:t>, </a:t>
            </a:r>
            <a:r>
              <a:rPr lang="fr-FR" b="0" i="0" dirty="0" err="1">
                <a:solidFill>
                  <a:srgbClr val="ECECEC"/>
                </a:solidFill>
                <a:effectLst/>
                <a:latin typeface="Söhne"/>
              </a:rPr>
              <a:t>deploying</a:t>
            </a:r>
            <a:r>
              <a:rPr lang="fr-FR" b="0" i="0" dirty="0">
                <a:solidFill>
                  <a:srgbClr val="ECECEC"/>
                </a:solidFill>
                <a:effectLst/>
                <a:latin typeface="Söhne"/>
              </a:rPr>
              <a:t> a </a:t>
            </a:r>
            <a:r>
              <a:rPr lang="fr-FR" b="0" i="0" dirty="0" err="1">
                <a:solidFill>
                  <a:srgbClr val="ECECEC"/>
                </a:solidFill>
                <a:effectLst/>
                <a:latin typeface="Söhne"/>
              </a:rPr>
              <a:t>website</a:t>
            </a:r>
            <a:r>
              <a:rPr lang="fr-FR" b="0" i="0" dirty="0">
                <a:solidFill>
                  <a:srgbClr val="ECECEC"/>
                </a:solidFill>
                <a:effectLst/>
                <a:latin typeface="Söhne"/>
              </a:rPr>
              <a:t> </a:t>
            </a:r>
            <a:r>
              <a:rPr lang="fr-FR" b="0" i="0" dirty="0" err="1">
                <a:solidFill>
                  <a:srgbClr val="ECECEC"/>
                </a:solidFill>
                <a:effectLst/>
                <a:latin typeface="Söhne"/>
              </a:rPr>
              <a:t>often</a:t>
            </a:r>
            <a:r>
              <a:rPr lang="fr-FR" b="0" i="0" dirty="0">
                <a:solidFill>
                  <a:srgbClr val="ECECEC"/>
                </a:solidFill>
                <a:effectLst/>
                <a:latin typeface="Söhne"/>
              </a:rPr>
              <a:t> </a:t>
            </a:r>
            <a:r>
              <a:rPr lang="fr-FR" b="0" i="0" dirty="0" err="1">
                <a:solidFill>
                  <a:srgbClr val="ECECEC"/>
                </a:solidFill>
                <a:effectLst/>
                <a:latin typeface="Söhne"/>
              </a:rPr>
              <a:t>involved</a:t>
            </a:r>
            <a:r>
              <a:rPr lang="fr-FR" b="0" i="0" dirty="0">
                <a:solidFill>
                  <a:srgbClr val="ECECEC"/>
                </a:solidFill>
                <a:effectLst/>
                <a:latin typeface="Söhne"/>
              </a:rPr>
              <a:t> </a:t>
            </a:r>
            <a:r>
              <a:rPr lang="fr-FR" b="0" i="0" dirty="0" err="1">
                <a:solidFill>
                  <a:srgbClr val="ECECEC"/>
                </a:solidFill>
                <a:effectLst/>
                <a:latin typeface="Söhne"/>
              </a:rPr>
              <a:t>managing</a:t>
            </a:r>
            <a:r>
              <a:rPr lang="fr-FR" b="0" i="0" dirty="0">
                <a:solidFill>
                  <a:srgbClr val="ECECEC"/>
                </a:solidFill>
                <a:effectLst/>
                <a:latin typeface="Söhne"/>
              </a:rPr>
              <a:t> a </a:t>
            </a:r>
            <a:r>
              <a:rPr lang="fr-FR" b="0" i="0" dirty="0" err="1">
                <a:solidFill>
                  <a:srgbClr val="ECECEC"/>
                </a:solidFill>
                <a:effectLst/>
                <a:latin typeface="Söhne"/>
              </a:rPr>
              <a:t>physical</a:t>
            </a:r>
            <a:r>
              <a:rPr lang="fr-FR" b="0" i="0" dirty="0">
                <a:solidFill>
                  <a:srgbClr val="ECECEC"/>
                </a:solidFill>
                <a:effectLst/>
                <a:latin typeface="Söhne"/>
              </a:rPr>
              <a:t> server or a </a:t>
            </a:r>
            <a:r>
              <a:rPr lang="fr-FR" b="0" i="0" dirty="0" err="1">
                <a:solidFill>
                  <a:srgbClr val="ECECEC"/>
                </a:solidFill>
                <a:effectLst/>
                <a:latin typeface="Söhne"/>
              </a:rPr>
              <a:t>dedicated</a:t>
            </a:r>
            <a:r>
              <a:rPr lang="fr-FR" b="0" i="0" dirty="0">
                <a:solidFill>
                  <a:srgbClr val="ECECEC"/>
                </a:solidFill>
                <a:effectLst/>
                <a:latin typeface="Söhne"/>
              </a:rPr>
              <a:t> server in a data center.</a:t>
            </a:r>
          </a:p>
          <a:p>
            <a:pPr algn="l">
              <a:buFont typeface="Arial" panose="020B0604020202020204" pitchFamily="34" charset="0"/>
              <a:buChar char="•"/>
            </a:pPr>
            <a:r>
              <a:rPr lang="fr-FR" b="1" i="0" dirty="0">
                <a:solidFill>
                  <a:srgbClr val="ECECEC"/>
                </a:solidFill>
                <a:effectLst/>
                <a:latin typeface="Söhne"/>
              </a:rPr>
              <a:t>Manual and </a:t>
            </a:r>
            <a:r>
              <a:rPr lang="fr-FR" b="1" i="0" dirty="0" err="1">
                <a:solidFill>
                  <a:srgbClr val="ECECEC"/>
                </a:solidFill>
                <a:effectLst/>
                <a:latin typeface="Söhne"/>
              </a:rPr>
              <a:t>Complex</a:t>
            </a:r>
            <a:r>
              <a:rPr lang="fr-FR" b="1" i="0" dirty="0">
                <a:solidFill>
                  <a:srgbClr val="ECECEC"/>
                </a:solidFill>
                <a:effectLst/>
                <a:latin typeface="Söhne"/>
              </a:rPr>
              <a:t> Process: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Hardware configuration, software installation, management of updates and patches, etc.</a:t>
            </a:r>
          </a:p>
          <a:p>
            <a:pPr algn="l">
              <a:buFont typeface="Arial" panose="020B0604020202020204" pitchFamily="34" charset="0"/>
              <a:buChar char="•"/>
            </a:pPr>
            <a:r>
              <a:rPr lang="fr-FR" b="1" i="0" dirty="0">
                <a:solidFill>
                  <a:srgbClr val="ECECEC"/>
                </a:solidFill>
                <a:effectLst/>
                <a:latin typeface="Söhne"/>
              </a:rPr>
              <a:t>Limitations in </a:t>
            </a:r>
            <a:r>
              <a:rPr lang="fr-FR" b="1" i="0" dirty="0" err="1">
                <a:solidFill>
                  <a:srgbClr val="ECECEC"/>
                </a:solidFill>
                <a:effectLst/>
                <a:latin typeface="Söhne"/>
              </a:rPr>
              <a:t>Scalability</a:t>
            </a:r>
            <a:r>
              <a:rPr lang="fr-FR" b="1" i="0" dirty="0">
                <a:solidFill>
                  <a:srgbClr val="ECECEC"/>
                </a:solidFill>
                <a:effectLst/>
                <a:latin typeface="Söhne"/>
              </a:rPr>
              <a:t> and </a:t>
            </a:r>
            <a:r>
              <a:rPr lang="fr-FR" b="1" i="0" dirty="0" err="1">
                <a:solidFill>
                  <a:srgbClr val="ECECEC"/>
                </a:solidFill>
                <a:effectLst/>
                <a:latin typeface="Söhne"/>
              </a:rPr>
              <a:t>Flexibility</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Resources</a:t>
            </a:r>
            <a:r>
              <a:rPr lang="fr-FR" b="0" i="0" dirty="0">
                <a:solidFill>
                  <a:srgbClr val="ECECEC"/>
                </a:solidFill>
                <a:effectLst/>
                <a:latin typeface="Söhne"/>
              </a:rPr>
              <a:t> </a:t>
            </a:r>
            <a:r>
              <a:rPr lang="fr-FR" b="0" i="0" dirty="0" err="1">
                <a:solidFill>
                  <a:srgbClr val="ECECEC"/>
                </a:solidFill>
                <a:effectLst/>
                <a:latin typeface="Söhne"/>
              </a:rPr>
              <a:t>were</a:t>
            </a:r>
            <a:r>
              <a:rPr lang="fr-FR" b="0" i="0" dirty="0">
                <a:solidFill>
                  <a:srgbClr val="ECECEC"/>
                </a:solidFill>
                <a:effectLst/>
                <a:latin typeface="Söhne"/>
              </a:rPr>
              <a:t> </a:t>
            </a:r>
            <a:r>
              <a:rPr lang="fr-FR" b="0" i="0" dirty="0" err="1">
                <a:solidFill>
                  <a:srgbClr val="ECECEC"/>
                </a:solidFill>
                <a:effectLst/>
                <a:latin typeface="Söhne"/>
              </a:rPr>
              <a:t>often</a:t>
            </a:r>
            <a:r>
              <a:rPr lang="fr-FR" b="0" i="0" dirty="0">
                <a:solidFill>
                  <a:srgbClr val="ECECEC"/>
                </a:solidFill>
                <a:effectLst/>
                <a:latin typeface="Söhne"/>
              </a:rPr>
              <a:t> </a:t>
            </a:r>
            <a:r>
              <a:rPr lang="fr-FR" b="0" i="0" dirty="0" err="1">
                <a:solidFill>
                  <a:srgbClr val="ECECEC"/>
                </a:solidFill>
                <a:effectLst/>
                <a:latin typeface="Söhne"/>
              </a:rPr>
              <a:t>underutilized</a:t>
            </a:r>
            <a:r>
              <a:rPr lang="fr-FR" b="0" i="0" dirty="0">
                <a:solidFill>
                  <a:srgbClr val="ECECEC"/>
                </a:solidFill>
                <a:effectLst/>
                <a:latin typeface="Söhne"/>
              </a:rPr>
              <a:t>, and </a:t>
            </a:r>
            <a:r>
              <a:rPr lang="fr-FR" b="0" i="0" dirty="0" err="1">
                <a:solidFill>
                  <a:srgbClr val="ECECEC"/>
                </a:solidFill>
                <a:effectLst/>
                <a:latin typeface="Söhne"/>
              </a:rPr>
              <a:t>adjusting</a:t>
            </a:r>
            <a:r>
              <a:rPr lang="fr-FR" b="0" i="0" dirty="0">
                <a:solidFill>
                  <a:srgbClr val="ECECEC"/>
                </a:solidFill>
                <a:effectLst/>
                <a:latin typeface="Söhne"/>
              </a:rPr>
              <a:t> </a:t>
            </a:r>
            <a:r>
              <a:rPr lang="fr-FR" b="0" i="0" dirty="0" err="1">
                <a:solidFill>
                  <a:srgbClr val="ECECEC"/>
                </a:solidFill>
                <a:effectLst/>
                <a:latin typeface="Söhne"/>
              </a:rPr>
              <a:t>capacities</a:t>
            </a:r>
            <a:r>
              <a:rPr lang="fr-FR" b="0" i="0" dirty="0">
                <a:solidFill>
                  <a:srgbClr val="ECECEC"/>
                </a:solidFill>
                <a:effectLst/>
                <a:latin typeface="Söhne"/>
              </a:rPr>
              <a:t> </a:t>
            </a:r>
            <a:r>
              <a:rPr lang="fr-FR" b="0" i="0" dirty="0" err="1">
                <a:solidFill>
                  <a:srgbClr val="ECECEC"/>
                </a:solidFill>
                <a:effectLst/>
                <a:latin typeface="Söhne"/>
              </a:rPr>
              <a:t>was</a:t>
            </a:r>
            <a:r>
              <a:rPr lang="fr-FR" b="0" i="0" dirty="0">
                <a:solidFill>
                  <a:srgbClr val="ECECEC"/>
                </a:solidFill>
                <a:effectLst/>
                <a:latin typeface="Söhne"/>
              </a:rPr>
              <a:t> </a:t>
            </a:r>
            <a:r>
              <a:rPr lang="fr-FR" b="0" i="0" dirty="0" err="1">
                <a:solidFill>
                  <a:srgbClr val="ECECEC"/>
                </a:solidFill>
                <a:effectLst/>
                <a:latin typeface="Söhne"/>
              </a:rPr>
              <a:t>difficult</a:t>
            </a:r>
            <a:r>
              <a:rPr lang="fr-FR" b="0" i="0" dirty="0">
                <a:solidFill>
                  <a:srgbClr val="ECECEC"/>
                </a:solidFill>
                <a:effectLst/>
                <a:latin typeface="Söhne"/>
              </a:rPr>
              <a:t>.</a:t>
            </a:r>
          </a:p>
        </p:txBody>
      </p:sp>
    </p:spTree>
    <p:extLst>
      <p:ext uri="{BB962C8B-B14F-4D97-AF65-F5344CB8AC3E}">
        <p14:creationId xmlns:p14="http://schemas.microsoft.com/office/powerpoint/2010/main" val="1521743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Evolution of application </a:t>
            </a:r>
            <a:r>
              <a:rPr lang="fr-FR" sz="3200" dirty="0" err="1"/>
              <a:t>deployment</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1" i="0" dirty="0">
                <a:solidFill>
                  <a:srgbClr val="ECECEC"/>
                </a:solidFill>
                <a:effectLst/>
                <a:latin typeface="Söhne"/>
              </a:rPr>
              <a:t>The Emergence of </a:t>
            </a:r>
            <a:r>
              <a:rPr lang="fr-FR" b="1" i="0" dirty="0" err="1">
                <a:solidFill>
                  <a:srgbClr val="ECECEC"/>
                </a:solidFill>
                <a:effectLst/>
                <a:latin typeface="Söhne"/>
              </a:rPr>
              <a:t>Virtualization</a:t>
            </a:r>
            <a:r>
              <a:rPr lang="fr-FR" b="1" i="0" dirty="0">
                <a:solidFill>
                  <a:srgbClr val="ECECEC"/>
                </a:solidFill>
                <a:effectLst/>
                <a:latin typeface="Söhne"/>
              </a:rPr>
              <a:t> and Cloud </a:t>
            </a:r>
            <a:r>
              <a:rPr lang="fr-FR" b="1" i="0" dirty="0" err="1">
                <a:solidFill>
                  <a:srgbClr val="ECECEC"/>
                </a:solidFill>
                <a:effectLst/>
                <a:latin typeface="Söhne"/>
              </a:rPr>
              <a:t>Computing</a:t>
            </a:r>
            <a:r>
              <a:rPr lang="fr-FR" b="1" i="0" dirty="0">
                <a:solidFill>
                  <a:srgbClr val="ECECEC"/>
                </a:solidFill>
                <a:effectLst/>
                <a:latin typeface="Söhne"/>
              </a:rPr>
              <a:t>:</a:t>
            </a:r>
          </a:p>
          <a:p>
            <a:pPr lvl="1"/>
            <a:r>
              <a:rPr lang="fr-FR" b="0" i="0" dirty="0" err="1">
                <a:solidFill>
                  <a:srgbClr val="ECECEC"/>
                </a:solidFill>
                <a:effectLst/>
                <a:latin typeface="Söhne"/>
              </a:rPr>
              <a:t>Virtualization</a:t>
            </a:r>
            <a:r>
              <a:rPr lang="fr-FR" b="0" i="0" dirty="0">
                <a:solidFill>
                  <a:srgbClr val="ECECEC"/>
                </a:solidFill>
                <a:effectLst/>
                <a:latin typeface="Söhne"/>
              </a:rPr>
              <a:t> has </a:t>
            </a:r>
            <a:r>
              <a:rPr lang="fr-FR" b="0" i="0" dirty="0" err="1">
                <a:solidFill>
                  <a:srgbClr val="ECECEC"/>
                </a:solidFill>
                <a:effectLst/>
                <a:latin typeface="Söhne"/>
              </a:rPr>
              <a:t>enabled</a:t>
            </a:r>
            <a:r>
              <a:rPr lang="fr-FR" b="0" i="0" dirty="0">
                <a:solidFill>
                  <a:srgbClr val="ECECEC"/>
                </a:solidFill>
                <a:effectLst/>
                <a:latin typeface="Söhne"/>
              </a:rPr>
              <a:t> the </a:t>
            </a:r>
            <a:r>
              <a:rPr lang="fr-FR" b="0" i="0" dirty="0" err="1">
                <a:solidFill>
                  <a:srgbClr val="ECECEC"/>
                </a:solidFill>
                <a:effectLst/>
                <a:latin typeface="Söhne"/>
              </a:rPr>
              <a:t>creation</a:t>
            </a:r>
            <a:r>
              <a:rPr lang="fr-FR" b="0" i="0" dirty="0">
                <a:solidFill>
                  <a:srgbClr val="ECECEC"/>
                </a:solidFill>
                <a:effectLst/>
                <a:latin typeface="Söhne"/>
              </a:rPr>
              <a:t> of </a:t>
            </a:r>
            <a:r>
              <a:rPr lang="fr-FR" b="0" i="0" dirty="0" err="1">
                <a:solidFill>
                  <a:srgbClr val="ECECEC"/>
                </a:solidFill>
                <a:effectLst/>
                <a:latin typeface="Söhne"/>
              </a:rPr>
              <a:t>virtual</a:t>
            </a:r>
            <a:r>
              <a:rPr lang="fr-FR" b="0" i="0" dirty="0">
                <a:solidFill>
                  <a:srgbClr val="ECECEC"/>
                </a:solidFill>
                <a:effectLst/>
                <a:latin typeface="Söhne"/>
              </a:rPr>
              <a:t> machines (</a:t>
            </a:r>
            <a:r>
              <a:rPr lang="fr-FR" b="0" i="0" dirty="0" err="1">
                <a:solidFill>
                  <a:srgbClr val="ECECEC"/>
                </a:solidFill>
                <a:effectLst/>
                <a:latin typeface="Söhne"/>
              </a:rPr>
              <a:t>VMs</a:t>
            </a:r>
            <a:r>
              <a:rPr lang="fr-FR" b="0" i="0" dirty="0">
                <a:solidFill>
                  <a:srgbClr val="ECECEC"/>
                </a:solidFill>
                <a:effectLst/>
                <a:latin typeface="Söhne"/>
              </a:rPr>
              <a:t>), </a:t>
            </a:r>
            <a:r>
              <a:rPr lang="fr-FR" b="0" i="0" dirty="0" err="1">
                <a:solidFill>
                  <a:srgbClr val="ECECEC"/>
                </a:solidFill>
                <a:effectLst/>
                <a:latin typeface="Söhne"/>
              </a:rPr>
              <a:t>offering</a:t>
            </a:r>
            <a:r>
              <a:rPr lang="fr-FR" b="0" i="0" dirty="0">
                <a:solidFill>
                  <a:srgbClr val="ECECEC"/>
                </a:solidFill>
                <a:effectLst/>
                <a:latin typeface="Söhne"/>
              </a:rPr>
              <a:t> </a:t>
            </a:r>
            <a:r>
              <a:rPr lang="fr-FR" b="0" i="0" dirty="0" err="1">
                <a:solidFill>
                  <a:srgbClr val="ECECEC"/>
                </a:solidFill>
                <a:effectLst/>
                <a:latin typeface="Söhne"/>
              </a:rPr>
              <a:t>better</a:t>
            </a:r>
            <a:r>
              <a:rPr lang="fr-FR" b="0" i="0" dirty="0">
                <a:solidFill>
                  <a:srgbClr val="ECECEC"/>
                </a:solidFill>
                <a:effectLst/>
                <a:latin typeface="Söhne"/>
              </a:rPr>
              <a:t> </a:t>
            </a:r>
            <a:r>
              <a:rPr lang="fr-FR" b="0" i="0" dirty="0" err="1">
                <a:solidFill>
                  <a:srgbClr val="ECECEC"/>
                </a:solidFill>
                <a:effectLst/>
                <a:latin typeface="Söhne"/>
              </a:rPr>
              <a:t>utilization</a:t>
            </a:r>
            <a:r>
              <a:rPr lang="fr-FR" b="0" i="0" dirty="0">
                <a:solidFill>
                  <a:srgbClr val="ECECEC"/>
                </a:solidFill>
                <a:effectLst/>
                <a:latin typeface="Söhne"/>
              </a:rPr>
              <a:t> of hardware </a:t>
            </a:r>
            <a:r>
              <a:rPr lang="fr-FR" b="0" i="0" dirty="0" err="1">
                <a:solidFill>
                  <a:srgbClr val="ECECEC"/>
                </a:solidFill>
                <a:effectLst/>
                <a:latin typeface="Söhne"/>
              </a:rPr>
              <a:t>resources</a:t>
            </a:r>
            <a:r>
              <a:rPr lang="fr-FR" b="0" i="0" dirty="0">
                <a:solidFill>
                  <a:srgbClr val="ECECEC"/>
                </a:solidFill>
                <a:effectLst/>
                <a:latin typeface="Söhne"/>
              </a:rPr>
              <a:t>.</a:t>
            </a:r>
          </a:p>
          <a:p>
            <a:pPr lvl="1"/>
            <a:r>
              <a:rPr lang="fr-FR" b="0" i="0" dirty="0">
                <a:solidFill>
                  <a:srgbClr val="ECECEC"/>
                </a:solidFill>
                <a:effectLst/>
                <a:latin typeface="Söhne"/>
              </a:rPr>
              <a:t>Cloud </a:t>
            </a:r>
            <a:r>
              <a:rPr lang="fr-FR" b="0" i="0" dirty="0" err="1">
                <a:solidFill>
                  <a:srgbClr val="ECECEC"/>
                </a:solidFill>
                <a:effectLst/>
                <a:latin typeface="Söhne"/>
              </a:rPr>
              <a:t>Computing</a:t>
            </a:r>
            <a:r>
              <a:rPr lang="fr-FR" b="0" i="0" dirty="0">
                <a:solidFill>
                  <a:srgbClr val="ECECEC"/>
                </a:solidFill>
                <a:effectLst/>
                <a:latin typeface="Söhne"/>
              </a:rPr>
              <a:t> has </a:t>
            </a:r>
            <a:r>
              <a:rPr lang="fr-FR" b="0" i="0" dirty="0" err="1">
                <a:solidFill>
                  <a:srgbClr val="ECECEC"/>
                </a:solidFill>
                <a:effectLst/>
                <a:latin typeface="Söhne"/>
              </a:rPr>
              <a:t>introduced</a:t>
            </a:r>
            <a:r>
              <a:rPr lang="fr-FR" b="0" i="0" dirty="0">
                <a:solidFill>
                  <a:srgbClr val="ECECEC"/>
                </a:solidFill>
                <a:effectLst/>
                <a:latin typeface="Söhne"/>
              </a:rPr>
              <a:t> Infrastructure as a Service (IaaS), Platform as a Service (PaaS), and Software as a Service (SaaS) </a:t>
            </a:r>
            <a:r>
              <a:rPr lang="fr-FR" b="0" i="0" dirty="0" err="1">
                <a:solidFill>
                  <a:srgbClr val="ECECEC"/>
                </a:solidFill>
                <a:effectLst/>
                <a:latin typeface="Söhne"/>
              </a:rPr>
              <a:t>offerings</a:t>
            </a:r>
            <a:r>
              <a:rPr lang="fr-FR" b="0" i="0" dirty="0">
                <a:solidFill>
                  <a:srgbClr val="ECECEC"/>
                </a:solidFill>
                <a:effectLst/>
                <a:latin typeface="Söhne"/>
              </a:rPr>
              <a:t>, </a:t>
            </a:r>
            <a:r>
              <a:rPr lang="fr-FR" b="0" i="0" dirty="0" err="1">
                <a:solidFill>
                  <a:srgbClr val="ECECEC"/>
                </a:solidFill>
                <a:effectLst/>
                <a:latin typeface="Söhne"/>
              </a:rPr>
              <a:t>providing</a:t>
            </a:r>
            <a:r>
              <a:rPr lang="fr-FR" b="0" i="0" dirty="0">
                <a:solidFill>
                  <a:srgbClr val="ECECEC"/>
                </a:solidFill>
                <a:effectLst/>
                <a:latin typeface="Söhne"/>
              </a:rPr>
              <a:t> </a:t>
            </a:r>
            <a:r>
              <a:rPr lang="fr-FR" b="0" i="0" dirty="0" err="1">
                <a:solidFill>
                  <a:srgbClr val="ECECEC"/>
                </a:solidFill>
                <a:effectLst/>
                <a:latin typeface="Söhne"/>
              </a:rPr>
              <a:t>increased</a:t>
            </a:r>
            <a:r>
              <a:rPr lang="fr-FR" b="0" i="0" dirty="0">
                <a:solidFill>
                  <a:srgbClr val="ECECEC"/>
                </a:solidFill>
                <a:effectLst/>
                <a:latin typeface="Söhne"/>
              </a:rPr>
              <a:t> </a:t>
            </a:r>
            <a:r>
              <a:rPr lang="fr-FR" b="0" i="0" dirty="0" err="1">
                <a:solidFill>
                  <a:srgbClr val="ECECEC"/>
                </a:solidFill>
                <a:effectLst/>
                <a:latin typeface="Söhne"/>
              </a:rPr>
              <a:t>scalability</a:t>
            </a:r>
            <a:r>
              <a:rPr lang="fr-FR" b="0" i="0" dirty="0">
                <a:solidFill>
                  <a:srgbClr val="ECECEC"/>
                </a:solidFill>
                <a:effectLst/>
                <a:latin typeface="Söhne"/>
              </a:rPr>
              <a:t> and agility.</a:t>
            </a:r>
          </a:p>
          <a:p>
            <a:pPr lvl="1"/>
            <a:r>
              <a:rPr lang="fr-FR" b="0" i="0" dirty="0" err="1">
                <a:solidFill>
                  <a:srgbClr val="ECECEC"/>
                </a:solidFill>
                <a:effectLst/>
                <a:latin typeface="Söhne"/>
              </a:rPr>
              <a:t>Deployment</a:t>
            </a:r>
            <a:r>
              <a:rPr lang="fr-FR" b="0" i="0" dirty="0">
                <a:solidFill>
                  <a:srgbClr val="ECECEC"/>
                </a:solidFill>
                <a:effectLst/>
                <a:latin typeface="Söhne"/>
              </a:rPr>
              <a:t> on </a:t>
            </a:r>
            <a:r>
              <a:rPr lang="fr-FR" b="0" i="0" dirty="0" err="1">
                <a:solidFill>
                  <a:srgbClr val="ECECEC"/>
                </a:solidFill>
                <a:effectLst/>
                <a:latin typeface="Söhne"/>
              </a:rPr>
              <a:t>virtual</a:t>
            </a:r>
            <a:r>
              <a:rPr lang="fr-FR" b="0" i="0" dirty="0">
                <a:solidFill>
                  <a:srgbClr val="ECECEC"/>
                </a:solidFill>
                <a:effectLst/>
                <a:latin typeface="Söhne"/>
              </a:rPr>
              <a:t> servers or Cloud services </a:t>
            </a:r>
            <a:r>
              <a:rPr lang="fr-FR" b="0" i="0" dirty="0" err="1">
                <a:solidFill>
                  <a:srgbClr val="ECECEC"/>
                </a:solidFill>
                <a:effectLst/>
                <a:latin typeface="Söhne"/>
              </a:rPr>
              <a:t>allows</a:t>
            </a:r>
            <a:r>
              <a:rPr lang="fr-FR" b="0" i="0" dirty="0">
                <a:solidFill>
                  <a:srgbClr val="ECECEC"/>
                </a:solidFill>
                <a:effectLst/>
                <a:latin typeface="Söhne"/>
              </a:rPr>
              <a:t> </a:t>
            </a:r>
            <a:r>
              <a:rPr lang="fr-FR" b="0" i="0" dirty="0" err="1">
                <a:solidFill>
                  <a:srgbClr val="ECECEC"/>
                </a:solidFill>
                <a:effectLst/>
                <a:latin typeface="Söhne"/>
              </a:rPr>
              <a:t>simplified</a:t>
            </a:r>
            <a:r>
              <a:rPr lang="fr-FR" b="0" i="0" dirty="0">
                <a:solidFill>
                  <a:srgbClr val="ECECEC"/>
                </a:solidFill>
                <a:effectLst/>
                <a:latin typeface="Söhne"/>
              </a:rPr>
              <a:t> management, on-</a:t>
            </a:r>
            <a:r>
              <a:rPr lang="fr-FR" b="0" i="0" dirty="0" err="1">
                <a:solidFill>
                  <a:srgbClr val="ECECEC"/>
                </a:solidFill>
                <a:effectLst/>
                <a:latin typeface="Söhne"/>
              </a:rPr>
              <a:t>demand</a:t>
            </a:r>
            <a:r>
              <a:rPr lang="fr-FR" b="0" i="0" dirty="0">
                <a:solidFill>
                  <a:srgbClr val="ECECEC"/>
                </a:solidFill>
                <a:effectLst/>
                <a:latin typeface="Söhne"/>
              </a:rPr>
              <a:t> </a:t>
            </a:r>
            <a:r>
              <a:rPr lang="fr-FR" b="0" i="0" dirty="0" err="1">
                <a:solidFill>
                  <a:srgbClr val="ECECEC"/>
                </a:solidFill>
                <a:effectLst/>
                <a:latin typeface="Söhne"/>
              </a:rPr>
              <a:t>scalability</a:t>
            </a:r>
            <a:r>
              <a:rPr lang="fr-FR" b="0" i="0" dirty="0">
                <a:solidFill>
                  <a:srgbClr val="ECECEC"/>
                </a:solidFill>
                <a:effectLst/>
                <a:latin typeface="Söhne"/>
              </a:rPr>
              <a:t>, and </a:t>
            </a:r>
            <a:r>
              <a:rPr lang="fr-FR" b="0" i="0" dirty="0" err="1">
                <a:solidFill>
                  <a:srgbClr val="ECECEC"/>
                </a:solidFill>
                <a:effectLst/>
                <a:latin typeface="Söhne"/>
              </a:rPr>
              <a:t>cost</a:t>
            </a:r>
            <a:r>
              <a:rPr lang="fr-FR" b="0" i="0" dirty="0">
                <a:solidFill>
                  <a:srgbClr val="ECECEC"/>
                </a:solidFill>
                <a:effectLst/>
                <a:latin typeface="Söhne"/>
              </a:rPr>
              <a:t> </a:t>
            </a:r>
            <a:r>
              <a:rPr lang="fr-FR" b="0" i="0" dirty="0" err="1">
                <a:solidFill>
                  <a:srgbClr val="ECECEC"/>
                </a:solidFill>
                <a:effectLst/>
                <a:latin typeface="Söhne"/>
              </a:rPr>
              <a:t>reduction</a:t>
            </a:r>
            <a:r>
              <a:rPr lang="fr-FR" b="0" i="0" dirty="0">
                <a:solidFill>
                  <a:srgbClr val="ECECEC"/>
                </a:solidFill>
                <a:effectLst/>
                <a:latin typeface="Söhne"/>
              </a:rPr>
              <a:t>.</a:t>
            </a:r>
          </a:p>
        </p:txBody>
      </p:sp>
    </p:spTree>
    <p:extLst>
      <p:ext uri="{BB962C8B-B14F-4D97-AF65-F5344CB8AC3E}">
        <p14:creationId xmlns:p14="http://schemas.microsoft.com/office/powerpoint/2010/main" val="2430261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Evolution of application </a:t>
            </a:r>
            <a:r>
              <a:rPr lang="fr-FR" sz="3200" dirty="0" err="1"/>
              <a:t>deployment</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1" i="0" dirty="0">
                <a:solidFill>
                  <a:srgbClr val="ECECEC"/>
                </a:solidFill>
                <a:effectLst/>
                <a:latin typeface="Söhne"/>
              </a:rPr>
              <a:t>The </a:t>
            </a:r>
            <a:r>
              <a:rPr lang="fr-FR" b="1" i="0" dirty="0" err="1">
                <a:solidFill>
                  <a:srgbClr val="ECECEC"/>
                </a:solidFill>
                <a:effectLst/>
                <a:latin typeface="Söhne"/>
              </a:rPr>
              <a:t>Era</a:t>
            </a:r>
            <a:r>
              <a:rPr lang="fr-FR" b="1" i="0" dirty="0">
                <a:solidFill>
                  <a:srgbClr val="ECECEC"/>
                </a:solidFill>
                <a:effectLst/>
                <a:latin typeface="Söhne"/>
              </a:rPr>
              <a:t> of </a:t>
            </a:r>
            <a:r>
              <a:rPr lang="fr-FR" b="1" i="0" dirty="0" err="1">
                <a:solidFill>
                  <a:srgbClr val="ECECEC"/>
                </a:solidFill>
                <a:effectLst/>
                <a:latin typeface="Söhne"/>
              </a:rPr>
              <a:t>Containerization</a:t>
            </a:r>
            <a:r>
              <a:rPr lang="fr-FR" b="1" i="0" dirty="0">
                <a:solidFill>
                  <a:srgbClr val="ECECEC"/>
                </a:solidFill>
                <a:effectLst/>
                <a:latin typeface="Söhne"/>
              </a:rPr>
              <a:t> and Orchestration:</a:t>
            </a:r>
          </a:p>
          <a:p>
            <a:pPr lvl="1"/>
            <a:r>
              <a:rPr lang="fr-FR" b="0" i="0" dirty="0" err="1">
                <a:solidFill>
                  <a:srgbClr val="ECECEC"/>
                </a:solidFill>
                <a:effectLst/>
                <a:latin typeface="Söhne"/>
              </a:rPr>
              <a:t>Containerization</a:t>
            </a:r>
            <a:r>
              <a:rPr lang="fr-FR" b="0" i="0" dirty="0">
                <a:solidFill>
                  <a:srgbClr val="ECECEC"/>
                </a:solidFill>
                <a:effectLst/>
                <a:latin typeface="Söhne"/>
              </a:rPr>
              <a:t> </a:t>
            </a:r>
            <a:r>
              <a:rPr lang="fr-FR" b="0" i="0" dirty="0" err="1">
                <a:solidFill>
                  <a:srgbClr val="ECECEC"/>
                </a:solidFill>
                <a:effectLst/>
                <a:latin typeface="Söhne"/>
              </a:rPr>
              <a:t>with</a:t>
            </a:r>
            <a:r>
              <a:rPr lang="fr-FR" b="0" i="0" dirty="0">
                <a:solidFill>
                  <a:srgbClr val="ECECEC"/>
                </a:solidFill>
                <a:effectLst/>
                <a:latin typeface="Söhne"/>
              </a:rPr>
              <a:t> </a:t>
            </a:r>
            <a:r>
              <a:rPr lang="fr-FR" b="0" i="0" dirty="0" err="1">
                <a:solidFill>
                  <a:srgbClr val="ECECEC"/>
                </a:solidFill>
                <a:effectLst/>
                <a:latin typeface="Söhne"/>
              </a:rPr>
              <a:t>tools</a:t>
            </a:r>
            <a:r>
              <a:rPr lang="fr-FR" b="0" i="0" dirty="0">
                <a:solidFill>
                  <a:srgbClr val="ECECEC"/>
                </a:solidFill>
                <a:effectLst/>
                <a:latin typeface="Söhne"/>
              </a:rPr>
              <a:t> like Docker has </a:t>
            </a:r>
            <a:r>
              <a:rPr lang="fr-FR" b="0" i="0" dirty="0" err="1">
                <a:solidFill>
                  <a:srgbClr val="ECECEC"/>
                </a:solidFill>
                <a:effectLst/>
                <a:latin typeface="Söhne"/>
              </a:rPr>
              <a:t>introduced</a:t>
            </a:r>
            <a:r>
              <a:rPr lang="fr-FR" b="0" i="0" dirty="0">
                <a:solidFill>
                  <a:srgbClr val="ECECEC"/>
                </a:solidFill>
                <a:effectLst/>
                <a:latin typeface="Söhne"/>
              </a:rPr>
              <a:t> </a:t>
            </a:r>
            <a:r>
              <a:rPr lang="fr-FR" b="0" i="0" dirty="0" err="1">
                <a:solidFill>
                  <a:srgbClr val="ECECEC"/>
                </a:solidFill>
                <a:effectLst/>
                <a:latin typeface="Söhne"/>
              </a:rPr>
              <a:t>lightweight</a:t>
            </a:r>
            <a:r>
              <a:rPr lang="fr-FR" b="0" i="0" dirty="0">
                <a:solidFill>
                  <a:srgbClr val="ECECEC"/>
                </a:solidFill>
                <a:effectLst/>
                <a:latin typeface="Söhne"/>
              </a:rPr>
              <a:t> and portable </a:t>
            </a:r>
            <a:r>
              <a:rPr lang="fr-FR" b="0" i="0" dirty="0" err="1">
                <a:solidFill>
                  <a:srgbClr val="ECECEC"/>
                </a:solidFill>
                <a:effectLst/>
                <a:latin typeface="Söhne"/>
              </a:rPr>
              <a:t>environments</a:t>
            </a:r>
            <a:r>
              <a:rPr lang="fr-FR" b="0" i="0" dirty="0">
                <a:solidFill>
                  <a:srgbClr val="ECECEC"/>
                </a:solidFill>
                <a:effectLst/>
                <a:latin typeface="Söhne"/>
              </a:rPr>
              <a:t> for running applications.</a:t>
            </a:r>
          </a:p>
          <a:p>
            <a:pPr lvl="1"/>
            <a:r>
              <a:rPr lang="fr-FR" b="0" i="0" dirty="0" err="1">
                <a:solidFill>
                  <a:srgbClr val="ECECEC"/>
                </a:solidFill>
                <a:effectLst/>
                <a:latin typeface="Söhne"/>
              </a:rPr>
              <a:t>Kubernetes</a:t>
            </a:r>
            <a:r>
              <a:rPr lang="fr-FR" b="0" i="0" dirty="0">
                <a:solidFill>
                  <a:srgbClr val="ECECEC"/>
                </a:solidFill>
                <a:effectLst/>
                <a:latin typeface="Söhne"/>
              </a:rPr>
              <a:t> has </a:t>
            </a:r>
            <a:r>
              <a:rPr lang="fr-FR" b="0" i="0" dirty="0" err="1">
                <a:solidFill>
                  <a:srgbClr val="ECECEC"/>
                </a:solidFill>
                <a:effectLst/>
                <a:latin typeface="Söhne"/>
              </a:rPr>
              <a:t>become</a:t>
            </a:r>
            <a:r>
              <a:rPr lang="fr-FR" b="0" i="0" dirty="0">
                <a:solidFill>
                  <a:srgbClr val="ECECEC"/>
                </a:solidFill>
                <a:effectLst/>
                <a:latin typeface="Söhne"/>
              </a:rPr>
              <a:t> the de facto leader in container orchestration, </a:t>
            </a:r>
            <a:r>
              <a:rPr lang="fr-FR" b="0" i="0" dirty="0" err="1">
                <a:solidFill>
                  <a:srgbClr val="ECECEC"/>
                </a:solidFill>
                <a:effectLst/>
                <a:latin typeface="Söhne"/>
              </a:rPr>
              <a:t>enabling</a:t>
            </a:r>
            <a:r>
              <a:rPr lang="fr-FR" b="0" i="0" dirty="0">
                <a:solidFill>
                  <a:srgbClr val="ECECEC"/>
                </a:solidFill>
                <a:effectLst/>
                <a:latin typeface="Söhne"/>
              </a:rPr>
              <a:t> </a:t>
            </a:r>
            <a:r>
              <a:rPr lang="fr-FR" b="0" i="0" dirty="0" err="1">
                <a:solidFill>
                  <a:srgbClr val="ECECEC"/>
                </a:solidFill>
                <a:effectLst/>
                <a:latin typeface="Söhne"/>
              </a:rPr>
              <a:t>automated</a:t>
            </a:r>
            <a:r>
              <a:rPr lang="fr-FR" b="0" i="0" dirty="0">
                <a:solidFill>
                  <a:srgbClr val="ECECEC"/>
                </a:solidFill>
                <a:effectLst/>
                <a:latin typeface="Söhne"/>
              </a:rPr>
              <a:t>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 and management of </a:t>
            </a:r>
            <a:r>
              <a:rPr lang="fr-FR" b="0" i="0" dirty="0" err="1">
                <a:solidFill>
                  <a:srgbClr val="ECECEC"/>
                </a:solidFill>
                <a:effectLst/>
                <a:latin typeface="Söhne"/>
              </a:rPr>
              <a:t>containerized</a:t>
            </a:r>
            <a:r>
              <a:rPr lang="fr-FR" b="0" i="0" dirty="0">
                <a:solidFill>
                  <a:srgbClr val="ECECEC"/>
                </a:solidFill>
                <a:effectLst/>
                <a:latin typeface="Söhne"/>
              </a:rPr>
              <a:t> applications.</a:t>
            </a:r>
          </a:p>
          <a:p>
            <a:pPr lvl="1"/>
            <a:r>
              <a:rPr lang="fr-FR" b="0" i="0" dirty="0">
                <a:solidFill>
                  <a:srgbClr val="ECECEC"/>
                </a:solidFill>
                <a:effectLst/>
                <a:latin typeface="Söhne"/>
              </a:rPr>
              <a:t>Simplification of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reduction</a:t>
            </a:r>
            <a:r>
              <a:rPr lang="fr-FR" b="0" i="0" dirty="0">
                <a:solidFill>
                  <a:srgbClr val="ECECEC"/>
                </a:solidFill>
                <a:effectLst/>
                <a:latin typeface="Söhne"/>
              </a:rPr>
              <a:t> of </a:t>
            </a:r>
            <a:r>
              <a:rPr lang="fr-FR" b="0" i="0" dirty="0" err="1">
                <a:solidFill>
                  <a:srgbClr val="ECECEC"/>
                </a:solidFill>
                <a:effectLst/>
                <a:latin typeface="Söhne"/>
              </a:rPr>
              <a:t>dependencies</a:t>
            </a:r>
            <a:r>
              <a:rPr lang="fr-FR" b="0" i="0" dirty="0">
                <a:solidFill>
                  <a:srgbClr val="ECECEC"/>
                </a:solidFill>
                <a:effectLst/>
                <a:latin typeface="Söhne"/>
              </a:rPr>
              <a:t> and </a:t>
            </a:r>
            <a:r>
              <a:rPr lang="fr-FR" b="0" i="0" dirty="0" err="1">
                <a:solidFill>
                  <a:srgbClr val="ECECEC"/>
                </a:solidFill>
                <a:effectLst/>
                <a:latin typeface="Söhne"/>
              </a:rPr>
              <a:t>conflicts</a:t>
            </a:r>
            <a:r>
              <a:rPr lang="fr-FR" b="0" i="0" dirty="0">
                <a:solidFill>
                  <a:srgbClr val="ECECEC"/>
                </a:solidFill>
                <a:effectLst/>
                <a:latin typeface="Söhne"/>
              </a:rPr>
              <a:t>, and </a:t>
            </a:r>
            <a:r>
              <a:rPr lang="fr-FR" b="0" i="0" dirty="0" err="1">
                <a:solidFill>
                  <a:srgbClr val="ECECEC"/>
                </a:solidFill>
                <a:effectLst/>
                <a:latin typeface="Söhne"/>
              </a:rPr>
              <a:t>acceleration</a:t>
            </a:r>
            <a:r>
              <a:rPr lang="fr-FR" b="0" i="0" dirty="0">
                <a:solidFill>
                  <a:srgbClr val="ECECEC"/>
                </a:solidFill>
                <a:effectLst/>
                <a:latin typeface="Söhne"/>
              </a:rPr>
              <a:t> of </a:t>
            </a:r>
            <a:r>
              <a:rPr lang="fr-FR" b="0" i="0" dirty="0" err="1">
                <a:solidFill>
                  <a:srgbClr val="ECECEC"/>
                </a:solidFill>
                <a:effectLst/>
                <a:latin typeface="Söhne"/>
              </a:rPr>
              <a:t>development</a:t>
            </a:r>
            <a:r>
              <a:rPr lang="fr-FR" b="0" i="0" dirty="0">
                <a:solidFill>
                  <a:srgbClr val="ECECEC"/>
                </a:solidFill>
                <a:effectLst/>
                <a:latin typeface="Söhne"/>
              </a:rPr>
              <a:t> cycles </a:t>
            </a:r>
            <a:r>
              <a:rPr lang="fr-FR" b="0" i="0" dirty="0" err="1">
                <a:solidFill>
                  <a:srgbClr val="ECECEC"/>
                </a:solidFill>
                <a:effectLst/>
                <a:latin typeface="Söhne"/>
              </a:rPr>
              <a:t>through</a:t>
            </a:r>
            <a:r>
              <a:rPr lang="fr-FR" b="0" i="0" dirty="0">
                <a:solidFill>
                  <a:srgbClr val="ECECEC"/>
                </a:solidFill>
                <a:effectLst/>
                <a:latin typeface="Söhne"/>
              </a:rPr>
              <a:t> automation.</a:t>
            </a:r>
          </a:p>
        </p:txBody>
      </p:sp>
    </p:spTree>
    <p:extLst>
      <p:ext uri="{BB962C8B-B14F-4D97-AF65-F5344CB8AC3E}">
        <p14:creationId xmlns:p14="http://schemas.microsoft.com/office/powerpoint/2010/main" val="97439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Evolution of application </a:t>
            </a:r>
            <a:r>
              <a:rPr lang="fr-FR" sz="3200" dirty="0" err="1"/>
              <a:t>deployment</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1" i="0" dirty="0">
                <a:solidFill>
                  <a:srgbClr val="ECECEC"/>
                </a:solidFill>
                <a:effectLst/>
                <a:latin typeface="Söhne"/>
              </a:rPr>
              <a:t>The Emergence of </a:t>
            </a:r>
            <a:r>
              <a:rPr lang="fr-FR" b="1" i="0" dirty="0" err="1">
                <a:solidFill>
                  <a:srgbClr val="ECECEC"/>
                </a:solidFill>
                <a:effectLst/>
                <a:latin typeface="Söhne"/>
              </a:rPr>
              <a:t>Serverless</a:t>
            </a:r>
            <a:r>
              <a:rPr lang="fr-FR" b="1" i="0" dirty="0">
                <a:solidFill>
                  <a:srgbClr val="ECECEC"/>
                </a:solidFill>
                <a:effectLst/>
                <a:latin typeface="Söhne"/>
              </a:rPr>
              <a:t> </a:t>
            </a:r>
            <a:r>
              <a:rPr lang="fr-FR" b="1" i="0" dirty="0" err="1">
                <a:solidFill>
                  <a:srgbClr val="ECECEC"/>
                </a:solidFill>
                <a:effectLst/>
                <a:latin typeface="Söhne"/>
              </a:rPr>
              <a:t>Computing</a:t>
            </a:r>
            <a:r>
              <a:rPr lang="fr-FR" b="1" i="0" dirty="0">
                <a:solidFill>
                  <a:srgbClr val="ECECEC"/>
                </a:solidFill>
                <a:effectLst/>
                <a:latin typeface="Söhne"/>
              </a:rPr>
              <a:t>:</a:t>
            </a:r>
          </a:p>
          <a:p>
            <a:pPr lvl="1"/>
            <a:r>
              <a:rPr lang="fr-FR" b="0" i="0" dirty="0" err="1">
                <a:solidFill>
                  <a:srgbClr val="ECECEC"/>
                </a:solidFill>
                <a:effectLst/>
                <a:latin typeface="Söhne"/>
              </a:rPr>
              <a:t>Serverless</a:t>
            </a:r>
            <a:r>
              <a:rPr lang="fr-FR" b="0" i="0" dirty="0">
                <a:solidFill>
                  <a:srgbClr val="ECECEC"/>
                </a:solidFill>
                <a:effectLst/>
                <a:latin typeface="Söhne"/>
              </a:rPr>
              <a:t> </a:t>
            </a:r>
            <a:r>
              <a:rPr lang="fr-FR" b="0" i="0" dirty="0" err="1">
                <a:solidFill>
                  <a:srgbClr val="ECECEC"/>
                </a:solidFill>
                <a:effectLst/>
                <a:latin typeface="Söhne"/>
              </a:rPr>
              <a:t>Computing</a:t>
            </a:r>
            <a:r>
              <a:rPr lang="fr-FR" b="0" i="0" dirty="0">
                <a:solidFill>
                  <a:srgbClr val="ECECEC"/>
                </a:solidFill>
                <a:effectLst/>
                <a:latin typeface="Söhne"/>
              </a:rPr>
              <a:t>, </a:t>
            </a:r>
            <a:r>
              <a:rPr lang="fr-FR" b="0" i="0" dirty="0" err="1">
                <a:solidFill>
                  <a:srgbClr val="ECECEC"/>
                </a:solidFill>
                <a:effectLst/>
                <a:latin typeface="Söhne"/>
              </a:rPr>
              <a:t>also</a:t>
            </a:r>
            <a:r>
              <a:rPr lang="fr-FR" b="0" i="0" dirty="0">
                <a:solidFill>
                  <a:srgbClr val="ECECEC"/>
                </a:solidFill>
                <a:effectLst/>
                <a:latin typeface="Söhne"/>
              </a:rPr>
              <a:t> </a:t>
            </a:r>
            <a:r>
              <a:rPr lang="fr-FR" b="0" i="0" dirty="0" err="1">
                <a:solidFill>
                  <a:srgbClr val="ECECEC"/>
                </a:solidFill>
                <a:effectLst/>
                <a:latin typeface="Söhne"/>
              </a:rPr>
              <a:t>known</a:t>
            </a:r>
            <a:r>
              <a:rPr lang="fr-FR" b="0" i="0" dirty="0">
                <a:solidFill>
                  <a:srgbClr val="ECECEC"/>
                </a:solidFill>
                <a:effectLst/>
                <a:latin typeface="Söhne"/>
              </a:rPr>
              <a:t> as </a:t>
            </a:r>
            <a:r>
              <a:rPr lang="fr-FR" b="0" i="0" dirty="0" err="1">
                <a:solidFill>
                  <a:srgbClr val="ECECEC"/>
                </a:solidFill>
                <a:effectLst/>
                <a:latin typeface="Söhne"/>
              </a:rPr>
              <a:t>Functions</a:t>
            </a:r>
            <a:r>
              <a:rPr lang="fr-FR" b="0" i="0" dirty="0">
                <a:solidFill>
                  <a:srgbClr val="ECECEC"/>
                </a:solidFill>
                <a:effectLst/>
                <a:latin typeface="Söhne"/>
              </a:rPr>
              <a:t>-as-a-Service (FaaS), </a:t>
            </a:r>
            <a:r>
              <a:rPr lang="fr-FR" b="0" i="0" dirty="0" err="1">
                <a:solidFill>
                  <a:srgbClr val="ECECEC"/>
                </a:solidFill>
                <a:effectLst/>
                <a:latin typeface="Söhne"/>
              </a:rPr>
              <a:t>allows</a:t>
            </a:r>
            <a:r>
              <a:rPr lang="fr-FR" b="0" i="0" dirty="0">
                <a:solidFill>
                  <a:srgbClr val="ECECEC"/>
                </a:solidFill>
                <a:effectLst/>
                <a:latin typeface="Söhne"/>
              </a:rPr>
              <a:t> running code </a:t>
            </a:r>
            <a:r>
              <a:rPr lang="fr-FR" b="0" i="0" dirty="0" err="1">
                <a:solidFill>
                  <a:srgbClr val="ECECEC"/>
                </a:solidFill>
                <a:effectLst/>
                <a:latin typeface="Söhne"/>
              </a:rPr>
              <a:t>without</a:t>
            </a:r>
            <a:r>
              <a:rPr lang="fr-FR" b="0" i="0" dirty="0">
                <a:solidFill>
                  <a:srgbClr val="ECECEC"/>
                </a:solidFill>
                <a:effectLst/>
                <a:latin typeface="Söhne"/>
              </a:rPr>
              <a:t> </a:t>
            </a:r>
            <a:r>
              <a:rPr lang="fr-FR" b="0" i="0" dirty="0" err="1">
                <a:solidFill>
                  <a:srgbClr val="ECECEC"/>
                </a:solidFill>
                <a:effectLst/>
                <a:latin typeface="Söhne"/>
              </a:rPr>
              <a:t>managing</a:t>
            </a:r>
            <a:r>
              <a:rPr lang="fr-FR" b="0" i="0" dirty="0">
                <a:solidFill>
                  <a:srgbClr val="ECECEC"/>
                </a:solidFill>
                <a:effectLst/>
                <a:latin typeface="Söhne"/>
              </a:rPr>
              <a:t> the </a:t>
            </a:r>
            <a:r>
              <a:rPr lang="fr-FR" b="0" i="0" dirty="0" err="1">
                <a:solidFill>
                  <a:srgbClr val="ECECEC"/>
                </a:solidFill>
                <a:effectLst/>
                <a:latin typeface="Söhne"/>
              </a:rPr>
              <a:t>underlying</a:t>
            </a:r>
            <a:r>
              <a:rPr lang="fr-FR" b="0" i="0" dirty="0">
                <a:solidFill>
                  <a:srgbClr val="ECECEC"/>
                </a:solidFill>
                <a:effectLst/>
                <a:latin typeface="Söhne"/>
              </a:rPr>
              <a:t> infrastructure.</a:t>
            </a:r>
          </a:p>
          <a:p>
            <a:pPr lvl="1"/>
            <a:r>
              <a:rPr lang="fr-FR" b="0" i="0" dirty="0">
                <a:solidFill>
                  <a:srgbClr val="ECECEC"/>
                </a:solidFill>
                <a:effectLst/>
                <a:latin typeface="Söhne"/>
              </a:rPr>
              <a:t>Cloud providers </a:t>
            </a:r>
            <a:r>
              <a:rPr lang="fr-FR" b="0" i="0" dirty="0" err="1">
                <a:solidFill>
                  <a:srgbClr val="ECECEC"/>
                </a:solidFill>
                <a:effectLst/>
                <a:latin typeface="Söhne"/>
              </a:rPr>
              <a:t>offer</a:t>
            </a:r>
            <a:r>
              <a:rPr lang="fr-FR" b="0" i="0" dirty="0">
                <a:solidFill>
                  <a:srgbClr val="ECECEC"/>
                </a:solidFill>
                <a:effectLst/>
                <a:latin typeface="Söhne"/>
              </a:rPr>
              <a:t> </a:t>
            </a:r>
            <a:r>
              <a:rPr lang="fr-FR" b="0" i="0" dirty="0" err="1">
                <a:solidFill>
                  <a:srgbClr val="ECECEC"/>
                </a:solidFill>
                <a:effectLst/>
                <a:latin typeface="Söhne"/>
              </a:rPr>
              <a:t>Serverless</a:t>
            </a:r>
            <a:r>
              <a:rPr lang="fr-FR" b="0" i="0" dirty="0">
                <a:solidFill>
                  <a:srgbClr val="ECECEC"/>
                </a:solidFill>
                <a:effectLst/>
                <a:latin typeface="Söhne"/>
              </a:rPr>
              <a:t> platforms </a:t>
            </a:r>
            <a:r>
              <a:rPr lang="fr-FR" b="0" i="0" dirty="0" err="1">
                <a:solidFill>
                  <a:srgbClr val="ECECEC"/>
                </a:solidFill>
                <a:effectLst/>
                <a:latin typeface="Söhne"/>
              </a:rPr>
              <a:t>such</a:t>
            </a:r>
            <a:r>
              <a:rPr lang="fr-FR" b="0" i="0" dirty="0">
                <a:solidFill>
                  <a:srgbClr val="ECECEC"/>
                </a:solidFill>
                <a:effectLst/>
                <a:latin typeface="Söhne"/>
              </a:rPr>
              <a:t> as AWS Lambda, Google Cloud </a:t>
            </a:r>
            <a:r>
              <a:rPr lang="fr-FR" b="0" i="0" dirty="0" err="1">
                <a:solidFill>
                  <a:srgbClr val="ECECEC"/>
                </a:solidFill>
                <a:effectLst/>
                <a:latin typeface="Söhne"/>
              </a:rPr>
              <a:t>Functions</a:t>
            </a:r>
            <a:r>
              <a:rPr lang="fr-FR" b="0" i="0" dirty="0">
                <a:solidFill>
                  <a:srgbClr val="ECECEC"/>
                </a:solidFill>
                <a:effectLst/>
                <a:latin typeface="Söhne"/>
              </a:rPr>
              <a:t>, and Azure </a:t>
            </a:r>
            <a:r>
              <a:rPr lang="fr-FR" b="0" i="0" dirty="0" err="1">
                <a:solidFill>
                  <a:srgbClr val="ECECEC"/>
                </a:solidFill>
                <a:effectLst/>
                <a:latin typeface="Söhne"/>
              </a:rPr>
              <a:t>Functions</a:t>
            </a:r>
            <a:r>
              <a:rPr lang="fr-FR" b="0" i="0" dirty="0">
                <a:solidFill>
                  <a:srgbClr val="ECECEC"/>
                </a:solidFill>
                <a:effectLst/>
                <a:latin typeface="Söhne"/>
              </a:rPr>
              <a:t>.</a:t>
            </a:r>
          </a:p>
          <a:p>
            <a:pPr lvl="1"/>
            <a:r>
              <a:rPr lang="fr-FR" b="0" i="0" dirty="0">
                <a:solidFill>
                  <a:srgbClr val="ECECEC"/>
                </a:solidFill>
                <a:effectLst/>
                <a:latin typeface="Söhne"/>
              </a:rPr>
              <a:t>Rapid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automatic</a:t>
            </a:r>
            <a:r>
              <a:rPr lang="fr-FR" b="0" i="0" dirty="0">
                <a:solidFill>
                  <a:srgbClr val="ECECEC"/>
                </a:solidFill>
                <a:effectLst/>
                <a:latin typeface="Söhne"/>
              </a:rPr>
              <a:t> </a:t>
            </a:r>
            <a:r>
              <a:rPr lang="fr-FR" b="0" i="0" dirty="0" err="1">
                <a:solidFill>
                  <a:srgbClr val="ECECEC"/>
                </a:solidFill>
                <a:effectLst/>
                <a:latin typeface="Söhne"/>
              </a:rPr>
              <a:t>scalability</a:t>
            </a:r>
            <a:r>
              <a:rPr lang="fr-FR" b="0" i="0" dirty="0">
                <a:solidFill>
                  <a:srgbClr val="ECECEC"/>
                </a:solidFill>
                <a:effectLst/>
                <a:latin typeface="Söhne"/>
              </a:rPr>
              <a:t>, </a:t>
            </a:r>
            <a:r>
              <a:rPr lang="fr-FR" b="0" i="0" dirty="0" err="1">
                <a:solidFill>
                  <a:srgbClr val="ECECEC"/>
                </a:solidFill>
                <a:effectLst/>
                <a:latin typeface="Söhne"/>
              </a:rPr>
              <a:t>pay</a:t>
            </a:r>
            <a:r>
              <a:rPr lang="fr-FR" b="0" i="0" dirty="0">
                <a:solidFill>
                  <a:srgbClr val="ECECEC"/>
                </a:solidFill>
                <a:effectLst/>
                <a:latin typeface="Söhne"/>
              </a:rPr>
              <a:t>-per-use </a:t>
            </a:r>
            <a:r>
              <a:rPr lang="fr-FR" b="0" i="0" dirty="0" err="1">
                <a:solidFill>
                  <a:srgbClr val="ECECEC"/>
                </a:solidFill>
                <a:effectLst/>
                <a:latin typeface="Söhne"/>
              </a:rPr>
              <a:t>billing</a:t>
            </a:r>
            <a:r>
              <a:rPr lang="fr-FR" b="0" i="0" dirty="0">
                <a:solidFill>
                  <a:srgbClr val="ECECEC"/>
                </a:solidFill>
                <a:effectLst/>
                <a:latin typeface="Söhne"/>
              </a:rPr>
              <a:t>, </a:t>
            </a:r>
            <a:r>
              <a:rPr lang="fr-FR" b="0" i="0" dirty="0" err="1">
                <a:solidFill>
                  <a:srgbClr val="ECECEC"/>
                </a:solidFill>
                <a:effectLst/>
                <a:latin typeface="Söhne"/>
              </a:rPr>
              <a:t>ideal</a:t>
            </a:r>
            <a:r>
              <a:rPr lang="fr-FR" b="0" i="0" dirty="0">
                <a:solidFill>
                  <a:srgbClr val="ECECEC"/>
                </a:solidFill>
                <a:effectLst/>
                <a:latin typeface="Söhne"/>
              </a:rPr>
              <a:t> for on-</a:t>
            </a:r>
            <a:r>
              <a:rPr lang="fr-FR" b="0" i="0" dirty="0" err="1">
                <a:solidFill>
                  <a:srgbClr val="ECECEC"/>
                </a:solidFill>
                <a:effectLst/>
                <a:latin typeface="Söhne"/>
              </a:rPr>
              <a:t>demand</a:t>
            </a:r>
            <a:r>
              <a:rPr lang="fr-FR" b="0" i="0" dirty="0">
                <a:solidFill>
                  <a:srgbClr val="ECECEC"/>
                </a:solidFill>
                <a:effectLst/>
                <a:latin typeface="Söhne"/>
              </a:rPr>
              <a:t> </a:t>
            </a:r>
            <a:r>
              <a:rPr lang="fr-FR" b="0" i="0" dirty="0" err="1">
                <a:solidFill>
                  <a:srgbClr val="ECECEC"/>
                </a:solidFill>
                <a:effectLst/>
                <a:latin typeface="Söhne"/>
              </a:rPr>
              <a:t>workloads</a:t>
            </a:r>
            <a:r>
              <a:rPr lang="fr-FR" b="0" i="0" dirty="0">
                <a:solidFill>
                  <a:srgbClr val="ECECEC"/>
                </a:solidFill>
                <a:effectLst/>
                <a:latin typeface="Söhne"/>
              </a:rPr>
              <a:t> and </a:t>
            </a:r>
            <a:r>
              <a:rPr lang="fr-FR" b="0" i="0" dirty="0" err="1">
                <a:solidFill>
                  <a:srgbClr val="ECECEC"/>
                </a:solidFill>
                <a:effectLst/>
                <a:latin typeface="Söhne"/>
              </a:rPr>
              <a:t>event-driven</a:t>
            </a:r>
            <a:r>
              <a:rPr lang="fr-FR" b="0" i="0" dirty="0">
                <a:solidFill>
                  <a:srgbClr val="ECECEC"/>
                </a:solidFill>
                <a:effectLst/>
                <a:latin typeface="Söhne"/>
              </a:rPr>
              <a:t> applications.</a:t>
            </a:r>
          </a:p>
          <a:p>
            <a:pPr lvl="1"/>
            <a:r>
              <a:rPr lang="fr-FR" b="0" i="0" dirty="0">
                <a:solidFill>
                  <a:srgbClr val="ECECEC"/>
                </a:solidFill>
                <a:effectLst/>
                <a:latin typeface="Söhne"/>
              </a:rPr>
              <a:t>In practice, </a:t>
            </a:r>
            <a:r>
              <a:rPr lang="fr-FR" b="0" i="0" dirty="0" err="1">
                <a:solidFill>
                  <a:srgbClr val="ECECEC"/>
                </a:solidFill>
                <a:effectLst/>
                <a:latin typeface="Söhne"/>
              </a:rPr>
              <a:t>it's</a:t>
            </a:r>
            <a:r>
              <a:rPr lang="fr-FR" b="0" i="0" dirty="0">
                <a:solidFill>
                  <a:srgbClr val="ECECEC"/>
                </a:solidFill>
                <a:effectLst/>
                <a:latin typeface="Söhne"/>
              </a:rPr>
              <a:t> a Python or JS </a:t>
            </a:r>
            <a:r>
              <a:rPr lang="fr-FR" b="0" i="0" dirty="0" err="1">
                <a:solidFill>
                  <a:srgbClr val="ECECEC"/>
                </a:solidFill>
                <a:effectLst/>
                <a:latin typeface="Söhne"/>
              </a:rPr>
              <a:t>function</a:t>
            </a:r>
            <a:r>
              <a:rPr lang="fr-FR" b="0" i="0" dirty="0">
                <a:solidFill>
                  <a:srgbClr val="ECECEC"/>
                </a:solidFill>
                <a:effectLst/>
                <a:latin typeface="Söhne"/>
              </a:rPr>
              <a:t>, for </a:t>
            </a:r>
            <a:r>
              <a:rPr lang="fr-FR" b="0" i="0" dirty="0" err="1">
                <a:solidFill>
                  <a:srgbClr val="ECECEC"/>
                </a:solidFill>
                <a:effectLst/>
                <a:latin typeface="Söhne"/>
              </a:rPr>
              <a:t>example</a:t>
            </a:r>
            <a:r>
              <a:rPr lang="fr-FR" b="0" i="0" dirty="0">
                <a:solidFill>
                  <a:srgbClr val="ECECEC"/>
                </a:solidFill>
                <a:effectLst/>
                <a:latin typeface="Söhne"/>
              </a:rPr>
              <a:t>,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applies</a:t>
            </a:r>
            <a:r>
              <a:rPr lang="fr-FR" b="0" i="0" dirty="0">
                <a:solidFill>
                  <a:srgbClr val="ECECEC"/>
                </a:solidFill>
                <a:effectLst/>
                <a:latin typeface="Söhne"/>
              </a:rPr>
              <a:t> </a:t>
            </a:r>
            <a:r>
              <a:rPr lang="fr-FR" b="0" i="0" dirty="0" err="1">
                <a:solidFill>
                  <a:srgbClr val="ECECEC"/>
                </a:solidFill>
                <a:effectLst/>
                <a:latin typeface="Söhne"/>
              </a:rPr>
              <a:t>processing</a:t>
            </a:r>
            <a:r>
              <a:rPr lang="fr-FR" b="0" i="0" dirty="0">
                <a:solidFill>
                  <a:srgbClr val="ECECEC"/>
                </a:solidFill>
                <a:effectLst/>
                <a:latin typeface="Söhne"/>
              </a:rPr>
              <a:t> to </a:t>
            </a:r>
            <a:r>
              <a:rPr lang="fr-FR" b="0" i="0" dirty="0" err="1">
                <a:solidFill>
                  <a:srgbClr val="ECECEC"/>
                </a:solidFill>
                <a:effectLst/>
                <a:latin typeface="Söhne"/>
              </a:rPr>
              <a:t>something</a:t>
            </a:r>
            <a:r>
              <a:rPr lang="fr-FR" b="0" i="0" dirty="0">
                <a:solidFill>
                  <a:srgbClr val="ECECEC"/>
                </a:solidFill>
                <a:effectLst/>
                <a:latin typeface="Söhne"/>
              </a:rPr>
              <a:t>. This </a:t>
            </a:r>
            <a:r>
              <a:rPr lang="fr-FR" b="0" i="0" dirty="0" err="1">
                <a:solidFill>
                  <a:srgbClr val="ECECEC"/>
                </a:solidFill>
                <a:effectLst/>
                <a:latin typeface="Söhne"/>
              </a:rPr>
              <a:t>processing</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triggered</a:t>
            </a:r>
            <a:r>
              <a:rPr lang="fr-FR" b="0" i="0" dirty="0">
                <a:solidFill>
                  <a:srgbClr val="ECECEC"/>
                </a:solidFill>
                <a:effectLst/>
                <a:latin typeface="Söhne"/>
              </a:rPr>
              <a:t> by a trigger (an </a:t>
            </a:r>
            <a:r>
              <a:rPr lang="fr-FR" b="0" i="0" dirty="0" err="1">
                <a:solidFill>
                  <a:srgbClr val="ECECEC"/>
                </a:solidFill>
                <a:effectLst/>
                <a:latin typeface="Söhne"/>
              </a:rPr>
              <a:t>event</a:t>
            </a:r>
            <a:r>
              <a:rPr lang="fr-FR" b="0" i="0" dirty="0">
                <a:solidFill>
                  <a:srgbClr val="ECECEC"/>
                </a:solidFill>
                <a:effectLst/>
                <a:latin typeface="Söhne"/>
              </a:rPr>
              <a:t>: file </a:t>
            </a:r>
            <a:r>
              <a:rPr lang="fr-FR" b="0" i="0" dirty="0" err="1">
                <a:solidFill>
                  <a:srgbClr val="ECECEC"/>
                </a:solidFill>
                <a:effectLst/>
                <a:latin typeface="Söhne"/>
              </a:rPr>
              <a:t>upload</a:t>
            </a:r>
            <a:r>
              <a:rPr lang="fr-FR" b="0" i="0" dirty="0">
                <a:solidFill>
                  <a:srgbClr val="ECECEC"/>
                </a:solidFill>
                <a:effectLst/>
                <a:latin typeface="Söhne"/>
              </a:rPr>
              <a:t>, API call, etc.).</a:t>
            </a:r>
          </a:p>
        </p:txBody>
      </p:sp>
    </p:spTree>
    <p:extLst>
      <p:ext uri="{BB962C8B-B14F-4D97-AF65-F5344CB8AC3E}">
        <p14:creationId xmlns:p14="http://schemas.microsoft.com/office/powerpoint/2010/main" val="1973722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Evolution of application </a:t>
            </a:r>
            <a:r>
              <a:rPr lang="fr-FR" sz="3200" dirty="0" err="1"/>
              <a:t>deployment</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0" i="0" dirty="0">
                <a:solidFill>
                  <a:srgbClr val="ECECEC"/>
                </a:solidFill>
                <a:effectLst/>
                <a:latin typeface="Söhne"/>
              </a:rPr>
              <a:t>Conclusion :</a:t>
            </a:r>
          </a:p>
          <a:p>
            <a:pPr lvl="1"/>
            <a:r>
              <a:rPr lang="fr-FR" b="0" i="0" dirty="0">
                <a:solidFill>
                  <a:srgbClr val="ECECEC"/>
                </a:solidFill>
                <a:effectLst/>
                <a:latin typeface="Söhne"/>
              </a:rPr>
              <a:t>The </a:t>
            </a:r>
            <a:r>
              <a:rPr lang="fr-FR" b="0" i="0" dirty="0" err="1">
                <a:solidFill>
                  <a:srgbClr val="ECECEC"/>
                </a:solidFill>
                <a:effectLst/>
                <a:latin typeface="Söhne"/>
              </a:rPr>
              <a:t>evolution</a:t>
            </a:r>
            <a:r>
              <a:rPr lang="fr-FR" b="0" i="0" dirty="0">
                <a:solidFill>
                  <a:srgbClr val="ECECEC"/>
                </a:solidFill>
                <a:effectLst/>
                <a:latin typeface="Söhne"/>
              </a:rPr>
              <a:t> of application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a:t>
            </a:r>
            <a:r>
              <a:rPr lang="fr-FR" b="0" i="0" dirty="0" err="1">
                <a:solidFill>
                  <a:srgbClr val="ECECEC"/>
                </a:solidFill>
                <a:effectLst/>
                <a:latin typeface="Söhne"/>
              </a:rPr>
              <a:t>traditional</a:t>
            </a:r>
            <a:r>
              <a:rPr lang="fr-FR" b="0" i="0" dirty="0">
                <a:solidFill>
                  <a:srgbClr val="ECECEC"/>
                </a:solidFill>
                <a:effectLst/>
                <a:latin typeface="Söhne"/>
              </a:rPr>
              <a:t> </a:t>
            </a:r>
            <a:r>
              <a:rPr lang="fr-FR" b="0" i="0" dirty="0" err="1">
                <a:solidFill>
                  <a:srgbClr val="ECECEC"/>
                </a:solidFill>
                <a:effectLst/>
                <a:latin typeface="Söhne"/>
              </a:rPr>
              <a:t>methods</a:t>
            </a:r>
            <a:r>
              <a:rPr lang="fr-FR" b="0" i="0" dirty="0">
                <a:solidFill>
                  <a:srgbClr val="ECECEC"/>
                </a:solidFill>
                <a:effectLst/>
                <a:latin typeface="Söhne"/>
              </a:rPr>
              <a:t> to modern Cloud </a:t>
            </a:r>
            <a:r>
              <a:rPr lang="fr-FR" b="0" i="0" dirty="0" err="1">
                <a:solidFill>
                  <a:srgbClr val="ECECEC"/>
                </a:solidFill>
                <a:effectLst/>
                <a:latin typeface="Söhne"/>
              </a:rPr>
              <a:t>Computing</a:t>
            </a:r>
            <a:r>
              <a:rPr lang="fr-FR" b="0" i="0" dirty="0">
                <a:solidFill>
                  <a:srgbClr val="ECECEC"/>
                </a:solidFill>
                <a:effectLst/>
                <a:latin typeface="Söhne"/>
              </a:rPr>
              <a:t> and </a:t>
            </a:r>
            <a:r>
              <a:rPr lang="fr-FR" b="0" i="0" dirty="0" err="1">
                <a:solidFill>
                  <a:srgbClr val="ECECEC"/>
                </a:solidFill>
                <a:effectLst/>
                <a:latin typeface="Söhne"/>
              </a:rPr>
              <a:t>Serverless</a:t>
            </a:r>
            <a:r>
              <a:rPr lang="fr-FR" b="0" i="0" dirty="0">
                <a:solidFill>
                  <a:srgbClr val="ECECEC"/>
                </a:solidFill>
                <a:effectLst/>
                <a:latin typeface="Söhne"/>
              </a:rPr>
              <a:t> technologies, has </a:t>
            </a:r>
            <a:r>
              <a:rPr lang="fr-FR" b="0" i="0" dirty="0" err="1">
                <a:solidFill>
                  <a:srgbClr val="ECECEC"/>
                </a:solidFill>
                <a:effectLst/>
                <a:latin typeface="Söhne"/>
              </a:rPr>
              <a:t>significantly</a:t>
            </a:r>
            <a:r>
              <a:rPr lang="fr-FR" b="0" i="0" dirty="0">
                <a:solidFill>
                  <a:srgbClr val="ECECEC"/>
                </a:solidFill>
                <a:effectLst/>
                <a:latin typeface="Söhne"/>
              </a:rPr>
              <a:t> </a:t>
            </a:r>
            <a:r>
              <a:rPr lang="fr-FR" b="0" i="0" dirty="0" err="1">
                <a:solidFill>
                  <a:srgbClr val="ECECEC"/>
                </a:solidFill>
                <a:effectLst/>
                <a:latin typeface="Söhne"/>
              </a:rPr>
              <a:t>transformed</a:t>
            </a:r>
            <a:r>
              <a:rPr lang="fr-FR" b="0" i="0" dirty="0">
                <a:solidFill>
                  <a:srgbClr val="ECECEC"/>
                </a:solidFill>
                <a:effectLst/>
                <a:latin typeface="Söhne"/>
              </a:rPr>
              <a:t> how applications are </a:t>
            </a:r>
            <a:r>
              <a:rPr lang="fr-FR" b="0" i="0" dirty="0" err="1">
                <a:solidFill>
                  <a:srgbClr val="ECECEC"/>
                </a:solidFill>
                <a:effectLst/>
                <a:latin typeface="Söhne"/>
              </a:rPr>
              <a:t>designed</a:t>
            </a:r>
            <a:r>
              <a:rPr lang="fr-FR" b="0" i="0" dirty="0">
                <a:solidFill>
                  <a:srgbClr val="ECECEC"/>
                </a:solidFill>
                <a:effectLst/>
                <a:latin typeface="Söhne"/>
              </a:rPr>
              <a:t>, </a:t>
            </a:r>
            <a:r>
              <a:rPr lang="fr-FR" b="0" i="0" dirty="0" err="1">
                <a:solidFill>
                  <a:srgbClr val="ECECEC"/>
                </a:solidFill>
                <a:effectLst/>
                <a:latin typeface="Söhne"/>
              </a:rPr>
              <a:t>deployed</a:t>
            </a:r>
            <a:r>
              <a:rPr lang="fr-FR" b="0" i="0" dirty="0">
                <a:solidFill>
                  <a:srgbClr val="ECECEC"/>
                </a:solidFill>
                <a:effectLst/>
                <a:latin typeface="Söhne"/>
              </a:rPr>
              <a:t>, and </a:t>
            </a:r>
            <a:r>
              <a:rPr lang="fr-FR" b="0" i="0" dirty="0" err="1">
                <a:solidFill>
                  <a:srgbClr val="ECECEC"/>
                </a:solidFill>
                <a:effectLst/>
                <a:latin typeface="Söhne"/>
              </a:rPr>
              <a:t>managed</a:t>
            </a:r>
            <a:r>
              <a:rPr lang="fr-FR" b="0" i="0" dirty="0">
                <a:solidFill>
                  <a:srgbClr val="ECECEC"/>
                </a:solidFill>
                <a:effectLst/>
                <a:latin typeface="Söhne"/>
              </a:rPr>
              <a:t>.</a:t>
            </a:r>
          </a:p>
          <a:p>
            <a:pPr lvl="1"/>
            <a:r>
              <a:rPr lang="fr-FR" b="0" i="0" dirty="0" err="1">
                <a:solidFill>
                  <a:srgbClr val="ECECEC"/>
                </a:solidFill>
                <a:effectLst/>
                <a:latin typeface="Söhne"/>
              </a:rPr>
              <a:t>Companies</a:t>
            </a:r>
            <a:r>
              <a:rPr lang="fr-FR" b="0" i="0" dirty="0">
                <a:solidFill>
                  <a:srgbClr val="ECECEC"/>
                </a:solidFill>
                <a:effectLst/>
                <a:latin typeface="Söhne"/>
              </a:rPr>
              <a:t> </a:t>
            </a:r>
            <a:r>
              <a:rPr lang="fr-FR" b="0" i="0" dirty="0" err="1">
                <a:solidFill>
                  <a:srgbClr val="ECECEC"/>
                </a:solidFill>
                <a:effectLst/>
                <a:latin typeface="Söhne"/>
              </a:rPr>
              <a:t>now</a:t>
            </a:r>
            <a:r>
              <a:rPr lang="fr-FR" b="0" i="0" dirty="0">
                <a:solidFill>
                  <a:srgbClr val="ECECEC"/>
                </a:solidFill>
                <a:effectLst/>
                <a:latin typeface="Söhne"/>
              </a:rPr>
              <a:t> have </a:t>
            </a:r>
            <a:r>
              <a:rPr lang="fr-FR" b="0" i="0" dirty="0" err="1">
                <a:solidFill>
                  <a:srgbClr val="ECECEC"/>
                </a:solidFill>
                <a:effectLst/>
                <a:latin typeface="Söhne"/>
              </a:rPr>
              <a:t>access</a:t>
            </a:r>
            <a:r>
              <a:rPr lang="fr-FR" b="0" i="0" dirty="0">
                <a:solidFill>
                  <a:srgbClr val="ECECEC"/>
                </a:solidFill>
                <a:effectLst/>
                <a:latin typeface="Söhne"/>
              </a:rPr>
              <a:t> to </a:t>
            </a:r>
            <a:r>
              <a:rPr lang="fr-FR" b="0" i="0" dirty="0" err="1">
                <a:solidFill>
                  <a:srgbClr val="ECECEC"/>
                </a:solidFill>
                <a:effectLst/>
                <a:latin typeface="Söhne"/>
              </a:rPr>
              <a:t>sophisticated</a:t>
            </a:r>
            <a:r>
              <a:rPr lang="fr-FR" b="0" i="0" dirty="0">
                <a:solidFill>
                  <a:srgbClr val="ECECEC"/>
                </a:solidFill>
                <a:effectLst/>
                <a:latin typeface="Söhne"/>
              </a:rPr>
              <a:t> </a:t>
            </a:r>
            <a:r>
              <a:rPr lang="fr-FR" b="0" i="0" dirty="0" err="1">
                <a:solidFill>
                  <a:srgbClr val="ECECEC"/>
                </a:solidFill>
                <a:effectLst/>
                <a:latin typeface="Söhne"/>
              </a:rPr>
              <a:t>tools</a:t>
            </a:r>
            <a:r>
              <a:rPr lang="fr-FR" b="0" i="0" dirty="0">
                <a:solidFill>
                  <a:srgbClr val="ECECEC"/>
                </a:solidFill>
                <a:effectLst/>
                <a:latin typeface="Söhne"/>
              </a:rPr>
              <a:t> and platforms to </a:t>
            </a:r>
            <a:r>
              <a:rPr lang="fr-FR" b="0" i="0" dirty="0" err="1">
                <a:solidFill>
                  <a:srgbClr val="ECECEC"/>
                </a:solidFill>
                <a:effectLst/>
                <a:latin typeface="Söhne"/>
              </a:rPr>
              <a:t>meet</a:t>
            </a:r>
            <a:r>
              <a:rPr lang="fr-FR" b="0" i="0" dirty="0">
                <a:solidFill>
                  <a:srgbClr val="ECECEC"/>
                </a:solidFill>
                <a:effectLst/>
                <a:latin typeface="Söhne"/>
              </a:rPr>
              <a:t> the </a:t>
            </a:r>
            <a:r>
              <a:rPr lang="fr-FR" b="0" i="0" dirty="0" err="1">
                <a:solidFill>
                  <a:srgbClr val="ECECEC"/>
                </a:solidFill>
                <a:effectLst/>
                <a:latin typeface="Söhne"/>
              </a:rPr>
              <a:t>needs</a:t>
            </a:r>
            <a:r>
              <a:rPr lang="fr-FR" b="0" i="0" dirty="0">
                <a:solidFill>
                  <a:srgbClr val="ECECEC"/>
                </a:solidFill>
                <a:effectLst/>
                <a:latin typeface="Söhne"/>
              </a:rPr>
              <a:t> of </a:t>
            </a:r>
            <a:r>
              <a:rPr lang="fr-FR" b="0" i="0" dirty="0" err="1">
                <a:solidFill>
                  <a:srgbClr val="ECECEC"/>
                </a:solidFill>
                <a:effectLst/>
                <a:latin typeface="Söhne"/>
              </a:rPr>
              <a:t>their</a:t>
            </a:r>
            <a:r>
              <a:rPr lang="fr-FR" b="0" i="0" dirty="0">
                <a:solidFill>
                  <a:srgbClr val="ECECEC"/>
                </a:solidFill>
                <a:effectLst/>
                <a:latin typeface="Söhne"/>
              </a:rPr>
              <a:t> applications, </a:t>
            </a:r>
            <a:r>
              <a:rPr lang="fr-FR" b="0" i="0" dirty="0" err="1">
                <a:solidFill>
                  <a:srgbClr val="ECECEC"/>
                </a:solidFill>
                <a:effectLst/>
                <a:latin typeface="Söhne"/>
              </a:rPr>
              <a:t>ensuring</a:t>
            </a:r>
            <a:r>
              <a:rPr lang="fr-FR" b="0" i="0" dirty="0">
                <a:solidFill>
                  <a:srgbClr val="ECECEC"/>
                </a:solidFill>
                <a:effectLst/>
                <a:latin typeface="Söhne"/>
              </a:rPr>
              <a:t> maximum </a:t>
            </a:r>
            <a:r>
              <a:rPr lang="fr-FR" b="0" i="0" dirty="0" err="1">
                <a:solidFill>
                  <a:srgbClr val="ECECEC"/>
                </a:solidFill>
                <a:effectLst/>
                <a:latin typeface="Söhne"/>
              </a:rPr>
              <a:t>scalability</a:t>
            </a:r>
            <a:r>
              <a:rPr lang="fr-FR" b="0" i="0" dirty="0">
                <a:solidFill>
                  <a:srgbClr val="ECECEC"/>
                </a:solidFill>
                <a:effectLst/>
                <a:latin typeface="Söhne"/>
              </a:rPr>
              <a:t>, agility, and </a:t>
            </a:r>
            <a:r>
              <a:rPr lang="fr-FR" b="0" i="0" dirty="0" err="1">
                <a:solidFill>
                  <a:srgbClr val="ECECEC"/>
                </a:solidFill>
                <a:effectLst/>
                <a:latin typeface="Söhne"/>
              </a:rPr>
              <a:t>operational</a:t>
            </a:r>
            <a:r>
              <a:rPr lang="fr-FR" b="0" i="0" dirty="0">
                <a:solidFill>
                  <a:srgbClr val="ECECEC"/>
                </a:solidFill>
                <a:effectLst/>
                <a:latin typeface="Söhne"/>
              </a:rPr>
              <a:t> </a:t>
            </a:r>
            <a:r>
              <a:rPr lang="fr-FR" b="0" i="0" dirty="0" err="1">
                <a:solidFill>
                  <a:srgbClr val="ECECEC"/>
                </a:solidFill>
                <a:effectLst/>
                <a:latin typeface="Söhne"/>
              </a:rPr>
              <a:t>efficiency</a:t>
            </a:r>
            <a:r>
              <a:rPr lang="fr-FR" b="0" i="0" dirty="0">
                <a:solidFill>
                  <a:srgbClr val="ECECEC"/>
                </a:solidFill>
                <a:effectLst/>
                <a:latin typeface="Söhne"/>
              </a:rPr>
              <a:t>.</a:t>
            </a:r>
          </a:p>
        </p:txBody>
      </p:sp>
    </p:spTree>
    <p:extLst>
      <p:ext uri="{BB962C8B-B14F-4D97-AF65-F5344CB8AC3E}">
        <p14:creationId xmlns:p14="http://schemas.microsoft.com/office/powerpoint/2010/main" val="1194176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LA VIRTUALISATION</a:t>
            </a:r>
          </a:p>
        </p:txBody>
      </p:sp>
    </p:spTree>
    <p:extLst>
      <p:ext uri="{BB962C8B-B14F-4D97-AF65-F5344CB8AC3E}">
        <p14:creationId xmlns:p14="http://schemas.microsoft.com/office/powerpoint/2010/main" val="1652483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1" i="0" dirty="0">
                <a:solidFill>
                  <a:srgbClr val="ECECEC"/>
                </a:solidFill>
                <a:effectLst/>
                <a:latin typeface="Söhne"/>
              </a:rPr>
              <a:t>Introduction to </a:t>
            </a:r>
            <a:r>
              <a:rPr lang="fr-FR" b="1" i="0" dirty="0" err="1">
                <a:solidFill>
                  <a:srgbClr val="ECECEC"/>
                </a:solidFill>
                <a:effectLst/>
                <a:latin typeface="Söhne"/>
              </a:rPr>
              <a:t>Virtualization</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Virtualization</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 </a:t>
            </a:r>
            <a:r>
              <a:rPr lang="fr-FR" b="0" i="0" dirty="0" err="1">
                <a:solidFill>
                  <a:srgbClr val="ECECEC"/>
                </a:solidFill>
                <a:effectLst/>
                <a:latin typeface="Söhne"/>
              </a:rPr>
              <a:t>technology</a:t>
            </a:r>
            <a:r>
              <a:rPr lang="fr-FR" b="0" i="0" dirty="0">
                <a:solidFill>
                  <a:srgbClr val="ECECEC"/>
                </a:solidFill>
                <a:effectLst/>
                <a:latin typeface="Söhne"/>
              </a:rPr>
              <a:t>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allows</a:t>
            </a:r>
            <a:r>
              <a:rPr lang="fr-FR" b="0" i="0" dirty="0">
                <a:solidFill>
                  <a:srgbClr val="ECECEC"/>
                </a:solidFill>
                <a:effectLst/>
                <a:latin typeface="Söhne"/>
              </a:rPr>
              <a:t> </a:t>
            </a:r>
            <a:r>
              <a:rPr lang="fr-FR" b="0" i="0" dirty="0" err="1">
                <a:solidFill>
                  <a:srgbClr val="ECECEC"/>
                </a:solidFill>
                <a:effectLst/>
                <a:latin typeface="Söhne"/>
              </a:rPr>
              <a:t>creating</a:t>
            </a:r>
            <a:r>
              <a:rPr lang="fr-FR" b="0" i="0" dirty="0">
                <a:solidFill>
                  <a:srgbClr val="ECECEC"/>
                </a:solidFill>
                <a:effectLst/>
                <a:latin typeface="Söhne"/>
              </a:rPr>
              <a:t> multiple </a:t>
            </a:r>
            <a:r>
              <a:rPr lang="fr-FR" b="0" i="0" dirty="0" err="1">
                <a:solidFill>
                  <a:srgbClr val="ECECEC"/>
                </a:solidFill>
                <a:effectLst/>
                <a:latin typeface="Söhne"/>
              </a:rPr>
              <a:t>isolated</a:t>
            </a:r>
            <a:r>
              <a:rPr lang="fr-FR" b="0" i="0" dirty="0">
                <a:solidFill>
                  <a:srgbClr val="ECECEC"/>
                </a:solidFill>
                <a:effectLst/>
                <a:latin typeface="Söhne"/>
              </a:rPr>
              <a:t> </a:t>
            </a:r>
            <a:r>
              <a:rPr lang="fr-FR" b="0" i="0" dirty="0" err="1">
                <a:solidFill>
                  <a:srgbClr val="ECECEC"/>
                </a:solidFill>
                <a:effectLst/>
                <a:latin typeface="Söhne"/>
              </a:rPr>
              <a:t>virtual</a:t>
            </a:r>
            <a:r>
              <a:rPr lang="fr-FR" b="0" i="0" dirty="0">
                <a:solidFill>
                  <a:srgbClr val="ECECEC"/>
                </a:solidFill>
                <a:effectLst/>
                <a:latin typeface="Söhne"/>
              </a:rPr>
              <a:t> </a:t>
            </a:r>
            <a:r>
              <a:rPr lang="fr-FR" b="0" i="0" dirty="0" err="1">
                <a:solidFill>
                  <a:srgbClr val="ECECEC"/>
                </a:solidFill>
                <a:effectLst/>
                <a:latin typeface="Söhne"/>
              </a:rPr>
              <a:t>environments</a:t>
            </a:r>
            <a:r>
              <a:rPr lang="fr-FR" b="0" i="0" dirty="0">
                <a:solidFill>
                  <a:srgbClr val="ECECEC"/>
                </a:solidFill>
                <a:effectLst/>
                <a:latin typeface="Söhne"/>
              </a:rPr>
              <a:t> on the </a:t>
            </a:r>
            <a:r>
              <a:rPr lang="fr-FR" b="0" i="0" dirty="0" err="1">
                <a:solidFill>
                  <a:srgbClr val="ECECEC"/>
                </a:solidFill>
                <a:effectLst/>
                <a:latin typeface="Söhne"/>
              </a:rPr>
              <a:t>same</a:t>
            </a:r>
            <a:r>
              <a:rPr lang="fr-FR" b="0" i="0" dirty="0">
                <a:solidFill>
                  <a:srgbClr val="ECECEC"/>
                </a:solidFill>
                <a:effectLst/>
                <a:latin typeface="Söhne"/>
              </a:rPr>
              <a:t> </a:t>
            </a:r>
            <a:r>
              <a:rPr lang="fr-FR" b="0" i="0" dirty="0" err="1">
                <a:solidFill>
                  <a:srgbClr val="ECECEC"/>
                </a:solidFill>
                <a:effectLst/>
                <a:latin typeface="Söhne"/>
              </a:rPr>
              <a:t>physical</a:t>
            </a:r>
            <a:r>
              <a:rPr lang="fr-FR" b="0" i="0" dirty="0">
                <a:solidFill>
                  <a:srgbClr val="ECECEC"/>
                </a:solidFill>
                <a:effectLst/>
                <a:latin typeface="Söhne"/>
              </a:rPr>
              <a:t> hardware.</a:t>
            </a:r>
          </a:p>
          <a:p>
            <a:pPr algn="l">
              <a:buFont typeface="Arial" panose="020B0604020202020204" pitchFamily="34" charset="0"/>
              <a:buChar char="•"/>
            </a:pPr>
            <a:r>
              <a:rPr lang="fr-FR" b="1" i="0" dirty="0" err="1">
                <a:solidFill>
                  <a:srgbClr val="ECECEC"/>
                </a:solidFill>
                <a:effectLst/>
                <a:latin typeface="Söhne"/>
              </a:rPr>
              <a:t>History</a:t>
            </a:r>
            <a:r>
              <a:rPr lang="fr-FR" b="1" i="0" dirty="0">
                <a:solidFill>
                  <a:srgbClr val="ECECEC"/>
                </a:solidFill>
                <a:effectLst/>
                <a:latin typeface="Söhne"/>
              </a:rPr>
              <a:t> of </a:t>
            </a:r>
            <a:r>
              <a:rPr lang="fr-FR" b="1" i="0" dirty="0" err="1">
                <a:solidFill>
                  <a:srgbClr val="ECECEC"/>
                </a:solidFill>
                <a:effectLst/>
                <a:latin typeface="Söhne"/>
              </a:rPr>
              <a:t>Virtualization</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Initial </a:t>
            </a:r>
            <a:r>
              <a:rPr lang="fr-FR" b="0" i="0" dirty="0" err="1">
                <a:solidFill>
                  <a:srgbClr val="ECECEC"/>
                </a:solidFill>
                <a:effectLst/>
                <a:latin typeface="Söhne"/>
              </a:rPr>
              <a:t>development</a:t>
            </a:r>
            <a:r>
              <a:rPr lang="fr-FR" b="0" i="0" dirty="0">
                <a:solidFill>
                  <a:srgbClr val="ECECEC"/>
                </a:solidFill>
                <a:effectLst/>
                <a:latin typeface="Söhne"/>
              </a:rPr>
              <a:t> in the 1960s </a:t>
            </a:r>
            <a:r>
              <a:rPr lang="fr-FR" b="0" i="0" dirty="0" err="1">
                <a:solidFill>
                  <a:srgbClr val="ECECEC"/>
                </a:solidFill>
                <a:effectLst/>
                <a:latin typeface="Söhne"/>
              </a:rPr>
              <a:t>with</a:t>
            </a:r>
            <a:r>
              <a:rPr lang="fr-FR" b="0" i="0" dirty="0">
                <a:solidFill>
                  <a:srgbClr val="ECECEC"/>
                </a:solidFill>
                <a:effectLst/>
                <a:latin typeface="Söhne"/>
              </a:rPr>
              <a:t> the first </a:t>
            </a:r>
            <a:r>
              <a:rPr lang="fr-FR" b="0" i="0" dirty="0" err="1">
                <a:solidFill>
                  <a:srgbClr val="ECECEC"/>
                </a:solidFill>
                <a:effectLst/>
                <a:latin typeface="Söhne"/>
              </a:rPr>
              <a:t>virtualization</a:t>
            </a:r>
            <a:r>
              <a:rPr lang="fr-FR" b="0" i="0" dirty="0">
                <a:solidFill>
                  <a:srgbClr val="ECECEC"/>
                </a:solidFill>
                <a:effectLst/>
                <a:latin typeface="Söhne"/>
              </a:rPr>
              <a:t> </a:t>
            </a:r>
            <a:r>
              <a:rPr lang="fr-FR" b="0" i="0" dirty="0" err="1">
                <a:solidFill>
                  <a:srgbClr val="ECECEC"/>
                </a:solidFill>
                <a:effectLst/>
                <a:latin typeface="Söhne"/>
              </a:rPr>
              <a:t>systems</a:t>
            </a:r>
            <a:r>
              <a:rPr lang="fr-FR" b="0" i="0" dirty="0">
                <a:solidFill>
                  <a:srgbClr val="ECECEC"/>
                </a:solidFill>
                <a:effectLst/>
                <a:latin typeface="Söhne"/>
              </a:rPr>
              <a:t> for mainframe computers.</a:t>
            </a:r>
          </a:p>
          <a:p>
            <a:pPr marL="742950" lvl="1" indent="-285750" algn="l">
              <a:buFont typeface="Arial" panose="020B0604020202020204" pitchFamily="34" charset="0"/>
              <a:buChar char="•"/>
            </a:pPr>
            <a:r>
              <a:rPr lang="fr-FR" b="0" i="0" dirty="0" err="1">
                <a:solidFill>
                  <a:srgbClr val="ECECEC"/>
                </a:solidFill>
                <a:effectLst/>
                <a:latin typeface="Söhne"/>
              </a:rPr>
              <a:t>Increasing</a:t>
            </a:r>
            <a:r>
              <a:rPr lang="fr-FR" b="0" i="0" dirty="0">
                <a:solidFill>
                  <a:srgbClr val="ECECEC"/>
                </a:solidFill>
                <a:effectLst/>
                <a:latin typeface="Söhne"/>
              </a:rPr>
              <a:t> adoption in the 2000s </a:t>
            </a:r>
            <a:r>
              <a:rPr lang="fr-FR" b="0" i="0" dirty="0" err="1">
                <a:solidFill>
                  <a:srgbClr val="ECECEC"/>
                </a:solidFill>
                <a:effectLst/>
                <a:latin typeface="Söhne"/>
              </a:rPr>
              <a:t>with</a:t>
            </a:r>
            <a:r>
              <a:rPr lang="fr-FR" b="0" i="0" dirty="0">
                <a:solidFill>
                  <a:srgbClr val="ECECEC"/>
                </a:solidFill>
                <a:effectLst/>
                <a:latin typeface="Söhne"/>
              </a:rPr>
              <a:t> the </a:t>
            </a:r>
            <a:r>
              <a:rPr lang="fr-FR" b="0" i="0" dirty="0" err="1">
                <a:solidFill>
                  <a:srgbClr val="ECECEC"/>
                </a:solidFill>
                <a:effectLst/>
                <a:latin typeface="Söhne"/>
              </a:rPr>
              <a:t>popularization</a:t>
            </a:r>
            <a:r>
              <a:rPr lang="fr-FR" b="0" i="0" dirty="0">
                <a:solidFill>
                  <a:srgbClr val="ECECEC"/>
                </a:solidFill>
                <a:effectLst/>
                <a:latin typeface="Söhne"/>
              </a:rPr>
              <a:t> of x86 </a:t>
            </a:r>
            <a:r>
              <a:rPr lang="fr-FR" b="0" i="0" dirty="0" err="1">
                <a:solidFill>
                  <a:srgbClr val="ECECEC"/>
                </a:solidFill>
                <a:effectLst/>
                <a:latin typeface="Söhne"/>
              </a:rPr>
              <a:t>virtualization</a:t>
            </a:r>
            <a:r>
              <a:rPr lang="fr-FR" b="0" i="0" dirty="0">
                <a:solidFill>
                  <a:srgbClr val="ECECEC"/>
                </a:solidFill>
                <a:effectLst/>
                <a:latin typeface="Söhne"/>
              </a:rPr>
              <a:t> technologies.</a:t>
            </a:r>
          </a:p>
          <a:p>
            <a:pPr marL="742950" lvl="1" indent="-285750" algn="l">
              <a:buFont typeface="Arial" panose="020B0604020202020204" pitchFamily="34" charset="0"/>
              <a:buChar char="•"/>
            </a:pPr>
            <a:r>
              <a:rPr lang="fr-FR" b="0" i="0" dirty="0">
                <a:solidFill>
                  <a:srgbClr val="ECECEC"/>
                </a:solidFill>
                <a:effectLst/>
                <a:latin typeface="Söhne"/>
              </a:rPr>
              <a:t>Evolution </a:t>
            </a:r>
            <a:r>
              <a:rPr lang="fr-FR" b="0" i="0" dirty="0" err="1">
                <a:solidFill>
                  <a:srgbClr val="ECECEC"/>
                </a:solidFill>
                <a:effectLst/>
                <a:latin typeface="Söhne"/>
              </a:rPr>
              <a:t>towards</a:t>
            </a:r>
            <a:r>
              <a:rPr lang="fr-FR" b="0" i="0" dirty="0">
                <a:solidFill>
                  <a:srgbClr val="ECECEC"/>
                </a:solidFill>
                <a:effectLst/>
                <a:latin typeface="Söhne"/>
              </a:rPr>
              <a:t> container </a:t>
            </a:r>
            <a:r>
              <a:rPr lang="fr-FR" b="0" i="0" dirty="0" err="1">
                <a:solidFill>
                  <a:srgbClr val="ECECEC"/>
                </a:solidFill>
                <a:effectLst/>
                <a:latin typeface="Söhne"/>
              </a:rPr>
              <a:t>virtualization</a:t>
            </a:r>
            <a:r>
              <a:rPr lang="fr-FR" b="0" i="0" dirty="0">
                <a:solidFill>
                  <a:srgbClr val="ECECEC"/>
                </a:solidFill>
                <a:effectLst/>
                <a:latin typeface="Söhne"/>
              </a:rPr>
              <a:t> in the 2010s </a:t>
            </a:r>
            <a:r>
              <a:rPr lang="fr-FR" b="0" i="0" dirty="0" err="1">
                <a:solidFill>
                  <a:srgbClr val="ECECEC"/>
                </a:solidFill>
                <a:effectLst/>
                <a:latin typeface="Söhne"/>
              </a:rPr>
              <a:t>with</a:t>
            </a:r>
            <a:r>
              <a:rPr lang="fr-FR" b="0" i="0" dirty="0">
                <a:solidFill>
                  <a:srgbClr val="ECECEC"/>
                </a:solidFill>
                <a:effectLst/>
                <a:latin typeface="Söhne"/>
              </a:rPr>
              <a:t> the </a:t>
            </a:r>
            <a:r>
              <a:rPr lang="fr-FR" b="0" i="0" dirty="0" err="1">
                <a:solidFill>
                  <a:srgbClr val="ECECEC"/>
                </a:solidFill>
                <a:effectLst/>
                <a:latin typeface="Söhne"/>
              </a:rPr>
              <a:t>emergence</a:t>
            </a:r>
            <a:r>
              <a:rPr lang="fr-FR" b="0" i="0" dirty="0">
                <a:solidFill>
                  <a:srgbClr val="ECECEC"/>
                </a:solidFill>
                <a:effectLst/>
                <a:latin typeface="Söhne"/>
              </a:rPr>
              <a:t> of Docker and </a:t>
            </a:r>
            <a:r>
              <a:rPr lang="fr-FR" b="0" i="0" dirty="0" err="1">
                <a:solidFill>
                  <a:srgbClr val="ECECEC"/>
                </a:solidFill>
                <a:effectLst/>
                <a:latin typeface="Söhne"/>
              </a:rPr>
              <a:t>Kubernetes</a:t>
            </a:r>
            <a:r>
              <a:rPr lang="fr-FR" b="0" i="0" dirty="0">
                <a:solidFill>
                  <a:srgbClr val="ECECEC"/>
                </a:solidFill>
                <a:effectLst/>
                <a:latin typeface="Söhne"/>
              </a:rPr>
              <a:t>.</a:t>
            </a:r>
          </a:p>
        </p:txBody>
      </p:sp>
    </p:spTree>
    <p:extLst>
      <p:ext uri="{BB962C8B-B14F-4D97-AF65-F5344CB8AC3E}">
        <p14:creationId xmlns:p14="http://schemas.microsoft.com/office/powerpoint/2010/main" val="1538216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a:t>
            </a:r>
            <a:r>
              <a:rPr lang="fr-FR" sz="3200" dirty="0" err="1"/>
              <a:t>virtual</a:t>
            </a:r>
            <a:r>
              <a:rPr lang="fr-FR" sz="3200" dirty="0"/>
              <a:t> machines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Definition</a:t>
            </a:r>
            <a:r>
              <a:rPr lang="fr-FR" b="1" i="0" dirty="0">
                <a:solidFill>
                  <a:srgbClr val="ECECEC"/>
                </a:solidFill>
                <a:effectLst/>
                <a:latin typeface="Söhne"/>
              </a:rPr>
              <a:t> of Virtual Machines: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Virtual Machines are </a:t>
            </a:r>
            <a:r>
              <a:rPr lang="fr-FR" b="0" i="0" dirty="0" err="1">
                <a:solidFill>
                  <a:srgbClr val="ECECEC"/>
                </a:solidFill>
                <a:effectLst/>
                <a:latin typeface="Söhne"/>
              </a:rPr>
              <a:t>virtual</a:t>
            </a:r>
            <a:r>
              <a:rPr lang="fr-FR" b="0" i="0" dirty="0">
                <a:solidFill>
                  <a:srgbClr val="ECECEC"/>
                </a:solidFill>
                <a:effectLst/>
                <a:latin typeface="Söhne"/>
              </a:rPr>
              <a:t> computer </a:t>
            </a:r>
            <a:r>
              <a:rPr lang="fr-FR" b="0" i="0" dirty="0" err="1">
                <a:solidFill>
                  <a:srgbClr val="ECECEC"/>
                </a:solidFill>
                <a:effectLst/>
                <a:latin typeface="Söhne"/>
              </a:rPr>
              <a:t>environments</a:t>
            </a:r>
            <a:r>
              <a:rPr lang="fr-FR" b="0" i="0" dirty="0">
                <a:solidFill>
                  <a:srgbClr val="ECECEC"/>
                </a:solidFill>
                <a:effectLst/>
                <a:latin typeface="Söhne"/>
              </a:rPr>
              <a:t>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function</a:t>
            </a:r>
            <a:r>
              <a:rPr lang="fr-FR" b="0" i="0" dirty="0">
                <a:solidFill>
                  <a:srgbClr val="ECECEC"/>
                </a:solidFill>
                <a:effectLst/>
                <a:latin typeface="Söhne"/>
              </a:rPr>
              <a:t> as standalone operating </a:t>
            </a:r>
            <a:r>
              <a:rPr lang="fr-FR" b="0" i="0" dirty="0" err="1">
                <a:solidFill>
                  <a:srgbClr val="ECECEC"/>
                </a:solidFill>
                <a:effectLst/>
                <a:latin typeface="Söhne"/>
              </a:rPr>
              <a:t>systems</a:t>
            </a:r>
            <a:r>
              <a:rPr lang="fr-FR" b="0" i="0" dirty="0">
                <a:solidFill>
                  <a:srgbClr val="ECECEC"/>
                </a:solidFill>
                <a:effectLst/>
                <a:latin typeface="Söhne"/>
              </a:rPr>
              <a:t> on a single </a:t>
            </a:r>
            <a:r>
              <a:rPr lang="fr-FR" b="0" i="0" dirty="0" err="1">
                <a:solidFill>
                  <a:srgbClr val="ECECEC"/>
                </a:solidFill>
                <a:effectLst/>
                <a:latin typeface="Söhne"/>
              </a:rPr>
              <a:t>physical</a:t>
            </a:r>
            <a:r>
              <a:rPr lang="fr-FR" b="0" i="0" dirty="0">
                <a:solidFill>
                  <a:srgbClr val="ECECEC"/>
                </a:solidFill>
                <a:effectLst/>
                <a:latin typeface="Söhne"/>
              </a:rPr>
              <a:t> hardware.</a:t>
            </a:r>
          </a:p>
          <a:p>
            <a:pPr algn="l">
              <a:buFont typeface="Arial" panose="020B0604020202020204" pitchFamily="34" charset="0"/>
              <a:buChar char="•"/>
            </a:pPr>
            <a:r>
              <a:rPr lang="fr-FR" b="1" i="0" dirty="0">
                <a:solidFill>
                  <a:srgbClr val="ECECEC"/>
                </a:solidFill>
                <a:effectLst/>
                <a:latin typeface="Söhne"/>
              </a:rPr>
              <a:t>Use Cases of Virtual Machines: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Isolation of Applications:</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VM can run applications and services in isolation, </a:t>
            </a:r>
            <a:r>
              <a:rPr lang="fr-FR" b="0" i="0" dirty="0" err="1">
                <a:solidFill>
                  <a:srgbClr val="ECECEC"/>
                </a:solidFill>
                <a:effectLst/>
                <a:latin typeface="Söhne"/>
              </a:rPr>
              <a:t>ensuring</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and </a:t>
            </a:r>
            <a:r>
              <a:rPr lang="fr-FR" b="0" i="0" dirty="0" err="1">
                <a:solidFill>
                  <a:srgbClr val="ECECEC"/>
                </a:solidFill>
                <a:effectLst/>
                <a:latin typeface="Söhne"/>
              </a:rPr>
              <a:t>stability</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Development</a:t>
            </a:r>
            <a:r>
              <a:rPr lang="fr-FR" b="1" i="0" dirty="0">
                <a:solidFill>
                  <a:srgbClr val="ECECEC"/>
                </a:solidFill>
                <a:effectLst/>
                <a:latin typeface="Söhne"/>
              </a:rPr>
              <a:t> and </a:t>
            </a:r>
            <a:r>
              <a:rPr lang="fr-FR" b="1" i="0" dirty="0" err="1">
                <a:solidFill>
                  <a:srgbClr val="ECECEC"/>
                </a:solidFill>
                <a:effectLst/>
                <a:latin typeface="Söhne"/>
              </a:rPr>
              <a:t>Testing</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Creation</a:t>
            </a:r>
            <a:r>
              <a:rPr lang="fr-FR" b="0" i="0" dirty="0">
                <a:solidFill>
                  <a:srgbClr val="ECECEC"/>
                </a:solidFill>
                <a:effectLst/>
                <a:latin typeface="Söhne"/>
              </a:rPr>
              <a:t> of </a:t>
            </a:r>
            <a:r>
              <a:rPr lang="fr-FR" b="0" i="0" dirty="0" err="1">
                <a:solidFill>
                  <a:srgbClr val="ECECEC"/>
                </a:solidFill>
                <a:effectLst/>
                <a:latin typeface="Söhne"/>
              </a:rPr>
              <a:t>independent</a:t>
            </a:r>
            <a:r>
              <a:rPr lang="fr-FR" b="0" i="0" dirty="0">
                <a:solidFill>
                  <a:srgbClr val="ECECEC"/>
                </a:solidFill>
                <a:effectLst/>
                <a:latin typeface="Söhne"/>
              </a:rPr>
              <a:t> </a:t>
            </a:r>
            <a:r>
              <a:rPr lang="fr-FR" b="0" i="0" dirty="0" err="1">
                <a:solidFill>
                  <a:srgbClr val="ECECEC"/>
                </a:solidFill>
                <a:effectLst/>
                <a:latin typeface="Söhne"/>
              </a:rPr>
              <a:t>development</a:t>
            </a:r>
            <a:r>
              <a:rPr lang="fr-FR" b="0" i="0" dirty="0">
                <a:solidFill>
                  <a:srgbClr val="ECECEC"/>
                </a:solidFill>
                <a:effectLst/>
                <a:latin typeface="Söhne"/>
              </a:rPr>
              <a:t> and test </a:t>
            </a:r>
            <a:r>
              <a:rPr lang="fr-FR" b="0" i="0" dirty="0" err="1">
                <a:solidFill>
                  <a:srgbClr val="ECECEC"/>
                </a:solidFill>
                <a:effectLst/>
                <a:latin typeface="Söhne"/>
              </a:rPr>
              <a:t>environments</a:t>
            </a:r>
            <a:r>
              <a:rPr lang="fr-FR" b="0" i="0" dirty="0">
                <a:solidFill>
                  <a:srgbClr val="ECECEC"/>
                </a:solidFill>
                <a:effectLst/>
                <a:latin typeface="Söhne"/>
              </a:rPr>
              <a:t> for applications.</a:t>
            </a:r>
          </a:p>
          <a:p>
            <a:pPr marL="742950" lvl="1" indent="-285750" algn="l">
              <a:buFont typeface="Arial" panose="020B0604020202020204" pitchFamily="34" charset="0"/>
              <a:buChar char="•"/>
            </a:pPr>
            <a:r>
              <a:rPr lang="fr-FR" b="1" i="0" dirty="0">
                <a:solidFill>
                  <a:srgbClr val="ECECEC"/>
                </a:solidFill>
                <a:effectLst/>
                <a:latin typeface="Söhne"/>
              </a:rPr>
              <a:t>Server Consolidation: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Running multiple </a:t>
            </a:r>
            <a:r>
              <a:rPr lang="fr-FR" b="0" i="0" dirty="0" err="1">
                <a:solidFill>
                  <a:srgbClr val="ECECEC"/>
                </a:solidFill>
                <a:effectLst/>
                <a:latin typeface="Söhne"/>
              </a:rPr>
              <a:t>workloads</a:t>
            </a:r>
            <a:r>
              <a:rPr lang="fr-FR" b="0" i="0" dirty="0">
                <a:solidFill>
                  <a:srgbClr val="ECECEC"/>
                </a:solidFill>
                <a:effectLst/>
                <a:latin typeface="Söhne"/>
              </a:rPr>
              <a:t> on a single </a:t>
            </a:r>
            <a:r>
              <a:rPr lang="fr-FR" b="0" i="0" dirty="0" err="1">
                <a:solidFill>
                  <a:srgbClr val="ECECEC"/>
                </a:solidFill>
                <a:effectLst/>
                <a:latin typeface="Söhne"/>
              </a:rPr>
              <a:t>physical</a:t>
            </a:r>
            <a:r>
              <a:rPr lang="fr-FR" b="0" i="0" dirty="0">
                <a:solidFill>
                  <a:srgbClr val="ECECEC"/>
                </a:solidFill>
                <a:effectLst/>
                <a:latin typeface="Söhne"/>
              </a:rPr>
              <a:t> server for efficient </a:t>
            </a:r>
            <a:r>
              <a:rPr lang="fr-FR" b="0" i="0" dirty="0" err="1">
                <a:solidFill>
                  <a:srgbClr val="ECECEC"/>
                </a:solidFill>
                <a:effectLst/>
                <a:latin typeface="Söhne"/>
              </a:rPr>
              <a:t>resource</a:t>
            </a:r>
            <a:r>
              <a:rPr lang="fr-FR" b="0" i="0" dirty="0">
                <a:solidFill>
                  <a:srgbClr val="ECECEC"/>
                </a:solidFill>
                <a:effectLst/>
                <a:latin typeface="Söhne"/>
              </a:rPr>
              <a:t> </a:t>
            </a:r>
            <a:r>
              <a:rPr lang="fr-FR" b="0" i="0" dirty="0" err="1">
                <a:solidFill>
                  <a:srgbClr val="ECECEC"/>
                </a:solidFill>
                <a:effectLst/>
                <a:latin typeface="Söhne"/>
              </a:rPr>
              <a:t>utilization</a:t>
            </a:r>
            <a:r>
              <a:rPr lang="fr-FR" b="0" i="0" dirty="0">
                <a:solidFill>
                  <a:srgbClr val="ECECEC"/>
                </a:solidFill>
                <a:effectLst/>
                <a:latin typeface="Söhne"/>
              </a:rPr>
              <a:t>.</a:t>
            </a:r>
          </a:p>
        </p:txBody>
      </p:sp>
    </p:spTree>
    <p:extLst>
      <p:ext uri="{BB962C8B-B14F-4D97-AF65-F5344CB8AC3E}">
        <p14:creationId xmlns:p14="http://schemas.microsoft.com/office/powerpoint/2010/main" val="3051088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a:t>
            </a:r>
            <a:r>
              <a:rPr lang="fr-FR" sz="3200" dirty="0" err="1"/>
              <a:t>virtual</a:t>
            </a:r>
            <a:r>
              <a:rPr lang="fr-FR" sz="3200" dirty="0"/>
              <a:t> machines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Hypervisor</a:t>
            </a:r>
            <a:r>
              <a:rPr lang="fr-FR" b="1" i="0" dirty="0">
                <a:solidFill>
                  <a:srgbClr val="ECECEC"/>
                </a:solidFill>
                <a:effectLst/>
                <a:latin typeface="Söhne"/>
              </a:rPr>
              <a:t> (or Virtual Machine Monitor):</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Software </a:t>
            </a:r>
            <a:r>
              <a:rPr lang="fr-FR" b="0" i="0" dirty="0" err="1">
                <a:solidFill>
                  <a:srgbClr val="ECECEC"/>
                </a:solidFill>
                <a:effectLst/>
                <a:latin typeface="Söhne"/>
              </a:rPr>
              <a:t>responsible</a:t>
            </a:r>
            <a:r>
              <a:rPr lang="fr-FR" b="0" i="0" dirty="0">
                <a:solidFill>
                  <a:srgbClr val="ECECEC"/>
                </a:solidFill>
                <a:effectLst/>
                <a:latin typeface="Söhne"/>
              </a:rPr>
              <a:t> for </a:t>
            </a:r>
            <a:r>
              <a:rPr lang="fr-FR" b="0" i="0" dirty="0" err="1">
                <a:solidFill>
                  <a:srgbClr val="ECECEC"/>
                </a:solidFill>
                <a:effectLst/>
                <a:latin typeface="Söhne"/>
              </a:rPr>
              <a:t>managing</a:t>
            </a:r>
            <a:r>
              <a:rPr lang="fr-FR" b="0" i="0" dirty="0">
                <a:solidFill>
                  <a:srgbClr val="ECECEC"/>
                </a:solidFill>
                <a:effectLst/>
                <a:latin typeface="Söhne"/>
              </a:rPr>
              <a:t> </a:t>
            </a:r>
            <a:r>
              <a:rPr lang="fr-FR" b="0" i="0" dirty="0" err="1">
                <a:solidFill>
                  <a:srgbClr val="ECECEC"/>
                </a:solidFill>
                <a:effectLst/>
                <a:latin typeface="Söhne"/>
              </a:rPr>
              <a:t>VMs</a:t>
            </a:r>
            <a:r>
              <a:rPr lang="fr-FR" b="0" i="0" dirty="0">
                <a:solidFill>
                  <a:srgbClr val="ECECEC"/>
                </a:solidFill>
                <a:effectLst/>
                <a:latin typeface="Söhne"/>
              </a:rPr>
              <a:t> and </a:t>
            </a:r>
            <a:r>
              <a:rPr lang="fr-FR" b="0" i="0" dirty="0" err="1">
                <a:solidFill>
                  <a:srgbClr val="ECECEC"/>
                </a:solidFill>
                <a:effectLst/>
                <a:latin typeface="Söhne"/>
              </a:rPr>
              <a:t>allocating</a:t>
            </a:r>
            <a:r>
              <a:rPr lang="fr-FR" b="0" i="0" dirty="0">
                <a:solidFill>
                  <a:srgbClr val="ECECEC"/>
                </a:solidFill>
                <a:effectLst/>
                <a:latin typeface="Söhne"/>
              </a:rPr>
              <a:t> </a:t>
            </a:r>
            <a:r>
              <a:rPr lang="fr-FR" b="0" i="0" dirty="0" err="1">
                <a:solidFill>
                  <a:srgbClr val="ECECEC"/>
                </a:solidFill>
                <a:effectLst/>
                <a:latin typeface="Söhne"/>
              </a:rPr>
              <a:t>physical</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Virtual Machines: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VM </a:t>
            </a:r>
            <a:r>
              <a:rPr lang="fr-FR" b="0" i="0" dirty="0" err="1">
                <a:solidFill>
                  <a:srgbClr val="ECECEC"/>
                </a:solidFill>
                <a:effectLst/>
                <a:latin typeface="Söhne"/>
              </a:rPr>
              <a:t>contains</a:t>
            </a:r>
            <a:r>
              <a:rPr lang="fr-FR" b="0" i="0" dirty="0">
                <a:solidFill>
                  <a:srgbClr val="ECECEC"/>
                </a:solidFill>
                <a:effectLst/>
                <a:latin typeface="Söhne"/>
              </a:rPr>
              <a:t> a </a:t>
            </a:r>
            <a:r>
              <a:rPr lang="fr-FR" b="0" i="0" dirty="0" err="1">
                <a:solidFill>
                  <a:srgbClr val="ECECEC"/>
                </a:solidFill>
                <a:effectLst/>
                <a:latin typeface="Söhne"/>
              </a:rPr>
              <a:t>complete</a:t>
            </a:r>
            <a:r>
              <a:rPr lang="fr-FR" b="0" i="0" dirty="0">
                <a:solidFill>
                  <a:srgbClr val="ECECEC"/>
                </a:solidFill>
                <a:effectLst/>
                <a:latin typeface="Söhne"/>
              </a:rPr>
              <a:t> operating system, </a:t>
            </a:r>
            <a:r>
              <a:rPr lang="fr-FR" b="0" i="0" dirty="0" err="1">
                <a:solidFill>
                  <a:srgbClr val="ECECEC"/>
                </a:solidFill>
                <a:effectLst/>
                <a:latin typeface="Söhne"/>
              </a:rPr>
              <a:t>including</a:t>
            </a:r>
            <a:r>
              <a:rPr lang="fr-FR" b="0" i="0" dirty="0">
                <a:solidFill>
                  <a:srgbClr val="ECECEC"/>
                </a:solidFill>
                <a:effectLst/>
                <a:latin typeface="Söhne"/>
              </a:rPr>
              <a:t> the kernel, drivers, and applications.</a:t>
            </a:r>
          </a:p>
          <a:p>
            <a:pPr marL="742950" lvl="1" indent="-285750" algn="l">
              <a:buFont typeface="Arial" panose="020B0604020202020204" pitchFamily="34" charset="0"/>
              <a:buChar char="•"/>
            </a:pPr>
            <a:r>
              <a:rPr lang="fr-FR" b="0" i="0" dirty="0">
                <a:solidFill>
                  <a:srgbClr val="ECECEC"/>
                </a:solidFill>
                <a:effectLst/>
                <a:latin typeface="Söhne"/>
              </a:rPr>
              <a:t>The </a:t>
            </a:r>
            <a:r>
              <a:rPr lang="fr-FR" b="0" i="0" dirty="0" err="1">
                <a:solidFill>
                  <a:srgbClr val="ECECEC"/>
                </a:solidFill>
                <a:effectLst/>
                <a:latin typeface="Söhne"/>
              </a:rPr>
              <a:t>hypervisor</a:t>
            </a:r>
            <a:r>
              <a:rPr lang="fr-FR" b="0" i="0" dirty="0">
                <a:solidFill>
                  <a:srgbClr val="ECECEC"/>
                </a:solidFill>
                <a:effectLst/>
                <a:latin typeface="Söhne"/>
              </a:rPr>
              <a:t> manages </a:t>
            </a:r>
            <a:r>
              <a:rPr lang="fr-FR" b="0" i="0" dirty="0" err="1">
                <a:solidFill>
                  <a:srgbClr val="ECECEC"/>
                </a:solidFill>
                <a:effectLst/>
                <a:latin typeface="Söhne"/>
              </a:rPr>
              <a:t>physical</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and </a:t>
            </a:r>
            <a:r>
              <a:rPr lang="fr-FR" b="0" i="0" dirty="0" err="1">
                <a:solidFill>
                  <a:srgbClr val="ECECEC"/>
                </a:solidFill>
                <a:effectLst/>
                <a:latin typeface="Söhne"/>
              </a:rPr>
              <a:t>allows</a:t>
            </a:r>
            <a:r>
              <a:rPr lang="fr-FR" b="0" i="0" dirty="0">
                <a:solidFill>
                  <a:srgbClr val="ECECEC"/>
                </a:solidFill>
                <a:effectLst/>
                <a:latin typeface="Söhne"/>
              </a:rPr>
              <a:t> multiple </a:t>
            </a:r>
            <a:r>
              <a:rPr lang="fr-FR" b="0" i="0" dirty="0" err="1">
                <a:solidFill>
                  <a:srgbClr val="ECECEC"/>
                </a:solidFill>
                <a:effectLst/>
                <a:latin typeface="Söhne"/>
              </a:rPr>
              <a:t>VMs</a:t>
            </a:r>
            <a:r>
              <a:rPr lang="fr-FR" b="0" i="0" dirty="0">
                <a:solidFill>
                  <a:srgbClr val="ECECEC"/>
                </a:solidFill>
                <a:effectLst/>
                <a:latin typeface="Söhne"/>
              </a:rPr>
              <a:t> to run on a single </a:t>
            </a:r>
            <a:r>
              <a:rPr lang="fr-FR" b="0" i="0" dirty="0" err="1">
                <a:solidFill>
                  <a:srgbClr val="ECECEC"/>
                </a:solidFill>
                <a:effectLst/>
                <a:latin typeface="Söhne"/>
              </a:rPr>
              <a:t>physical</a:t>
            </a:r>
            <a:r>
              <a:rPr lang="fr-FR" b="0" i="0" dirty="0">
                <a:solidFill>
                  <a:srgbClr val="ECECEC"/>
                </a:solidFill>
                <a:effectLst/>
                <a:latin typeface="Söhne"/>
              </a:rPr>
              <a:t> server.</a:t>
            </a:r>
          </a:p>
        </p:txBody>
      </p:sp>
    </p:spTree>
    <p:extLst>
      <p:ext uri="{BB962C8B-B14F-4D97-AF65-F5344CB8AC3E}">
        <p14:creationId xmlns:p14="http://schemas.microsoft.com/office/powerpoint/2010/main" val="25057910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Definition</a:t>
            </a:r>
            <a:r>
              <a:rPr lang="fr-FR" b="1" i="0" dirty="0">
                <a:solidFill>
                  <a:srgbClr val="ECECEC"/>
                </a:solidFill>
                <a:effectLst/>
                <a:latin typeface="Söhne"/>
              </a:rPr>
              <a:t> of Docker Containers: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Docker containers are </a:t>
            </a:r>
            <a:r>
              <a:rPr lang="fr-FR" b="0" i="0" dirty="0" err="1">
                <a:solidFill>
                  <a:srgbClr val="ECECEC"/>
                </a:solidFill>
                <a:effectLst/>
                <a:latin typeface="Söhne"/>
              </a:rPr>
              <a:t>lightweight</a:t>
            </a:r>
            <a:r>
              <a:rPr lang="fr-FR" b="0" i="0" dirty="0">
                <a:solidFill>
                  <a:srgbClr val="ECECEC"/>
                </a:solidFill>
                <a:effectLst/>
                <a:latin typeface="Söhne"/>
              </a:rPr>
              <a:t> and portable instances of software applications, </a:t>
            </a:r>
            <a:r>
              <a:rPr lang="fr-FR" b="0" i="0" dirty="0" err="1">
                <a:solidFill>
                  <a:srgbClr val="ECECEC"/>
                </a:solidFill>
                <a:effectLst/>
                <a:latin typeface="Söhne"/>
              </a:rPr>
              <a:t>bundling</a:t>
            </a:r>
            <a:r>
              <a:rPr lang="fr-FR" b="0" i="0" dirty="0">
                <a:solidFill>
                  <a:srgbClr val="ECECEC"/>
                </a:solidFill>
                <a:effectLst/>
                <a:latin typeface="Söhne"/>
              </a:rPr>
              <a:t> </a:t>
            </a:r>
            <a:r>
              <a:rPr lang="fr-FR" b="0" i="0" dirty="0" err="1">
                <a:solidFill>
                  <a:srgbClr val="ECECEC"/>
                </a:solidFill>
                <a:effectLst/>
                <a:latin typeface="Söhne"/>
              </a:rPr>
              <a:t>everything</a:t>
            </a:r>
            <a:r>
              <a:rPr lang="fr-FR" b="0" i="0" dirty="0">
                <a:solidFill>
                  <a:srgbClr val="ECECEC"/>
                </a:solidFill>
                <a:effectLst/>
                <a:latin typeface="Söhne"/>
              </a:rPr>
              <a:t>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need</a:t>
            </a:r>
            <a:r>
              <a:rPr lang="fr-FR" b="0" i="0" dirty="0">
                <a:solidFill>
                  <a:srgbClr val="ECECEC"/>
                </a:solidFill>
                <a:effectLst/>
                <a:latin typeface="Söhne"/>
              </a:rPr>
              <a:t> to run, </a:t>
            </a:r>
            <a:r>
              <a:rPr lang="fr-FR" b="0" i="0" dirty="0" err="1">
                <a:solidFill>
                  <a:srgbClr val="ECECEC"/>
                </a:solidFill>
                <a:effectLst/>
                <a:latin typeface="Söhne"/>
              </a:rPr>
              <a:t>including</a:t>
            </a:r>
            <a:r>
              <a:rPr lang="fr-FR" b="0" i="0" dirty="0">
                <a:solidFill>
                  <a:srgbClr val="ECECEC"/>
                </a:solidFill>
                <a:effectLst/>
                <a:latin typeface="Söhne"/>
              </a:rPr>
              <a:t> code, </a:t>
            </a:r>
            <a:r>
              <a:rPr lang="fr-FR" b="0" i="0" dirty="0" err="1">
                <a:solidFill>
                  <a:srgbClr val="ECECEC"/>
                </a:solidFill>
                <a:effectLst/>
                <a:latin typeface="Söhne"/>
              </a:rPr>
              <a:t>libraries</a:t>
            </a:r>
            <a:r>
              <a:rPr lang="fr-FR" b="0" i="0" dirty="0">
                <a:solidFill>
                  <a:srgbClr val="ECECEC"/>
                </a:solidFill>
                <a:effectLst/>
                <a:latin typeface="Söhne"/>
              </a:rPr>
              <a:t>, and </a:t>
            </a:r>
            <a:r>
              <a:rPr lang="fr-FR" b="0" i="0" dirty="0" err="1">
                <a:solidFill>
                  <a:srgbClr val="ECECEC"/>
                </a:solidFill>
                <a:effectLst/>
                <a:latin typeface="Söhne"/>
              </a:rPr>
              <a:t>dependencies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Use Cases of Docker Containers: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Application </a:t>
            </a:r>
            <a:r>
              <a:rPr lang="fr-FR" b="1" i="0" dirty="0" err="1">
                <a:solidFill>
                  <a:srgbClr val="ECECEC"/>
                </a:solidFill>
                <a:effectLst/>
                <a:latin typeface="Söhne"/>
              </a:rPr>
              <a:t>Deployment</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Docker containers </a:t>
            </a:r>
            <a:r>
              <a:rPr lang="fr-FR" b="0" i="0" dirty="0" err="1">
                <a:solidFill>
                  <a:srgbClr val="ECECEC"/>
                </a:solidFill>
                <a:effectLst/>
                <a:latin typeface="Söhne"/>
              </a:rPr>
              <a:t>facilitate</a:t>
            </a:r>
            <a:r>
              <a:rPr lang="fr-FR" b="0" i="0" dirty="0">
                <a:solidFill>
                  <a:srgbClr val="ECECEC"/>
                </a:solidFill>
                <a:effectLst/>
                <a:latin typeface="Söhne"/>
              </a:rPr>
              <a:t> the </a:t>
            </a:r>
            <a:r>
              <a:rPr lang="fr-FR" b="0" i="0" dirty="0" err="1">
                <a:solidFill>
                  <a:srgbClr val="ECECEC"/>
                </a:solidFill>
                <a:effectLst/>
                <a:latin typeface="Söhne"/>
              </a:rPr>
              <a:t>deployment</a:t>
            </a:r>
            <a:r>
              <a:rPr lang="fr-FR" b="0" i="0" dirty="0">
                <a:solidFill>
                  <a:srgbClr val="ECECEC"/>
                </a:solidFill>
                <a:effectLst/>
                <a:latin typeface="Söhne"/>
              </a:rPr>
              <a:t> of applications in </a:t>
            </a:r>
            <a:r>
              <a:rPr lang="fr-FR" b="0" i="0" dirty="0" err="1">
                <a:solidFill>
                  <a:srgbClr val="ECECEC"/>
                </a:solidFill>
                <a:effectLst/>
                <a:latin typeface="Söhne"/>
              </a:rPr>
              <a:t>any</a:t>
            </a:r>
            <a:r>
              <a:rPr lang="fr-FR" b="0" i="0" dirty="0">
                <a:solidFill>
                  <a:srgbClr val="ECECEC"/>
                </a:solidFill>
                <a:effectLst/>
                <a:latin typeface="Söhne"/>
              </a:rPr>
              <a:t> </a:t>
            </a:r>
            <a:r>
              <a:rPr lang="fr-FR" b="0" i="0" dirty="0" err="1">
                <a:solidFill>
                  <a:srgbClr val="ECECEC"/>
                </a:solidFill>
                <a:effectLst/>
                <a:latin typeface="Söhne"/>
              </a:rPr>
              <a:t>environment</a:t>
            </a:r>
            <a:r>
              <a:rPr lang="fr-FR" b="0" i="0" dirty="0">
                <a:solidFill>
                  <a:srgbClr val="ECECEC"/>
                </a:solidFill>
                <a:effectLst/>
                <a:latin typeface="Söhne"/>
              </a:rPr>
              <a:t>, </a:t>
            </a:r>
            <a:r>
              <a:rPr lang="fr-FR" b="0" i="0" dirty="0" err="1">
                <a:solidFill>
                  <a:srgbClr val="ECECEC"/>
                </a:solidFill>
                <a:effectLst/>
                <a:latin typeface="Söhne"/>
              </a:rPr>
              <a:t>whether</a:t>
            </a:r>
            <a:r>
              <a:rPr lang="fr-FR" b="0" i="0" dirty="0">
                <a:solidFill>
                  <a:srgbClr val="ECECEC"/>
                </a:solidFill>
                <a:effectLst/>
                <a:latin typeface="Söhne"/>
              </a:rPr>
              <a:t> </a:t>
            </a:r>
            <a:r>
              <a:rPr lang="fr-FR" b="0" i="0" dirty="0" err="1">
                <a:solidFill>
                  <a:srgbClr val="ECECEC"/>
                </a:solidFill>
                <a:effectLst/>
                <a:latin typeface="Söhne"/>
              </a:rPr>
              <a:t>it's</a:t>
            </a:r>
            <a:r>
              <a:rPr lang="fr-FR" b="0" i="0" dirty="0">
                <a:solidFill>
                  <a:srgbClr val="ECECEC"/>
                </a:solidFill>
                <a:effectLst/>
                <a:latin typeface="Söhne"/>
              </a:rPr>
              <a:t> a local server, a public cloud, or a </a:t>
            </a:r>
            <a:r>
              <a:rPr lang="fr-FR" b="0" i="0" dirty="0" err="1">
                <a:solidFill>
                  <a:srgbClr val="ECECEC"/>
                </a:solidFill>
                <a:effectLst/>
                <a:latin typeface="Söhne"/>
              </a:rPr>
              <a:t>hybrid</a:t>
            </a:r>
            <a:r>
              <a:rPr lang="fr-FR" b="0" i="0" dirty="0">
                <a:solidFill>
                  <a:srgbClr val="ECECEC"/>
                </a:solidFill>
                <a:effectLst/>
                <a:latin typeface="Söhne"/>
              </a:rPr>
              <a:t> cloud.</a:t>
            </a:r>
          </a:p>
          <a:p>
            <a:pPr marL="742950" lvl="1" indent="-285750" algn="l">
              <a:buFont typeface="Arial" panose="020B0604020202020204" pitchFamily="34" charset="0"/>
              <a:buChar char="•"/>
            </a:pPr>
            <a:r>
              <a:rPr lang="fr-FR" b="1" i="0" dirty="0">
                <a:solidFill>
                  <a:srgbClr val="ECECEC"/>
                </a:solidFill>
                <a:effectLst/>
                <a:latin typeface="Söhne"/>
              </a:rPr>
              <a:t>Consistent </a:t>
            </a:r>
            <a:r>
              <a:rPr lang="fr-FR" b="1" i="0" dirty="0" err="1">
                <a:solidFill>
                  <a:srgbClr val="ECECEC"/>
                </a:solidFill>
                <a:effectLst/>
                <a:latin typeface="Söhne"/>
              </a:rPr>
              <a:t>Development</a:t>
            </a:r>
            <a:r>
              <a:rPr lang="fr-FR" b="1" i="0" dirty="0">
                <a:solidFill>
                  <a:srgbClr val="ECECEC"/>
                </a:solidFill>
                <a:effectLst/>
                <a:latin typeface="Söhne"/>
              </a:rPr>
              <a:t> </a:t>
            </a:r>
            <a:r>
              <a:rPr lang="fr-FR" b="1" i="0" dirty="0" err="1">
                <a:solidFill>
                  <a:srgbClr val="ECECEC"/>
                </a:solidFill>
                <a:effectLst/>
                <a:latin typeface="Söhne"/>
              </a:rPr>
              <a:t>Environments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a:t>
            </a:r>
            <a:r>
              <a:rPr lang="fr-FR" b="0" i="0" dirty="0" err="1">
                <a:solidFill>
                  <a:srgbClr val="ECECEC"/>
                </a:solidFill>
                <a:effectLst/>
                <a:latin typeface="Söhne"/>
              </a:rPr>
              <a:t>ensure</a:t>
            </a:r>
            <a:r>
              <a:rPr lang="fr-FR" b="0" i="0" dirty="0">
                <a:solidFill>
                  <a:srgbClr val="ECECEC"/>
                </a:solidFill>
                <a:effectLst/>
                <a:latin typeface="Söhne"/>
              </a:rPr>
              <a:t>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development</a:t>
            </a:r>
            <a:r>
              <a:rPr lang="fr-FR" b="0" i="0" dirty="0">
                <a:solidFill>
                  <a:srgbClr val="ECECEC"/>
                </a:solidFill>
                <a:effectLst/>
                <a:latin typeface="Söhne"/>
              </a:rPr>
              <a:t> </a:t>
            </a:r>
            <a:r>
              <a:rPr lang="fr-FR" b="0" i="0" dirty="0" err="1">
                <a:solidFill>
                  <a:srgbClr val="ECECEC"/>
                </a:solidFill>
                <a:effectLst/>
                <a:latin typeface="Söhne"/>
              </a:rPr>
              <a:t>environments</a:t>
            </a:r>
            <a:r>
              <a:rPr lang="fr-FR" b="0" i="0" dirty="0">
                <a:solidFill>
                  <a:srgbClr val="ECECEC"/>
                </a:solidFill>
                <a:effectLst/>
                <a:latin typeface="Söhne"/>
              </a:rPr>
              <a:t> are consistent </a:t>
            </a:r>
            <a:r>
              <a:rPr lang="fr-FR" b="0" i="0" dirty="0" err="1">
                <a:solidFill>
                  <a:srgbClr val="ECECEC"/>
                </a:solidFill>
                <a:effectLst/>
                <a:latin typeface="Söhne"/>
              </a:rPr>
              <a:t>across</a:t>
            </a:r>
            <a:r>
              <a:rPr lang="fr-FR" b="0" i="0" dirty="0">
                <a:solidFill>
                  <a:srgbClr val="ECECEC"/>
                </a:solidFill>
                <a:effectLst/>
                <a:latin typeface="Söhne"/>
              </a:rPr>
              <a:t> teams, </a:t>
            </a:r>
            <a:r>
              <a:rPr lang="fr-FR" b="0" i="0" dirty="0" err="1">
                <a:solidFill>
                  <a:srgbClr val="ECECEC"/>
                </a:solidFill>
                <a:effectLst/>
                <a:latin typeface="Söhne"/>
              </a:rPr>
              <a:t>thereby</a:t>
            </a:r>
            <a:r>
              <a:rPr lang="fr-FR" b="0" i="0" dirty="0">
                <a:solidFill>
                  <a:srgbClr val="ECECEC"/>
                </a:solidFill>
                <a:effectLst/>
                <a:latin typeface="Söhne"/>
              </a:rPr>
              <a:t> </a:t>
            </a:r>
            <a:r>
              <a:rPr lang="fr-FR" b="0" i="0" dirty="0" err="1">
                <a:solidFill>
                  <a:srgbClr val="ECECEC"/>
                </a:solidFill>
                <a:effectLst/>
                <a:latin typeface="Söhne"/>
              </a:rPr>
              <a:t>avoiding</a:t>
            </a:r>
            <a:r>
              <a:rPr lang="fr-FR" b="0" i="0" dirty="0">
                <a:solidFill>
                  <a:srgbClr val="ECECEC"/>
                </a:solidFill>
                <a:effectLst/>
                <a:latin typeface="Söhne"/>
              </a:rPr>
              <a:t> compatibility issues.</a:t>
            </a:r>
          </a:p>
          <a:p>
            <a:pPr marL="742950" lvl="1" indent="-285750" algn="l">
              <a:buFont typeface="Arial" panose="020B0604020202020204" pitchFamily="34" charset="0"/>
              <a:buChar char="•"/>
            </a:pPr>
            <a:r>
              <a:rPr lang="fr-FR" b="1" i="0" dirty="0" err="1">
                <a:solidFill>
                  <a:srgbClr val="ECECEC"/>
                </a:solidFill>
                <a:effectLst/>
                <a:latin typeface="Söhne"/>
              </a:rPr>
              <a:t>Microservices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are </a:t>
            </a:r>
            <a:r>
              <a:rPr lang="fr-FR" b="0" i="0" dirty="0" err="1">
                <a:solidFill>
                  <a:srgbClr val="ECECEC"/>
                </a:solidFill>
                <a:effectLst/>
                <a:latin typeface="Söhne"/>
              </a:rPr>
              <a:t>often</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in a </a:t>
            </a:r>
            <a:r>
              <a:rPr lang="fr-FR" b="0" i="0" dirty="0" err="1">
                <a:solidFill>
                  <a:srgbClr val="ECECEC"/>
                </a:solidFill>
                <a:effectLst/>
                <a:latin typeface="Söhne"/>
              </a:rPr>
              <a:t>microservices</a:t>
            </a:r>
            <a:r>
              <a:rPr lang="fr-FR" b="0" i="0" dirty="0">
                <a:solidFill>
                  <a:srgbClr val="ECECEC"/>
                </a:solidFill>
                <a:effectLst/>
                <a:latin typeface="Söhne"/>
              </a:rPr>
              <a:t> architecture to </a:t>
            </a:r>
            <a:r>
              <a:rPr lang="fr-FR" b="0" i="0" dirty="0" err="1">
                <a:solidFill>
                  <a:srgbClr val="ECECEC"/>
                </a:solidFill>
                <a:effectLst/>
                <a:latin typeface="Söhne"/>
              </a:rPr>
              <a:t>encapsulate</a:t>
            </a:r>
            <a:r>
              <a:rPr lang="fr-FR" b="0" i="0" dirty="0">
                <a:solidFill>
                  <a:srgbClr val="ECECEC"/>
                </a:solidFill>
                <a:effectLst/>
                <a:latin typeface="Söhne"/>
              </a:rPr>
              <a:t> </a:t>
            </a:r>
            <a:r>
              <a:rPr lang="fr-FR" b="0" i="0" dirty="0" err="1">
                <a:solidFill>
                  <a:srgbClr val="ECECEC"/>
                </a:solidFill>
                <a:effectLst/>
                <a:latin typeface="Söhne"/>
              </a:rPr>
              <a:t>each</a:t>
            </a:r>
            <a:r>
              <a:rPr lang="fr-FR" b="0" i="0" dirty="0">
                <a:solidFill>
                  <a:srgbClr val="ECECEC"/>
                </a:solidFill>
                <a:effectLst/>
                <a:latin typeface="Söhne"/>
              </a:rPr>
              <a:t> service in an </a:t>
            </a:r>
            <a:r>
              <a:rPr lang="fr-FR" b="0" i="0" dirty="0" err="1">
                <a:solidFill>
                  <a:srgbClr val="ECECEC"/>
                </a:solidFill>
                <a:effectLst/>
                <a:latin typeface="Söhne"/>
              </a:rPr>
              <a:t>isolated</a:t>
            </a:r>
            <a:r>
              <a:rPr lang="fr-FR" b="0" i="0" dirty="0">
                <a:solidFill>
                  <a:srgbClr val="ECECEC"/>
                </a:solidFill>
                <a:effectLst/>
                <a:latin typeface="Söhne"/>
              </a:rPr>
              <a:t> and scalable </a:t>
            </a:r>
            <a:r>
              <a:rPr lang="fr-FR" b="0" i="0" dirty="0" err="1">
                <a:solidFill>
                  <a:srgbClr val="ECECEC"/>
                </a:solidFill>
                <a:effectLst/>
                <a:latin typeface="Söhne"/>
              </a:rPr>
              <a:t>manner</a:t>
            </a:r>
            <a:r>
              <a:rPr lang="fr-FR" b="0" i="0" dirty="0">
                <a:solidFill>
                  <a:srgbClr val="ECECEC"/>
                </a:solidFill>
                <a:effectLst/>
                <a:latin typeface="Söhne"/>
              </a:rPr>
              <a:t>.</a:t>
            </a:r>
          </a:p>
        </p:txBody>
      </p:sp>
    </p:spTree>
    <p:extLst>
      <p:ext uri="{BB962C8B-B14F-4D97-AF65-F5344CB8AC3E}">
        <p14:creationId xmlns:p14="http://schemas.microsoft.com/office/powerpoint/2010/main" val="4081469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1" i="0" dirty="0">
                <a:solidFill>
                  <a:srgbClr val="ECECEC"/>
                </a:solidFill>
                <a:effectLst/>
                <a:latin typeface="Söhne"/>
              </a:rPr>
              <a:t>Docker Engine:</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Containerization</a:t>
            </a:r>
            <a:r>
              <a:rPr lang="fr-FR" b="0" i="0" dirty="0">
                <a:solidFill>
                  <a:srgbClr val="ECECEC"/>
                </a:solidFill>
                <a:effectLst/>
                <a:latin typeface="Söhne"/>
              </a:rPr>
              <a:t> platform for </a:t>
            </a:r>
            <a:r>
              <a:rPr lang="fr-FR" b="0" i="0" dirty="0" err="1">
                <a:solidFill>
                  <a:srgbClr val="ECECEC"/>
                </a:solidFill>
                <a:effectLst/>
                <a:latin typeface="Söhne"/>
              </a:rPr>
              <a:t>creating</a:t>
            </a:r>
            <a:r>
              <a:rPr lang="fr-FR" b="0" i="0" dirty="0">
                <a:solidFill>
                  <a:srgbClr val="ECECEC"/>
                </a:solidFill>
                <a:effectLst/>
                <a:latin typeface="Söhne"/>
              </a:rPr>
              <a:t>, </a:t>
            </a:r>
            <a:r>
              <a:rPr lang="fr-FR" b="0" i="0" dirty="0" err="1">
                <a:solidFill>
                  <a:srgbClr val="ECECEC"/>
                </a:solidFill>
                <a:effectLst/>
                <a:latin typeface="Söhne"/>
              </a:rPr>
              <a:t>managing</a:t>
            </a:r>
            <a:r>
              <a:rPr lang="fr-FR" b="0" i="0" dirty="0">
                <a:solidFill>
                  <a:srgbClr val="ECECEC"/>
                </a:solidFill>
                <a:effectLst/>
                <a:latin typeface="Söhne"/>
              </a:rPr>
              <a:t>, and running containers.</a:t>
            </a:r>
          </a:p>
          <a:p>
            <a:pPr algn="l">
              <a:buFont typeface="Arial" panose="020B0604020202020204" pitchFamily="34" charset="0"/>
              <a:buChar char="•"/>
            </a:pPr>
            <a:r>
              <a:rPr lang="fr-FR" b="1" i="0" dirty="0">
                <a:solidFill>
                  <a:srgbClr val="ECECEC"/>
                </a:solidFill>
                <a:effectLst/>
                <a:latin typeface="Söhne"/>
              </a:rPr>
              <a:t>Main Components: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Docker Daemon, Docker Client, Docker </a:t>
            </a:r>
            <a:r>
              <a:rPr lang="fr-FR" b="0" i="0" dirty="0" err="1">
                <a:solidFill>
                  <a:srgbClr val="ECECEC"/>
                </a:solidFill>
                <a:effectLst/>
                <a:latin typeface="Söhne"/>
              </a:rPr>
              <a:t>Registry</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Containers: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Containers </a:t>
            </a:r>
            <a:r>
              <a:rPr lang="fr-FR" b="0" i="0" dirty="0" err="1">
                <a:solidFill>
                  <a:srgbClr val="ECECEC"/>
                </a:solidFill>
                <a:effectLst/>
                <a:latin typeface="Söhne"/>
              </a:rPr>
              <a:t>share</a:t>
            </a:r>
            <a:r>
              <a:rPr lang="fr-FR" b="0" i="0" dirty="0">
                <a:solidFill>
                  <a:srgbClr val="ECECEC"/>
                </a:solidFill>
                <a:effectLst/>
                <a:latin typeface="Söhne"/>
              </a:rPr>
              <a:t> the </a:t>
            </a:r>
            <a:r>
              <a:rPr lang="fr-FR" b="0" i="0" dirty="0" err="1">
                <a:solidFill>
                  <a:srgbClr val="ECECEC"/>
                </a:solidFill>
                <a:effectLst/>
                <a:latin typeface="Söhne"/>
              </a:rPr>
              <a:t>same</a:t>
            </a:r>
            <a:r>
              <a:rPr lang="fr-FR" b="0" i="0" dirty="0">
                <a:solidFill>
                  <a:srgbClr val="ECECEC"/>
                </a:solidFill>
                <a:effectLst/>
                <a:latin typeface="Söhne"/>
              </a:rPr>
              <a:t> kernel as the host operating system.</a:t>
            </a:r>
          </a:p>
          <a:p>
            <a:pPr marL="742950" lvl="1" indent="-285750" algn="l">
              <a:buFont typeface="Arial" panose="020B0604020202020204" pitchFamily="34" charset="0"/>
              <a:buChar char="•"/>
            </a:pP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only</a:t>
            </a:r>
            <a:r>
              <a:rPr lang="fr-FR" b="0" i="0" dirty="0">
                <a:solidFill>
                  <a:srgbClr val="ECECEC"/>
                </a:solidFill>
                <a:effectLst/>
                <a:latin typeface="Söhne"/>
              </a:rPr>
              <a:t> </a:t>
            </a:r>
            <a:r>
              <a:rPr lang="fr-FR" b="0" i="0" dirty="0" err="1">
                <a:solidFill>
                  <a:srgbClr val="ECECEC"/>
                </a:solidFill>
                <a:effectLst/>
                <a:latin typeface="Söhne"/>
              </a:rPr>
              <a:t>include</a:t>
            </a:r>
            <a:r>
              <a:rPr lang="fr-FR" b="0" i="0" dirty="0">
                <a:solidFill>
                  <a:srgbClr val="ECECEC"/>
                </a:solidFill>
                <a:effectLst/>
                <a:latin typeface="Söhne"/>
              </a:rPr>
              <a:t> the </a:t>
            </a:r>
            <a:r>
              <a:rPr lang="fr-FR" b="0" i="0" dirty="0" err="1">
                <a:solidFill>
                  <a:srgbClr val="ECECEC"/>
                </a:solidFill>
                <a:effectLst/>
                <a:latin typeface="Söhne"/>
              </a:rPr>
              <a:t>libraries</a:t>
            </a:r>
            <a:r>
              <a:rPr lang="fr-FR" b="0" i="0" dirty="0">
                <a:solidFill>
                  <a:srgbClr val="ECECEC"/>
                </a:solidFill>
                <a:effectLst/>
                <a:latin typeface="Söhne"/>
              </a:rPr>
              <a:t> and </a:t>
            </a:r>
            <a:r>
              <a:rPr lang="fr-FR" b="0" i="0" dirty="0" err="1">
                <a:solidFill>
                  <a:srgbClr val="ECECEC"/>
                </a:solidFill>
                <a:effectLst/>
                <a:latin typeface="Söhne"/>
              </a:rPr>
              <a:t>dependencies</a:t>
            </a:r>
            <a:r>
              <a:rPr lang="fr-FR" b="0" i="0" dirty="0">
                <a:solidFill>
                  <a:srgbClr val="ECECEC"/>
                </a:solidFill>
                <a:effectLst/>
                <a:latin typeface="Söhne"/>
              </a:rPr>
              <a:t> </a:t>
            </a:r>
            <a:r>
              <a:rPr lang="fr-FR" b="0" i="0" dirty="0" err="1">
                <a:solidFill>
                  <a:srgbClr val="ECECEC"/>
                </a:solidFill>
                <a:effectLst/>
                <a:latin typeface="Söhne"/>
              </a:rPr>
              <a:t>required</a:t>
            </a:r>
            <a:r>
              <a:rPr lang="fr-FR" b="0" i="0" dirty="0">
                <a:solidFill>
                  <a:srgbClr val="ECECEC"/>
                </a:solidFill>
                <a:effectLst/>
                <a:latin typeface="Söhne"/>
              </a:rPr>
              <a:t> for the application, </a:t>
            </a:r>
            <a:r>
              <a:rPr lang="fr-FR" b="0" i="0" dirty="0" err="1">
                <a:solidFill>
                  <a:srgbClr val="ECECEC"/>
                </a:solidFill>
                <a:effectLst/>
                <a:latin typeface="Söhne"/>
              </a:rPr>
              <a:t>making</a:t>
            </a:r>
            <a:r>
              <a:rPr lang="fr-FR" b="0" i="0" dirty="0">
                <a:solidFill>
                  <a:srgbClr val="ECECEC"/>
                </a:solidFill>
                <a:effectLst/>
                <a:latin typeface="Söhne"/>
              </a:rPr>
              <a:t> </a:t>
            </a:r>
            <a:r>
              <a:rPr lang="fr-FR" b="0" i="0" dirty="0" err="1">
                <a:solidFill>
                  <a:srgbClr val="ECECEC"/>
                </a:solidFill>
                <a:effectLst/>
                <a:latin typeface="Söhne"/>
              </a:rPr>
              <a:t>them</a:t>
            </a:r>
            <a:r>
              <a:rPr lang="fr-FR" b="0" i="0" dirty="0">
                <a:solidFill>
                  <a:srgbClr val="ECECEC"/>
                </a:solidFill>
                <a:effectLst/>
                <a:latin typeface="Söhne"/>
              </a:rPr>
              <a:t> </a:t>
            </a:r>
            <a:r>
              <a:rPr lang="fr-FR" b="0" i="0" dirty="0" err="1">
                <a:solidFill>
                  <a:srgbClr val="ECECEC"/>
                </a:solidFill>
                <a:effectLst/>
                <a:latin typeface="Söhne"/>
              </a:rPr>
              <a:t>lightweight</a:t>
            </a:r>
            <a:r>
              <a:rPr lang="fr-FR" b="0" i="0" dirty="0">
                <a:solidFill>
                  <a:srgbClr val="ECECEC"/>
                </a:solidFill>
                <a:effectLst/>
                <a:latin typeface="Söhne"/>
              </a:rPr>
              <a:t> and portable.</a:t>
            </a:r>
          </a:p>
        </p:txBody>
      </p:sp>
    </p:spTree>
    <p:extLst>
      <p:ext uri="{BB962C8B-B14F-4D97-AF65-F5344CB8AC3E}">
        <p14:creationId xmlns:p14="http://schemas.microsoft.com/office/powerpoint/2010/main" val="3544395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KUBERNETES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18251"/>
            <a:ext cx="10222539" cy="4186263"/>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Definition</a:t>
            </a:r>
            <a:r>
              <a:rPr lang="fr-FR" b="1" i="0" dirty="0">
                <a:solidFill>
                  <a:srgbClr val="ECECEC"/>
                </a:solidFill>
                <a:effectLst/>
                <a:latin typeface="Söhne"/>
              </a:rPr>
              <a:t> of </a:t>
            </a:r>
            <a:r>
              <a:rPr lang="fr-FR" b="1" i="0" dirty="0" err="1">
                <a:solidFill>
                  <a:srgbClr val="ECECEC"/>
                </a:solidFill>
                <a:effectLst/>
                <a:latin typeface="Söhne"/>
              </a:rPr>
              <a:t>Kubernetes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an open-source container orchestration management system </a:t>
            </a:r>
            <a:r>
              <a:rPr lang="fr-FR" b="0" i="0" dirty="0" err="1">
                <a:solidFill>
                  <a:srgbClr val="ECECEC"/>
                </a:solidFill>
                <a:effectLst/>
                <a:latin typeface="Söhne"/>
              </a:rPr>
              <a:t>designed</a:t>
            </a:r>
            <a:r>
              <a:rPr lang="fr-FR" b="0" i="0" dirty="0">
                <a:solidFill>
                  <a:srgbClr val="ECECEC"/>
                </a:solidFill>
                <a:effectLst/>
                <a:latin typeface="Söhne"/>
              </a:rPr>
              <a:t> to automate the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 and management of </a:t>
            </a:r>
            <a:r>
              <a:rPr lang="fr-FR" b="0" i="0" dirty="0" err="1">
                <a:solidFill>
                  <a:srgbClr val="ECECEC"/>
                </a:solidFill>
                <a:effectLst/>
                <a:latin typeface="Söhne"/>
              </a:rPr>
              <a:t>containerized</a:t>
            </a:r>
            <a:r>
              <a:rPr lang="fr-FR" b="0" i="0" dirty="0">
                <a:solidFill>
                  <a:srgbClr val="ECECEC"/>
                </a:solidFill>
                <a:effectLst/>
                <a:latin typeface="Söhne"/>
              </a:rPr>
              <a:t> applications.</a:t>
            </a:r>
          </a:p>
          <a:p>
            <a:pPr algn="l">
              <a:buFont typeface="Arial" panose="020B0604020202020204" pitchFamily="34" charset="0"/>
              <a:buChar char="•"/>
            </a:pPr>
            <a:r>
              <a:rPr lang="fr-FR" b="1" i="0" dirty="0">
                <a:solidFill>
                  <a:srgbClr val="ECECEC"/>
                </a:solidFill>
                <a:effectLst/>
                <a:latin typeface="Söhne"/>
              </a:rPr>
              <a:t>Use Cases of </a:t>
            </a:r>
            <a:r>
              <a:rPr lang="fr-FR" b="1" i="0" dirty="0" err="1">
                <a:solidFill>
                  <a:srgbClr val="ECECEC"/>
                </a:solidFill>
                <a:effectLst/>
                <a:latin typeface="Söhne"/>
              </a:rPr>
              <a:t>Kubernetes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Container Orchestration: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simplifies the management of a large </a:t>
            </a:r>
            <a:r>
              <a:rPr lang="fr-FR" b="0" i="0" dirty="0" err="1">
                <a:solidFill>
                  <a:srgbClr val="ECECEC"/>
                </a:solidFill>
                <a:effectLst/>
                <a:latin typeface="Söhne"/>
              </a:rPr>
              <a:t>number</a:t>
            </a:r>
            <a:r>
              <a:rPr lang="fr-FR" b="0" i="0" dirty="0">
                <a:solidFill>
                  <a:srgbClr val="ECECEC"/>
                </a:solidFill>
                <a:effectLst/>
                <a:latin typeface="Söhne"/>
              </a:rPr>
              <a:t> of containers by </a:t>
            </a:r>
            <a:r>
              <a:rPr lang="fr-FR" b="0" i="0" dirty="0" err="1">
                <a:solidFill>
                  <a:srgbClr val="ECECEC"/>
                </a:solidFill>
                <a:effectLst/>
                <a:latin typeface="Söhne"/>
              </a:rPr>
              <a:t>automating</a:t>
            </a:r>
            <a:r>
              <a:rPr lang="fr-FR" b="0" i="0" dirty="0">
                <a:solidFill>
                  <a:srgbClr val="ECECEC"/>
                </a:solidFill>
                <a:effectLst/>
                <a:latin typeface="Söhne"/>
              </a:rPr>
              <a:t> </a:t>
            </a:r>
            <a:r>
              <a:rPr lang="fr-FR" b="0" i="0" dirty="0" err="1">
                <a:solidFill>
                  <a:srgbClr val="ECECEC"/>
                </a:solidFill>
                <a:effectLst/>
                <a:latin typeface="Söhne"/>
              </a:rPr>
              <a:t>tasks</a:t>
            </a:r>
            <a:r>
              <a:rPr lang="fr-FR" b="0" i="0" dirty="0">
                <a:solidFill>
                  <a:srgbClr val="ECECEC"/>
                </a:solidFill>
                <a:effectLst/>
                <a:latin typeface="Söhne"/>
              </a:rPr>
              <a:t> </a:t>
            </a:r>
            <a:r>
              <a:rPr lang="fr-FR" b="0" i="0" dirty="0" err="1">
                <a:solidFill>
                  <a:srgbClr val="ECECEC"/>
                </a:solidFill>
                <a:effectLst/>
                <a:latin typeface="Söhne"/>
              </a:rPr>
              <a:t>such</a:t>
            </a:r>
            <a:r>
              <a:rPr lang="fr-FR" b="0" i="0" dirty="0">
                <a:solidFill>
                  <a:srgbClr val="ECECEC"/>
                </a:solidFill>
                <a:effectLst/>
                <a:latin typeface="Söhne"/>
              </a:rPr>
              <a:t> as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 and </a:t>
            </a:r>
            <a:r>
              <a:rPr lang="fr-FR" b="0" i="0" dirty="0" err="1">
                <a:solidFill>
                  <a:srgbClr val="ECECEC"/>
                </a:solidFill>
                <a:effectLst/>
                <a:latin typeface="Söhne"/>
              </a:rPr>
              <a:t>resource</a:t>
            </a:r>
            <a:r>
              <a:rPr lang="fr-FR" b="0" i="0" dirty="0">
                <a:solidFill>
                  <a:srgbClr val="ECECEC"/>
                </a:solidFill>
                <a:effectLst/>
                <a:latin typeface="Söhne"/>
              </a:rPr>
              <a:t> management.</a:t>
            </a:r>
          </a:p>
          <a:p>
            <a:pPr marL="742950" lvl="1" indent="-285750" algn="l">
              <a:buFont typeface="Arial" panose="020B0604020202020204" pitchFamily="34" charset="0"/>
              <a:buChar char="•"/>
            </a:pPr>
            <a:r>
              <a:rPr lang="fr-FR" b="1" i="0" dirty="0">
                <a:solidFill>
                  <a:srgbClr val="ECECEC"/>
                </a:solidFill>
                <a:effectLst/>
                <a:latin typeface="Söhne"/>
              </a:rPr>
              <a:t>High </a:t>
            </a:r>
            <a:r>
              <a:rPr lang="fr-FR" b="1" i="0" dirty="0" err="1">
                <a:solidFill>
                  <a:srgbClr val="ECECEC"/>
                </a:solidFill>
                <a:effectLst/>
                <a:latin typeface="Söhne"/>
              </a:rPr>
              <a:t>Availability</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a:t>
            </a:r>
            <a:r>
              <a:rPr lang="fr-FR" b="0" i="0" dirty="0" err="1">
                <a:solidFill>
                  <a:srgbClr val="ECECEC"/>
                </a:solidFill>
                <a:effectLst/>
                <a:latin typeface="Söhne"/>
              </a:rPr>
              <a:t>ensures</a:t>
            </a:r>
            <a:r>
              <a:rPr lang="fr-FR" b="0" i="0" dirty="0">
                <a:solidFill>
                  <a:srgbClr val="ECECEC"/>
                </a:solidFill>
                <a:effectLst/>
                <a:latin typeface="Söhne"/>
              </a:rPr>
              <a:t> application </a:t>
            </a:r>
            <a:r>
              <a:rPr lang="fr-FR" b="0" i="0" dirty="0" err="1">
                <a:solidFill>
                  <a:srgbClr val="ECECEC"/>
                </a:solidFill>
                <a:effectLst/>
                <a:latin typeface="Söhne"/>
              </a:rPr>
              <a:t>availability</a:t>
            </a:r>
            <a:r>
              <a:rPr lang="fr-FR" b="0" i="0" dirty="0">
                <a:solidFill>
                  <a:srgbClr val="ECECEC"/>
                </a:solidFill>
                <a:effectLst/>
                <a:latin typeface="Söhne"/>
              </a:rPr>
              <a:t> and </a:t>
            </a:r>
            <a:r>
              <a:rPr lang="fr-FR" b="0" i="0" dirty="0" err="1">
                <a:solidFill>
                  <a:srgbClr val="ECECEC"/>
                </a:solidFill>
                <a:effectLst/>
                <a:latin typeface="Söhne"/>
              </a:rPr>
              <a:t>resilience</a:t>
            </a:r>
            <a:r>
              <a:rPr lang="fr-FR" b="0" i="0" dirty="0">
                <a:solidFill>
                  <a:srgbClr val="ECECEC"/>
                </a:solidFill>
                <a:effectLst/>
                <a:latin typeface="Söhne"/>
              </a:rPr>
              <a:t> by </a:t>
            </a:r>
            <a:r>
              <a:rPr lang="fr-FR" b="0" i="0" dirty="0" err="1">
                <a:solidFill>
                  <a:srgbClr val="ECECEC"/>
                </a:solidFill>
                <a:effectLst/>
                <a:latin typeface="Söhne"/>
              </a:rPr>
              <a:t>automatically</a:t>
            </a:r>
            <a:r>
              <a:rPr lang="fr-FR" b="0" i="0" dirty="0">
                <a:solidFill>
                  <a:srgbClr val="ECECEC"/>
                </a:solidFill>
                <a:effectLst/>
                <a:latin typeface="Söhne"/>
              </a:rPr>
              <a:t> </a:t>
            </a:r>
            <a:r>
              <a:rPr lang="fr-FR" b="0" i="0" dirty="0" err="1">
                <a:solidFill>
                  <a:srgbClr val="ECECEC"/>
                </a:solidFill>
                <a:effectLst/>
                <a:latin typeface="Söhne"/>
              </a:rPr>
              <a:t>redeploying</a:t>
            </a:r>
            <a:r>
              <a:rPr lang="fr-FR" b="0" i="0" dirty="0">
                <a:solidFill>
                  <a:srgbClr val="ECECEC"/>
                </a:solidFill>
                <a:effectLst/>
                <a:latin typeface="Söhne"/>
              </a:rPr>
              <a:t> containers in case of </a:t>
            </a:r>
            <a:r>
              <a:rPr lang="fr-FR" b="0" i="0" dirty="0" err="1">
                <a:solidFill>
                  <a:srgbClr val="ECECEC"/>
                </a:solidFill>
                <a:effectLst/>
                <a:latin typeface="Söhne"/>
              </a:rPr>
              <a:t>failure</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Multi-Cloud</a:t>
            </a:r>
            <a:r>
              <a:rPr lang="fr-FR" b="1" i="0" dirty="0">
                <a:solidFill>
                  <a:srgbClr val="ECECEC"/>
                </a:solidFill>
                <a:effectLst/>
                <a:latin typeface="Söhne"/>
              </a:rPr>
              <a:t> </a:t>
            </a:r>
            <a:r>
              <a:rPr lang="fr-FR" b="1" i="0" dirty="0" err="1">
                <a:solidFill>
                  <a:srgbClr val="ECECEC"/>
                </a:solidFill>
                <a:effectLst/>
                <a:latin typeface="Söhne"/>
              </a:rPr>
              <a:t>Deployments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to </a:t>
            </a:r>
            <a:r>
              <a:rPr lang="fr-FR" b="0" i="0" dirty="0" err="1">
                <a:solidFill>
                  <a:srgbClr val="ECECEC"/>
                </a:solidFill>
                <a:effectLst/>
                <a:latin typeface="Söhne"/>
              </a:rPr>
              <a:t>orchestrate</a:t>
            </a:r>
            <a:r>
              <a:rPr lang="fr-FR" b="0" i="0" dirty="0">
                <a:solidFill>
                  <a:srgbClr val="ECECEC"/>
                </a:solidFill>
                <a:effectLst/>
                <a:latin typeface="Söhne"/>
              </a:rPr>
              <a:t> application </a:t>
            </a:r>
            <a:r>
              <a:rPr lang="fr-FR" b="0" i="0" dirty="0" err="1">
                <a:solidFill>
                  <a:srgbClr val="ECECEC"/>
                </a:solidFill>
                <a:effectLst/>
                <a:latin typeface="Söhne"/>
              </a:rPr>
              <a:t>deployments</a:t>
            </a:r>
            <a:r>
              <a:rPr lang="fr-FR" b="0" i="0" dirty="0">
                <a:solidFill>
                  <a:srgbClr val="ECECEC"/>
                </a:solidFill>
                <a:effectLst/>
                <a:latin typeface="Söhne"/>
              </a:rPr>
              <a:t> </a:t>
            </a:r>
            <a:r>
              <a:rPr lang="fr-FR" b="0" i="0" dirty="0" err="1">
                <a:solidFill>
                  <a:srgbClr val="ECECEC"/>
                </a:solidFill>
                <a:effectLst/>
                <a:latin typeface="Söhne"/>
              </a:rPr>
              <a:t>across</a:t>
            </a:r>
            <a:r>
              <a:rPr lang="fr-FR" b="0" i="0" dirty="0">
                <a:solidFill>
                  <a:srgbClr val="ECECEC"/>
                </a:solidFill>
                <a:effectLst/>
                <a:latin typeface="Söhne"/>
              </a:rPr>
              <a:t> multiple cloud </a:t>
            </a:r>
            <a:r>
              <a:rPr lang="fr-FR" b="0" i="0" dirty="0" err="1">
                <a:solidFill>
                  <a:srgbClr val="ECECEC"/>
                </a:solidFill>
                <a:effectLst/>
                <a:latin typeface="Söhne"/>
              </a:rPr>
              <a:t>environments</a:t>
            </a:r>
            <a:r>
              <a:rPr lang="fr-FR" b="0" i="0" dirty="0">
                <a:solidFill>
                  <a:srgbClr val="ECECEC"/>
                </a:solidFill>
                <a:effectLst/>
                <a:latin typeface="Söhne"/>
              </a:rPr>
              <a:t>, </a:t>
            </a:r>
            <a:r>
              <a:rPr lang="fr-FR" b="0" i="0" dirty="0" err="1">
                <a:solidFill>
                  <a:srgbClr val="ECECEC"/>
                </a:solidFill>
                <a:effectLst/>
                <a:latin typeface="Söhne"/>
              </a:rPr>
              <a:t>enabling</a:t>
            </a:r>
            <a:r>
              <a:rPr lang="fr-FR" b="0" i="0" dirty="0">
                <a:solidFill>
                  <a:srgbClr val="ECECEC"/>
                </a:solidFill>
                <a:effectLst/>
                <a:latin typeface="Söhne"/>
              </a:rPr>
              <a:t> </a:t>
            </a:r>
            <a:r>
              <a:rPr lang="fr-FR" b="0" i="0" dirty="0" err="1">
                <a:solidFill>
                  <a:srgbClr val="ECECEC"/>
                </a:solidFill>
                <a:effectLst/>
                <a:latin typeface="Söhne"/>
              </a:rPr>
              <a:t>workload</a:t>
            </a:r>
            <a:r>
              <a:rPr lang="fr-FR" b="0" i="0" dirty="0">
                <a:solidFill>
                  <a:srgbClr val="ECECEC"/>
                </a:solidFill>
                <a:effectLst/>
                <a:latin typeface="Söhne"/>
              </a:rPr>
              <a:t> </a:t>
            </a:r>
            <a:r>
              <a:rPr lang="fr-FR" b="0" i="0" dirty="0" err="1">
                <a:solidFill>
                  <a:srgbClr val="ECECEC"/>
                </a:solidFill>
                <a:effectLst/>
                <a:latin typeface="Söhne"/>
              </a:rPr>
              <a:t>portability</a:t>
            </a:r>
            <a:r>
              <a:rPr lang="fr-FR" b="0" i="0" dirty="0">
                <a:solidFill>
                  <a:srgbClr val="ECECEC"/>
                </a:solidFill>
                <a:effectLst/>
                <a:latin typeface="Söhne"/>
              </a:rPr>
              <a:t>.</a:t>
            </a:r>
          </a:p>
        </p:txBody>
      </p:sp>
    </p:spTree>
    <p:extLst>
      <p:ext uri="{BB962C8B-B14F-4D97-AF65-F5344CB8AC3E}">
        <p14:creationId xmlns:p14="http://schemas.microsoft.com/office/powerpoint/2010/main" val="2158052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KUBERNETES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18251"/>
            <a:ext cx="10222539" cy="4186263"/>
          </a:xfrm>
        </p:spPr>
        <p:txBody>
          <a:bodyPr>
            <a:normAutofit/>
          </a:bodyPr>
          <a:lstStyle/>
          <a:p>
            <a:pPr algn="l">
              <a:buFont typeface="Arial" panose="020B0604020202020204" pitchFamily="34" charset="0"/>
              <a:buChar char="•"/>
            </a:pPr>
            <a:r>
              <a:rPr lang="fr-FR" b="1" i="0" dirty="0" err="1">
                <a:solidFill>
                  <a:srgbClr val="ECECEC"/>
                </a:solidFill>
                <a:effectLst/>
                <a:latin typeface="Söhne"/>
              </a:rPr>
              <a:t>Kubernetes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Open-source container orchestration system for </a:t>
            </a:r>
            <a:r>
              <a:rPr lang="fr-FR" b="0" i="0" dirty="0" err="1">
                <a:solidFill>
                  <a:srgbClr val="ECECEC"/>
                </a:solidFill>
                <a:effectLst/>
                <a:latin typeface="Söhne"/>
              </a:rPr>
              <a:t>automating</a:t>
            </a:r>
            <a:r>
              <a:rPr lang="fr-FR" b="0" i="0" dirty="0">
                <a:solidFill>
                  <a:srgbClr val="ECECEC"/>
                </a:solidFill>
                <a:effectLst/>
                <a:latin typeface="Söhne"/>
              </a:rPr>
              <a:t> the </a:t>
            </a:r>
            <a:r>
              <a:rPr lang="fr-FR" b="0" i="0" dirty="0" err="1">
                <a:solidFill>
                  <a:srgbClr val="ECECEC"/>
                </a:solidFill>
                <a:effectLst/>
                <a:latin typeface="Söhne"/>
              </a:rPr>
              <a:t>deployment</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 and management of </a:t>
            </a:r>
            <a:r>
              <a:rPr lang="fr-FR" b="0" i="0" dirty="0" err="1">
                <a:solidFill>
                  <a:srgbClr val="ECECEC"/>
                </a:solidFill>
                <a:effectLst/>
                <a:latin typeface="Söhne"/>
              </a:rPr>
              <a:t>containerized</a:t>
            </a:r>
            <a:r>
              <a:rPr lang="fr-FR" b="0" i="0" dirty="0">
                <a:solidFill>
                  <a:srgbClr val="ECECEC"/>
                </a:solidFill>
                <a:effectLst/>
                <a:latin typeface="Söhne"/>
              </a:rPr>
              <a:t> applications.</a:t>
            </a:r>
          </a:p>
          <a:p>
            <a:pPr algn="l">
              <a:buFont typeface="Arial" panose="020B0604020202020204" pitchFamily="34" charset="0"/>
              <a:buChar char="•"/>
            </a:pPr>
            <a:r>
              <a:rPr lang="fr-FR" b="1" i="0" dirty="0">
                <a:solidFill>
                  <a:srgbClr val="ECECEC"/>
                </a:solidFill>
                <a:effectLst/>
                <a:latin typeface="Söhne"/>
              </a:rPr>
              <a:t>Architecture of </a:t>
            </a:r>
            <a:r>
              <a:rPr lang="fr-FR" b="1" i="0" dirty="0" err="1">
                <a:solidFill>
                  <a:srgbClr val="ECECEC"/>
                </a:solidFill>
                <a:effectLst/>
                <a:latin typeface="Söhne"/>
              </a:rPr>
              <a:t>Kubernetes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Master:</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Main components: API Server, </a:t>
            </a:r>
            <a:r>
              <a:rPr lang="fr-FR" b="0" i="0" dirty="0" err="1">
                <a:solidFill>
                  <a:srgbClr val="ECECEC"/>
                </a:solidFill>
                <a:effectLst/>
                <a:latin typeface="Söhne"/>
              </a:rPr>
              <a:t>Scheduler</a:t>
            </a:r>
            <a:r>
              <a:rPr lang="fr-FR" b="0" i="0" dirty="0">
                <a:solidFill>
                  <a:srgbClr val="ECECEC"/>
                </a:solidFill>
                <a:effectLst/>
                <a:latin typeface="Söhne"/>
              </a:rPr>
              <a:t>, Controller Manager, and </a:t>
            </a:r>
            <a:r>
              <a:rPr lang="fr-FR" b="0" i="0" dirty="0" err="1">
                <a:solidFill>
                  <a:srgbClr val="ECECEC"/>
                </a:solidFill>
                <a:effectLst/>
                <a:latin typeface="Söhne"/>
              </a:rPr>
              <a:t>etcd</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err="1">
                <a:solidFill>
                  <a:srgbClr val="ECECEC"/>
                </a:solidFill>
                <a:effectLst/>
                <a:latin typeface="Söhne"/>
              </a:rPr>
              <a:t>Nodes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Main components: </a:t>
            </a:r>
            <a:r>
              <a:rPr lang="fr-FR" b="0" i="0" dirty="0" err="1">
                <a:solidFill>
                  <a:srgbClr val="ECECEC"/>
                </a:solidFill>
                <a:effectLst/>
                <a:latin typeface="Söhne"/>
              </a:rPr>
              <a:t>Kubelet</a:t>
            </a:r>
            <a:r>
              <a:rPr lang="fr-FR" b="0" i="0" dirty="0">
                <a:solidFill>
                  <a:srgbClr val="ECECEC"/>
                </a:solidFill>
                <a:effectLst/>
                <a:latin typeface="Söhne"/>
              </a:rPr>
              <a:t>, </a:t>
            </a:r>
            <a:r>
              <a:rPr lang="fr-FR" b="0" i="0" dirty="0" err="1">
                <a:solidFill>
                  <a:srgbClr val="ECECEC"/>
                </a:solidFill>
                <a:effectLst/>
                <a:latin typeface="Söhne"/>
              </a:rPr>
              <a:t>Kube</a:t>
            </a:r>
            <a:r>
              <a:rPr lang="fr-FR" b="0" i="0" dirty="0">
                <a:solidFill>
                  <a:srgbClr val="ECECEC"/>
                </a:solidFill>
                <a:effectLst/>
                <a:latin typeface="Söhne"/>
              </a:rPr>
              <a:t>-proxy, and Container Runtime.</a:t>
            </a:r>
          </a:p>
          <a:p>
            <a:pPr marL="742950" lvl="1" indent="-285750" algn="l">
              <a:buFont typeface="Arial" panose="020B0604020202020204" pitchFamily="34" charset="0"/>
              <a:buChar char="•"/>
            </a:pPr>
            <a:r>
              <a:rPr lang="fr-FR" b="1" i="0" dirty="0" err="1">
                <a:solidFill>
                  <a:srgbClr val="ECECEC"/>
                </a:solidFill>
                <a:effectLst/>
                <a:latin typeface="Söhne"/>
              </a:rPr>
              <a:t>Pods</a:t>
            </a:r>
            <a:r>
              <a:rPr lang="fr-FR" b="1" i="0" dirty="0">
                <a:solidFill>
                  <a:srgbClr val="ECECEC"/>
                </a:solidFill>
                <a:effectLst/>
                <a:latin typeface="Söhne"/>
              </a:rPr>
              <a:t>:</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Basic unit in </a:t>
            </a:r>
            <a:r>
              <a:rPr lang="fr-FR" b="0" i="0" dirty="0" err="1">
                <a:solidFill>
                  <a:srgbClr val="ECECEC"/>
                </a:solidFill>
                <a:effectLst/>
                <a:latin typeface="Söhne"/>
              </a:rPr>
              <a:t>Kubernetes</a:t>
            </a:r>
            <a:r>
              <a:rPr lang="fr-FR" b="0" i="0" dirty="0">
                <a:solidFill>
                  <a:srgbClr val="ECECEC"/>
                </a:solidFill>
                <a:effectLst/>
                <a:latin typeface="Söhne"/>
              </a:rPr>
              <a:t>, </a:t>
            </a:r>
            <a:r>
              <a:rPr lang="fr-FR" b="0" i="0" dirty="0" err="1">
                <a:solidFill>
                  <a:srgbClr val="ECECEC"/>
                </a:solidFill>
                <a:effectLst/>
                <a:latin typeface="Söhne"/>
              </a:rPr>
              <a:t>containing</a:t>
            </a:r>
            <a:r>
              <a:rPr lang="fr-FR" b="0" i="0" dirty="0">
                <a:solidFill>
                  <a:srgbClr val="ECECEC"/>
                </a:solidFill>
                <a:effectLst/>
                <a:latin typeface="Söhne"/>
              </a:rPr>
              <a:t> one or more containers.</a:t>
            </a:r>
          </a:p>
          <a:p>
            <a:pPr marL="742950" lvl="1" indent="-285750" algn="l">
              <a:buFont typeface="Arial" panose="020B0604020202020204" pitchFamily="34" charset="0"/>
              <a:buChar char="•"/>
            </a:pPr>
            <a:r>
              <a:rPr lang="fr-FR" b="1" i="0" dirty="0">
                <a:solidFill>
                  <a:srgbClr val="ECECEC"/>
                </a:solidFill>
                <a:effectLst/>
                <a:latin typeface="Söhne"/>
              </a:rPr>
              <a:t>Services:</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Abstraction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defines</a:t>
            </a:r>
            <a:r>
              <a:rPr lang="fr-FR" b="0" i="0" dirty="0">
                <a:solidFill>
                  <a:srgbClr val="ECECEC"/>
                </a:solidFill>
                <a:effectLst/>
                <a:latin typeface="Söhne"/>
              </a:rPr>
              <a:t> a set of </a:t>
            </a:r>
            <a:r>
              <a:rPr lang="fr-FR" b="0" i="0" dirty="0" err="1">
                <a:solidFill>
                  <a:srgbClr val="ECECEC"/>
                </a:solidFill>
                <a:effectLst/>
                <a:latin typeface="Söhne"/>
              </a:rPr>
              <a:t>pods</a:t>
            </a:r>
            <a:r>
              <a:rPr lang="fr-FR" b="0" i="0" dirty="0">
                <a:solidFill>
                  <a:srgbClr val="ECECEC"/>
                </a:solidFill>
                <a:effectLst/>
                <a:latin typeface="Söhne"/>
              </a:rPr>
              <a:t> and an </a:t>
            </a:r>
            <a:r>
              <a:rPr lang="fr-FR" b="0" i="0" dirty="0" err="1">
                <a:solidFill>
                  <a:srgbClr val="ECECEC"/>
                </a:solidFill>
                <a:effectLst/>
                <a:latin typeface="Söhne"/>
              </a:rPr>
              <a:t>access</a:t>
            </a:r>
            <a:r>
              <a:rPr lang="fr-FR" b="0" i="0" dirty="0">
                <a:solidFill>
                  <a:srgbClr val="ECECEC"/>
                </a:solidFill>
                <a:effectLst/>
                <a:latin typeface="Söhne"/>
              </a:rPr>
              <a:t> </a:t>
            </a:r>
            <a:r>
              <a:rPr lang="fr-FR" b="0" i="0" dirty="0" err="1">
                <a:solidFill>
                  <a:srgbClr val="ECECEC"/>
                </a:solidFill>
                <a:effectLst/>
                <a:latin typeface="Söhne"/>
              </a:rPr>
              <a:t>policy</a:t>
            </a:r>
            <a:r>
              <a:rPr lang="fr-FR" b="0" i="0" dirty="0">
                <a:solidFill>
                  <a:srgbClr val="ECECEC"/>
                </a:solidFill>
                <a:effectLst/>
                <a:latin typeface="Söhne"/>
              </a:rPr>
              <a:t> to </a:t>
            </a:r>
            <a:r>
              <a:rPr lang="fr-FR" b="0" i="0" dirty="0" err="1">
                <a:solidFill>
                  <a:srgbClr val="ECECEC"/>
                </a:solidFill>
                <a:effectLst/>
                <a:latin typeface="Söhne"/>
              </a:rPr>
              <a:t>these</a:t>
            </a:r>
            <a:r>
              <a:rPr lang="fr-FR" b="0" i="0" dirty="0">
                <a:solidFill>
                  <a:srgbClr val="ECECEC"/>
                </a:solidFill>
                <a:effectLst/>
                <a:latin typeface="Söhne"/>
              </a:rPr>
              <a:t> </a:t>
            </a:r>
            <a:r>
              <a:rPr lang="fr-FR" b="0" i="0" dirty="0" err="1">
                <a:solidFill>
                  <a:srgbClr val="ECECEC"/>
                </a:solidFill>
                <a:effectLst/>
                <a:latin typeface="Söhne"/>
              </a:rPr>
              <a:t>pods</a:t>
            </a:r>
            <a:r>
              <a:rPr lang="fr-FR" b="0" i="0" dirty="0">
                <a:solidFill>
                  <a:srgbClr val="ECECEC"/>
                </a:solidFill>
                <a:effectLst/>
                <a:latin typeface="Söhne"/>
              </a:rPr>
              <a:t>.</a:t>
            </a:r>
          </a:p>
        </p:txBody>
      </p:sp>
    </p:spTree>
    <p:extLst>
      <p:ext uri="{BB962C8B-B14F-4D97-AF65-F5344CB8AC3E}">
        <p14:creationId xmlns:p14="http://schemas.microsoft.com/office/powerpoint/2010/main" val="3347671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err="1"/>
              <a:t>VMs</a:t>
            </a:r>
            <a:r>
              <a:rPr lang="fr-FR" sz="3200" dirty="0"/>
              <a:t> vs 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94521" y="1331844"/>
            <a:ext cx="10734261" cy="5135319"/>
          </a:xfrm>
        </p:spPr>
        <p:txBody>
          <a:bodyPr>
            <a:normAutofit fontScale="92500" lnSpcReduction="20000"/>
          </a:bodyPr>
          <a:lstStyle/>
          <a:p>
            <a:pPr algn="l">
              <a:buFont typeface="Arial" panose="020B0604020202020204" pitchFamily="34" charset="0"/>
              <a:buChar char="•"/>
            </a:pPr>
            <a:r>
              <a:rPr lang="fr-FR" b="1" i="0" dirty="0">
                <a:solidFill>
                  <a:srgbClr val="ECECEC"/>
                </a:solidFill>
                <a:effectLst/>
                <a:latin typeface="Söhne"/>
              </a:rPr>
              <a:t>Virtual Machines (</a:t>
            </a:r>
            <a:r>
              <a:rPr lang="fr-FR" b="1" i="0" dirty="0" err="1">
                <a:solidFill>
                  <a:srgbClr val="ECECEC"/>
                </a:solidFill>
                <a:effectLst/>
                <a:latin typeface="Söhne"/>
              </a:rPr>
              <a:t>VMs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Isolation: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Each</a:t>
            </a:r>
            <a:r>
              <a:rPr lang="fr-FR" b="0" i="0" dirty="0">
                <a:solidFill>
                  <a:srgbClr val="ECECEC"/>
                </a:solidFill>
                <a:effectLst/>
                <a:latin typeface="Söhne"/>
              </a:rPr>
              <a:t> VM </a:t>
            </a:r>
            <a:r>
              <a:rPr lang="fr-FR" b="0" i="0" dirty="0" err="1">
                <a:solidFill>
                  <a:srgbClr val="ECECEC"/>
                </a:solidFill>
                <a:effectLst/>
                <a:latin typeface="Söhne"/>
              </a:rPr>
              <a:t>contains</a:t>
            </a:r>
            <a:r>
              <a:rPr lang="fr-FR" b="0" i="0" dirty="0">
                <a:solidFill>
                  <a:srgbClr val="ECECEC"/>
                </a:solidFill>
                <a:effectLst/>
                <a:latin typeface="Söhne"/>
              </a:rPr>
              <a:t> a </a:t>
            </a:r>
            <a:r>
              <a:rPr lang="fr-FR" b="0" i="0" dirty="0" err="1">
                <a:solidFill>
                  <a:srgbClr val="ECECEC"/>
                </a:solidFill>
                <a:effectLst/>
                <a:latin typeface="Söhne"/>
              </a:rPr>
              <a:t>complete</a:t>
            </a:r>
            <a:r>
              <a:rPr lang="fr-FR" b="0" i="0" dirty="0">
                <a:solidFill>
                  <a:srgbClr val="ECECEC"/>
                </a:solidFill>
                <a:effectLst/>
                <a:latin typeface="Söhne"/>
              </a:rPr>
              <a:t> operating system, </a:t>
            </a:r>
            <a:r>
              <a:rPr lang="fr-FR" b="0" i="0" dirty="0" err="1">
                <a:solidFill>
                  <a:srgbClr val="ECECEC"/>
                </a:solidFill>
                <a:effectLst/>
                <a:latin typeface="Söhne"/>
              </a:rPr>
              <a:t>offering</a:t>
            </a:r>
            <a:r>
              <a:rPr lang="fr-FR" b="0" i="0" dirty="0">
                <a:solidFill>
                  <a:srgbClr val="ECECEC"/>
                </a:solidFill>
                <a:effectLst/>
                <a:latin typeface="Söhne"/>
              </a:rPr>
              <a:t> full isolation of hardware </a:t>
            </a:r>
            <a:r>
              <a:rPr lang="fr-FR" b="0" i="0" dirty="0" err="1">
                <a:solidFill>
                  <a:srgbClr val="ECECEC"/>
                </a:solidFill>
                <a:effectLst/>
                <a:latin typeface="Söhne"/>
              </a:rPr>
              <a:t>resources</a:t>
            </a:r>
            <a:r>
              <a:rPr lang="fr-FR" b="0" i="0" dirty="0">
                <a:solidFill>
                  <a:srgbClr val="ECECEC"/>
                </a:solidFill>
                <a:effectLst/>
                <a:latin typeface="Söhne"/>
              </a:rPr>
              <a:t>.</a:t>
            </a:r>
          </a:p>
          <a:p>
            <a:pPr marL="742950" lvl="1" indent="-285750" algn="l">
              <a:buFont typeface="Arial" panose="020B0604020202020204" pitchFamily="34" charset="0"/>
              <a:buChar char="•"/>
            </a:pPr>
            <a:r>
              <a:rPr lang="fr-FR" b="1" i="0" dirty="0">
                <a:solidFill>
                  <a:srgbClr val="ECECEC"/>
                </a:solidFill>
                <a:effectLst/>
                <a:latin typeface="Söhne"/>
              </a:rPr>
              <a:t>Size: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VMs</a:t>
            </a:r>
            <a:r>
              <a:rPr lang="fr-FR" b="0" i="0" dirty="0">
                <a:solidFill>
                  <a:srgbClr val="ECECEC"/>
                </a:solidFill>
                <a:effectLst/>
                <a:latin typeface="Söhne"/>
              </a:rPr>
              <a:t> are </a:t>
            </a:r>
            <a:r>
              <a:rPr lang="fr-FR" b="0" i="0" dirty="0" err="1">
                <a:solidFill>
                  <a:srgbClr val="ECECEC"/>
                </a:solidFill>
                <a:effectLst/>
                <a:latin typeface="Söhne"/>
              </a:rPr>
              <a:t>larger</a:t>
            </a:r>
            <a:r>
              <a:rPr lang="fr-FR" b="0" i="0" dirty="0">
                <a:solidFill>
                  <a:srgbClr val="ECECEC"/>
                </a:solidFill>
                <a:effectLst/>
                <a:latin typeface="Söhne"/>
              </a:rPr>
              <a:t> due to the inclusion of a </a:t>
            </a:r>
            <a:r>
              <a:rPr lang="fr-FR" b="0" i="0" dirty="0" err="1">
                <a:solidFill>
                  <a:srgbClr val="ECECEC"/>
                </a:solidFill>
                <a:effectLst/>
                <a:latin typeface="Söhne"/>
              </a:rPr>
              <a:t>complete</a:t>
            </a:r>
            <a:r>
              <a:rPr lang="fr-FR" b="0" i="0" dirty="0">
                <a:solidFill>
                  <a:srgbClr val="ECECEC"/>
                </a:solidFill>
                <a:effectLst/>
                <a:latin typeface="Söhne"/>
              </a:rPr>
              <a:t> operating system and </a:t>
            </a:r>
            <a:r>
              <a:rPr lang="fr-FR" b="0" i="0" dirty="0" err="1">
                <a:solidFill>
                  <a:srgbClr val="ECECEC"/>
                </a:solidFill>
                <a:effectLst/>
                <a:latin typeface="Söhne"/>
              </a:rPr>
              <a:t>necessary</a:t>
            </a:r>
            <a:r>
              <a:rPr lang="fr-FR" b="0" i="0" dirty="0">
                <a:solidFill>
                  <a:srgbClr val="ECECEC"/>
                </a:solidFill>
                <a:effectLst/>
                <a:latin typeface="Söhne"/>
              </a:rPr>
              <a:t> applications.</a:t>
            </a:r>
          </a:p>
          <a:p>
            <a:pPr marL="742950" lvl="1" indent="-285750" algn="l">
              <a:buFont typeface="Arial" panose="020B0604020202020204" pitchFamily="34" charset="0"/>
              <a:buChar char="•"/>
            </a:pPr>
            <a:r>
              <a:rPr lang="fr-FR" b="1" i="0" dirty="0">
                <a:solidFill>
                  <a:srgbClr val="ECECEC"/>
                </a:solidFill>
                <a:effectLst/>
                <a:latin typeface="Söhne"/>
              </a:rPr>
              <a:t>Startup Time: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VMs</a:t>
            </a:r>
            <a:r>
              <a:rPr lang="fr-FR" b="0" i="0" dirty="0">
                <a:solidFill>
                  <a:srgbClr val="ECECEC"/>
                </a:solidFill>
                <a:effectLst/>
                <a:latin typeface="Söhne"/>
              </a:rPr>
              <a:t> </a:t>
            </a:r>
            <a:r>
              <a:rPr lang="fr-FR" b="0" i="0" dirty="0" err="1">
                <a:solidFill>
                  <a:srgbClr val="ECECEC"/>
                </a:solidFill>
                <a:effectLst/>
                <a:latin typeface="Söhne"/>
              </a:rPr>
              <a:t>take</a:t>
            </a:r>
            <a:r>
              <a:rPr lang="fr-FR" b="0" i="0" dirty="0">
                <a:solidFill>
                  <a:srgbClr val="ECECEC"/>
                </a:solidFill>
                <a:effectLst/>
                <a:latin typeface="Söhne"/>
              </a:rPr>
              <a:t> longer to start as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need</a:t>
            </a:r>
            <a:r>
              <a:rPr lang="fr-FR" b="0" i="0" dirty="0">
                <a:solidFill>
                  <a:srgbClr val="ECECEC"/>
                </a:solidFill>
                <a:effectLst/>
                <a:latin typeface="Söhne"/>
              </a:rPr>
              <a:t> to </a:t>
            </a:r>
            <a:r>
              <a:rPr lang="fr-FR" b="0" i="0" dirty="0" err="1">
                <a:solidFill>
                  <a:srgbClr val="ECECEC"/>
                </a:solidFill>
                <a:effectLst/>
                <a:latin typeface="Söhne"/>
              </a:rPr>
              <a:t>load</a:t>
            </a:r>
            <a:r>
              <a:rPr lang="fr-FR" b="0" i="0" dirty="0">
                <a:solidFill>
                  <a:srgbClr val="ECECEC"/>
                </a:solidFill>
                <a:effectLst/>
                <a:latin typeface="Söhne"/>
              </a:rPr>
              <a:t> a </a:t>
            </a:r>
            <a:r>
              <a:rPr lang="fr-FR" b="0" i="0" dirty="0" err="1">
                <a:solidFill>
                  <a:srgbClr val="ECECEC"/>
                </a:solidFill>
                <a:effectLst/>
                <a:latin typeface="Söhne"/>
              </a:rPr>
              <a:t>complete</a:t>
            </a:r>
            <a:r>
              <a:rPr lang="fr-FR" b="0" i="0" dirty="0">
                <a:solidFill>
                  <a:srgbClr val="ECECEC"/>
                </a:solidFill>
                <a:effectLst/>
                <a:latin typeface="Söhne"/>
              </a:rPr>
              <a:t> operating system.</a:t>
            </a:r>
          </a:p>
          <a:p>
            <a:pPr marL="742950" lvl="1" indent="-285750" algn="l">
              <a:buFont typeface="Arial" panose="020B0604020202020204" pitchFamily="34" charset="0"/>
              <a:buChar char="•"/>
            </a:pPr>
            <a:r>
              <a:rPr lang="fr-FR" b="1" i="0" dirty="0">
                <a:solidFill>
                  <a:srgbClr val="ECECEC"/>
                </a:solidFill>
                <a:effectLst/>
                <a:latin typeface="Söhne"/>
              </a:rPr>
              <a:t>Resource Usage: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err="1">
                <a:solidFill>
                  <a:srgbClr val="ECECEC"/>
                </a:solidFill>
                <a:effectLst/>
                <a:latin typeface="Söhne"/>
              </a:rPr>
              <a:t>VMs</a:t>
            </a:r>
            <a:r>
              <a:rPr lang="fr-FR" b="0" i="0" dirty="0">
                <a:solidFill>
                  <a:srgbClr val="ECECEC"/>
                </a:solidFill>
                <a:effectLst/>
                <a:latin typeface="Söhne"/>
              </a:rPr>
              <a:t> consume more </a:t>
            </a:r>
            <a:r>
              <a:rPr lang="fr-FR" b="0" i="0" dirty="0" err="1">
                <a:solidFill>
                  <a:srgbClr val="ECECEC"/>
                </a:solidFill>
                <a:effectLst/>
                <a:latin typeface="Söhne"/>
              </a:rPr>
              <a:t>resources</a:t>
            </a:r>
            <a:r>
              <a:rPr lang="fr-FR" b="0" i="0" dirty="0">
                <a:solidFill>
                  <a:srgbClr val="ECECEC"/>
                </a:solidFill>
                <a:effectLst/>
                <a:latin typeface="Söhne"/>
              </a:rPr>
              <a:t> due to the </a:t>
            </a:r>
            <a:r>
              <a:rPr lang="fr-FR" b="0" i="0" dirty="0" err="1">
                <a:solidFill>
                  <a:srgbClr val="ECECEC"/>
                </a:solidFill>
                <a:effectLst/>
                <a:latin typeface="Söhne"/>
              </a:rPr>
              <a:t>overhead</a:t>
            </a:r>
            <a:r>
              <a:rPr lang="fr-FR" b="0" i="0" dirty="0">
                <a:solidFill>
                  <a:srgbClr val="ECECEC"/>
                </a:solidFill>
                <a:effectLst/>
                <a:latin typeface="Söhne"/>
              </a:rPr>
              <a:t> of the operating system.</a:t>
            </a:r>
          </a:p>
          <a:p>
            <a:pPr algn="l">
              <a:buFont typeface="Arial" panose="020B0604020202020204" pitchFamily="34" charset="0"/>
              <a:buChar char="•"/>
            </a:pPr>
            <a:r>
              <a:rPr lang="fr-FR" b="1" i="0" dirty="0">
                <a:solidFill>
                  <a:srgbClr val="ECECEC"/>
                </a:solidFill>
                <a:effectLst/>
                <a:latin typeface="Söhne"/>
              </a:rPr>
              <a:t>Containers: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1" i="0" dirty="0">
                <a:solidFill>
                  <a:srgbClr val="ECECEC"/>
                </a:solidFill>
                <a:effectLst/>
                <a:latin typeface="Söhne"/>
              </a:rPr>
              <a:t>Isolation:</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a:t>
            </a:r>
            <a:r>
              <a:rPr lang="fr-FR" b="0" i="0" dirty="0" err="1">
                <a:solidFill>
                  <a:srgbClr val="ECECEC"/>
                </a:solidFill>
                <a:effectLst/>
                <a:latin typeface="Söhne"/>
              </a:rPr>
              <a:t>share</a:t>
            </a:r>
            <a:r>
              <a:rPr lang="fr-FR" b="0" i="0" dirty="0">
                <a:solidFill>
                  <a:srgbClr val="ECECEC"/>
                </a:solidFill>
                <a:effectLst/>
                <a:latin typeface="Söhne"/>
              </a:rPr>
              <a:t> the </a:t>
            </a:r>
            <a:r>
              <a:rPr lang="fr-FR" b="0" i="0" dirty="0" err="1">
                <a:solidFill>
                  <a:srgbClr val="ECECEC"/>
                </a:solidFill>
                <a:effectLst/>
                <a:latin typeface="Söhne"/>
              </a:rPr>
              <a:t>same</a:t>
            </a:r>
            <a:r>
              <a:rPr lang="fr-FR" b="0" i="0" dirty="0">
                <a:solidFill>
                  <a:srgbClr val="ECECEC"/>
                </a:solidFill>
                <a:effectLst/>
                <a:latin typeface="Söhne"/>
              </a:rPr>
              <a:t> kernel as the host operating system, </a:t>
            </a:r>
            <a:r>
              <a:rPr lang="fr-FR" b="0" i="0" dirty="0" err="1">
                <a:solidFill>
                  <a:srgbClr val="ECECEC"/>
                </a:solidFill>
                <a:effectLst/>
                <a:latin typeface="Söhne"/>
              </a:rPr>
              <a:t>offering</a:t>
            </a:r>
            <a:r>
              <a:rPr lang="fr-FR" b="0" i="0" dirty="0">
                <a:solidFill>
                  <a:srgbClr val="ECECEC"/>
                </a:solidFill>
                <a:effectLst/>
                <a:latin typeface="Söhne"/>
              </a:rPr>
              <a:t> </a:t>
            </a:r>
            <a:r>
              <a:rPr lang="fr-FR" b="0" i="0" dirty="0" err="1">
                <a:solidFill>
                  <a:srgbClr val="ECECEC"/>
                </a:solidFill>
                <a:effectLst/>
                <a:latin typeface="Söhne"/>
              </a:rPr>
              <a:t>lightweight</a:t>
            </a:r>
            <a:r>
              <a:rPr lang="fr-FR" b="0" i="0" dirty="0">
                <a:solidFill>
                  <a:srgbClr val="ECECEC"/>
                </a:solidFill>
                <a:effectLst/>
                <a:latin typeface="Söhne"/>
              </a:rPr>
              <a:t> isolation.</a:t>
            </a:r>
          </a:p>
          <a:p>
            <a:pPr marL="742950" lvl="1" indent="-285750" algn="l">
              <a:buFont typeface="Arial" panose="020B0604020202020204" pitchFamily="34" charset="0"/>
              <a:buChar char="•"/>
            </a:pPr>
            <a:r>
              <a:rPr lang="fr-FR" b="1" i="0" dirty="0">
                <a:solidFill>
                  <a:srgbClr val="ECECEC"/>
                </a:solidFill>
                <a:effectLst/>
                <a:latin typeface="Söhne"/>
              </a:rPr>
              <a:t>Size: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are </a:t>
            </a:r>
            <a:r>
              <a:rPr lang="fr-FR" b="0" i="0" dirty="0" err="1">
                <a:solidFill>
                  <a:srgbClr val="ECECEC"/>
                </a:solidFill>
                <a:effectLst/>
                <a:latin typeface="Söhne"/>
              </a:rPr>
              <a:t>lighter</a:t>
            </a:r>
            <a:r>
              <a:rPr lang="fr-FR" b="0" i="0" dirty="0">
                <a:solidFill>
                  <a:srgbClr val="ECECEC"/>
                </a:solidFill>
                <a:effectLst/>
                <a:latin typeface="Söhne"/>
              </a:rPr>
              <a:t> as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share</a:t>
            </a:r>
            <a:r>
              <a:rPr lang="fr-FR" b="0" i="0" dirty="0">
                <a:solidFill>
                  <a:srgbClr val="ECECEC"/>
                </a:solidFill>
                <a:effectLst/>
                <a:latin typeface="Söhne"/>
              </a:rPr>
              <a:t> the </a:t>
            </a:r>
            <a:r>
              <a:rPr lang="fr-FR" b="0" i="0" dirty="0" err="1">
                <a:solidFill>
                  <a:srgbClr val="ECECEC"/>
                </a:solidFill>
                <a:effectLst/>
                <a:latin typeface="Söhne"/>
              </a:rPr>
              <a:t>same</a:t>
            </a:r>
            <a:r>
              <a:rPr lang="fr-FR" b="0" i="0" dirty="0">
                <a:solidFill>
                  <a:srgbClr val="ECECEC"/>
                </a:solidFill>
                <a:effectLst/>
                <a:latin typeface="Söhne"/>
              </a:rPr>
              <a:t> kernel as the host operating system and </a:t>
            </a:r>
            <a:r>
              <a:rPr lang="fr-FR" b="0" i="0" dirty="0" err="1">
                <a:solidFill>
                  <a:srgbClr val="ECECEC"/>
                </a:solidFill>
                <a:effectLst/>
                <a:latin typeface="Söhne"/>
              </a:rPr>
              <a:t>only</a:t>
            </a:r>
            <a:r>
              <a:rPr lang="fr-FR" b="0" i="0" dirty="0">
                <a:solidFill>
                  <a:srgbClr val="ECECEC"/>
                </a:solidFill>
                <a:effectLst/>
                <a:latin typeface="Söhne"/>
              </a:rPr>
              <a:t> </a:t>
            </a:r>
            <a:r>
              <a:rPr lang="fr-FR" b="0" i="0" dirty="0" err="1">
                <a:solidFill>
                  <a:srgbClr val="ECECEC"/>
                </a:solidFill>
                <a:effectLst/>
                <a:latin typeface="Söhne"/>
              </a:rPr>
              <a:t>include</a:t>
            </a:r>
            <a:r>
              <a:rPr lang="fr-FR" b="0" i="0" dirty="0">
                <a:solidFill>
                  <a:srgbClr val="ECECEC"/>
                </a:solidFill>
                <a:effectLst/>
                <a:latin typeface="Söhne"/>
              </a:rPr>
              <a:t> </a:t>
            </a:r>
            <a:r>
              <a:rPr lang="fr-FR" b="0" i="0" dirty="0" err="1">
                <a:solidFill>
                  <a:srgbClr val="ECECEC"/>
                </a:solidFill>
                <a:effectLst/>
                <a:latin typeface="Söhne"/>
              </a:rPr>
              <a:t>necessary</a:t>
            </a:r>
            <a:r>
              <a:rPr lang="fr-FR" b="0" i="0" dirty="0">
                <a:solidFill>
                  <a:srgbClr val="ECECEC"/>
                </a:solidFill>
                <a:effectLst/>
                <a:latin typeface="Söhne"/>
              </a:rPr>
              <a:t> </a:t>
            </a:r>
            <a:r>
              <a:rPr lang="fr-FR" b="0" i="0" dirty="0" err="1">
                <a:solidFill>
                  <a:srgbClr val="ECECEC"/>
                </a:solidFill>
                <a:effectLst/>
                <a:latin typeface="Söhne"/>
              </a:rPr>
              <a:t>libraries</a:t>
            </a:r>
            <a:r>
              <a:rPr lang="fr-FR" b="0" i="0" dirty="0">
                <a:solidFill>
                  <a:srgbClr val="ECECEC"/>
                </a:solidFill>
                <a:effectLst/>
                <a:latin typeface="Söhne"/>
              </a:rPr>
              <a:t> and </a:t>
            </a:r>
            <a:r>
              <a:rPr lang="fr-FR" b="0" i="0" dirty="0" err="1">
                <a:solidFill>
                  <a:srgbClr val="ECECEC"/>
                </a:solidFill>
                <a:effectLst/>
                <a:latin typeface="Söhne"/>
              </a:rPr>
              <a:t>dependencies</a:t>
            </a:r>
            <a:r>
              <a:rPr lang="fr-FR" b="0" i="0" dirty="0">
                <a:solidFill>
                  <a:srgbClr val="ECECEC"/>
                </a:solidFill>
                <a:effectLst/>
                <a:latin typeface="Söhne"/>
              </a:rPr>
              <a:t> for the application.</a:t>
            </a:r>
          </a:p>
          <a:p>
            <a:pPr marL="742950" lvl="1" indent="-285750" algn="l">
              <a:buFont typeface="Arial" panose="020B0604020202020204" pitchFamily="34" charset="0"/>
              <a:buChar char="•"/>
            </a:pPr>
            <a:r>
              <a:rPr lang="fr-FR" b="1" i="0" dirty="0">
                <a:solidFill>
                  <a:srgbClr val="ECECEC"/>
                </a:solidFill>
                <a:effectLst/>
                <a:latin typeface="Söhne"/>
              </a:rPr>
              <a:t>Startup Time: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start </a:t>
            </a:r>
            <a:r>
              <a:rPr lang="fr-FR" b="0" i="0" dirty="0" err="1">
                <a:solidFill>
                  <a:srgbClr val="ECECEC"/>
                </a:solidFill>
                <a:effectLst/>
                <a:latin typeface="Söhne"/>
              </a:rPr>
              <a:t>quickly</a:t>
            </a:r>
            <a:r>
              <a:rPr lang="fr-FR" b="0" i="0" dirty="0">
                <a:solidFill>
                  <a:srgbClr val="ECECEC"/>
                </a:solidFill>
                <a:effectLst/>
                <a:latin typeface="Söhne"/>
              </a:rPr>
              <a:t> as </a:t>
            </a:r>
            <a:r>
              <a:rPr lang="fr-FR" b="0" i="0" dirty="0" err="1">
                <a:solidFill>
                  <a:srgbClr val="ECECEC"/>
                </a:solidFill>
                <a:effectLst/>
                <a:latin typeface="Söhne"/>
              </a:rPr>
              <a:t>they</a:t>
            </a:r>
            <a:r>
              <a:rPr lang="fr-FR" b="0" i="0" dirty="0">
                <a:solidFill>
                  <a:srgbClr val="ECECEC"/>
                </a:solidFill>
                <a:effectLst/>
                <a:latin typeface="Söhne"/>
              </a:rPr>
              <a:t> do not </a:t>
            </a:r>
            <a:r>
              <a:rPr lang="fr-FR" b="0" i="0" dirty="0" err="1">
                <a:solidFill>
                  <a:srgbClr val="ECECEC"/>
                </a:solidFill>
                <a:effectLst/>
                <a:latin typeface="Söhne"/>
              </a:rPr>
              <a:t>need</a:t>
            </a:r>
            <a:r>
              <a:rPr lang="fr-FR" b="0" i="0" dirty="0">
                <a:solidFill>
                  <a:srgbClr val="ECECEC"/>
                </a:solidFill>
                <a:effectLst/>
                <a:latin typeface="Söhne"/>
              </a:rPr>
              <a:t> to </a:t>
            </a:r>
            <a:r>
              <a:rPr lang="fr-FR" b="0" i="0" dirty="0" err="1">
                <a:solidFill>
                  <a:srgbClr val="ECECEC"/>
                </a:solidFill>
                <a:effectLst/>
                <a:latin typeface="Söhne"/>
              </a:rPr>
              <a:t>load</a:t>
            </a:r>
            <a:r>
              <a:rPr lang="fr-FR" b="0" i="0" dirty="0">
                <a:solidFill>
                  <a:srgbClr val="ECECEC"/>
                </a:solidFill>
                <a:effectLst/>
                <a:latin typeface="Söhne"/>
              </a:rPr>
              <a:t> a </a:t>
            </a:r>
            <a:r>
              <a:rPr lang="fr-FR" b="0" i="0" dirty="0" err="1">
                <a:solidFill>
                  <a:srgbClr val="ECECEC"/>
                </a:solidFill>
                <a:effectLst/>
                <a:latin typeface="Söhne"/>
              </a:rPr>
              <a:t>complete</a:t>
            </a:r>
            <a:r>
              <a:rPr lang="fr-FR" b="0" i="0" dirty="0">
                <a:solidFill>
                  <a:srgbClr val="ECECEC"/>
                </a:solidFill>
                <a:effectLst/>
                <a:latin typeface="Söhne"/>
              </a:rPr>
              <a:t> operating system.</a:t>
            </a:r>
          </a:p>
          <a:p>
            <a:pPr marL="742950" lvl="1" indent="-285750" algn="l">
              <a:buFont typeface="Arial" panose="020B0604020202020204" pitchFamily="34" charset="0"/>
              <a:buChar char="•"/>
            </a:pPr>
            <a:r>
              <a:rPr lang="fr-FR" b="1" i="0" dirty="0">
                <a:solidFill>
                  <a:srgbClr val="ECECEC"/>
                </a:solidFill>
                <a:effectLst/>
                <a:latin typeface="Söhne"/>
              </a:rPr>
              <a:t>Resource Usage:</a:t>
            </a:r>
            <a:endParaRPr lang="fr-FR" b="0" i="0" dirty="0">
              <a:solidFill>
                <a:srgbClr val="ECECEC"/>
              </a:solidFill>
              <a:effectLst/>
              <a:latin typeface="Söhne"/>
            </a:endParaRPr>
          </a:p>
          <a:p>
            <a:pPr marL="1143000" lvl="2" indent="-228600" algn="l">
              <a:buFont typeface="Arial" panose="020B0604020202020204" pitchFamily="34" charset="0"/>
              <a:buChar char="•"/>
            </a:pPr>
            <a:r>
              <a:rPr lang="fr-FR" b="0" i="0" dirty="0">
                <a:solidFill>
                  <a:srgbClr val="ECECEC"/>
                </a:solidFill>
                <a:effectLst/>
                <a:latin typeface="Söhne"/>
              </a:rPr>
              <a:t>Containers consume </a:t>
            </a:r>
            <a:r>
              <a:rPr lang="fr-FR" b="0" i="0" dirty="0" err="1">
                <a:solidFill>
                  <a:srgbClr val="ECECEC"/>
                </a:solidFill>
                <a:effectLst/>
                <a:latin typeface="Söhne"/>
              </a:rPr>
              <a:t>fewer</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as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avoid</a:t>
            </a:r>
            <a:r>
              <a:rPr lang="fr-FR" b="0" i="0" dirty="0">
                <a:solidFill>
                  <a:srgbClr val="ECECEC"/>
                </a:solidFill>
                <a:effectLst/>
                <a:latin typeface="Söhne"/>
              </a:rPr>
              <a:t> the </a:t>
            </a:r>
            <a:r>
              <a:rPr lang="fr-FR" b="0" i="0" dirty="0" err="1">
                <a:solidFill>
                  <a:srgbClr val="ECECEC"/>
                </a:solidFill>
                <a:effectLst/>
                <a:latin typeface="Söhne"/>
              </a:rPr>
              <a:t>overhead</a:t>
            </a:r>
            <a:r>
              <a:rPr lang="fr-FR" b="0" i="0" dirty="0">
                <a:solidFill>
                  <a:srgbClr val="ECECEC"/>
                </a:solidFill>
                <a:effectLst/>
                <a:latin typeface="Söhne"/>
              </a:rPr>
              <a:t> of the operating system.</a:t>
            </a:r>
          </a:p>
        </p:txBody>
      </p:sp>
    </p:spTree>
    <p:extLst>
      <p:ext uri="{BB962C8B-B14F-4D97-AF65-F5344CB8AC3E}">
        <p14:creationId xmlns:p14="http://schemas.microsoft.com/office/powerpoint/2010/main" val="82555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err="1"/>
              <a:t>VMs</a:t>
            </a:r>
            <a:r>
              <a:rPr lang="fr-FR" sz="3200" dirty="0"/>
              <a:t> vs containers</a:t>
            </a:r>
          </a:p>
        </p:txBody>
      </p:sp>
      <p:pic>
        <p:nvPicPr>
          <p:cNvPr id="7" name="Image 6" descr="Une image contenant texte, capture d’écran, Post-it, Police&#10;&#10;Description générée automatiquement">
            <a:extLst>
              <a:ext uri="{FF2B5EF4-FFF2-40B4-BE49-F238E27FC236}">
                <a16:creationId xmlns:a16="http://schemas.microsoft.com/office/drawing/2014/main" id="{55D5AA73-6C8E-9749-9084-792FFBD0DCE2}"/>
              </a:ext>
            </a:extLst>
          </p:cNvPr>
          <p:cNvPicPr>
            <a:picLocks noChangeAspect="1"/>
          </p:cNvPicPr>
          <p:nvPr/>
        </p:nvPicPr>
        <p:blipFill>
          <a:blip r:embed="rId2"/>
          <a:stretch>
            <a:fillRect/>
          </a:stretch>
        </p:blipFill>
        <p:spPr>
          <a:xfrm>
            <a:off x="1094845" y="1162878"/>
            <a:ext cx="10002310" cy="5179949"/>
          </a:xfrm>
          <a:prstGeom prst="rect">
            <a:avLst/>
          </a:prstGeom>
          <a:solidFill>
            <a:schemeClr val="accent2"/>
          </a:solidFill>
          <a:ln w="38100">
            <a:solidFill>
              <a:schemeClr val="accent2"/>
            </a:solidFill>
          </a:ln>
        </p:spPr>
      </p:pic>
    </p:spTree>
    <p:extLst>
      <p:ext uri="{BB962C8B-B14F-4D97-AF65-F5344CB8AC3E}">
        <p14:creationId xmlns:p14="http://schemas.microsoft.com/office/powerpoint/2010/main" val="3397364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VIRTUALISATION - CONCLUSION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8869" y="1630017"/>
            <a:ext cx="10734261" cy="3597965"/>
          </a:xfrm>
        </p:spPr>
        <p:txBody>
          <a:bodyPr>
            <a:normAutofit/>
          </a:bodyPr>
          <a:lstStyle/>
          <a:p>
            <a:pPr algn="l">
              <a:buFont typeface="Arial" panose="020B0604020202020204" pitchFamily="34" charset="0"/>
              <a:buChar char="•"/>
            </a:pPr>
            <a:r>
              <a:rPr lang="fr-FR" b="1" i="0" dirty="0">
                <a:solidFill>
                  <a:srgbClr val="ECECEC"/>
                </a:solidFill>
                <a:effectLst/>
                <a:latin typeface="Söhne"/>
              </a:rPr>
              <a:t>Virtual Machines (</a:t>
            </a:r>
            <a:r>
              <a:rPr lang="fr-FR" b="1" i="0" dirty="0" err="1">
                <a:solidFill>
                  <a:srgbClr val="ECECEC"/>
                </a:solidFill>
                <a:effectLst/>
                <a:latin typeface="Söhne"/>
              </a:rPr>
              <a:t>VMs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Offer</a:t>
            </a:r>
            <a:r>
              <a:rPr lang="fr-FR" b="0" i="0" dirty="0">
                <a:solidFill>
                  <a:srgbClr val="ECECEC"/>
                </a:solidFill>
                <a:effectLst/>
                <a:latin typeface="Söhne"/>
              </a:rPr>
              <a:t> </a:t>
            </a:r>
            <a:r>
              <a:rPr lang="fr-FR" b="0" i="0" dirty="0" err="1">
                <a:solidFill>
                  <a:srgbClr val="ECECEC"/>
                </a:solidFill>
                <a:effectLst/>
                <a:latin typeface="Söhne"/>
              </a:rPr>
              <a:t>complete</a:t>
            </a:r>
            <a:r>
              <a:rPr lang="fr-FR" b="0" i="0" dirty="0">
                <a:solidFill>
                  <a:srgbClr val="ECECEC"/>
                </a:solidFill>
                <a:effectLst/>
                <a:latin typeface="Söhne"/>
              </a:rPr>
              <a:t> isolation but are </a:t>
            </a:r>
            <a:r>
              <a:rPr lang="fr-FR" b="0" i="0" dirty="0" err="1">
                <a:solidFill>
                  <a:srgbClr val="ECECEC"/>
                </a:solidFill>
                <a:effectLst/>
                <a:latin typeface="Söhne"/>
              </a:rPr>
              <a:t>heavier</a:t>
            </a:r>
            <a:r>
              <a:rPr lang="fr-FR" b="0" i="0" dirty="0">
                <a:solidFill>
                  <a:srgbClr val="ECECEC"/>
                </a:solidFill>
                <a:effectLst/>
                <a:latin typeface="Söhne"/>
              </a:rPr>
              <a:t> and consume more </a:t>
            </a:r>
            <a:r>
              <a:rPr lang="fr-FR" b="0" i="0" dirty="0" err="1">
                <a:solidFill>
                  <a:srgbClr val="ECECEC"/>
                </a:solidFill>
                <a:effectLst/>
                <a:latin typeface="Söhne"/>
              </a:rPr>
              <a:t>resources</a:t>
            </a:r>
            <a:r>
              <a:rPr lang="fr-FR" b="0" i="0" dirty="0">
                <a:solidFill>
                  <a:srgbClr val="ECECEC"/>
                </a:solidFill>
                <a:effectLst/>
                <a:latin typeface="Söhne"/>
              </a:rPr>
              <a:t>.</a:t>
            </a:r>
          </a:p>
          <a:p>
            <a:pPr algn="l">
              <a:buFont typeface="Arial" panose="020B0604020202020204" pitchFamily="34" charset="0"/>
              <a:buChar char="•"/>
            </a:pPr>
            <a:r>
              <a:rPr lang="fr-FR" b="1" i="0" dirty="0">
                <a:solidFill>
                  <a:srgbClr val="ECECEC"/>
                </a:solidFill>
                <a:effectLst/>
                <a:latin typeface="Söhne"/>
              </a:rPr>
              <a:t>Containers:</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Offer</a:t>
            </a:r>
            <a:r>
              <a:rPr lang="fr-FR" b="0" i="0" dirty="0">
                <a:solidFill>
                  <a:srgbClr val="ECECEC"/>
                </a:solidFill>
                <a:effectLst/>
                <a:latin typeface="Söhne"/>
              </a:rPr>
              <a:t> </a:t>
            </a:r>
            <a:r>
              <a:rPr lang="fr-FR" b="0" i="0" dirty="0" err="1">
                <a:solidFill>
                  <a:srgbClr val="ECECEC"/>
                </a:solidFill>
                <a:effectLst/>
                <a:latin typeface="Söhne"/>
              </a:rPr>
              <a:t>lightweight</a:t>
            </a:r>
            <a:r>
              <a:rPr lang="fr-FR" b="0" i="0" dirty="0">
                <a:solidFill>
                  <a:srgbClr val="ECECEC"/>
                </a:solidFill>
                <a:effectLst/>
                <a:latin typeface="Söhne"/>
              </a:rPr>
              <a:t> isolation, are </a:t>
            </a:r>
            <a:r>
              <a:rPr lang="fr-FR" b="0" i="0" dirty="0" err="1">
                <a:solidFill>
                  <a:srgbClr val="ECECEC"/>
                </a:solidFill>
                <a:effectLst/>
                <a:latin typeface="Söhne"/>
              </a:rPr>
              <a:t>lightweight</a:t>
            </a:r>
            <a:r>
              <a:rPr lang="fr-FR" b="0" i="0" dirty="0">
                <a:solidFill>
                  <a:srgbClr val="ECECEC"/>
                </a:solidFill>
                <a:effectLst/>
                <a:latin typeface="Söhne"/>
              </a:rPr>
              <a:t>, and start </a:t>
            </a:r>
            <a:r>
              <a:rPr lang="fr-FR" b="0" i="0" dirty="0" err="1">
                <a:solidFill>
                  <a:srgbClr val="ECECEC"/>
                </a:solidFill>
                <a:effectLst/>
                <a:latin typeface="Söhne"/>
              </a:rPr>
              <a:t>quickly</a:t>
            </a:r>
            <a:r>
              <a:rPr lang="fr-FR" b="0" i="0" dirty="0">
                <a:solidFill>
                  <a:srgbClr val="ECECEC"/>
                </a:solidFill>
                <a:effectLst/>
                <a:latin typeface="Söhne"/>
              </a:rPr>
              <a:t>.</a:t>
            </a:r>
          </a:p>
          <a:p>
            <a:pPr algn="l">
              <a:buFont typeface="Arial" panose="020B0604020202020204" pitchFamily="34" charset="0"/>
              <a:buChar char="•"/>
            </a:pPr>
            <a:r>
              <a:rPr lang="fr-FR" b="1" i="0" dirty="0" err="1">
                <a:solidFill>
                  <a:srgbClr val="ECECEC"/>
                </a:solidFill>
                <a:effectLst/>
                <a:latin typeface="Söhne"/>
              </a:rPr>
              <a:t>Kubernetes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Simplifies the </a:t>
            </a:r>
            <a:r>
              <a:rPr lang="fr-FR" b="0" i="0" dirty="0" err="1">
                <a:solidFill>
                  <a:srgbClr val="ECECEC"/>
                </a:solidFill>
                <a:effectLst/>
                <a:latin typeface="Söhne"/>
              </a:rPr>
              <a:t>deployment</a:t>
            </a:r>
            <a:r>
              <a:rPr lang="fr-FR" b="0" i="0" dirty="0">
                <a:solidFill>
                  <a:srgbClr val="ECECEC"/>
                </a:solidFill>
                <a:effectLst/>
                <a:latin typeface="Söhne"/>
              </a:rPr>
              <a:t> and management of </a:t>
            </a:r>
            <a:r>
              <a:rPr lang="fr-FR" b="0" i="0" dirty="0" err="1">
                <a:solidFill>
                  <a:srgbClr val="ECECEC"/>
                </a:solidFill>
                <a:effectLst/>
                <a:latin typeface="Söhne"/>
              </a:rPr>
              <a:t>containerized</a:t>
            </a:r>
            <a:r>
              <a:rPr lang="fr-FR" b="0" i="0" dirty="0">
                <a:solidFill>
                  <a:srgbClr val="ECECEC"/>
                </a:solidFill>
                <a:effectLst/>
                <a:latin typeface="Söhne"/>
              </a:rPr>
              <a:t> applications at </a:t>
            </a:r>
            <a:r>
              <a:rPr lang="fr-FR" b="0" i="0" dirty="0" err="1">
                <a:solidFill>
                  <a:srgbClr val="ECECEC"/>
                </a:solidFill>
                <a:effectLst/>
                <a:latin typeface="Söhne"/>
              </a:rPr>
              <a:t>scale</a:t>
            </a:r>
            <a:r>
              <a:rPr lang="fr-FR" b="0" i="0" dirty="0">
                <a:solidFill>
                  <a:srgbClr val="ECECEC"/>
                </a:solidFill>
                <a:effectLst/>
                <a:latin typeface="Söhne"/>
              </a:rPr>
              <a:t> by </a:t>
            </a:r>
            <a:r>
              <a:rPr lang="fr-FR" b="0" i="0" dirty="0" err="1">
                <a:solidFill>
                  <a:srgbClr val="ECECEC"/>
                </a:solidFill>
                <a:effectLst/>
                <a:latin typeface="Söhne"/>
              </a:rPr>
              <a:t>automating</a:t>
            </a:r>
            <a:r>
              <a:rPr lang="fr-FR" b="0" i="0" dirty="0">
                <a:solidFill>
                  <a:srgbClr val="ECECEC"/>
                </a:solidFill>
                <a:effectLst/>
                <a:latin typeface="Söhne"/>
              </a:rPr>
              <a:t> orchestration </a:t>
            </a:r>
            <a:r>
              <a:rPr lang="fr-FR" b="0" i="0" dirty="0" err="1">
                <a:solidFill>
                  <a:srgbClr val="ECECEC"/>
                </a:solidFill>
                <a:effectLst/>
                <a:latin typeface="Söhne"/>
              </a:rPr>
              <a:t>tasks</a:t>
            </a:r>
            <a:r>
              <a:rPr lang="fr-FR" b="0" i="0" dirty="0">
                <a:solidFill>
                  <a:srgbClr val="ECECEC"/>
                </a:solidFill>
                <a:effectLst/>
                <a:latin typeface="Söhne"/>
              </a:rPr>
              <a:t>.</a:t>
            </a:r>
          </a:p>
          <a:p>
            <a:pPr algn="l">
              <a:buFont typeface="Arial" panose="020B0604020202020204" pitchFamily="34" charset="0"/>
              <a:buChar char="•"/>
            </a:pPr>
            <a:r>
              <a:rPr lang="fr-FR" b="1" i="0" dirty="0" err="1">
                <a:solidFill>
                  <a:srgbClr val="ECECEC"/>
                </a:solidFill>
                <a:effectLst/>
                <a:latin typeface="Söhne"/>
              </a:rPr>
              <a:t>Choice</a:t>
            </a:r>
            <a:r>
              <a:rPr lang="fr-FR" b="1" i="0" dirty="0">
                <a:solidFill>
                  <a:srgbClr val="ECECEC"/>
                </a:solidFill>
                <a:effectLst/>
                <a:latin typeface="Söhne"/>
              </a:rPr>
              <a:t> </a:t>
            </a:r>
            <a:r>
              <a:rPr lang="fr-FR" b="1" i="0" dirty="0" err="1">
                <a:solidFill>
                  <a:srgbClr val="ECECEC"/>
                </a:solidFill>
                <a:effectLst/>
                <a:latin typeface="Söhne"/>
              </a:rPr>
              <a:t>Depends</a:t>
            </a:r>
            <a:r>
              <a:rPr lang="fr-FR" b="1" i="0" dirty="0">
                <a:solidFill>
                  <a:srgbClr val="ECECEC"/>
                </a:solidFill>
                <a:effectLst/>
                <a:latin typeface="Söhne"/>
              </a:rPr>
              <a:t> on </a:t>
            </a:r>
            <a:r>
              <a:rPr lang="fr-FR" b="1" i="0" dirty="0" err="1">
                <a:solidFill>
                  <a:srgbClr val="ECECEC"/>
                </a:solidFill>
                <a:effectLst/>
                <a:latin typeface="Söhne"/>
              </a:rPr>
              <a:t>Specific</a:t>
            </a:r>
            <a:r>
              <a:rPr lang="fr-FR" b="1" i="0" dirty="0">
                <a:solidFill>
                  <a:srgbClr val="ECECEC"/>
                </a:solidFill>
                <a:effectLst/>
                <a:latin typeface="Söhne"/>
              </a:rPr>
              <a:t> Business </a:t>
            </a:r>
            <a:r>
              <a:rPr lang="fr-FR" b="1" i="0" dirty="0" err="1">
                <a:solidFill>
                  <a:srgbClr val="ECECEC"/>
                </a:solidFill>
                <a:effectLst/>
                <a:latin typeface="Söhne"/>
              </a:rPr>
              <a:t>Needs</a:t>
            </a:r>
            <a:r>
              <a:rPr lang="fr-FR" b="1" i="0" dirty="0">
                <a:solidFill>
                  <a:srgbClr val="ECECEC"/>
                </a:solidFill>
                <a:effectLst/>
                <a:latin typeface="Söhne"/>
              </a:rPr>
              <a:t>:</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err="1">
                <a:solidFill>
                  <a:srgbClr val="ECECEC"/>
                </a:solidFill>
                <a:effectLst/>
                <a:latin typeface="Söhne"/>
              </a:rPr>
              <a:t>Depends</a:t>
            </a:r>
            <a:r>
              <a:rPr lang="fr-FR" b="0" i="0" dirty="0">
                <a:solidFill>
                  <a:srgbClr val="ECECEC"/>
                </a:solidFill>
                <a:effectLst/>
                <a:latin typeface="Söhne"/>
              </a:rPr>
              <a:t> on the </a:t>
            </a:r>
            <a:r>
              <a:rPr lang="fr-FR" b="0" i="0" dirty="0" err="1">
                <a:solidFill>
                  <a:srgbClr val="ECECEC"/>
                </a:solidFill>
                <a:effectLst/>
                <a:latin typeface="Söhne"/>
              </a:rPr>
              <a:t>specific</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 of the business in </a:t>
            </a:r>
            <a:r>
              <a:rPr lang="fr-FR" b="0" i="0" dirty="0" err="1">
                <a:solidFill>
                  <a:srgbClr val="ECECEC"/>
                </a:solidFill>
                <a:effectLst/>
                <a:latin typeface="Söhne"/>
              </a:rPr>
              <a:t>terms</a:t>
            </a:r>
            <a:r>
              <a:rPr lang="fr-FR" b="0" i="0" dirty="0">
                <a:solidFill>
                  <a:srgbClr val="ECECEC"/>
                </a:solidFill>
                <a:effectLst/>
                <a:latin typeface="Söhne"/>
              </a:rPr>
              <a:t> of isolation, performance, and </a:t>
            </a:r>
            <a:r>
              <a:rPr lang="fr-FR" b="0" i="0" dirty="0" err="1">
                <a:solidFill>
                  <a:srgbClr val="ECECEC"/>
                </a:solidFill>
                <a:effectLst/>
                <a:latin typeface="Söhne"/>
              </a:rPr>
              <a:t>resource</a:t>
            </a:r>
            <a:r>
              <a:rPr lang="fr-FR" b="0" i="0" dirty="0">
                <a:solidFill>
                  <a:srgbClr val="ECECEC"/>
                </a:solidFill>
                <a:effectLst/>
                <a:latin typeface="Söhne"/>
              </a:rPr>
              <a:t> management.</a:t>
            </a:r>
          </a:p>
        </p:txBody>
      </p:sp>
    </p:spTree>
    <p:extLst>
      <p:ext uri="{BB962C8B-B14F-4D97-AF65-F5344CB8AC3E}">
        <p14:creationId xmlns:p14="http://schemas.microsoft.com/office/powerpoint/2010/main" val="3956246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DEMO : </a:t>
            </a:r>
            <a:r>
              <a:rPr lang="fr-FR" sz="3000" dirty="0" err="1"/>
              <a:t>Deploying</a:t>
            </a:r>
            <a:r>
              <a:rPr lang="fr-FR" sz="3000" dirty="0"/>
              <a:t> a machine </a:t>
            </a:r>
            <a:r>
              <a:rPr lang="fr-FR" sz="3000" dirty="0" err="1"/>
              <a:t>learning</a:t>
            </a:r>
            <a:r>
              <a:rPr lang="fr-FR" sz="3000" dirty="0"/>
              <a:t> app</a:t>
            </a:r>
          </a:p>
        </p:txBody>
      </p:sp>
    </p:spTree>
    <p:extLst>
      <p:ext uri="{BB962C8B-B14F-4D97-AF65-F5344CB8AC3E}">
        <p14:creationId xmlns:p14="http://schemas.microsoft.com/office/powerpoint/2010/main" val="325813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2633396"/>
            <a:ext cx="10475843" cy="1591208"/>
          </a:xfrm>
        </p:spPr>
        <p:txBody>
          <a:bodyPr>
            <a:normAutofit/>
          </a:bodyPr>
          <a:lstStyle/>
          <a:p>
            <a:r>
              <a:rPr lang="fr-FR" b="0" i="0" dirty="0">
                <a:solidFill>
                  <a:srgbClr val="ECECEC"/>
                </a:solidFill>
                <a:effectLst/>
                <a:latin typeface="Söhne"/>
              </a:rPr>
              <a:t>In </a:t>
            </a:r>
            <a:r>
              <a:rPr lang="fr-FR" b="0" i="0" dirty="0" err="1">
                <a:solidFill>
                  <a:srgbClr val="ECECEC"/>
                </a:solidFill>
                <a:effectLst/>
                <a:latin typeface="Söhne"/>
              </a:rPr>
              <a:t>this</a:t>
            </a:r>
            <a:r>
              <a:rPr lang="fr-FR" b="0" i="0" dirty="0">
                <a:solidFill>
                  <a:srgbClr val="ECECEC"/>
                </a:solidFill>
                <a:effectLst/>
                <a:latin typeface="Söhne"/>
              </a:rPr>
              <a:t> section, </a:t>
            </a:r>
            <a:r>
              <a:rPr lang="fr-FR" dirty="0" err="1">
                <a:solidFill>
                  <a:srgbClr val="ECECEC"/>
                </a:solidFill>
                <a:latin typeface="Söhne"/>
              </a:rPr>
              <a:t>w</a:t>
            </a:r>
            <a:r>
              <a:rPr lang="fr-FR" b="0" i="0" dirty="0" err="1">
                <a:solidFill>
                  <a:srgbClr val="ECECEC"/>
                </a:solidFill>
                <a:effectLst/>
                <a:latin typeface="Söhne"/>
              </a:rPr>
              <a:t>e</a:t>
            </a:r>
            <a:r>
              <a:rPr lang="fr-FR" b="0" i="0" dirty="0">
                <a:solidFill>
                  <a:srgbClr val="ECECEC"/>
                </a:solidFill>
                <a:effectLst/>
                <a:latin typeface="Söhne"/>
              </a:rPr>
              <a:t> </a:t>
            </a:r>
            <a:r>
              <a:rPr lang="fr-FR" b="0" i="0" dirty="0" err="1">
                <a:solidFill>
                  <a:srgbClr val="ECECEC"/>
                </a:solidFill>
                <a:effectLst/>
                <a:latin typeface="Söhne"/>
              </a:rPr>
              <a:t>will</a:t>
            </a:r>
            <a:r>
              <a:rPr lang="fr-FR" b="0" i="0" dirty="0">
                <a:solidFill>
                  <a:srgbClr val="ECECEC"/>
                </a:solidFill>
                <a:effectLst/>
                <a:latin typeface="Söhne"/>
              </a:rPr>
              <a:t> explore how </a:t>
            </a:r>
            <a:r>
              <a:rPr lang="fr-FR" b="0" i="0" dirty="0" err="1">
                <a:solidFill>
                  <a:srgbClr val="ECECEC"/>
                </a:solidFill>
                <a:effectLst/>
                <a:latin typeface="Söhne"/>
              </a:rPr>
              <a:t>deploying</a:t>
            </a:r>
            <a:r>
              <a:rPr lang="fr-FR" b="0" i="0" dirty="0">
                <a:solidFill>
                  <a:srgbClr val="ECECEC"/>
                </a:solidFill>
                <a:effectLst/>
                <a:latin typeface="Söhne"/>
              </a:rPr>
              <a:t> a </a:t>
            </a:r>
            <a:r>
              <a:rPr lang="fr-FR" b="0" i="0" dirty="0" err="1">
                <a:solidFill>
                  <a:srgbClr val="ECECEC"/>
                </a:solidFill>
                <a:effectLst/>
                <a:latin typeface="Söhne"/>
              </a:rPr>
              <a:t>developed</a:t>
            </a:r>
            <a:r>
              <a:rPr lang="fr-FR" b="0" i="0" dirty="0">
                <a:solidFill>
                  <a:srgbClr val="ECECEC"/>
                </a:solidFill>
                <a:effectLst/>
                <a:latin typeface="Söhne"/>
              </a:rPr>
              <a:t> </a:t>
            </a:r>
            <a:r>
              <a:rPr lang="fr-FR" b="0" i="0" dirty="0" err="1">
                <a:solidFill>
                  <a:srgbClr val="ECECEC"/>
                </a:solidFill>
                <a:effectLst/>
                <a:latin typeface="Söhne"/>
              </a:rPr>
              <a:t>Streamlit</a:t>
            </a:r>
            <a:r>
              <a:rPr lang="fr-FR" b="0" i="0" dirty="0">
                <a:solidFill>
                  <a:srgbClr val="ECECEC"/>
                </a:solidFill>
                <a:effectLst/>
                <a:latin typeface="Söhne"/>
              </a:rPr>
              <a:t> application can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achieved</a:t>
            </a:r>
            <a:r>
              <a:rPr lang="fr-FR" b="0" i="0" dirty="0">
                <a:solidFill>
                  <a:srgbClr val="ECECEC"/>
                </a:solidFill>
                <a:effectLst/>
                <a:latin typeface="Söhne"/>
              </a:rPr>
              <a:t> on </a:t>
            </a:r>
            <a:r>
              <a:rPr lang="fr-FR" b="0" i="0" dirty="0" err="1">
                <a:solidFill>
                  <a:srgbClr val="ECECEC"/>
                </a:solidFill>
                <a:effectLst/>
                <a:latin typeface="Söhne"/>
              </a:rPr>
              <a:t>various</a:t>
            </a:r>
            <a:r>
              <a:rPr lang="fr-FR" b="0" i="0" dirty="0">
                <a:solidFill>
                  <a:srgbClr val="ECECEC"/>
                </a:solidFill>
                <a:effectLst/>
                <a:latin typeface="Söhne"/>
              </a:rPr>
              <a:t> platforms, </a:t>
            </a:r>
            <a:r>
              <a:rPr lang="fr-FR" b="0" i="0" dirty="0" err="1">
                <a:solidFill>
                  <a:srgbClr val="ECECEC"/>
                </a:solidFill>
                <a:effectLst/>
                <a:latin typeface="Söhne"/>
              </a:rPr>
              <a:t>from</a:t>
            </a:r>
            <a:r>
              <a:rPr lang="fr-FR" b="0" i="0" dirty="0">
                <a:solidFill>
                  <a:srgbClr val="ECECEC"/>
                </a:solidFill>
                <a:effectLst/>
                <a:latin typeface="Söhne"/>
              </a:rPr>
              <a:t> a local VM to </a:t>
            </a:r>
            <a:r>
              <a:rPr lang="fr-FR" b="0" i="0" dirty="0" err="1">
                <a:solidFill>
                  <a:srgbClr val="ECECEC"/>
                </a:solidFill>
                <a:effectLst/>
                <a:latin typeface="Söhne"/>
              </a:rPr>
              <a:t>managed</a:t>
            </a:r>
            <a:r>
              <a:rPr lang="fr-FR" b="0" i="0" dirty="0">
                <a:solidFill>
                  <a:srgbClr val="ECECEC"/>
                </a:solidFill>
                <a:effectLst/>
                <a:latin typeface="Söhne"/>
              </a:rPr>
              <a:t> cloud services like Google Cloud Run and Google Cloud </a:t>
            </a:r>
            <a:r>
              <a:rPr lang="fr-FR" b="0" i="0" dirty="0" err="1">
                <a:solidFill>
                  <a:srgbClr val="ECECEC"/>
                </a:solidFill>
                <a:effectLst/>
                <a:latin typeface="Söhne"/>
              </a:rPr>
              <a:t>Functions</a:t>
            </a:r>
            <a:r>
              <a:rPr lang="fr-FR" b="0" i="0" dirty="0">
                <a:solidFill>
                  <a:srgbClr val="ECECEC"/>
                </a:solidFill>
                <a:effectLst/>
                <a:latin typeface="Söhne"/>
              </a:rPr>
              <a:t>.</a:t>
            </a:r>
            <a:endParaRPr lang="fr-FR" dirty="0"/>
          </a:p>
        </p:txBody>
      </p:sp>
    </p:spTree>
    <p:extLst>
      <p:ext uri="{BB962C8B-B14F-4D97-AF65-F5344CB8AC3E}">
        <p14:creationId xmlns:p14="http://schemas.microsoft.com/office/powerpoint/2010/main" val="16100697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421296"/>
            <a:ext cx="10475843" cy="4750903"/>
          </a:xfrm>
        </p:spPr>
        <p:txBody>
          <a:bodyPr>
            <a:normAutofit fontScale="85000" lnSpcReduction="20000"/>
          </a:bodyPr>
          <a:lstStyle/>
          <a:p>
            <a:pPr algn="l"/>
            <a:r>
              <a:rPr lang="fr-FR" b="1" i="0" dirty="0" err="1">
                <a:solidFill>
                  <a:srgbClr val="ECECEC"/>
                </a:solidFill>
                <a:effectLst/>
                <a:latin typeface="Söhne"/>
              </a:rPr>
              <a:t>Deployment</a:t>
            </a:r>
            <a:r>
              <a:rPr lang="fr-FR" b="1" i="0" dirty="0">
                <a:solidFill>
                  <a:srgbClr val="ECECEC"/>
                </a:solidFill>
                <a:effectLst/>
                <a:latin typeface="Söhne"/>
              </a:rPr>
              <a:t> </a:t>
            </a:r>
            <a:r>
              <a:rPr lang="fr-FR" b="1" i="0" dirty="0" err="1">
                <a:solidFill>
                  <a:srgbClr val="ECECEC"/>
                </a:solidFill>
                <a:effectLst/>
                <a:latin typeface="Söhne"/>
              </a:rPr>
              <a:t>Steps</a:t>
            </a:r>
            <a:r>
              <a:rPr lang="fr-FR" b="1" i="0" dirty="0">
                <a:solidFill>
                  <a:srgbClr val="ECECEC"/>
                </a:solidFill>
                <a:effectLst/>
                <a:latin typeface="Söhne"/>
              </a:rPr>
              <a:t> on a Virtual Machine or Local Server:</a:t>
            </a:r>
            <a:endParaRPr lang="fr-FR" b="0" i="0" dirty="0">
              <a:solidFill>
                <a:srgbClr val="ECECEC"/>
              </a:solidFill>
              <a:effectLst/>
              <a:latin typeface="Söhne"/>
            </a:endParaRPr>
          </a:p>
          <a:p>
            <a:pPr lvl="1"/>
            <a:r>
              <a:rPr lang="fr-FR" b="0" i="0" dirty="0">
                <a:solidFill>
                  <a:srgbClr val="ECECEC"/>
                </a:solidFill>
                <a:effectLst/>
                <a:latin typeface="Söhne"/>
              </a:rPr>
              <a:t>Download and </a:t>
            </a:r>
            <a:r>
              <a:rPr lang="fr-FR" b="0" i="0" dirty="0" err="1">
                <a:solidFill>
                  <a:srgbClr val="ECECEC"/>
                </a:solidFill>
                <a:effectLst/>
                <a:latin typeface="Söhne"/>
              </a:rPr>
              <a:t>install</a:t>
            </a:r>
            <a:r>
              <a:rPr lang="fr-FR" b="0" i="0" dirty="0">
                <a:solidFill>
                  <a:srgbClr val="ECECEC"/>
                </a:solidFill>
                <a:effectLst/>
                <a:latin typeface="Söhne"/>
              </a:rPr>
              <a:t> </a:t>
            </a:r>
            <a:r>
              <a:rPr lang="fr-FR" b="0" i="0" dirty="0" err="1">
                <a:solidFill>
                  <a:srgbClr val="ECECEC"/>
                </a:solidFill>
                <a:effectLst/>
                <a:latin typeface="Söhne"/>
              </a:rPr>
              <a:t>virtualization</a:t>
            </a:r>
            <a:r>
              <a:rPr lang="fr-FR" b="0" i="0" dirty="0">
                <a:solidFill>
                  <a:srgbClr val="ECECEC"/>
                </a:solidFill>
                <a:effectLst/>
                <a:latin typeface="Söhne"/>
              </a:rPr>
              <a:t> software.</a:t>
            </a:r>
          </a:p>
          <a:p>
            <a:pPr lvl="1"/>
            <a:r>
              <a:rPr lang="fr-FR" b="0" i="0" dirty="0">
                <a:solidFill>
                  <a:srgbClr val="ECECEC"/>
                </a:solidFill>
                <a:effectLst/>
                <a:latin typeface="Söhne"/>
              </a:rPr>
              <a:t>Download a Debian 12 operating system image.</a:t>
            </a:r>
          </a:p>
          <a:p>
            <a:pPr lvl="1"/>
            <a:r>
              <a:rPr lang="fr-FR" b="0" i="0" dirty="0" err="1">
                <a:solidFill>
                  <a:srgbClr val="ECECEC"/>
                </a:solidFill>
                <a:effectLst/>
                <a:latin typeface="Söhne"/>
              </a:rPr>
              <a:t>Create</a:t>
            </a:r>
            <a:r>
              <a:rPr lang="fr-FR" b="0" i="0" dirty="0">
                <a:solidFill>
                  <a:srgbClr val="ECECEC"/>
                </a:solidFill>
                <a:effectLst/>
                <a:latin typeface="Söhne"/>
              </a:rPr>
              <a:t> a Debian </a:t>
            </a:r>
            <a:r>
              <a:rPr lang="fr-FR" b="0" i="0" dirty="0" err="1">
                <a:solidFill>
                  <a:srgbClr val="ECECEC"/>
                </a:solidFill>
                <a:effectLst/>
                <a:latin typeface="Söhne"/>
              </a:rPr>
              <a:t>virtual</a:t>
            </a:r>
            <a:r>
              <a:rPr lang="fr-FR" b="0" i="0" dirty="0">
                <a:solidFill>
                  <a:srgbClr val="ECECEC"/>
                </a:solidFill>
                <a:effectLst/>
                <a:latin typeface="Söhne"/>
              </a:rPr>
              <a:t> machine in VMware.</a:t>
            </a:r>
          </a:p>
          <a:p>
            <a:pPr lvl="1"/>
            <a:r>
              <a:rPr lang="fr-FR" b="0" i="0" dirty="0">
                <a:solidFill>
                  <a:srgbClr val="ECECEC"/>
                </a:solidFill>
                <a:effectLst/>
                <a:latin typeface="Söhne"/>
              </a:rPr>
              <a:t>Install Python and </a:t>
            </a:r>
            <a:r>
              <a:rPr lang="fr-FR" b="0" i="0" dirty="0" err="1">
                <a:solidFill>
                  <a:srgbClr val="ECECEC"/>
                </a:solidFill>
                <a:effectLst/>
                <a:latin typeface="Söhne"/>
              </a:rPr>
              <a:t>necessary</a:t>
            </a:r>
            <a:r>
              <a:rPr lang="fr-FR" b="0" i="0" dirty="0">
                <a:solidFill>
                  <a:srgbClr val="ECECEC"/>
                </a:solidFill>
                <a:effectLst/>
                <a:latin typeface="Söhne"/>
              </a:rPr>
              <a:t> </a:t>
            </a:r>
            <a:r>
              <a:rPr lang="fr-FR" b="0" i="0" dirty="0" err="1">
                <a:solidFill>
                  <a:srgbClr val="ECECEC"/>
                </a:solidFill>
                <a:effectLst/>
                <a:latin typeface="Söhne"/>
              </a:rPr>
              <a:t>dependencies</a:t>
            </a:r>
            <a:r>
              <a:rPr lang="fr-FR" b="0" i="0" dirty="0">
                <a:solidFill>
                  <a:srgbClr val="ECECEC"/>
                </a:solidFill>
                <a:effectLst/>
                <a:latin typeface="Söhne"/>
              </a:rPr>
              <a:t>.</a:t>
            </a:r>
          </a:p>
          <a:p>
            <a:pPr lvl="1"/>
            <a:r>
              <a:rPr lang="fr-FR" b="0" i="0" dirty="0">
                <a:solidFill>
                  <a:srgbClr val="ECECEC"/>
                </a:solidFill>
                <a:effectLst/>
                <a:latin typeface="Söhne"/>
              </a:rPr>
              <a:t>Transfer the </a:t>
            </a:r>
            <a:r>
              <a:rPr lang="fr-FR" b="0" i="0" dirty="0" err="1">
                <a:solidFill>
                  <a:srgbClr val="ECECEC"/>
                </a:solidFill>
                <a:effectLst/>
                <a:latin typeface="Söhne"/>
              </a:rPr>
              <a:t>Streamlit</a:t>
            </a:r>
            <a:r>
              <a:rPr lang="fr-FR" b="0" i="0" dirty="0">
                <a:solidFill>
                  <a:srgbClr val="ECECEC"/>
                </a:solidFill>
                <a:effectLst/>
                <a:latin typeface="Söhne"/>
              </a:rPr>
              <a:t> application to the </a:t>
            </a:r>
            <a:r>
              <a:rPr lang="fr-FR" b="0" i="0" dirty="0" err="1">
                <a:solidFill>
                  <a:srgbClr val="ECECEC"/>
                </a:solidFill>
                <a:effectLst/>
                <a:latin typeface="Söhne"/>
              </a:rPr>
              <a:t>virtual</a:t>
            </a:r>
            <a:r>
              <a:rPr lang="fr-FR" b="0" i="0" dirty="0">
                <a:solidFill>
                  <a:srgbClr val="ECECEC"/>
                </a:solidFill>
                <a:effectLst/>
                <a:latin typeface="Söhne"/>
              </a:rPr>
              <a:t> machine.</a:t>
            </a:r>
          </a:p>
          <a:p>
            <a:pPr lvl="1"/>
            <a:r>
              <a:rPr lang="fr-FR" b="0" i="0" dirty="0">
                <a:solidFill>
                  <a:srgbClr val="ECECEC"/>
                </a:solidFill>
                <a:effectLst/>
                <a:latin typeface="Söhne"/>
              </a:rPr>
              <a:t>Configure ports and the web server (e.g., </a:t>
            </a:r>
            <a:r>
              <a:rPr lang="fr-FR" b="0" i="0" dirty="0" err="1">
                <a:solidFill>
                  <a:srgbClr val="ECECEC"/>
                </a:solidFill>
                <a:effectLst/>
                <a:latin typeface="Söhne"/>
              </a:rPr>
              <a:t>Gunicorn</a:t>
            </a:r>
            <a:r>
              <a:rPr lang="fr-FR" b="0" i="0" dirty="0">
                <a:solidFill>
                  <a:srgbClr val="ECECEC"/>
                </a:solidFill>
                <a:effectLst/>
                <a:latin typeface="Söhne"/>
              </a:rPr>
              <a:t>).</a:t>
            </a:r>
          </a:p>
          <a:p>
            <a:pPr lvl="1"/>
            <a:r>
              <a:rPr lang="fr-FR" b="0" i="0" dirty="0">
                <a:solidFill>
                  <a:srgbClr val="ECECEC"/>
                </a:solidFill>
                <a:effectLst/>
                <a:latin typeface="Söhne"/>
              </a:rPr>
              <a:t>Launch the application and test </a:t>
            </a:r>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accessibility</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a browser.</a:t>
            </a:r>
          </a:p>
          <a:p>
            <a:pPr lvl="1"/>
            <a:r>
              <a:rPr lang="fr-FR" b="0" i="0" dirty="0">
                <a:solidFill>
                  <a:srgbClr val="ECECEC"/>
                </a:solidFill>
                <a:effectLst/>
                <a:latin typeface="Söhne"/>
              </a:rPr>
              <a:t>Update and </a:t>
            </a:r>
            <a:r>
              <a:rPr lang="fr-FR" b="0" i="0" dirty="0" err="1">
                <a:solidFill>
                  <a:srgbClr val="ECECEC"/>
                </a:solidFill>
                <a:effectLst/>
                <a:latin typeface="Söhne"/>
              </a:rPr>
              <a:t>maintain</a:t>
            </a:r>
            <a:r>
              <a:rPr lang="fr-FR" b="0" i="0" dirty="0">
                <a:solidFill>
                  <a:srgbClr val="ECECEC"/>
                </a:solidFill>
                <a:effectLst/>
                <a:latin typeface="Söhne"/>
              </a:rPr>
              <a:t> the </a:t>
            </a:r>
            <a:r>
              <a:rPr lang="fr-FR" b="0" i="0" dirty="0" err="1">
                <a:solidFill>
                  <a:srgbClr val="ECECEC"/>
                </a:solidFill>
                <a:effectLst/>
                <a:latin typeface="Söhne"/>
              </a:rPr>
              <a:t>virtual</a:t>
            </a:r>
            <a:r>
              <a:rPr lang="fr-FR" b="0" i="0" dirty="0">
                <a:solidFill>
                  <a:srgbClr val="ECECEC"/>
                </a:solidFill>
                <a:effectLst/>
                <a:latin typeface="Söhne"/>
              </a:rPr>
              <a:t> machine.</a:t>
            </a:r>
          </a:p>
          <a:p>
            <a:pPr lvl="1"/>
            <a:r>
              <a:rPr lang="fr-FR" b="0" i="0" dirty="0" err="1">
                <a:solidFill>
                  <a:srgbClr val="ECECEC"/>
                </a:solidFill>
                <a:effectLst/>
                <a:latin typeface="Söhne"/>
              </a:rPr>
              <a:t>Cost</a:t>
            </a:r>
            <a:r>
              <a:rPr lang="fr-FR" b="0" i="0" dirty="0">
                <a:solidFill>
                  <a:srgbClr val="ECECEC"/>
                </a:solidFill>
                <a:effectLst/>
                <a:latin typeface="Söhne"/>
              </a:rPr>
              <a:t> of the VM in the data center: </a:t>
            </a:r>
            <a:r>
              <a:rPr lang="fr-FR" b="0" i="0" dirty="0" err="1">
                <a:solidFill>
                  <a:srgbClr val="ECECEC"/>
                </a:solidFill>
                <a:effectLst/>
                <a:latin typeface="Söhne"/>
              </a:rPr>
              <a:t>functional</a:t>
            </a:r>
            <a:r>
              <a:rPr lang="fr-FR" b="0" i="0" dirty="0">
                <a:solidFill>
                  <a:srgbClr val="ECECEC"/>
                </a:solidFill>
                <a:effectLst/>
                <a:latin typeface="Söhne"/>
              </a:rPr>
              <a:t> and </a:t>
            </a:r>
            <a:r>
              <a:rPr lang="fr-FR" b="0" i="0" dirty="0" err="1">
                <a:solidFill>
                  <a:srgbClr val="ECECEC"/>
                </a:solidFill>
                <a:effectLst/>
                <a:latin typeface="Söhne"/>
              </a:rPr>
              <a:t>logistical</a:t>
            </a:r>
            <a:r>
              <a:rPr lang="fr-FR" b="0" i="0" dirty="0">
                <a:solidFill>
                  <a:srgbClr val="ECECEC"/>
                </a:solidFill>
                <a:effectLst/>
                <a:latin typeface="Söhne"/>
              </a:rPr>
              <a:t> </a:t>
            </a:r>
            <a:r>
              <a:rPr lang="fr-FR" b="0" i="0" dirty="0" err="1">
                <a:solidFill>
                  <a:srgbClr val="ECECEC"/>
                </a:solidFill>
                <a:effectLst/>
                <a:latin typeface="Söhne"/>
              </a:rPr>
              <a:t>costs</a:t>
            </a:r>
            <a:r>
              <a:rPr lang="fr-FR" b="0" i="0" dirty="0">
                <a:solidFill>
                  <a:srgbClr val="ECECEC"/>
                </a:solidFill>
                <a:effectLst/>
                <a:latin typeface="Söhne"/>
              </a:rPr>
              <a:t>.</a:t>
            </a:r>
          </a:p>
          <a:p>
            <a:pPr lvl="1"/>
            <a:endParaRPr lang="fr-FR" b="0" i="0" dirty="0">
              <a:solidFill>
                <a:srgbClr val="ECECEC"/>
              </a:solidFill>
              <a:effectLst/>
              <a:latin typeface="Söhne"/>
            </a:endParaRPr>
          </a:p>
          <a:p>
            <a:pPr algn="l"/>
            <a:r>
              <a:rPr lang="fr-FR" b="1" i="0" dirty="0" err="1">
                <a:solidFill>
                  <a:srgbClr val="ECECEC"/>
                </a:solidFill>
                <a:effectLst/>
                <a:latin typeface="Söhne"/>
              </a:rPr>
              <a:t>Deployment</a:t>
            </a:r>
            <a:r>
              <a:rPr lang="fr-FR" b="1" i="0" dirty="0">
                <a:solidFill>
                  <a:srgbClr val="ECECEC"/>
                </a:solidFill>
                <a:effectLst/>
                <a:latin typeface="Söhne"/>
              </a:rPr>
              <a:t> </a:t>
            </a:r>
            <a:r>
              <a:rPr lang="fr-FR" b="1" i="0" dirty="0" err="1">
                <a:solidFill>
                  <a:srgbClr val="ECECEC"/>
                </a:solidFill>
                <a:effectLst/>
                <a:latin typeface="Söhne"/>
              </a:rPr>
              <a:t>Steps</a:t>
            </a:r>
            <a:r>
              <a:rPr lang="fr-FR" b="1" i="0" dirty="0">
                <a:solidFill>
                  <a:srgbClr val="ECECEC"/>
                </a:solidFill>
                <a:effectLst/>
                <a:latin typeface="Söhne"/>
              </a:rPr>
              <a:t> on a Virtual Machine on GCP:</a:t>
            </a:r>
            <a:endParaRPr lang="fr-FR" b="0" i="0" dirty="0">
              <a:solidFill>
                <a:srgbClr val="ECECEC"/>
              </a:solidFill>
              <a:effectLst/>
              <a:latin typeface="Söhne"/>
            </a:endParaRPr>
          </a:p>
          <a:p>
            <a:pPr lvl="1"/>
            <a:r>
              <a:rPr lang="fr-FR" b="0" i="0" dirty="0" err="1">
                <a:solidFill>
                  <a:srgbClr val="ECECEC"/>
                </a:solidFill>
                <a:effectLst/>
                <a:latin typeface="Söhne"/>
              </a:rPr>
              <a:t>Create</a:t>
            </a:r>
            <a:r>
              <a:rPr lang="fr-FR" b="0" i="0" dirty="0">
                <a:solidFill>
                  <a:srgbClr val="ECECEC"/>
                </a:solidFill>
                <a:effectLst/>
                <a:latin typeface="Söhne"/>
              </a:rPr>
              <a:t> and configure a Debian </a:t>
            </a:r>
            <a:r>
              <a:rPr lang="fr-FR" b="0" i="0" dirty="0" err="1">
                <a:solidFill>
                  <a:srgbClr val="ECECEC"/>
                </a:solidFill>
                <a:effectLst/>
                <a:latin typeface="Söhne"/>
              </a:rPr>
              <a:t>virtual</a:t>
            </a:r>
            <a:r>
              <a:rPr lang="fr-FR" b="0" i="0" dirty="0">
                <a:solidFill>
                  <a:srgbClr val="ECECEC"/>
                </a:solidFill>
                <a:effectLst/>
                <a:latin typeface="Söhne"/>
              </a:rPr>
              <a:t> machine in </a:t>
            </a:r>
            <a:r>
              <a:rPr lang="fr-FR" b="0" i="0" dirty="0" err="1">
                <a:solidFill>
                  <a:srgbClr val="ECECEC"/>
                </a:solidFill>
                <a:effectLst/>
                <a:latin typeface="Söhne"/>
              </a:rPr>
              <a:t>Compute</a:t>
            </a:r>
            <a:r>
              <a:rPr lang="fr-FR" b="0" i="0" dirty="0">
                <a:solidFill>
                  <a:srgbClr val="ECECEC"/>
                </a:solidFill>
                <a:effectLst/>
                <a:latin typeface="Söhne"/>
              </a:rPr>
              <a:t> Engine.</a:t>
            </a:r>
          </a:p>
          <a:p>
            <a:pPr lvl="1"/>
            <a:r>
              <a:rPr lang="fr-FR" b="0" i="0" dirty="0">
                <a:solidFill>
                  <a:srgbClr val="ECECEC"/>
                </a:solidFill>
                <a:effectLst/>
                <a:latin typeface="Söhne"/>
              </a:rPr>
              <a:t>Install Python and </a:t>
            </a:r>
            <a:r>
              <a:rPr lang="fr-FR" b="0" i="0" dirty="0" err="1">
                <a:solidFill>
                  <a:srgbClr val="ECECEC"/>
                </a:solidFill>
                <a:effectLst/>
                <a:latin typeface="Söhne"/>
              </a:rPr>
              <a:t>necessary</a:t>
            </a:r>
            <a:r>
              <a:rPr lang="fr-FR" b="0" i="0" dirty="0">
                <a:solidFill>
                  <a:srgbClr val="ECECEC"/>
                </a:solidFill>
                <a:effectLst/>
                <a:latin typeface="Söhne"/>
              </a:rPr>
              <a:t> </a:t>
            </a:r>
            <a:r>
              <a:rPr lang="fr-FR" b="0" i="0" dirty="0" err="1">
                <a:solidFill>
                  <a:srgbClr val="ECECEC"/>
                </a:solidFill>
                <a:effectLst/>
                <a:latin typeface="Söhne"/>
              </a:rPr>
              <a:t>dependencies</a:t>
            </a:r>
            <a:r>
              <a:rPr lang="fr-FR" b="0" i="0" dirty="0">
                <a:solidFill>
                  <a:srgbClr val="ECECEC"/>
                </a:solidFill>
                <a:effectLst/>
                <a:latin typeface="Söhne"/>
              </a:rPr>
              <a:t>.</a:t>
            </a:r>
          </a:p>
          <a:p>
            <a:pPr lvl="1"/>
            <a:r>
              <a:rPr lang="fr-FR" b="0" i="0" dirty="0">
                <a:solidFill>
                  <a:srgbClr val="ECECEC"/>
                </a:solidFill>
                <a:effectLst/>
                <a:latin typeface="Söhne"/>
              </a:rPr>
              <a:t>Transfer the </a:t>
            </a:r>
            <a:r>
              <a:rPr lang="fr-FR" b="0" i="0" dirty="0" err="1">
                <a:solidFill>
                  <a:srgbClr val="ECECEC"/>
                </a:solidFill>
                <a:effectLst/>
                <a:latin typeface="Söhne"/>
              </a:rPr>
              <a:t>Streamlit</a:t>
            </a:r>
            <a:r>
              <a:rPr lang="fr-FR" b="0" i="0" dirty="0">
                <a:solidFill>
                  <a:srgbClr val="ECECEC"/>
                </a:solidFill>
                <a:effectLst/>
                <a:latin typeface="Söhne"/>
              </a:rPr>
              <a:t> application to the </a:t>
            </a:r>
            <a:r>
              <a:rPr lang="fr-FR" b="0" i="0" dirty="0" err="1">
                <a:solidFill>
                  <a:srgbClr val="ECECEC"/>
                </a:solidFill>
                <a:effectLst/>
                <a:latin typeface="Söhne"/>
              </a:rPr>
              <a:t>virtual</a:t>
            </a:r>
            <a:r>
              <a:rPr lang="fr-FR" b="0" i="0" dirty="0">
                <a:solidFill>
                  <a:srgbClr val="ECECEC"/>
                </a:solidFill>
                <a:effectLst/>
                <a:latin typeface="Söhne"/>
              </a:rPr>
              <a:t> machine.</a:t>
            </a:r>
          </a:p>
          <a:p>
            <a:pPr lvl="1"/>
            <a:r>
              <a:rPr lang="fr-FR" b="0" i="0" dirty="0">
                <a:solidFill>
                  <a:srgbClr val="ECECEC"/>
                </a:solidFill>
                <a:effectLst/>
                <a:latin typeface="Söhne"/>
              </a:rPr>
              <a:t>Configure ports and the web server (e.g., </a:t>
            </a:r>
            <a:r>
              <a:rPr lang="fr-FR" b="0" i="0" dirty="0" err="1">
                <a:solidFill>
                  <a:srgbClr val="ECECEC"/>
                </a:solidFill>
                <a:effectLst/>
                <a:latin typeface="Söhne"/>
              </a:rPr>
              <a:t>Gunicorn</a:t>
            </a:r>
            <a:r>
              <a:rPr lang="fr-FR" b="0" i="0" dirty="0">
                <a:solidFill>
                  <a:srgbClr val="ECECEC"/>
                </a:solidFill>
                <a:effectLst/>
                <a:latin typeface="Söhne"/>
              </a:rPr>
              <a:t>).</a:t>
            </a:r>
          </a:p>
          <a:p>
            <a:pPr lvl="1"/>
            <a:r>
              <a:rPr lang="fr-FR" b="0" i="0" dirty="0">
                <a:solidFill>
                  <a:srgbClr val="ECECEC"/>
                </a:solidFill>
                <a:effectLst/>
                <a:latin typeface="Söhne"/>
              </a:rPr>
              <a:t>Launch the application and test </a:t>
            </a:r>
            <a:r>
              <a:rPr lang="fr-FR" b="0" i="0" dirty="0" err="1">
                <a:solidFill>
                  <a:srgbClr val="ECECEC"/>
                </a:solidFill>
                <a:effectLst/>
                <a:latin typeface="Söhne"/>
              </a:rPr>
              <a:t>its</a:t>
            </a:r>
            <a:r>
              <a:rPr lang="fr-FR" b="0" i="0" dirty="0">
                <a:solidFill>
                  <a:srgbClr val="ECECEC"/>
                </a:solidFill>
                <a:effectLst/>
                <a:latin typeface="Söhne"/>
              </a:rPr>
              <a:t> </a:t>
            </a:r>
            <a:r>
              <a:rPr lang="fr-FR" b="0" i="0" dirty="0" err="1">
                <a:solidFill>
                  <a:srgbClr val="ECECEC"/>
                </a:solidFill>
                <a:effectLst/>
                <a:latin typeface="Söhne"/>
              </a:rPr>
              <a:t>accessibility</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a browser.</a:t>
            </a:r>
          </a:p>
          <a:p>
            <a:pPr lvl="1"/>
            <a:r>
              <a:rPr lang="fr-FR" b="0" i="0" dirty="0" err="1">
                <a:solidFill>
                  <a:srgbClr val="ECECEC"/>
                </a:solidFill>
                <a:effectLst/>
                <a:latin typeface="Söhne"/>
              </a:rPr>
              <a:t>Pay</a:t>
            </a:r>
            <a:r>
              <a:rPr lang="fr-FR" b="0" i="0" dirty="0">
                <a:solidFill>
                  <a:srgbClr val="ECECEC"/>
                </a:solidFill>
                <a:effectLst/>
                <a:latin typeface="Söhne"/>
              </a:rPr>
              <a:t> </a:t>
            </a:r>
            <a:r>
              <a:rPr lang="fr-FR" b="0" i="0" dirty="0" err="1">
                <a:solidFill>
                  <a:srgbClr val="ECECEC"/>
                </a:solidFill>
                <a:effectLst/>
                <a:latin typeface="Söhne"/>
              </a:rPr>
              <a:t>only</a:t>
            </a:r>
            <a:r>
              <a:rPr lang="fr-FR" b="0" i="0" dirty="0">
                <a:solidFill>
                  <a:srgbClr val="ECECEC"/>
                </a:solidFill>
                <a:effectLst/>
                <a:latin typeface="Söhne"/>
              </a:rPr>
              <a:t> </a:t>
            </a:r>
            <a:r>
              <a:rPr lang="fr-FR" b="0" i="0" dirty="0" err="1">
                <a:solidFill>
                  <a:srgbClr val="ECECEC"/>
                </a:solidFill>
                <a:effectLst/>
                <a:latin typeface="Söhne"/>
              </a:rPr>
              <a:t>when</a:t>
            </a:r>
            <a:r>
              <a:rPr lang="fr-FR" b="0" i="0" dirty="0">
                <a:solidFill>
                  <a:srgbClr val="ECECEC"/>
                </a:solidFill>
                <a:effectLst/>
                <a:latin typeface="Söhne"/>
              </a:rPr>
              <a:t> the VM </a:t>
            </a:r>
            <a:r>
              <a:rPr lang="fr-FR" b="0" i="0" dirty="0" err="1">
                <a:solidFill>
                  <a:srgbClr val="ECECEC"/>
                </a:solidFill>
                <a:effectLst/>
                <a:latin typeface="Söhne"/>
              </a:rPr>
              <a:t>is</a:t>
            </a:r>
            <a:r>
              <a:rPr lang="fr-FR" b="0" i="0" dirty="0">
                <a:solidFill>
                  <a:srgbClr val="ECECEC"/>
                </a:solidFill>
                <a:effectLst/>
                <a:latin typeface="Söhne"/>
              </a:rPr>
              <a:t> running.</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Tree>
    <p:extLst>
      <p:ext uri="{BB962C8B-B14F-4D97-AF65-F5344CB8AC3E}">
        <p14:creationId xmlns:p14="http://schemas.microsoft.com/office/powerpoint/2010/main" val="2339102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70"/>
            <a:ext cx="10475843" cy="2504660"/>
          </a:xfrm>
        </p:spPr>
        <p:txBody>
          <a:bodyPr>
            <a:normAutofit/>
          </a:bodyPr>
          <a:lstStyle/>
          <a:p>
            <a:pPr marL="0" indent="0" algn="l">
              <a:buNone/>
            </a:pPr>
            <a:r>
              <a:rPr lang="fr-FR" b="1" i="0" dirty="0" err="1">
                <a:solidFill>
                  <a:srgbClr val="ECECEC"/>
                </a:solidFill>
                <a:effectLst/>
                <a:latin typeface="Söhne"/>
              </a:rPr>
              <a:t>Deployment</a:t>
            </a:r>
            <a:r>
              <a:rPr lang="fr-FR" b="1" i="0" dirty="0">
                <a:solidFill>
                  <a:srgbClr val="ECECEC"/>
                </a:solidFill>
                <a:effectLst/>
                <a:latin typeface="Söhne"/>
              </a:rPr>
              <a:t> </a:t>
            </a:r>
            <a:r>
              <a:rPr lang="fr-FR" b="1" i="0" dirty="0" err="1">
                <a:solidFill>
                  <a:srgbClr val="ECECEC"/>
                </a:solidFill>
                <a:effectLst/>
                <a:latin typeface="Söhne"/>
              </a:rPr>
              <a:t>Steps</a:t>
            </a:r>
            <a:r>
              <a:rPr lang="fr-FR" b="1" i="0" dirty="0">
                <a:solidFill>
                  <a:srgbClr val="ECECEC"/>
                </a:solidFill>
                <a:effectLst/>
                <a:latin typeface="Söhne"/>
              </a:rPr>
              <a:t> in a Docker Container:</a:t>
            </a:r>
            <a:endParaRPr lang="fr-FR" b="0" i="0" dirty="0">
              <a:solidFill>
                <a:srgbClr val="ECECEC"/>
              </a:solidFill>
              <a:effectLst/>
              <a:latin typeface="Söhne"/>
            </a:endParaRPr>
          </a:p>
          <a:p>
            <a:pPr lvl="1"/>
            <a:r>
              <a:rPr lang="fr-FR" b="0" i="0" dirty="0" err="1">
                <a:solidFill>
                  <a:srgbClr val="ECECEC"/>
                </a:solidFill>
                <a:effectLst/>
                <a:latin typeface="Söhne"/>
              </a:rPr>
              <a:t>Build</a:t>
            </a:r>
            <a:r>
              <a:rPr lang="fr-FR" b="0" i="0" dirty="0">
                <a:solidFill>
                  <a:srgbClr val="ECECEC"/>
                </a:solidFill>
                <a:effectLst/>
                <a:latin typeface="Söhne"/>
              </a:rPr>
              <a:t> the Docker image </a:t>
            </a:r>
            <a:r>
              <a:rPr lang="fr-FR" b="0" i="0" dirty="0" err="1">
                <a:solidFill>
                  <a:srgbClr val="ECECEC"/>
                </a:solidFill>
                <a:effectLst/>
                <a:latin typeface="Söhne"/>
              </a:rPr>
              <a:t>from</a:t>
            </a:r>
            <a:r>
              <a:rPr lang="fr-FR" b="0" i="0" dirty="0">
                <a:solidFill>
                  <a:srgbClr val="ECECEC"/>
                </a:solidFill>
                <a:effectLst/>
                <a:latin typeface="Söhne"/>
              </a:rPr>
              <a:t> a </a:t>
            </a:r>
            <a:r>
              <a:rPr lang="fr-FR" b="0" i="0" dirty="0" err="1">
                <a:solidFill>
                  <a:srgbClr val="ECECEC"/>
                </a:solidFill>
                <a:effectLst/>
                <a:latin typeface="Söhne"/>
              </a:rPr>
              <a:t>Dockerfile</a:t>
            </a:r>
            <a:r>
              <a:rPr lang="fr-FR" b="0" i="0" dirty="0">
                <a:solidFill>
                  <a:srgbClr val="ECECEC"/>
                </a:solidFill>
                <a:effectLst/>
                <a:latin typeface="Söhne"/>
              </a:rPr>
              <a:t>.</a:t>
            </a:r>
          </a:p>
          <a:p>
            <a:pPr lvl="1"/>
            <a:r>
              <a:rPr lang="fr-FR" b="0" i="0" dirty="0">
                <a:solidFill>
                  <a:srgbClr val="ECECEC"/>
                </a:solidFill>
                <a:effectLst/>
                <a:latin typeface="Söhne"/>
              </a:rPr>
              <a:t>Run the Docker container </a:t>
            </a:r>
            <a:r>
              <a:rPr lang="fr-FR" b="0" i="0" dirty="0" err="1">
                <a:solidFill>
                  <a:srgbClr val="ECECEC"/>
                </a:solidFill>
                <a:effectLst/>
                <a:latin typeface="Söhne"/>
              </a:rPr>
              <a:t>locally</a:t>
            </a:r>
            <a:r>
              <a:rPr lang="fr-FR" b="0" i="0" dirty="0">
                <a:solidFill>
                  <a:srgbClr val="ECECEC"/>
                </a:solidFill>
                <a:effectLst/>
                <a:latin typeface="Söhne"/>
              </a:rPr>
              <a:t> for </a:t>
            </a:r>
            <a:r>
              <a:rPr lang="fr-FR" b="0" i="0" dirty="0" err="1">
                <a:solidFill>
                  <a:srgbClr val="ECECEC"/>
                </a:solidFill>
                <a:effectLst/>
                <a:latin typeface="Söhne"/>
              </a:rPr>
              <a:t>verification</a:t>
            </a:r>
            <a:r>
              <a:rPr lang="fr-FR" b="0" i="0" dirty="0">
                <a:solidFill>
                  <a:srgbClr val="ECECEC"/>
                </a:solidFill>
                <a:effectLst/>
                <a:latin typeface="Söhne"/>
              </a:rPr>
              <a:t>.</a:t>
            </a:r>
          </a:p>
          <a:p>
            <a:pPr lvl="1"/>
            <a:r>
              <a:rPr lang="fr-FR" b="0" i="0" dirty="0" err="1">
                <a:solidFill>
                  <a:srgbClr val="ECECEC"/>
                </a:solidFill>
                <a:effectLst/>
                <a:latin typeface="Söhne"/>
              </a:rPr>
              <a:t>Publish</a:t>
            </a:r>
            <a:r>
              <a:rPr lang="fr-FR" b="0" i="0" dirty="0">
                <a:solidFill>
                  <a:srgbClr val="ECECEC"/>
                </a:solidFill>
                <a:effectLst/>
                <a:latin typeface="Söhne"/>
              </a:rPr>
              <a:t> the image to Docker Hub or a </a:t>
            </a:r>
            <a:r>
              <a:rPr lang="fr-FR" b="0" i="0" dirty="0" err="1">
                <a:solidFill>
                  <a:srgbClr val="ECECEC"/>
                </a:solidFill>
                <a:effectLst/>
                <a:latin typeface="Söhne"/>
              </a:rPr>
              <a:t>private</a:t>
            </a:r>
            <a:r>
              <a:rPr lang="fr-FR" b="0" i="0" dirty="0">
                <a:solidFill>
                  <a:srgbClr val="ECECEC"/>
                </a:solidFill>
                <a:effectLst/>
                <a:latin typeface="Söhne"/>
              </a:rPr>
              <a:t> </a:t>
            </a:r>
            <a:r>
              <a:rPr lang="fr-FR" b="0" i="0" dirty="0" err="1">
                <a:solidFill>
                  <a:srgbClr val="ECECEC"/>
                </a:solidFill>
                <a:effectLst/>
                <a:latin typeface="Söhne"/>
              </a:rPr>
              <a:t>registry</a:t>
            </a:r>
            <a:r>
              <a:rPr lang="fr-FR" b="0" i="0" dirty="0">
                <a:solidFill>
                  <a:srgbClr val="ECECEC"/>
                </a:solidFill>
                <a:effectLst/>
                <a:latin typeface="Söhne"/>
              </a:rPr>
              <a:t>.</a:t>
            </a:r>
          </a:p>
          <a:p>
            <a:pPr lvl="1"/>
            <a:r>
              <a:rPr lang="fr-FR" b="0" i="0" dirty="0" err="1">
                <a:solidFill>
                  <a:srgbClr val="ECECEC"/>
                </a:solidFill>
                <a:effectLst/>
                <a:latin typeface="Söhne"/>
              </a:rPr>
              <a:t>Deploy</a:t>
            </a:r>
            <a:r>
              <a:rPr lang="fr-FR" b="0" i="0" dirty="0">
                <a:solidFill>
                  <a:srgbClr val="ECECEC"/>
                </a:solidFill>
                <a:effectLst/>
                <a:latin typeface="Söhne"/>
              </a:rPr>
              <a:t> and run the image on </a:t>
            </a:r>
            <a:r>
              <a:rPr lang="fr-FR" b="0" i="0" dirty="0" err="1">
                <a:solidFill>
                  <a:srgbClr val="ECECEC"/>
                </a:solidFill>
                <a:effectLst/>
                <a:latin typeface="Söhne"/>
              </a:rPr>
              <a:t>any</a:t>
            </a:r>
            <a:r>
              <a:rPr lang="fr-FR" b="0" i="0" dirty="0">
                <a:solidFill>
                  <a:srgbClr val="ECECEC"/>
                </a:solidFill>
                <a:effectLst/>
                <a:latin typeface="Söhne"/>
              </a:rPr>
              <a:t> machine </a:t>
            </a:r>
            <a:r>
              <a:rPr lang="fr-FR" b="0" i="0" dirty="0" err="1">
                <a:solidFill>
                  <a:srgbClr val="ECECEC"/>
                </a:solidFill>
                <a:effectLst/>
                <a:latin typeface="Söhne"/>
              </a:rPr>
              <a:t>with</a:t>
            </a:r>
            <a:r>
              <a:rPr lang="fr-FR" b="0" i="0" dirty="0">
                <a:solidFill>
                  <a:srgbClr val="ECECEC"/>
                </a:solidFill>
                <a:effectLst/>
                <a:latin typeface="Söhne"/>
              </a:rPr>
              <a:t> Docker </a:t>
            </a:r>
            <a:r>
              <a:rPr lang="fr-FR" b="0" i="0" dirty="0" err="1">
                <a:solidFill>
                  <a:srgbClr val="ECECEC"/>
                </a:solidFill>
                <a:effectLst/>
                <a:latin typeface="Söhne"/>
              </a:rPr>
              <a:t>installed</a:t>
            </a:r>
            <a:r>
              <a:rPr lang="fr-FR" b="0" i="0" dirty="0">
                <a:solidFill>
                  <a:srgbClr val="ECECEC"/>
                </a:solidFill>
                <a:effectLst/>
                <a:latin typeface="Söhne"/>
              </a:rPr>
              <a:t>.</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Tree>
    <p:extLst>
      <p:ext uri="{BB962C8B-B14F-4D97-AF65-F5344CB8AC3E}">
        <p14:creationId xmlns:p14="http://schemas.microsoft.com/office/powerpoint/2010/main" val="3014642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1" i="0" dirty="0" err="1">
                <a:solidFill>
                  <a:srgbClr val="ECECEC"/>
                </a:solidFill>
                <a:effectLst/>
                <a:latin typeface="Söhne"/>
              </a:rPr>
              <a:t>Deployment</a:t>
            </a:r>
            <a:r>
              <a:rPr lang="fr-FR" b="1" i="0" dirty="0">
                <a:solidFill>
                  <a:srgbClr val="ECECEC"/>
                </a:solidFill>
                <a:effectLst/>
                <a:latin typeface="Söhne"/>
              </a:rPr>
              <a:t> </a:t>
            </a:r>
            <a:r>
              <a:rPr lang="fr-FR" b="1" i="0" dirty="0" err="1">
                <a:solidFill>
                  <a:srgbClr val="ECECEC"/>
                </a:solidFill>
                <a:effectLst/>
                <a:latin typeface="Söhne"/>
              </a:rPr>
              <a:t>Steps</a:t>
            </a:r>
            <a:r>
              <a:rPr lang="fr-FR" b="1" i="0" dirty="0">
                <a:solidFill>
                  <a:srgbClr val="ECECEC"/>
                </a:solidFill>
                <a:effectLst/>
                <a:latin typeface="Söhne"/>
              </a:rPr>
              <a:t> in Cloud Run:</a:t>
            </a:r>
            <a:endParaRPr lang="fr-FR" b="0" i="0" dirty="0">
              <a:solidFill>
                <a:srgbClr val="ECECEC"/>
              </a:solidFill>
              <a:effectLst/>
              <a:latin typeface="Söhne"/>
            </a:endParaRPr>
          </a:p>
          <a:p>
            <a:pPr lvl="1"/>
            <a:r>
              <a:rPr lang="fr-FR" b="0" i="0" dirty="0" err="1">
                <a:solidFill>
                  <a:srgbClr val="ECECEC"/>
                </a:solidFill>
                <a:effectLst/>
                <a:latin typeface="Söhne"/>
              </a:rPr>
              <a:t>Prepare</a:t>
            </a:r>
            <a:r>
              <a:rPr lang="fr-FR" b="0" i="0" dirty="0">
                <a:solidFill>
                  <a:srgbClr val="ECECEC"/>
                </a:solidFill>
                <a:effectLst/>
                <a:latin typeface="Söhne"/>
              </a:rPr>
              <a:t> the Docker image of the </a:t>
            </a:r>
            <a:r>
              <a:rPr lang="fr-FR" b="0" i="0" dirty="0" err="1">
                <a:solidFill>
                  <a:srgbClr val="ECECEC"/>
                </a:solidFill>
                <a:effectLst/>
                <a:latin typeface="Söhne"/>
              </a:rPr>
              <a:t>Streamlit</a:t>
            </a:r>
            <a:r>
              <a:rPr lang="fr-FR" b="0" i="0" dirty="0">
                <a:solidFill>
                  <a:srgbClr val="ECECEC"/>
                </a:solidFill>
                <a:effectLst/>
                <a:latin typeface="Söhne"/>
              </a:rPr>
              <a:t> application.</a:t>
            </a:r>
          </a:p>
          <a:p>
            <a:pPr lvl="1"/>
            <a:r>
              <a:rPr lang="fr-FR" b="0" i="0" dirty="0" err="1">
                <a:solidFill>
                  <a:srgbClr val="ECECEC"/>
                </a:solidFill>
                <a:effectLst/>
                <a:latin typeface="Söhne"/>
              </a:rPr>
              <a:t>Deploy</a:t>
            </a:r>
            <a:r>
              <a:rPr lang="fr-FR" b="0" i="0" dirty="0">
                <a:solidFill>
                  <a:srgbClr val="ECECEC"/>
                </a:solidFill>
                <a:effectLst/>
                <a:latin typeface="Söhne"/>
              </a:rPr>
              <a:t> the image to Google Cloud Run via the Cloud console or the command-line interface (CLI).</a:t>
            </a:r>
          </a:p>
          <a:p>
            <a:pPr lvl="1"/>
            <a:r>
              <a:rPr lang="fr-FR" b="0" i="0" dirty="0">
                <a:solidFill>
                  <a:srgbClr val="ECECEC"/>
                </a:solidFill>
                <a:effectLst/>
                <a:latin typeface="Söhne"/>
              </a:rPr>
              <a:t>Configure </a:t>
            </a:r>
            <a:r>
              <a:rPr lang="fr-FR" b="0" i="0" dirty="0" err="1">
                <a:solidFill>
                  <a:srgbClr val="ECECEC"/>
                </a:solidFill>
                <a:effectLst/>
                <a:latin typeface="Söhne"/>
              </a:rPr>
              <a:t>parameters</a:t>
            </a:r>
            <a:r>
              <a:rPr lang="fr-FR" b="0" i="0" dirty="0">
                <a:solidFill>
                  <a:srgbClr val="ECECEC"/>
                </a:solidFill>
                <a:effectLst/>
                <a:latin typeface="Söhne"/>
              </a:rPr>
              <a:t> </a:t>
            </a:r>
            <a:r>
              <a:rPr lang="fr-FR" b="0" i="0" dirty="0" err="1">
                <a:solidFill>
                  <a:srgbClr val="ECECEC"/>
                </a:solidFill>
                <a:effectLst/>
                <a:latin typeface="Söhne"/>
              </a:rPr>
              <a:t>such</a:t>
            </a:r>
            <a:r>
              <a:rPr lang="fr-FR" b="0" i="0" dirty="0">
                <a:solidFill>
                  <a:srgbClr val="ECECEC"/>
                </a:solidFill>
                <a:effectLst/>
                <a:latin typeface="Söhne"/>
              </a:rPr>
              <a:t> as </a:t>
            </a:r>
            <a:r>
              <a:rPr lang="fr-FR" b="0" i="0" dirty="0" err="1">
                <a:solidFill>
                  <a:srgbClr val="ECECEC"/>
                </a:solidFill>
                <a:effectLst/>
                <a:latin typeface="Söhne"/>
              </a:rPr>
              <a:t>allocated</a:t>
            </a:r>
            <a:r>
              <a:rPr lang="fr-FR" b="0" i="0" dirty="0">
                <a:solidFill>
                  <a:srgbClr val="ECECEC"/>
                </a:solidFill>
                <a:effectLst/>
                <a:latin typeface="Söhne"/>
              </a:rPr>
              <a:t> </a:t>
            </a:r>
            <a:r>
              <a:rPr lang="fr-FR" b="0" i="0" dirty="0" err="1">
                <a:solidFill>
                  <a:srgbClr val="ECECEC"/>
                </a:solidFill>
                <a:effectLst/>
                <a:latin typeface="Söhne"/>
              </a:rPr>
              <a:t>resources</a:t>
            </a:r>
            <a:r>
              <a:rPr lang="fr-FR" b="0" i="0" dirty="0">
                <a:solidFill>
                  <a:srgbClr val="ECECEC"/>
                </a:solidFill>
                <a:effectLst/>
                <a:latin typeface="Söhne"/>
              </a:rPr>
              <a:t> and </a:t>
            </a:r>
            <a:r>
              <a:rPr lang="fr-FR" b="0" i="0" dirty="0" err="1">
                <a:solidFill>
                  <a:srgbClr val="ECECEC"/>
                </a:solidFill>
                <a:effectLst/>
                <a:latin typeface="Söhne"/>
              </a:rPr>
              <a:t>automatic</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a:t>
            </a:r>
          </a:p>
          <a:p>
            <a:pPr lvl="1"/>
            <a:r>
              <a:rPr lang="fr-FR" b="0" i="0" dirty="0">
                <a:solidFill>
                  <a:srgbClr val="ECECEC"/>
                </a:solidFill>
                <a:effectLst/>
                <a:latin typeface="Söhne"/>
              </a:rPr>
              <a:t>An image </a:t>
            </a:r>
            <a:r>
              <a:rPr lang="fr-FR" b="0" i="0" dirty="0" err="1">
                <a:solidFill>
                  <a:srgbClr val="ECECEC"/>
                </a:solidFill>
                <a:effectLst/>
                <a:latin typeface="Söhne"/>
              </a:rPr>
              <a:t>will</a:t>
            </a:r>
            <a:r>
              <a:rPr lang="fr-FR" b="0" i="0" dirty="0">
                <a:solidFill>
                  <a:srgbClr val="ECECEC"/>
                </a:solidFill>
                <a:effectLst/>
                <a:latin typeface="Söhne"/>
              </a:rPr>
              <a:t>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automatically</a:t>
            </a:r>
            <a:r>
              <a:rPr lang="fr-FR" b="0" i="0" dirty="0">
                <a:solidFill>
                  <a:srgbClr val="ECECEC"/>
                </a:solidFill>
                <a:effectLst/>
                <a:latin typeface="Söhne"/>
              </a:rPr>
              <a:t> </a:t>
            </a:r>
            <a:r>
              <a:rPr lang="fr-FR" b="0" i="0" dirty="0" err="1">
                <a:solidFill>
                  <a:srgbClr val="ECECEC"/>
                </a:solidFill>
                <a:effectLst/>
                <a:latin typeface="Söhne"/>
              </a:rPr>
              <a:t>built</a:t>
            </a:r>
            <a:r>
              <a:rPr lang="fr-FR" b="0" i="0" dirty="0">
                <a:solidFill>
                  <a:srgbClr val="ECECEC"/>
                </a:solidFill>
                <a:effectLst/>
                <a:latin typeface="Söhne"/>
              </a:rPr>
              <a:t> and </a:t>
            </a:r>
            <a:r>
              <a:rPr lang="fr-FR" b="0" i="0" dirty="0" err="1">
                <a:solidFill>
                  <a:srgbClr val="ECECEC"/>
                </a:solidFill>
                <a:effectLst/>
                <a:latin typeface="Söhne"/>
              </a:rPr>
              <a:t>pushed</a:t>
            </a:r>
            <a:r>
              <a:rPr lang="fr-FR" b="0" i="0" dirty="0">
                <a:solidFill>
                  <a:srgbClr val="ECECEC"/>
                </a:solidFill>
                <a:effectLst/>
                <a:latin typeface="Söhne"/>
              </a:rPr>
              <a:t> to a </a:t>
            </a:r>
            <a:r>
              <a:rPr lang="fr-FR" b="0" i="0" dirty="0" err="1">
                <a:solidFill>
                  <a:srgbClr val="ECECEC"/>
                </a:solidFill>
                <a:effectLst/>
                <a:latin typeface="Söhne"/>
              </a:rPr>
              <a:t>private</a:t>
            </a:r>
            <a:r>
              <a:rPr lang="fr-FR" b="0" i="0" dirty="0">
                <a:solidFill>
                  <a:srgbClr val="ECECEC"/>
                </a:solidFill>
                <a:effectLst/>
                <a:latin typeface="Söhne"/>
              </a:rPr>
              <a:t> </a:t>
            </a:r>
            <a:r>
              <a:rPr lang="fr-FR" b="0" i="0" dirty="0" err="1">
                <a:solidFill>
                  <a:srgbClr val="ECECEC"/>
                </a:solidFill>
                <a:effectLst/>
                <a:latin typeface="Söhne"/>
              </a:rPr>
              <a:t>registry</a:t>
            </a:r>
            <a:r>
              <a:rPr lang="fr-FR" b="0" i="0" dirty="0">
                <a:solidFill>
                  <a:srgbClr val="ECECEC"/>
                </a:solidFill>
                <a:effectLst/>
                <a:latin typeface="Söhne"/>
              </a:rPr>
              <a:t> on GCP.</a:t>
            </a:r>
          </a:p>
          <a:p>
            <a:pPr lvl="1"/>
            <a:r>
              <a:rPr lang="fr-FR" b="0" i="0" dirty="0">
                <a:solidFill>
                  <a:srgbClr val="ECECEC"/>
                </a:solidFill>
                <a:effectLst/>
                <a:latin typeface="Söhne"/>
              </a:rPr>
              <a:t>Access the application via a URL </a:t>
            </a:r>
            <a:r>
              <a:rPr lang="fr-FR" b="0" i="0" dirty="0" err="1">
                <a:solidFill>
                  <a:srgbClr val="ECECEC"/>
                </a:solidFill>
                <a:effectLst/>
                <a:latin typeface="Söhne"/>
              </a:rPr>
              <a:t>provided</a:t>
            </a:r>
            <a:r>
              <a:rPr lang="fr-FR" b="0" i="0" dirty="0">
                <a:solidFill>
                  <a:srgbClr val="ECECEC"/>
                </a:solidFill>
                <a:effectLst/>
                <a:latin typeface="Söhne"/>
              </a:rPr>
              <a:t> by Google Cloud Run.</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Tree>
    <p:extLst>
      <p:ext uri="{BB962C8B-B14F-4D97-AF65-F5344CB8AC3E}">
        <p14:creationId xmlns:p14="http://schemas.microsoft.com/office/powerpoint/2010/main" val="4088609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1" i="0" dirty="0" err="1">
                <a:solidFill>
                  <a:srgbClr val="ECECEC"/>
                </a:solidFill>
                <a:effectLst/>
                <a:latin typeface="Söhne"/>
              </a:rPr>
              <a:t>Deployment</a:t>
            </a:r>
            <a:r>
              <a:rPr lang="fr-FR" b="1" i="0" dirty="0">
                <a:solidFill>
                  <a:srgbClr val="ECECEC"/>
                </a:solidFill>
                <a:effectLst/>
                <a:latin typeface="Söhne"/>
              </a:rPr>
              <a:t> </a:t>
            </a:r>
            <a:r>
              <a:rPr lang="fr-FR" b="1" i="0" dirty="0" err="1">
                <a:solidFill>
                  <a:srgbClr val="ECECEC"/>
                </a:solidFill>
                <a:effectLst/>
                <a:latin typeface="Söhne"/>
              </a:rPr>
              <a:t>Steps</a:t>
            </a:r>
            <a:r>
              <a:rPr lang="fr-FR" b="1" i="0" dirty="0">
                <a:solidFill>
                  <a:srgbClr val="ECECEC"/>
                </a:solidFill>
                <a:effectLst/>
                <a:latin typeface="Söhne"/>
              </a:rPr>
              <a:t> in a Cloud </a:t>
            </a:r>
            <a:r>
              <a:rPr lang="fr-FR" b="1" i="0" dirty="0" err="1">
                <a:solidFill>
                  <a:srgbClr val="ECECEC"/>
                </a:solidFill>
                <a:effectLst/>
                <a:latin typeface="Söhne"/>
              </a:rPr>
              <a:t>Function</a:t>
            </a:r>
            <a:r>
              <a:rPr lang="fr-FR" b="1" i="0" dirty="0">
                <a:solidFill>
                  <a:srgbClr val="ECECEC"/>
                </a:solidFill>
                <a:effectLst/>
                <a:latin typeface="Söhne"/>
              </a:rPr>
              <a:t>:</a:t>
            </a:r>
            <a:endParaRPr lang="fr-FR" b="0" i="0" dirty="0">
              <a:solidFill>
                <a:srgbClr val="ECECEC"/>
              </a:solidFill>
              <a:effectLst/>
              <a:latin typeface="Söhne"/>
            </a:endParaRPr>
          </a:p>
          <a:p>
            <a:pPr lvl="1"/>
            <a:r>
              <a:rPr lang="fr-FR" b="0" i="0" dirty="0" err="1">
                <a:solidFill>
                  <a:srgbClr val="ECECEC"/>
                </a:solidFill>
                <a:effectLst/>
                <a:latin typeface="Söhne"/>
              </a:rPr>
              <a:t>Transform</a:t>
            </a:r>
            <a:r>
              <a:rPr lang="fr-FR" b="0" i="0" dirty="0">
                <a:solidFill>
                  <a:srgbClr val="ECECEC"/>
                </a:solidFill>
                <a:effectLst/>
                <a:latin typeface="Söhne"/>
              </a:rPr>
              <a:t> the </a:t>
            </a:r>
            <a:r>
              <a:rPr lang="fr-FR" b="0" i="0" dirty="0" err="1">
                <a:solidFill>
                  <a:srgbClr val="ECECEC"/>
                </a:solidFill>
                <a:effectLst/>
                <a:latin typeface="Söhne"/>
              </a:rPr>
              <a:t>Streamlit</a:t>
            </a:r>
            <a:r>
              <a:rPr lang="fr-FR" b="0" i="0" dirty="0">
                <a:solidFill>
                  <a:srgbClr val="ECECEC"/>
                </a:solidFill>
                <a:effectLst/>
                <a:latin typeface="Söhne"/>
              </a:rPr>
              <a:t> application </a:t>
            </a:r>
            <a:r>
              <a:rPr lang="fr-FR" b="0" i="0" dirty="0" err="1">
                <a:solidFill>
                  <a:srgbClr val="ECECEC"/>
                </a:solidFill>
                <a:effectLst/>
                <a:latin typeface="Söhne"/>
              </a:rPr>
              <a:t>into</a:t>
            </a:r>
            <a:r>
              <a:rPr lang="fr-FR" b="0" i="0" dirty="0">
                <a:solidFill>
                  <a:srgbClr val="ECECEC"/>
                </a:solidFill>
                <a:effectLst/>
                <a:latin typeface="Söhne"/>
              </a:rPr>
              <a:t> an </a:t>
            </a:r>
            <a:r>
              <a:rPr lang="fr-FR" b="0" i="0" dirty="0" err="1">
                <a:solidFill>
                  <a:srgbClr val="ECECEC"/>
                </a:solidFill>
                <a:effectLst/>
                <a:latin typeface="Söhne"/>
              </a:rPr>
              <a:t>asynchronous</a:t>
            </a:r>
            <a:r>
              <a:rPr lang="fr-FR" b="0" i="0" dirty="0">
                <a:solidFill>
                  <a:srgbClr val="ECECEC"/>
                </a:solidFill>
                <a:effectLst/>
                <a:latin typeface="Söhne"/>
              </a:rPr>
              <a:t> </a:t>
            </a:r>
            <a:r>
              <a:rPr lang="fr-FR" b="0" i="0" dirty="0" err="1">
                <a:solidFill>
                  <a:srgbClr val="ECECEC"/>
                </a:solidFill>
                <a:effectLst/>
                <a:latin typeface="Söhne"/>
              </a:rPr>
              <a:t>function</a:t>
            </a:r>
            <a:r>
              <a:rPr lang="fr-FR" b="0" i="0" dirty="0">
                <a:solidFill>
                  <a:srgbClr val="ECECEC"/>
                </a:solidFill>
                <a:effectLst/>
                <a:latin typeface="Söhne"/>
              </a:rPr>
              <a:t> </a:t>
            </a:r>
            <a:r>
              <a:rPr lang="fr-FR" b="0" i="0" dirty="0" err="1">
                <a:solidFill>
                  <a:srgbClr val="ECECEC"/>
                </a:solidFill>
                <a:effectLst/>
                <a:latin typeface="Söhne"/>
              </a:rPr>
              <a:t>managed</a:t>
            </a:r>
            <a:r>
              <a:rPr lang="fr-FR" b="0" i="0" dirty="0">
                <a:solidFill>
                  <a:srgbClr val="ECECEC"/>
                </a:solidFill>
                <a:effectLst/>
                <a:latin typeface="Söhne"/>
              </a:rPr>
              <a:t> by Google Cloud </a:t>
            </a:r>
            <a:r>
              <a:rPr lang="fr-FR" b="0" i="0" dirty="0" err="1">
                <a:solidFill>
                  <a:srgbClr val="ECECEC"/>
                </a:solidFill>
                <a:effectLst/>
                <a:latin typeface="Söhne"/>
              </a:rPr>
              <a:t>Functions</a:t>
            </a:r>
            <a:r>
              <a:rPr lang="fr-FR" b="0" i="0" dirty="0">
                <a:solidFill>
                  <a:srgbClr val="ECECEC"/>
                </a:solidFill>
                <a:effectLst/>
                <a:latin typeface="Söhne"/>
              </a:rPr>
              <a:t>.</a:t>
            </a:r>
          </a:p>
          <a:p>
            <a:pPr lvl="1"/>
            <a:r>
              <a:rPr lang="fr-FR" b="0" i="0" dirty="0" err="1">
                <a:solidFill>
                  <a:srgbClr val="ECECEC"/>
                </a:solidFill>
                <a:effectLst/>
                <a:latin typeface="Söhne"/>
              </a:rPr>
              <a:t>Deploy</a:t>
            </a:r>
            <a:r>
              <a:rPr lang="fr-FR" b="0" i="0" dirty="0">
                <a:solidFill>
                  <a:srgbClr val="ECECEC"/>
                </a:solidFill>
                <a:effectLst/>
                <a:latin typeface="Söhne"/>
              </a:rPr>
              <a:t> the </a:t>
            </a:r>
            <a:r>
              <a:rPr lang="fr-FR" b="0" i="0" dirty="0" err="1">
                <a:solidFill>
                  <a:srgbClr val="ECECEC"/>
                </a:solidFill>
                <a:effectLst/>
                <a:latin typeface="Söhne"/>
              </a:rPr>
              <a:t>function</a:t>
            </a:r>
            <a:r>
              <a:rPr lang="fr-FR" b="0" i="0" dirty="0">
                <a:solidFill>
                  <a:srgbClr val="ECECEC"/>
                </a:solidFill>
                <a:effectLst/>
                <a:latin typeface="Söhne"/>
              </a:rPr>
              <a:t> to Google Cloud </a:t>
            </a:r>
            <a:r>
              <a:rPr lang="fr-FR" b="0" i="0" dirty="0" err="1">
                <a:solidFill>
                  <a:srgbClr val="ECECEC"/>
                </a:solidFill>
                <a:effectLst/>
                <a:latin typeface="Söhne"/>
              </a:rPr>
              <a:t>Functions</a:t>
            </a:r>
            <a:r>
              <a:rPr lang="fr-FR" b="0" i="0" dirty="0">
                <a:solidFill>
                  <a:srgbClr val="ECECEC"/>
                </a:solidFill>
                <a:effectLst/>
                <a:latin typeface="Söhne"/>
              </a:rPr>
              <a:t> via the Cloud console or the CLI.</a:t>
            </a:r>
          </a:p>
          <a:p>
            <a:pPr lvl="1"/>
            <a:r>
              <a:rPr lang="fr-FR" b="0" i="0" dirty="0">
                <a:solidFill>
                  <a:srgbClr val="ECECEC"/>
                </a:solidFill>
                <a:effectLst/>
                <a:latin typeface="Söhne"/>
              </a:rPr>
              <a:t>Configure triggers (e.g., HTTP) to </a:t>
            </a:r>
            <a:r>
              <a:rPr lang="fr-FR" b="0" i="0" dirty="0" err="1">
                <a:solidFill>
                  <a:srgbClr val="ECECEC"/>
                </a:solidFill>
                <a:effectLst/>
                <a:latin typeface="Söhne"/>
              </a:rPr>
              <a:t>invoke</a:t>
            </a:r>
            <a:r>
              <a:rPr lang="fr-FR" b="0" i="0" dirty="0">
                <a:solidFill>
                  <a:srgbClr val="ECECEC"/>
                </a:solidFill>
                <a:effectLst/>
                <a:latin typeface="Söhne"/>
              </a:rPr>
              <a:t> the </a:t>
            </a:r>
            <a:r>
              <a:rPr lang="fr-FR" b="0" i="0" dirty="0" err="1">
                <a:solidFill>
                  <a:srgbClr val="ECECEC"/>
                </a:solidFill>
                <a:effectLst/>
                <a:latin typeface="Söhne"/>
              </a:rPr>
              <a:t>function</a:t>
            </a:r>
            <a:r>
              <a:rPr lang="fr-FR" b="0" i="0" dirty="0">
                <a:solidFill>
                  <a:srgbClr val="ECECEC"/>
                </a:solidFill>
                <a:effectLst/>
                <a:latin typeface="Söhne"/>
              </a:rPr>
              <a:t>.</a:t>
            </a:r>
          </a:p>
          <a:p>
            <a:pPr lvl="1"/>
            <a:r>
              <a:rPr lang="fr-FR" b="0" i="0" dirty="0">
                <a:solidFill>
                  <a:srgbClr val="ECECEC"/>
                </a:solidFill>
                <a:effectLst/>
                <a:latin typeface="Söhne"/>
              </a:rPr>
              <a:t>Test the </a:t>
            </a:r>
            <a:r>
              <a:rPr lang="fr-FR" b="0" i="0" dirty="0" err="1">
                <a:solidFill>
                  <a:srgbClr val="ECECEC"/>
                </a:solidFill>
                <a:effectLst/>
                <a:latin typeface="Söhne"/>
              </a:rPr>
              <a:t>function</a:t>
            </a:r>
            <a:r>
              <a:rPr lang="fr-FR" b="0" i="0" dirty="0">
                <a:solidFill>
                  <a:srgbClr val="ECECEC"/>
                </a:solidFill>
                <a:effectLst/>
                <a:latin typeface="Söhne"/>
              </a:rPr>
              <a:t> invocation </a:t>
            </a:r>
            <a:r>
              <a:rPr lang="fr-FR" b="0" i="0" dirty="0" err="1">
                <a:solidFill>
                  <a:srgbClr val="ECECEC"/>
                </a:solidFill>
                <a:effectLst/>
                <a:latin typeface="Söhne"/>
              </a:rPr>
              <a:t>using</a:t>
            </a:r>
            <a:r>
              <a:rPr lang="fr-FR" b="0" i="0" dirty="0">
                <a:solidFill>
                  <a:srgbClr val="ECECEC"/>
                </a:solidFill>
                <a:effectLst/>
                <a:latin typeface="Söhne"/>
              </a:rPr>
              <a:t> a </a:t>
            </a:r>
            <a:r>
              <a:rPr lang="fr-FR" b="0" i="0" dirty="0" err="1">
                <a:solidFill>
                  <a:srgbClr val="ECECEC"/>
                </a:solidFill>
                <a:effectLst/>
                <a:latin typeface="Söhne"/>
              </a:rPr>
              <a:t>tool</a:t>
            </a:r>
            <a:r>
              <a:rPr lang="fr-FR" b="0" i="0" dirty="0">
                <a:solidFill>
                  <a:srgbClr val="ECECEC"/>
                </a:solidFill>
                <a:effectLst/>
                <a:latin typeface="Söhne"/>
              </a:rPr>
              <a:t> like </a:t>
            </a:r>
            <a:r>
              <a:rPr lang="fr-FR" b="0" i="0" dirty="0" err="1">
                <a:solidFill>
                  <a:srgbClr val="ECECEC"/>
                </a:solidFill>
                <a:effectLst/>
                <a:latin typeface="Söhne"/>
              </a:rPr>
              <a:t>curl</a:t>
            </a:r>
            <a:r>
              <a:rPr lang="fr-FR" b="0" i="0" dirty="0">
                <a:solidFill>
                  <a:srgbClr val="ECECEC"/>
                </a:solidFill>
                <a:effectLst/>
                <a:latin typeface="Söhne"/>
              </a:rPr>
              <a:t> or via a browser.</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Tree>
    <p:extLst>
      <p:ext uri="{BB962C8B-B14F-4D97-AF65-F5344CB8AC3E}">
        <p14:creationId xmlns:p14="http://schemas.microsoft.com/office/powerpoint/2010/main" val="2599925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1" i="0" dirty="0">
                <a:solidFill>
                  <a:srgbClr val="ECECEC"/>
                </a:solidFill>
                <a:effectLst/>
                <a:latin typeface="Söhne"/>
              </a:rPr>
              <a:t>In Conclusion:</a:t>
            </a:r>
            <a:endParaRPr lang="fr-FR" b="0" i="0" dirty="0">
              <a:solidFill>
                <a:srgbClr val="ECECEC"/>
              </a:solidFill>
              <a:effectLst/>
              <a:latin typeface="Söhne"/>
            </a:endParaRPr>
          </a:p>
          <a:p>
            <a:pPr algn="l">
              <a:buFont typeface="Arial" panose="020B0604020202020204" pitchFamily="34" charset="0"/>
              <a:buChar char="•"/>
            </a:pPr>
            <a:r>
              <a:rPr lang="fr-FR" b="0" i="0" dirty="0" err="1">
                <a:solidFill>
                  <a:srgbClr val="ECECEC"/>
                </a:solidFill>
                <a:effectLst/>
                <a:latin typeface="Söhne"/>
              </a:rPr>
              <a:t>Choice</a:t>
            </a:r>
            <a:r>
              <a:rPr lang="fr-FR" b="0" i="0" dirty="0">
                <a:solidFill>
                  <a:srgbClr val="ECECEC"/>
                </a:solidFill>
                <a:effectLst/>
                <a:latin typeface="Söhne"/>
              </a:rPr>
              <a:t> </a:t>
            </a:r>
            <a:r>
              <a:rPr lang="fr-FR" b="0" i="0" dirty="0" err="1">
                <a:solidFill>
                  <a:srgbClr val="ECECEC"/>
                </a:solidFill>
                <a:effectLst/>
                <a:latin typeface="Söhne"/>
              </a:rPr>
              <a:t>depends</a:t>
            </a:r>
            <a:r>
              <a:rPr lang="fr-FR" b="0" i="0" dirty="0">
                <a:solidFill>
                  <a:srgbClr val="ECECEC"/>
                </a:solidFill>
                <a:effectLst/>
                <a:latin typeface="Söhne"/>
              </a:rPr>
              <a:t> on the </a:t>
            </a:r>
            <a:r>
              <a:rPr lang="fr-FR" b="0" i="0" dirty="0" err="1">
                <a:solidFill>
                  <a:srgbClr val="ECECEC"/>
                </a:solidFill>
                <a:effectLst/>
                <a:latin typeface="Söhne"/>
              </a:rPr>
              <a:t>needs</a:t>
            </a:r>
            <a:r>
              <a:rPr lang="fr-FR" b="0" i="0" dirty="0">
                <a:solidFill>
                  <a:srgbClr val="ECECEC"/>
                </a:solidFill>
                <a:effectLst/>
                <a:latin typeface="Söhne"/>
              </a:rPr>
              <a:t>, </a:t>
            </a:r>
            <a:r>
              <a:rPr lang="fr-FR" b="0" i="0" dirty="0" err="1">
                <a:solidFill>
                  <a:srgbClr val="ECECEC"/>
                </a:solidFill>
                <a:effectLst/>
                <a:latin typeface="Söhne"/>
              </a:rPr>
              <a:t>skills</a:t>
            </a:r>
            <a:r>
              <a:rPr lang="fr-FR" b="0" i="0" dirty="0">
                <a:solidFill>
                  <a:srgbClr val="ECECEC"/>
                </a:solidFill>
                <a:effectLst/>
                <a:latin typeface="Söhne"/>
              </a:rPr>
              <a:t>, and </a:t>
            </a:r>
            <a:r>
              <a:rPr lang="fr-FR" b="0" i="0" dirty="0" err="1">
                <a:solidFill>
                  <a:srgbClr val="ECECEC"/>
                </a:solidFill>
                <a:effectLst/>
                <a:latin typeface="Söhne"/>
              </a:rPr>
              <a:t>constraints</a:t>
            </a:r>
            <a:r>
              <a:rPr lang="fr-FR" b="0" i="0" dirty="0">
                <a:solidFill>
                  <a:srgbClr val="ECECEC"/>
                </a:solidFill>
                <a:effectLst/>
                <a:latin typeface="Söhne"/>
              </a:rPr>
              <a:t> of </a:t>
            </a:r>
            <a:r>
              <a:rPr lang="fr-FR" b="0" i="0" dirty="0" err="1">
                <a:solidFill>
                  <a:srgbClr val="ECECEC"/>
                </a:solidFill>
                <a:effectLst/>
                <a:latin typeface="Söhne"/>
              </a:rPr>
              <a:t>each</a:t>
            </a:r>
            <a:r>
              <a:rPr lang="fr-FR" b="0" i="0" dirty="0">
                <a:solidFill>
                  <a:srgbClr val="ECECEC"/>
                </a:solidFill>
                <a:effectLst/>
                <a:latin typeface="Söhne"/>
              </a:rPr>
              <a:t> </a:t>
            </a:r>
            <a:r>
              <a:rPr lang="fr-FR" b="0" i="0" dirty="0" err="1">
                <a:solidFill>
                  <a:srgbClr val="ECECEC"/>
                </a:solidFill>
                <a:effectLst/>
                <a:latin typeface="Söhne"/>
              </a:rPr>
              <a:t>project</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err="1">
                <a:solidFill>
                  <a:srgbClr val="ECECEC"/>
                </a:solidFill>
                <a:effectLst/>
                <a:latin typeface="Söhne"/>
              </a:rPr>
              <a:t>VMs</a:t>
            </a:r>
            <a:r>
              <a:rPr lang="fr-FR" b="0" i="0" dirty="0">
                <a:solidFill>
                  <a:srgbClr val="ECECEC"/>
                </a:solidFill>
                <a:effectLst/>
                <a:latin typeface="Söhne"/>
              </a:rPr>
              <a:t> </a:t>
            </a:r>
            <a:r>
              <a:rPr lang="fr-FR" b="0" i="0" dirty="0" err="1">
                <a:solidFill>
                  <a:srgbClr val="ECECEC"/>
                </a:solidFill>
                <a:effectLst/>
                <a:latin typeface="Söhne"/>
              </a:rPr>
              <a:t>may</a:t>
            </a:r>
            <a:r>
              <a:rPr lang="fr-FR" b="0" i="0" dirty="0">
                <a:solidFill>
                  <a:srgbClr val="ECECEC"/>
                </a:solidFill>
                <a:effectLst/>
                <a:latin typeface="Söhne"/>
              </a:rPr>
              <a:t> </a:t>
            </a:r>
            <a:r>
              <a:rPr lang="fr-FR" b="0" i="0" dirty="0" err="1">
                <a:solidFill>
                  <a:srgbClr val="ECECEC"/>
                </a:solidFill>
                <a:effectLst/>
                <a:latin typeface="Söhne"/>
              </a:rPr>
              <a:t>offer</a:t>
            </a:r>
            <a:r>
              <a:rPr lang="fr-FR" b="0" i="0" dirty="0">
                <a:solidFill>
                  <a:srgbClr val="ECECEC"/>
                </a:solidFill>
                <a:effectLst/>
                <a:latin typeface="Söhne"/>
              </a:rPr>
              <a:t> total </a:t>
            </a:r>
            <a:r>
              <a:rPr lang="fr-FR" b="0" i="0" dirty="0" err="1">
                <a:solidFill>
                  <a:srgbClr val="ECECEC"/>
                </a:solidFill>
                <a:effectLst/>
                <a:latin typeface="Söhne"/>
              </a:rPr>
              <a:t>flexibility</a:t>
            </a:r>
            <a:r>
              <a:rPr lang="fr-FR" b="0" i="0" dirty="0">
                <a:solidFill>
                  <a:srgbClr val="ECECEC"/>
                </a:solidFill>
                <a:effectLst/>
                <a:latin typeface="Söhne"/>
              </a:rPr>
              <a:t> </a:t>
            </a:r>
            <a:r>
              <a:rPr lang="fr-FR" b="0" i="0" dirty="0" err="1">
                <a:solidFill>
                  <a:srgbClr val="ECECEC"/>
                </a:solidFill>
                <a:effectLst/>
                <a:latin typeface="Söhne"/>
              </a:rPr>
              <a:t>while</a:t>
            </a:r>
            <a:r>
              <a:rPr lang="fr-FR" b="0" i="0" dirty="0">
                <a:solidFill>
                  <a:srgbClr val="ECECEC"/>
                </a:solidFill>
                <a:effectLst/>
                <a:latin typeface="Söhne"/>
              </a:rPr>
              <a:t> </a:t>
            </a:r>
            <a:r>
              <a:rPr lang="fr-FR" b="0" i="0" dirty="0" err="1">
                <a:solidFill>
                  <a:srgbClr val="ECECEC"/>
                </a:solidFill>
                <a:effectLst/>
                <a:latin typeface="Söhne"/>
              </a:rPr>
              <a:t>managed</a:t>
            </a:r>
            <a:r>
              <a:rPr lang="fr-FR" b="0" i="0" dirty="0">
                <a:solidFill>
                  <a:srgbClr val="ECECEC"/>
                </a:solidFill>
                <a:effectLst/>
                <a:latin typeface="Söhne"/>
              </a:rPr>
              <a:t> cloud services (like Cloud Run) </a:t>
            </a:r>
            <a:r>
              <a:rPr lang="fr-FR" b="0" i="0" dirty="0" err="1">
                <a:solidFill>
                  <a:srgbClr val="ECECEC"/>
                </a:solidFill>
                <a:effectLst/>
                <a:latin typeface="Söhne"/>
              </a:rPr>
              <a:t>offer</a:t>
            </a:r>
            <a:r>
              <a:rPr lang="fr-FR" b="0" i="0" dirty="0">
                <a:solidFill>
                  <a:srgbClr val="ECECEC"/>
                </a:solidFill>
                <a:effectLst/>
                <a:latin typeface="Söhne"/>
              </a:rPr>
              <a:t> </a:t>
            </a:r>
            <a:r>
              <a:rPr lang="fr-FR" b="0" i="0" dirty="0" err="1">
                <a:solidFill>
                  <a:srgbClr val="ECECEC"/>
                </a:solidFill>
                <a:effectLst/>
                <a:latin typeface="Söhne"/>
              </a:rPr>
              <a:t>simplified</a:t>
            </a:r>
            <a:r>
              <a:rPr lang="fr-FR" b="0" i="0" dirty="0">
                <a:solidFill>
                  <a:srgbClr val="ECECEC"/>
                </a:solidFill>
                <a:effectLst/>
                <a:latin typeface="Söhne"/>
              </a:rPr>
              <a:t> management and </a:t>
            </a:r>
            <a:r>
              <a:rPr lang="fr-FR" b="0" i="0" dirty="0" err="1">
                <a:solidFill>
                  <a:srgbClr val="ECECEC"/>
                </a:solidFill>
                <a:effectLst/>
                <a:latin typeface="Söhne"/>
              </a:rPr>
              <a:t>automatic</a:t>
            </a:r>
            <a:r>
              <a:rPr lang="fr-FR" b="0" i="0" dirty="0">
                <a:solidFill>
                  <a:srgbClr val="ECECEC"/>
                </a:solidFill>
                <a:effectLst/>
                <a:latin typeface="Söhne"/>
              </a:rPr>
              <a:t> </a:t>
            </a:r>
            <a:r>
              <a:rPr lang="fr-FR" b="0" i="0" dirty="0" err="1">
                <a:solidFill>
                  <a:srgbClr val="ECECEC"/>
                </a:solidFill>
                <a:effectLst/>
                <a:latin typeface="Söhne"/>
              </a:rPr>
              <a:t>scaling</a:t>
            </a:r>
            <a:r>
              <a:rPr lang="fr-FR" b="0" i="0" dirty="0">
                <a:solidFill>
                  <a:srgbClr val="ECECEC"/>
                </a:solidFill>
                <a:effectLst/>
                <a:latin typeface="Söhne"/>
              </a:rPr>
              <a:t>.</a:t>
            </a:r>
          </a:p>
          <a:p>
            <a:pPr algn="l">
              <a:buFont typeface="Arial" panose="020B0604020202020204" pitchFamily="34" charset="0"/>
              <a:buChar char="•"/>
            </a:pPr>
            <a:r>
              <a:rPr lang="fr-FR" b="0" i="0" dirty="0">
                <a:solidFill>
                  <a:srgbClr val="ECECEC"/>
                </a:solidFill>
                <a:effectLst/>
                <a:latin typeface="Söhne"/>
              </a:rPr>
              <a:t>It </a:t>
            </a:r>
            <a:r>
              <a:rPr lang="fr-FR" b="0" i="0" dirty="0" err="1">
                <a:solidFill>
                  <a:srgbClr val="ECECEC"/>
                </a:solidFill>
                <a:effectLst/>
                <a:latin typeface="Söhne"/>
              </a:rPr>
              <a:t>is</a:t>
            </a:r>
            <a:r>
              <a:rPr lang="fr-FR" b="0" i="0" dirty="0">
                <a:solidFill>
                  <a:srgbClr val="ECECEC"/>
                </a:solidFill>
                <a:effectLst/>
                <a:latin typeface="Söhne"/>
              </a:rPr>
              <a:t> essential to explore and </a:t>
            </a:r>
            <a:r>
              <a:rPr lang="fr-FR" b="0" i="0" dirty="0" err="1">
                <a:solidFill>
                  <a:srgbClr val="ECECEC"/>
                </a:solidFill>
                <a:effectLst/>
                <a:latin typeface="Söhne"/>
              </a:rPr>
              <a:t>experiment</a:t>
            </a:r>
            <a:r>
              <a:rPr lang="fr-FR" b="0" i="0" dirty="0">
                <a:solidFill>
                  <a:srgbClr val="ECECEC"/>
                </a:solidFill>
                <a:effectLst/>
                <a:latin typeface="Söhne"/>
              </a:rPr>
              <a:t> </a:t>
            </a:r>
            <a:r>
              <a:rPr lang="fr-FR" b="0" i="0" dirty="0" err="1">
                <a:solidFill>
                  <a:srgbClr val="ECECEC"/>
                </a:solidFill>
                <a:effectLst/>
                <a:latin typeface="Söhne"/>
              </a:rPr>
              <a:t>with</a:t>
            </a:r>
            <a:r>
              <a:rPr lang="fr-FR" b="0" i="0" dirty="0">
                <a:solidFill>
                  <a:srgbClr val="ECECEC"/>
                </a:solidFill>
                <a:effectLst/>
                <a:latin typeface="Söhne"/>
              </a:rPr>
              <a:t> </a:t>
            </a:r>
            <a:r>
              <a:rPr lang="fr-FR" b="0" i="0" dirty="0" err="1">
                <a:solidFill>
                  <a:srgbClr val="ECECEC"/>
                </a:solidFill>
                <a:effectLst/>
                <a:latin typeface="Söhne"/>
              </a:rPr>
              <a:t>different</a:t>
            </a:r>
            <a:r>
              <a:rPr lang="fr-FR" b="0" i="0" dirty="0">
                <a:solidFill>
                  <a:srgbClr val="ECECEC"/>
                </a:solidFill>
                <a:effectLst/>
                <a:latin typeface="Söhne"/>
              </a:rPr>
              <a:t> options to </a:t>
            </a:r>
            <a:r>
              <a:rPr lang="fr-FR" b="0" i="0" dirty="0" err="1">
                <a:solidFill>
                  <a:srgbClr val="ECECEC"/>
                </a:solidFill>
                <a:effectLst/>
                <a:latin typeface="Söhne"/>
              </a:rPr>
              <a:t>find</a:t>
            </a:r>
            <a:r>
              <a:rPr lang="fr-FR" b="0" i="0" dirty="0">
                <a:solidFill>
                  <a:srgbClr val="ECECEC"/>
                </a:solidFill>
                <a:effectLst/>
                <a:latin typeface="Söhne"/>
              </a:rPr>
              <a:t> the one </a:t>
            </a:r>
            <a:r>
              <a:rPr lang="fr-FR" b="0" i="0" dirty="0" err="1">
                <a:solidFill>
                  <a:srgbClr val="ECECEC"/>
                </a:solidFill>
                <a:effectLst/>
                <a:latin typeface="Söhne"/>
              </a:rPr>
              <a:t>that</a:t>
            </a:r>
            <a:r>
              <a:rPr lang="fr-FR" b="0" i="0" dirty="0">
                <a:solidFill>
                  <a:srgbClr val="ECECEC"/>
                </a:solidFill>
                <a:effectLst/>
                <a:latin typeface="Söhne"/>
              </a:rPr>
              <a:t> best </a:t>
            </a:r>
            <a:r>
              <a:rPr lang="fr-FR" b="0" i="0" dirty="0" err="1">
                <a:solidFill>
                  <a:srgbClr val="ECECEC"/>
                </a:solidFill>
                <a:effectLst/>
                <a:latin typeface="Söhne"/>
              </a:rPr>
              <a:t>suits</a:t>
            </a:r>
            <a:r>
              <a:rPr lang="fr-FR" b="0" i="0" dirty="0">
                <a:solidFill>
                  <a:srgbClr val="ECECEC"/>
                </a:solidFill>
                <a:effectLst/>
                <a:latin typeface="Söhne"/>
              </a:rPr>
              <a:t> </a:t>
            </a:r>
            <a:r>
              <a:rPr lang="fr-FR" b="0" i="0" dirty="0" err="1">
                <a:solidFill>
                  <a:srgbClr val="ECECEC"/>
                </a:solidFill>
                <a:effectLst/>
                <a:latin typeface="Söhne"/>
              </a:rPr>
              <a:t>each</a:t>
            </a:r>
            <a:r>
              <a:rPr lang="fr-FR" b="0" i="0" dirty="0">
                <a:solidFill>
                  <a:srgbClr val="ECECEC"/>
                </a:solidFill>
                <a:effectLst/>
                <a:latin typeface="Söhne"/>
              </a:rPr>
              <a:t> use case.</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ML APP DEPLOYMENT</a:t>
            </a:r>
          </a:p>
        </p:txBody>
      </p:sp>
    </p:spTree>
    <p:extLst>
      <p:ext uri="{BB962C8B-B14F-4D97-AF65-F5344CB8AC3E}">
        <p14:creationId xmlns:p14="http://schemas.microsoft.com/office/powerpoint/2010/main" val="4120418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GCP SERVICES THAT YOU MUST KNOW</a:t>
            </a:r>
          </a:p>
        </p:txBody>
      </p:sp>
    </p:spTree>
    <p:extLst>
      <p:ext uri="{BB962C8B-B14F-4D97-AF65-F5344CB8AC3E}">
        <p14:creationId xmlns:p14="http://schemas.microsoft.com/office/powerpoint/2010/main" val="2336988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61554"/>
            <a:ext cx="11530647" cy="721852"/>
          </a:xfrm>
        </p:spPr>
        <p:txBody>
          <a:bodyPr>
            <a:normAutofit/>
          </a:bodyPr>
          <a:lstStyle/>
          <a:p>
            <a:pPr algn="l"/>
            <a:r>
              <a:rPr lang="fr-FR" sz="3200" dirty="0"/>
              <a:t>SECURITY</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22514" y="1341120"/>
            <a:ext cx="11094719" cy="4877566"/>
          </a:xfrm>
        </p:spPr>
        <p:txBody>
          <a:bodyPr>
            <a:normAutofit/>
          </a:bodyPr>
          <a:lstStyle/>
          <a:p>
            <a:pPr algn="l"/>
            <a:r>
              <a:rPr lang="fr-FR" sz="2000" b="1" i="0" dirty="0">
                <a:solidFill>
                  <a:srgbClr val="ECECEC"/>
                </a:solidFill>
                <a:effectLst/>
                <a:latin typeface="Söhne"/>
              </a:rPr>
              <a:t>Custom Design:</a:t>
            </a:r>
            <a:endParaRPr lang="fr-FR" sz="2000" b="0" i="0" dirty="0">
              <a:solidFill>
                <a:srgbClr val="ECECEC"/>
              </a:solidFill>
              <a:effectLst/>
              <a:latin typeface="Söhne"/>
            </a:endParaRPr>
          </a:p>
          <a:p>
            <a:pPr lvl="1"/>
            <a:r>
              <a:rPr lang="fr-FR" sz="1400" b="0" i="0" dirty="0">
                <a:solidFill>
                  <a:srgbClr val="ECECEC"/>
                </a:solidFill>
                <a:effectLst/>
                <a:latin typeface="Söhne"/>
              </a:rPr>
              <a:t>Google designs </a:t>
            </a:r>
            <a:r>
              <a:rPr lang="fr-FR" sz="1400" b="0" i="0" dirty="0" err="1">
                <a:solidFill>
                  <a:srgbClr val="ECECEC"/>
                </a:solidFill>
                <a:effectLst/>
                <a:latin typeface="Söhne"/>
              </a:rPr>
              <a:t>its</a:t>
            </a:r>
            <a:r>
              <a:rPr lang="fr-FR" sz="1400" b="0" i="0" dirty="0">
                <a:solidFill>
                  <a:srgbClr val="ECECEC"/>
                </a:solidFill>
                <a:effectLst/>
                <a:latin typeface="Söhne"/>
              </a:rPr>
              <a:t> </a:t>
            </a:r>
            <a:r>
              <a:rPr lang="fr-FR" sz="1400" b="0" i="0" dirty="0" err="1">
                <a:solidFill>
                  <a:srgbClr val="ECECEC"/>
                </a:solidFill>
                <a:effectLst/>
                <a:latin typeface="Söhne"/>
              </a:rPr>
              <a:t>own</a:t>
            </a:r>
            <a:r>
              <a:rPr lang="fr-FR" sz="1400" b="0" i="0" dirty="0">
                <a:solidFill>
                  <a:srgbClr val="ECECEC"/>
                </a:solidFill>
                <a:effectLst/>
                <a:latin typeface="Söhne"/>
              </a:rPr>
              <a:t> server racks and network </a:t>
            </a:r>
            <a:r>
              <a:rPr lang="fr-FR" sz="1400" b="0" i="0" dirty="0" err="1">
                <a:solidFill>
                  <a:srgbClr val="ECECEC"/>
                </a:solidFill>
                <a:effectLst/>
                <a:latin typeface="Söhne"/>
              </a:rPr>
              <a:t>equipment</a:t>
            </a:r>
            <a:r>
              <a:rPr lang="fr-FR" sz="1400" b="0" i="0" dirty="0">
                <a:solidFill>
                  <a:srgbClr val="ECECEC"/>
                </a:solidFill>
                <a:effectLst/>
                <a:latin typeface="Söhne"/>
              </a:rPr>
              <a:t> for </a:t>
            </a:r>
            <a:r>
              <a:rPr lang="fr-FR" sz="1400" b="0" i="0" dirty="0" err="1">
                <a:solidFill>
                  <a:srgbClr val="ECECEC"/>
                </a:solidFill>
                <a:effectLst/>
                <a:latin typeface="Söhne"/>
              </a:rPr>
              <a:t>its</a:t>
            </a:r>
            <a:r>
              <a:rPr lang="fr-FR" sz="1400" b="0" i="0" dirty="0">
                <a:solidFill>
                  <a:srgbClr val="ECECEC"/>
                </a:solidFill>
                <a:effectLst/>
                <a:latin typeface="Söhne"/>
              </a:rPr>
              <a:t> data centers, as </a:t>
            </a:r>
            <a:r>
              <a:rPr lang="fr-FR" sz="1400" b="0" i="0" dirty="0" err="1">
                <a:solidFill>
                  <a:srgbClr val="ECECEC"/>
                </a:solidFill>
                <a:effectLst/>
                <a:latin typeface="Söhne"/>
              </a:rPr>
              <a:t>well</a:t>
            </a:r>
            <a:r>
              <a:rPr lang="fr-FR" sz="1400" b="0" i="0" dirty="0">
                <a:solidFill>
                  <a:srgbClr val="ECECEC"/>
                </a:solidFill>
                <a:effectLst/>
                <a:latin typeface="Söhne"/>
              </a:rPr>
              <a:t> as custom chips, </a:t>
            </a:r>
            <a:r>
              <a:rPr lang="fr-FR" sz="1400" b="0" i="0" dirty="0" err="1">
                <a:solidFill>
                  <a:srgbClr val="ECECEC"/>
                </a:solidFill>
                <a:effectLst/>
                <a:latin typeface="Söhne"/>
              </a:rPr>
              <a:t>including</a:t>
            </a:r>
            <a:r>
              <a:rPr lang="fr-FR" sz="1400" b="0" i="0" dirty="0">
                <a:solidFill>
                  <a:srgbClr val="ECECEC"/>
                </a:solidFill>
                <a:effectLst/>
                <a:latin typeface="Söhne"/>
              </a:rPr>
              <a:t> a hardware </a:t>
            </a:r>
            <a:r>
              <a:rPr lang="fr-FR" sz="1400" b="0" i="0" dirty="0" err="1">
                <a:solidFill>
                  <a:srgbClr val="ECECEC"/>
                </a:solidFill>
                <a:effectLst/>
                <a:latin typeface="Söhne"/>
              </a:rPr>
              <a:t>security</a:t>
            </a:r>
            <a:r>
              <a:rPr lang="fr-FR" sz="1400" b="0" i="0" dirty="0">
                <a:solidFill>
                  <a:srgbClr val="ECECEC"/>
                </a:solidFill>
                <a:effectLst/>
                <a:latin typeface="Söhne"/>
              </a:rPr>
              <a:t> chip.</a:t>
            </a:r>
          </a:p>
          <a:p>
            <a:pPr algn="l"/>
            <a:r>
              <a:rPr lang="fr-FR" sz="2000" b="1" i="0" dirty="0">
                <a:solidFill>
                  <a:srgbClr val="ECECEC"/>
                </a:solidFill>
                <a:effectLst/>
                <a:latin typeface="Söhne"/>
              </a:rPr>
              <a:t>Boot Security:</a:t>
            </a:r>
            <a:endParaRPr lang="fr-FR" sz="2000" b="0" i="0" dirty="0">
              <a:solidFill>
                <a:srgbClr val="ECECEC"/>
              </a:solidFill>
              <a:effectLst/>
              <a:latin typeface="Söhne"/>
            </a:endParaRPr>
          </a:p>
          <a:p>
            <a:pPr lvl="1"/>
            <a:r>
              <a:rPr lang="fr-FR" sz="1400" b="0" i="0" dirty="0" err="1">
                <a:solidFill>
                  <a:srgbClr val="ECECEC"/>
                </a:solidFill>
                <a:effectLst/>
                <a:latin typeface="Söhne"/>
              </a:rPr>
              <a:t>Google's</a:t>
            </a:r>
            <a:r>
              <a:rPr lang="fr-FR" sz="1400" b="0" i="0" dirty="0">
                <a:solidFill>
                  <a:srgbClr val="ECECEC"/>
                </a:solidFill>
                <a:effectLst/>
                <a:latin typeface="Söhne"/>
              </a:rPr>
              <a:t> server machines use </a:t>
            </a:r>
            <a:r>
              <a:rPr lang="fr-FR" sz="1400" b="0" i="0" dirty="0" err="1">
                <a:solidFill>
                  <a:srgbClr val="ECECEC"/>
                </a:solidFill>
                <a:effectLst/>
                <a:latin typeface="Söhne"/>
              </a:rPr>
              <a:t>cryptographic</a:t>
            </a:r>
            <a:r>
              <a:rPr lang="fr-FR" sz="1400" b="0" i="0" dirty="0">
                <a:solidFill>
                  <a:srgbClr val="ECECEC"/>
                </a:solidFill>
                <a:effectLst/>
                <a:latin typeface="Söhne"/>
              </a:rPr>
              <a:t> signature technologies to </a:t>
            </a:r>
            <a:r>
              <a:rPr lang="fr-FR" sz="1400" b="0" i="0" dirty="0" err="1">
                <a:solidFill>
                  <a:srgbClr val="ECECEC"/>
                </a:solidFill>
                <a:effectLst/>
                <a:latin typeface="Söhne"/>
              </a:rPr>
              <a:t>ensure</a:t>
            </a:r>
            <a:r>
              <a:rPr lang="fr-FR" sz="1400" b="0" i="0" dirty="0">
                <a:solidFill>
                  <a:srgbClr val="ECECEC"/>
                </a:solidFill>
                <a:effectLst/>
                <a:latin typeface="Söhne"/>
              </a:rPr>
              <a:t> </a:t>
            </a:r>
            <a:r>
              <a:rPr lang="fr-FR" sz="1400" b="0" i="0" dirty="0" err="1">
                <a:solidFill>
                  <a:srgbClr val="ECECEC"/>
                </a:solidFill>
                <a:effectLst/>
                <a:latin typeface="Söhne"/>
              </a:rPr>
              <a:t>they</a:t>
            </a:r>
            <a:r>
              <a:rPr lang="fr-FR" sz="1400" b="0" i="0" dirty="0">
                <a:solidFill>
                  <a:srgbClr val="ECECEC"/>
                </a:solidFill>
                <a:effectLst/>
                <a:latin typeface="Söhne"/>
              </a:rPr>
              <a:t> boot </a:t>
            </a:r>
            <a:r>
              <a:rPr lang="fr-FR" sz="1400" b="0" i="0" dirty="0" err="1">
                <a:solidFill>
                  <a:srgbClr val="ECECEC"/>
                </a:solidFill>
                <a:effectLst/>
                <a:latin typeface="Söhne"/>
              </a:rPr>
              <a:t>with</a:t>
            </a:r>
            <a:r>
              <a:rPr lang="fr-FR" sz="1400" b="0" i="0" dirty="0">
                <a:solidFill>
                  <a:srgbClr val="ECECEC"/>
                </a:solidFill>
                <a:effectLst/>
                <a:latin typeface="Söhne"/>
              </a:rPr>
              <a:t> the correct software.</a:t>
            </a:r>
          </a:p>
          <a:p>
            <a:pPr algn="l"/>
            <a:r>
              <a:rPr lang="fr-FR" sz="2000" b="1" i="0" dirty="0">
                <a:solidFill>
                  <a:srgbClr val="ECECEC"/>
                </a:solidFill>
                <a:effectLst/>
                <a:latin typeface="Söhne"/>
              </a:rPr>
              <a:t>Physical Security:</a:t>
            </a:r>
            <a:endParaRPr lang="fr-FR" sz="2000" b="0" i="0" dirty="0">
              <a:solidFill>
                <a:srgbClr val="ECECEC"/>
              </a:solidFill>
              <a:effectLst/>
              <a:latin typeface="Söhne"/>
            </a:endParaRPr>
          </a:p>
          <a:p>
            <a:pPr lvl="1"/>
            <a:r>
              <a:rPr lang="fr-FR" sz="1400" b="0" i="0" dirty="0">
                <a:solidFill>
                  <a:srgbClr val="ECECEC"/>
                </a:solidFill>
                <a:effectLst/>
                <a:latin typeface="Söhne"/>
              </a:rPr>
              <a:t>Google designs and </a:t>
            </a:r>
            <a:r>
              <a:rPr lang="fr-FR" sz="1400" b="0" i="0" dirty="0" err="1">
                <a:solidFill>
                  <a:srgbClr val="ECECEC"/>
                </a:solidFill>
                <a:effectLst/>
                <a:latin typeface="Söhne"/>
              </a:rPr>
              <a:t>constructs</a:t>
            </a:r>
            <a:r>
              <a:rPr lang="fr-FR" sz="1400" b="0" i="0" dirty="0">
                <a:solidFill>
                  <a:srgbClr val="ECECEC"/>
                </a:solidFill>
                <a:effectLst/>
                <a:latin typeface="Söhne"/>
              </a:rPr>
              <a:t> </a:t>
            </a:r>
            <a:r>
              <a:rPr lang="fr-FR" sz="1400" b="0" i="0" dirty="0" err="1">
                <a:solidFill>
                  <a:srgbClr val="ECECEC"/>
                </a:solidFill>
                <a:effectLst/>
                <a:latin typeface="Söhne"/>
              </a:rPr>
              <a:t>its</a:t>
            </a:r>
            <a:r>
              <a:rPr lang="fr-FR" sz="1400" b="0" i="0" dirty="0">
                <a:solidFill>
                  <a:srgbClr val="ECECEC"/>
                </a:solidFill>
                <a:effectLst/>
                <a:latin typeface="Söhne"/>
              </a:rPr>
              <a:t> </a:t>
            </a:r>
            <a:r>
              <a:rPr lang="fr-FR" sz="1400" b="0" i="0" dirty="0" err="1">
                <a:solidFill>
                  <a:srgbClr val="ECECEC"/>
                </a:solidFill>
                <a:effectLst/>
                <a:latin typeface="Söhne"/>
              </a:rPr>
              <a:t>own</a:t>
            </a:r>
            <a:r>
              <a:rPr lang="fr-FR" sz="1400" b="0" i="0" dirty="0">
                <a:solidFill>
                  <a:srgbClr val="ECECEC"/>
                </a:solidFill>
                <a:effectLst/>
                <a:latin typeface="Söhne"/>
              </a:rPr>
              <a:t> data centers </a:t>
            </a:r>
            <a:r>
              <a:rPr lang="fr-FR" sz="1400" b="0" i="0" dirty="0" err="1">
                <a:solidFill>
                  <a:srgbClr val="ECECEC"/>
                </a:solidFill>
                <a:effectLst/>
                <a:latin typeface="Söhne"/>
              </a:rPr>
              <a:t>with</a:t>
            </a:r>
            <a:r>
              <a:rPr lang="fr-FR" sz="1400" b="0" i="0" dirty="0">
                <a:solidFill>
                  <a:srgbClr val="ECECEC"/>
                </a:solidFill>
                <a:effectLst/>
                <a:latin typeface="Söhne"/>
              </a:rPr>
              <a:t> multiple </a:t>
            </a:r>
            <a:r>
              <a:rPr lang="fr-FR" sz="1400" b="0" i="0" dirty="0" err="1">
                <a:solidFill>
                  <a:srgbClr val="ECECEC"/>
                </a:solidFill>
                <a:effectLst/>
                <a:latin typeface="Söhne"/>
              </a:rPr>
              <a:t>layers</a:t>
            </a:r>
            <a:r>
              <a:rPr lang="fr-FR" sz="1400" b="0" i="0" dirty="0">
                <a:solidFill>
                  <a:srgbClr val="ECECEC"/>
                </a:solidFill>
                <a:effectLst/>
                <a:latin typeface="Söhne"/>
              </a:rPr>
              <a:t> of </a:t>
            </a:r>
            <a:r>
              <a:rPr lang="fr-FR" sz="1400" b="0" i="0" dirty="0" err="1">
                <a:solidFill>
                  <a:srgbClr val="ECECEC"/>
                </a:solidFill>
                <a:effectLst/>
                <a:latin typeface="Söhne"/>
              </a:rPr>
              <a:t>physical</a:t>
            </a:r>
            <a:r>
              <a:rPr lang="fr-FR" sz="1400" b="0" i="0" dirty="0">
                <a:solidFill>
                  <a:srgbClr val="ECECEC"/>
                </a:solidFill>
                <a:effectLst/>
                <a:latin typeface="Söhne"/>
              </a:rPr>
              <a:t> protection, </a:t>
            </a:r>
            <a:r>
              <a:rPr lang="fr-FR" sz="1400" b="0" i="0" dirty="0" err="1">
                <a:solidFill>
                  <a:srgbClr val="ECECEC"/>
                </a:solidFill>
                <a:effectLst/>
                <a:latin typeface="Söhne"/>
              </a:rPr>
              <a:t>limiting</a:t>
            </a:r>
            <a:r>
              <a:rPr lang="fr-FR" sz="1400" b="0" i="0" dirty="0">
                <a:solidFill>
                  <a:srgbClr val="ECECEC"/>
                </a:solidFill>
                <a:effectLst/>
                <a:latin typeface="Söhne"/>
              </a:rPr>
              <a:t> </a:t>
            </a:r>
            <a:r>
              <a:rPr lang="fr-FR" sz="1400" b="0" i="0" dirty="0" err="1">
                <a:solidFill>
                  <a:srgbClr val="ECECEC"/>
                </a:solidFill>
                <a:effectLst/>
                <a:latin typeface="Söhne"/>
              </a:rPr>
              <a:t>access</a:t>
            </a:r>
            <a:r>
              <a:rPr lang="fr-FR" sz="1400" b="0" i="0" dirty="0">
                <a:solidFill>
                  <a:srgbClr val="ECECEC"/>
                </a:solidFill>
                <a:effectLst/>
                <a:latin typeface="Söhne"/>
              </a:rPr>
              <a:t> to a </a:t>
            </a:r>
            <a:r>
              <a:rPr lang="fr-FR" sz="1400" b="0" i="0" dirty="0" err="1">
                <a:solidFill>
                  <a:srgbClr val="ECECEC"/>
                </a:solidFill>
                <a:effectLst/>
                <a:latin typeface="Söhne"/>
              </a:rPr>
              <a:t>small</a:t>
            </a:r>
            <a:r>
              <a:rPr lang="fr-FR" sz="1400" b="0" i="0" dirty="0">
                <a:solidFill>
                  <a:srgbClr val="ECECEC"/>
                </a:solidFill>
                <a:effectLst/>
                <a:latin typeface="Söhne"/>
              </a:rPr>
              <a:t> </a:t>
            </a:r>
            <a:r>
              <a:rPr lang="fr-FR" sz="1400" b="0" i="0" dirty="0" err="1">
                <a:solidFill>
                  <a:srgbClr val="ECECEC"/>
                </a:solidFill>
                <a:effectLst/>
                <a:latin typeface="Söhne"/>
              </a:rPr>
              <a:t>number</a:t>
            </a:r>
            <a:r>
              <a:rPr lang="fr-FR" sz="1400" b="0" i="0" dirty="0">
                <a:solidFill>
                  <a:srgbClr val="ECECEC"/>
                </a:solidFill>
                <a:effectLst/>
                <a:latin typeface="Söhne"/>
              </a:rPr>
              <a:t> of </a:t>
            </a:r>
            <a:r>
              <a:rPr lang="fr-FR" sz="1400" b="0" i="0" dirty="0" err="1">
                <a:solidFill>
                  <a:srgbClr val="ECECEC"/>
                </a:solidFill>
                <a:effectLst/>
                <a:latin typeface="Söhne"/>
              </a:rPr>
              <a:t>employees</a:t>
            </a:r>
            <a:r>
              <a:rPr lang="fr-FR" sz="1400" b="0" i="0" dirty="0">
                <a:solidFill>
                  <a:srgbClr val="ECECEC"/>
                </a:solidFill>
                <a:effectLst/>
                <a:latin typeface="Söhne"/>
              </a:rPr>
              <a:t>. </a:t>
            </a:r>
            <a:r>
              <a:rPr lang="fr-FR" sz="1400" b="0" i="0" dirty="0" err="1">
                <a:solidFill>
                  <a:srgbClr val="ECECEC"/>
                </a:solidFill>
                <a:effectLst/>
                <a:latin typeface="Söhne"/>
              </a:rPr>
              <a:t>Additional</a:t>
            </a:r>
            <a:r>
              <a:rPr lang="fr-FR" sz="1400" b="0" i="0" dirty="0">
                <a:solidFill>
                  <a:srgbClr val="ECECEC"/>
                </a:solidFill>
                <a:effectLst/>
                <a:latin typeface="Söhne"/>
              </a:rPr>
              <a:t> </a:t>
            </a:r>
            <a:r>
              <a:rPr lang="fr-FR" sz="1400" b="0" i="0" dirty="0" err="1">
                <a:solidFill>
                  <a:srgbClr val="ECECEC"/>
                </a:solidFill>
                <a:effectLst/>
                <a:latin typeface="Söhne"/>
              </a:rPr>
              <a:t>security</a:t>
            </a:r>
            <a:r>
              <a:rPr lang="fr-FR" sz="1400" b="0" i="0" dirty="0">
                <a:solidFill>
                  <a:srgbClr val="ECECEC"/>
                </a:solidFill>
                <a:effectLst/>
                <a:latin typeface="Söhne"/>
              </a:rPr>
              <a:t> </a:t>
            </a:r>
            <a:r>
              <a:rPr lang="fr-FR" sz="1400" b="0" i="0" dirty="0" err="1">
                <a:solidFill>
                  <a:srgbClr val="ECECEC"/>
                </a:solidFill>
                <a:effectLst/>
                <a:latin typeface="Söhne"/>
              </a:rPr>
              <a:t>measures</a:t>
            </a:r>
            <a:r>
              <a:rPr lang="fr-FR" sz="1400" b="0" i="0" dirty="0">
                <a:solidFill>
                  <a:srgbClr val="ECECEC"/>
                </a:solidFill>
                <a:effectLst/>
                <a:latin typeface="Söhne"/>
              </a:rPr>
              <a:t> are in place for servers </a:t>
            </a:r>
            <a:r>
              <a:rPr lang="fr-FR" sz="1400" b="0" i="0" dirty="0" err="1">
                <a:solidFill>
                  <a:srgbClr val="ECECEC"/>
                </a:solidFill>
                <a:effectLst/>
                <a:latin typeface="Söhne"/>
              </a:rPr>
              <a:t>hosted</a:t>
            </a:r>
            <a:r>
              <a:rPr lang="fr-FR" sz="1400" b="0" i="0" dirty="0">
                <a:solidFill>
                  <a:srgbClr val="ECECEC"/>
                </a:solidFill>
                <a:effectLst/>
                <a:latin typeface="Söhne"/>
              </a:rPr>
              <a:t> in </a:t>
            </a:r>
            <a:r>
              <a:rPr lang="fr-FR" sz="1400" b="0" i="0" dirty="0" err="1">
                <a:solidFill>
                  <a:srgbClr val="ECECEC"/>
                </a:solidFill>
                <a:effectLst/>
                <a:latin typeface="Söhne"/>
              </a:rPr>
              <a:t>third</a:t>
            </a:r>
            <a:r>
              <a:rPr lang="fr-FR" sz="1400" b="0" i="0" dirty="0">
                <a:solidFill>
                  <a:srgbClr val="ECECEC"/>
                </a:solidFill>
                <a:effectLst/>
                <a:latin typeface="Söhne"/>
              </a:rPr>
              <a:t>-party data centers.</a:t>
            </a:r>
          </a:p>
          <a:p>
            <a:pPr algn="l"/>
            <a:r>
              <a:rPr lang="fr-FR" sz="2000" b="1" i="0" dirty="0">
                <a:solidFill>
                  <a:srgbClr val="ECECEC"/>
                </a:solidFill>
                <a:effectLst/>
                <a:latin typeface="Söhne"/>
              </a:rPr>
              <a:t>Communication </a:t>
            </a:r>
            <a:r>
              <a:rPr lang="fr-FR" sz="2000" b="1" i="0" dirty="0" err="1">
                <a:solidFill>
                  <a:srgbClr val="ECECEC"/>
                </a:solidFill>
                <a:effectLst/>
                <a:latin typeface="Söhne"/>
              </a:rPr>
              <a:t>Encryption</a:t>
            </a:r>
            <a:r>
              <a:rPr lang="fr-FR" sz="2000" b="1" i="0" dirty="0">
                <a:solidFill>
                  <a:srgbClr val="ECECEC"/>
                </a:solidFill>
                <a:effectLst/>
                <a:latin typeface="Söhne"/>
              </a:rPr>
              <a:t>:</a:t>
            </a:r>
            <a:endParaRPr lang="fr-FR" sz="2000" b="0" i="0" dirty="0">
              <a:solidFill>
                <a:srgbClr val="ECECEC"/>
              </a:solidFill>
              <a:effectLst/>
              <a:latin typeface="Söhne"/>
            </a:endParaRPr>
          </a:p>
          <a:p>
            <a:pPr lvl="1"/>
            <a:r>
              <a:rPr lang="fr-FR" sz="1400" b="0" i="0" dirty="0">
                <a:solidFill>
                  <a:srgbClr val="ECECEC"/>
                </a:solidFill>
                <a:effectLst/>
                <a:latin typeface="Söhne"/>
              </a:rPr>
              <a:t>Google </a:t>
            </a:r>
            <a:r>
              <a:rPr lang="fr-FR" sz="1400" b="0" i="0" dirty="0" err="1">
                <a:solidFill>
                  <a:srgbClr val="ECECEC"/>
                </a:solidFill>
                <a:effectLst/>
                <a:latin typeface="Söhne"/>
              </a:rPr>
              <a:t>automatically</a:t>
            </a:r>
            <a:r>
              <a:rPr lang="fr-FR" sz="1400" b="0" i="0" dirty="0">
                <a:solidFill>
                  <a:srgbClr val="ECECEC"/>
                </a:solidFill>
                <a:effectLst/>
                <a:latin typeface="Söhne"/>
              </a:rPr>
              <a:t> </a:t>
            </a:r>
            <a:r>
              <a:rPr lang="fr-FR" sz="1400" b="0" i="0" dirty="0" err="1">
                <a:solidFill>
                  <a:srgbClr val="ECECEC"/>
                </a:solidFill>
                <a:effectLst/>
                <a:latin typeface="Söhne"/>
              </a:rPr>
              <a:t>encrypts</a:t>
            </a:r>
            <a:r>
              <a:rPr lang="fr-FR" sz="1400" b="0" i="0" dirty="0">
                <a:solidFill>
                  <a:srgbClr val="ECECEC"/>
                </a:solidFill>
                <a:effectLst/>
                <a:latin typeface="Söhne"/>
              </a:rPr>
              <a:t> all RPC (</a:t>
            </a:r>
            <a:r>
              <a:rPr lang="fr-FR" sz="1400" b="0" i="0" dirty="0" err="1">
                <a:solidFill>
                  <a:srgbClr val="ECECEC"/>
                </a:solidFill>
                <a:effectLst/>
                <a:latin typeface="Söhne"/>
              </a:rPr>
              <a:t>Remote</a:t>
            </a:r>
            <a:r>
              <a:rPr lang="fr-FR" sz="1400" b="0" i="0" dirty="0">
                <a:solidFill>
                  <a:srgbClr val="ECECEC"/>
                </a:solidFill>
                <a:effectLst/>
                <a:latin typeface="Söhne"/>
              </a:rPr>
              <a:t> </a:t>
            </a:r>
            <a:r>
              <a:rPr lang="fr-FR" sz="1400" b="0" i="0" dirty="0" err="1">
                <a:solidFill>
                  <a:srgbClr val="ECECEC"/>
                </a:solidFill>
                <a:effectLst/>
                <a:latin typeface="Söhne"/>
              </a:rPr>
              <a:t>Procedure</a:t>
            </a:r>
            <a:r>
              <a:rPr lang="fr-FR" sz="1400" b="0" i="0" dirty="0">
                <a:solidFill>
                  <a:srgbClr val="ECECEC"/>
                </a:solidFill>
                <a:effectLst/>
                <a:latin typeface="Söhne"/>
              </a:rPr>
              <a:t> Call) </a:t>
            </a:r>
            <a:r>
              <a:rPr lang="fr-FR" sz="1400" b="0" i="0" dirty="0" err="1">
                <a:solidFill>
                  <a:srgbClr val="ECECEC"/>
                </a:solidFill>
                <a:effectLst/>
                <a:latin typeface="Söhne"/>
              </a:rPr>
              <a:t>traffic</a:t>
            </a:r>
            <a:r>
              <a:rPr lang="fr-FR" sz="1400" b="0" i="0" dirty="0">
                <a:solidFill>
                  <a:srgbClr val="ECECEC"/>
                </a:solidFill>
                <a:effectLst/>
                <a:latin typeface="Söhne"/>
              </a:rPr>
              <a:t> </a:t>
            </a:r>
            <a:r>
              <a:rPr lang="fr-FR" sz="1400" b="0" i="0" dirty="0" err="1">
                <a:solidFill>
                  <a:srgbClr val="ECECEC"/>
                </a:solidFill>
                <a:effectLst/>
                <a:latin typeface="Söhne"/>
              </a:rPr>
              <a:t>between</a:t>
            </a:r>
            <a:r>
              <a:rPr lang="fr-FR" sz="1400" b="0" i="0" dirty="0">
                <a:solidFill>
                  <a:srgbClr val="ECECEC"/>
                </a:solidFill>
                <a:effectLst/>
                <a:latin typeface="Söhne"/>
              </a:rPr>
              <a:t> </a:t>
            </a:r>
            <a:r>
              <a:rPr lang="fr-FR" sz="1400" b="0" i="0" dirty="0" err="1">
                <a:solidFill>
                  <a:srgbClr val="ECECEC"/>
                </a:solidFill>
                <a:effectLst/>
                <a:latin typeface="Söhne"/>
              </a:rPr>
              <a:t>its</a:t>
            </a:r>
            <a:r>
              <a:rPr lang="fr-FR" sz="1400" b="0" i="0" dirty="0">
                <a:solidFill>
                  <a:srgbClr val="ECECEC"/>
                </a:solidFill>
                <a:effectLst/>
                <a:latin typeface="Söhne"/>
              </a:rPr>
              <a:t> data centers and </a:t>
            </a:r>
            <a:r>
              <a:rPr lang="fr-FR" sz="1400" b="0" i="0" dirty="0" err="1">
                <a:solidFill>
                  <a:srgbClr val="ECECEC"/>
                </a:solidFill>
                <a:effectLst/>
                <a:latin typeface="Söhne"/>
              </a:rPr>
              <a:t>deploys</a:t>
            </a:r>
            <a:r>
              <a:rPr lang="fr-FR" sz="1400" b="0" i="0" dirty="0">
                <a:solidFill>
                  <a:srgbClr val="ECECEC"/>
                </a:solidFill>
                <a:effectLst/>
                <a:latin typeface="Söhne"/>
              </a:rPr>
              <a:t> </a:t>
            </a:r>
            <a:r>
              <a:rPr lang="fr-FR" sz="1400" b="0" i="0" dirty="0" err="1">
                <a:solidFill>
                  <a:srgbClr val="ECECEC"/>
                </a:solidFill>
                <a:effectLst/>
                <a:latin typeface="Söhne"/>
              </a:rPr>
              <a:t>cryptographic</a:t>
            </a:r>
            <a:r>
              <a:rPr lang="fr-FR" sz="1400" b="0" i="0" dirty="0">
                <a:solidFill>
                  <a:srgbClr val="ECECEC"/>
                </a:solidFill>
                <a:effectLst/>
                <a:latin typeface="Söhne"/>
              </a:rPr>
              <a:t> </a:t>
            </a:r>
            <a:r>
              <a:rPr lang="fr-FR" sz="1400" b="0" i="0" dirty="0" err="1">
                <a:solidFill>
                  <a:srgbClr val="ECECEC"/>
                </a:solidFill>
                <a:effectLst/>
                <a:latin typeface="Söhne"/>
              </a:rPr>
              <a:t>accelerators</a:t>
            </a:r>
            <a:r>
              <a:rPr lang="fr-FR" sz="1400" b="0" i="0" dirty="0">
                <a:solidFill>
                  <a:srgbClr val="ECECEC"/>
                </a:solidFill>
                <a:effectLst/>
                <a:latin typeface="Söhne"/>
              </a:rPr>
              <a:t> to </a:t>
            </a:r>
            <a:r>
              <a:rPr lang="fr-FR" sz="1400" b="0" i="0" dirty="0" err="1">
                <a:solidFill>
                  <a:srgbClr val="ECECEC"/>
                </a:solidFill>
                <a:effectLst/>
                <a:latin typeface="Söhne"/>
              </a:rPr>
              <a:t>extend</a:t>
            </a:r>
            <a:r>
              <a:rPr lang="fr-FR" sz="1400" b="0" i="0" dirty="0">
                <a:solidFill>
                  <a:srgbClr val="ECECEC"/>
                </a:solidFill>
                <a:effectLst/>
                <a:latin typeface="Söhne"/>
              </a:rPr>
              <a:t> </a:t>
            </a:r>
            <a:r>
              <a:rPr lang="fr-FR" sz="1400" b="0" i="0" dirty="0" err="1">
                <a:solidFill>
                  <a:srgbClr val="ECECEC"/>
                </a:solidFill>
                <a:effectLst/>
                <a:latin typeface="Söhne"/>
              </a:rPr>
              <a:t>encryption</a:t>
            </a:r>
            <a:r>
              <a:rPr lang="fr-FR" sz="1400" b="0" i="0" dirty="0">
                <a:solidFill>
                  <a:srgbClr val="ECECEC"/>
                </a:solidFill>
                <a:effectLst/>
                <a:latin typeface="Söhne"/>
              </a:rPr>
              <a:t> to all RPC </a:t>
            </a:r>
            <a:r>
              <a:rPr lang="fr-FR" sz="1400" b="0" i="0" dirty="0" err="1">
                <a:solidFill>
                  <a:srgbClr val="ECECEC"/>
                </a:solidFill>
                <a:effectLst/>
                <a:latin typeface="Söhne"/>
              </a:rPr>
              <a:t>traffic</a:t>
            </a:r>
            <a:r>
              <a:rPr lang="fr-FR" sz="1400" b="0" i="0" dirty="0">
                <a:solidFill>
                  <a:srgbClr val="ECECEC"/>
                </a:solidFill>
                <a:effectLst/>
                <a:latin typeface="Söhne"/>
              </a:rPr>
              <a:t> </a:t>
            </a:r>
            <a:r>
              <a:rPr lang="fr-FR" sz="1400" b="0" i="0" dirty="0" err="1">
                <a:solidFill>
                  <a:srgbClr val="ECECEC"/>
                </a:solidFill>
                <a:effectLst/>
                <a:latin typeface="Söhne"/>
              </a:rPr>
              <a:t>within</a:t>
            </a:r>
            <a:r>
              <a:rPr lang="fr-FR" sz="1400" b="0" i="0" dirty="0">
                <a:solidFill>
                  <a:srgbClr val="ECECEC"/>
                </a:solidFill>
                <a:effectLst/>
                <a:latin typeface="Söhne"/>
              </a:rPr>
              <a:t> </a:t>
            </a:r>
            <a:r>
              <a:rPr lang="fr-FR" sz="1400" b="0" i="0" dirty="0" err="1">
                <a:solidFill>
                  <a:srgbClr val="ECECEC"/>
                </a:solidFill>
                <a:effectLst/>
                <a:latin typeface="Söhne"/>
              </a:rPr>
              <a:t>its</a:t>
            </a:r>
            <a:r>
              <a:rPr lang="fr-FR" sz="1400" b="0" i="0" dirty="0">
                <a:solidFill>
                  <a:srgbClr val="ECECEC"/>
                </a:solidFill>
                <a:effectLst/>
                <a:latin typeface="Söhne"/>
              </a:rPr>
              <a:t> data centers.</a:t>
            </a:r>
          </a:p>
          <a:p>
            <a:pPr algn="l"/>
            <a:r>
              <a:rPr lang="fr-FR" sz="2000" b="1" i="0" dirty="0">
                <a:solidFill>
                  <a:srgbClr val="ECECEC"/>
                </a:solidFill>
                <a:effectLst/>
                <a:latin typeface="Söhne"/>
              </a:rPr>
              <a:t>User Identity:</a:t>
            </a:r>
            <a:endParaRPr lang="fr-FR" sz="2000" b="0" i="0" dirty="0">
              <a:solidFill>
                <a:srgbClr val="ECECEC"/>
              </a:solidFill>
              <a:effectLst/>
              <a:latin typeface="Söhne"/>
            </a:endParaRPr>
          </a:p>
          <a:p>
            <a:pPr lvl="1"/>
            <a:r>
              <a:rPr lang="fr-FR" sz="1400" b="0" i="0" dirty="0" err="1">
                <a:solidFill>
                  <a:srgbClr val="ECECEC"/>
                </a:solidFill>
                <a:effectLst/>
                <a:latin typeface="Söhne"/>
              </a:rPr>
              <a:t>Google's</a:t>
            </a:r>
            <a:r>
              <a:rPr lang="fr-FR" sz="1400" b="0" i="0" dirty="0">
                <a:solidFill>
                  <a:srgbClr val="ECECEC"/>
                </a:solidFill>
                <a:effectLst/>
                <a:latin typeface="Söhne"/>
              </a:rPr>
              <a:t> </a:t>
            </a:r>
            <a:r>
              <a:rPr lang="fr-FR" sz="1400" b="0" i="0" dirty="0" err="1">
                <a:solidFill>
                  <a:srgbClr val="ECECEC"/>
                </a:solidFill>
                <a:effectLst/>
                <a:latin typeface="Söhne"/>
              </a:rPr>
              <a:t>identity</a:t>
            </a:r>
            <a:r>
              <a:rPr lang="fr-FR" sz="1400" b="0" i="0" dirty="0">
                <a:solidFill>
                  <a:srgbClr val="ECECEC"/>
                </a:solidFill>
                <a:effectLst/>
                <a:latin typeface="Söhne"/>
              </a:rPr>
              <a:t> service </a:t>
            </a:r>
            <a:r>
              <a:rPr lang="fr-FR" sz="1400" b="0" i="0" dirty="0" err="1">
                <a:solidFill>
                  <a:srgbClr val="ECECEC"/>
                </a:solidFill>
                <a:effectLst/>
                <a:latin typeface="Söhne"/>
              </a:rPr>
              <a:t>goes</a:t>
            </a:r>
            <a:r>
              <a:rPr lang="fr-FR" sz="1400" b="0" i="0" dirty="0">
                <a:solidFill>
                  <a:srgbClr val="ECECEC"/>
                </a:solidFill>
                <a:effectLst/>
                <a:latin typeface="Söhne"/>
              </a:rPr>
              <a:t> </a:t>
            </a:r>
            <a:r>
              <a:rPr lang="fr-FR" sz="1400" b="0" i="0" dirty="0" err="1">
                <a:solidFill>
                  <a:srgbClr val="ECECEC"/>
                </a:solidFill>
                <a:effectLst/>
                <a:latin typeface="Söhne"/>
              </a:rPr>
              <a:t>beyond</a:t>
            </a:r>
            <a:r>
              <a:rPr lang="fr-FR" sz="1400" b="0" i="0" dirty="0">
                <a:solidFill>
                  <a:srgbClr val="ECECEC"/>
                </a:solidFill>
                <a:effectLst/>
                <a:latin typeface="Söhne"/>
              </a:rPr>
              <a:t> </a:t>
            </a:r>
            <a:r>
              <a:rPr lang="fr-FR" sz="1400" b="0" i="0" dirty="0" err="1">
                <a:solidFill>
                  <a:srgbClr val="ECECEC"/>
                </a:solidFill>
                <a:effectLst/>
                <a:latin typeface="Söhne"/>
              </a:rPr>
              <a:t>just</a:t>
            </a:r>
            <a:r>
              <a:rPr lang="fr-FR" sz="1400" b="0" i="0" dirty="0">
                <a:solidFill>
                  <a:srgbClr val="ECECEC"/>
                </a:solidFill>
                <a:effectLst/>
                <a:latin typeface="Söhne"/>
              </a:rPr>
              <a:t> </a:t>
            </a:r>
            <a:r>
              <a:rPr lang="fr-FR" sz="1400" b="0" i="0" dirty="0" err="1">
                <a:solidFill>
                  <a:srgbClr val="ECECEC"/>
                </a:solidFill>
                <a:effectLst/>
                <a:latin typeface="Söhne"/>
              </a:rPr>
              <a:t>username</a:t>
            </a:r>
            <a:r>
              <a:rPr lang="fr-FR" sz="1400" b="0" i="0" dirty="0">
                <a:solidFill>
                  <a:srgbClr val="ECECEC"/>
                </a:solidFill>
                <a:effectLst/>
                <a:latin typeface="Söhne"/>
              </a:rPr>
              <a:t> and </a:t>
            </a:r>
            <a:r>
              <a:rPr lang="fr-FR" sz="1400" b="0" i="0" dirty="0" err="1">
                <a:solidFill>
                  <a:srgbClr val="ECECEC"/>
                </a:solidFill>
                <a:effectLst/>
                <a:latin typeface="Söhne"/>
              </a:rPr>
              <a:t>password</a:t>
            </a:r>
            <a:r>
              <a:rPr lang="fr-FR" sz="1400" b="0" i="0" dirty="0">
                <a:solidFill>
                  <a:srgbClr val="ECECEC"/>
                </a:solidFill>
                <a:effectLst/>
                <a:latin typeface="Söhne"/>
              </a:rPr>
              <a:t> by </a:t>
            </a:r>
            <a:r>
              <a:rPr lang="fr-FR" sz="1400" b="0" i="0" dirty="0" err="1">
                <a:solidFill>
                  <a:srgbClr val="ECECEC"/>
                </a:solidFill>
                <a:effectLst/>
                <a:latin typeface="Söhne"/>
              </a:rPr>
              <a:t>requesting</a:t>
            </a:r>
            <a:r>
              <a:rPr lang="fr-FR" sz="1400" b="0" i="0" dirty="0">
                <a:solidFill>
                  <a:srgbClr val="ECECEC"/>
                </a:solidFill>
                <a:effectLst/>
                <a:latin typeface="Söhne"/>
              </a:rPr>
              <a:t> </a:t>
            </a:r>
            <a:r>
              <a:rPr lang="fr-FR" sz="1400" b="0" i="0" dirty="0" err="1">
                <a:solidFill>
                  <a:srgbClr val="ECECEC"/>
                </a:solidFill>
                <a:effectLst/>
                <a:latin typeface="Söhne"/>
              </a:rPr>
              <a:t>additional</a:t>
            </a:r>
            <a:r>
              <a:rPr lang="fr-FR" sz="1400" b="0" i="0" dirty="0">
                <a:solidFill>
                  <a:srgbClr val="ECECEC"/>
                </a:solidFill>
                <a:effectLst/>
                <a:latin typeface="Söhne"/>
              </a:rPr>
              <a:t> information </a:t>
            </a:r>
            <a:r>
              <a:rPr lang="fr-FR" sz="1400" b="0" i="0" dirty="0" err="1">
                <a:solidFill>
                  <a:srgbClr val="ECECEC"/>
                </a:solidFill>
                <a:effectLst/>
                <a:latin typeface="Söhne"/>
              </a:rPr>
              <a:t>based</a:t>
            </a:r>
            <a:r>
              <a:rPr lang="fr-FR" sz="1400" b="0" i="0" dirty="0">
                <a:solidFill>
                  <a:srgbClr val="ECECEC"/>
                </a:solidFill>
                <a:effectLst/>
                <a:latin typeface="Söhne"/>
              </a:rPr>
              <a:t> on </a:t>
            </a:r>
            <a:r>
              <a:rPr lang="fr-FR" sz="1400" b="0" i="0" dirty="0" err="1">
                <a:solidFill>
                  <a:srgbClr val="ECECEC"/>
                </a:solidFill>
                <a:effectLst/>
                <a:latin typeface="Söhne"/>
              </a:rPr>
              <a:t>risk</a:t>
            </a:r>
            <a:r>
              <a:rPr lang="fr-FR" sz="1400" b="0" i="0" dirty="0">
                <a:solidFill>
                  <a:srgbClr val="ECECEC"/>
                </a:solidFill>
                <a:effectLst/>
                <a:latin typeface="Söhne"/>
              </a:rPr>
              <a:t> </a:t>
            </a:r>
            <a:r>
              <a:rPr lang="fr-FR" sz="1400" b="0" i="0" dirty="0" err="1">
                <a:solidFill>
                  <a:srgbClr val="ECECEC"/>
                </a:solidFill>
                <a:effectLst/>
                <a:latin typeface="Söhne"/>
              </a:rPr>
              <a:t>factors</a:t>
            </a:r>
            <a:r>
              <a:rPr lang="fr-FR" sz="1400" b="0" i="0" dirty="0">
                <a:solidFill>
                  <a:srgbClr val="ECECEC"/>
                </a:solidFill>
                <a:effectLst/>
                <a:latin typeface="Söhne"/>
              </a:rPr>
              <a:t>. It </a:t>
            </a:r>
            <a:r>
              <a:rPr lang="fr-FR" sz="1400" b="0" i="0" dirty="0" err="1">
                <a:solidFill>
                  <a:srgbClr val="ECECEC"/>
                </a:solidFill>
                <a:effectLst/>
                <a:latin typeface="Söhne"/>
              </a:rPr>
              <a:t>also</a:t>
            </a:r>
            <a:r>
              <a:rPr lang="fr-FR" sz="1400" b="0" i="0" dirty="0">
                <a:solidFill>
                  <a:srgbClr val="ECECEC"/>
                </a:solidFill>
                <a:effectLst/>
                <a:latin typeface="Söhne"/>
              </a:rPr>
              <a:t> supports </a:t>
            </a:r>
            <a:r>
              <a:rPr lang="fr-FR" sz="1400" b="0" i="0" dirty="0" err="1">
                <a:solidFill>
                  <a:srgbClr val="ECECEC"/>
                </a:solidFill>
                <a:effectLst/>
                <a:latin typeface="Söhne"/>
              </a:rPr>
              <a:t>secondary</a:t>
            </a:r>
            <a:r>
              <a:rPr lang="fr-FR" sz="1400" b="0" i="0" dirty="0">
                <a:solidFill>
                  <a:srgbClr val="ECECEC"/>
                </a:solidFill>
                <a:effectLst/>
                <a:latin typeface="Söhne"/>
              </a:rPr>
              <a:t> </a:t>
            </a:r>
            <a:r>
              <a:rPr lang="fr-FR" sz="1400" b="0" i="0" dirty="0" err="1">
                <a:solidFill>
                  <a:srgbClr val="ECECEC"/>
                </a:solidFill>
                <a:effectLst/>
                <a:latin typeface="Söhne"/>
              </a:rPr>
              <a:t>authentication</a:t>
            </a:r>
            <a:r>
              <a:rPr lang="fr-FR" sz="1400" b="0" i="0" dirty="0">
                <a:solidFill>
                  <a:srgbClr val="ECECEC"/>
                </a:solidFill>
                <a:effectLst/>
                <a:latin typeface="Söhne"/>
              </a:rPr>
              <a:t> </a:t>
            </a:r>
            <a:r>
              <a:rPr lang="fr-FR" sz="1400" b="0" i="0" dirty="0" err="1">
                <a:solidFill>
                  <a:srgbClr val="ECECEC"/>
                </a:solidFill>
                <a:effectLst/>
                <a:latin typeface="Söhne"/>
              </a:rPr>
              <a:t>factors</a:t>
            </a:r>
            <a:r>
              <a:rPr lang="fr-FR" sz="1400" b="0" i="0" dirty="0">
                <a:solidFill>
                  <a:srgbClr val="ECECEC"/>
                </a:solidFill>
                <a:effectLst/>
                <a:latin typeface="Söhne"/>
              </a:rPr>
              <a:t> like U2F (Universal 2nd Factor).</a:t>
            </a:r>
          </a:p>
          <a:p>
            <a:pPr algn="l"/>
            <a:r>
              <a:rPr lang="fr-FR" sz="2000" b="1" i="0" dirty="0" err="1">
                <a:solidFill>
                  <a:srgbClr val="ECECEC"/>
                </a:solidFill>
                <a:effectLst/>
                <a:latin typeface="Söhne"/>
              </a:rPr>
              <a:t>Encryption</a:t>
            </a:r>
            <a:r>
              <a:rPr lang="fr-FR" sz="2000" b="1" i="0" dirty="0">
                <a:solidFill>
                  <a:srgbClr val="ECECEC"/>
                </a:solidFill>
                <a:effectLst/>
                <a:latin typeface="Söhne"/>
              </a:rPr>
              <a:t> at </a:t>
            </a:r>
            <a:r>
              <a:rPr lang="fr-FR" sz="2000" b="1" i="0" dirty="0" err="1">
                <a:solidFill>
                  <a:srgbClr val="ECECEC"/>
                </a:solidFill>
                <a:effectLst/>
                <a:latin typeface="Söhne"/>
              </a:rPr>
              <a:t>Rest</a:t>
            </a:r>
            <a:r>
              <a:rPr lang="fr-FR" sz="2000" b="1" i="0" dirty="0">
                <a:solidFill>
                  <a:srgbClr val="ECECEC"/>
                </a:solidFill>
                <a:effectLst/>
                <a:latin typeface="Söhne"/>
              </a:rPr>
              <a:t>:</a:t>
            </a:r>
            <a:endParaRPr lang="fr-FR" sz="2000" b="0" i="0" dirty="0">
              <a:solidFill>
                <a:srgbClr val="ECECEC"/>
              </a:solidFill>
              <a:effectLst/>
              <a:latin typeface="Söhne"/>
            </a:endParaRPr>
          </a:p>
          <a:p>
            <a:pPr lvl="1"/>
            <a:r>
              <a:rPr lang="fr-FR" sz="1400" b="0" i="0" dirty="0">
                <a:solidFill>
                  <a:srgbClr val="ECECEC"/>
                </a:solidFill>
                <a:effectLst/>
                <a:latin typeface="Söhne"/>
              </a:rPr>
              <a:t>Most data </a:t>
            </a:r>
            <a:r>
              <a:rPr lang="fr-FR" sz="1400" b="0" i="0" dirty="0" err="1">
                <a:solidFill>
                  <a:srgbClr val="ECECEC"/>
                </a:solidFill>
                <a:effectLst/>
                <a:latin typeface="Söhne"/>
              </a:rPr>
              <a:t>is</a:t>
            </a:r>
            <a:r>
              <a:rPr lang="fr-FR" sz="1400" b="0" i="0" dirty="0">
                <a:solidFill>
                  <a:srgbClr val="ECECEC"/>
                </a:solidFill>
                <a:effectLst/>
                <a:latin typeface="Söhne"/>
              </a:rPr>
              <a:t> </a:t>
            </a:r>
            <a:r>
              <a:rPr lang="fr-FR" sz="1400" b="0" i="0" dirty="0" err="1">
                <a:solidFill>
                  <a:srgbClr val="ECECEC"/>
                </a:solidFill>
                <a:effectLst/>
                <a:latin typeface="Söhne"/>
              </a:rPr>
              <a:t>stored</a:t>
            </a:r>
            <a:r>
              <a:rPr lang="fr-FR" sz="1400" b="0" i="0" dirty="0">
                <a:solidFill>
                  <a:srgbClr val="ECECEC"/>
                </a:solidFill>
                <a:effectLst/>
                <a:latin typeface="Söhne"/>
              </a:rPr>
              <a:t> via </a:t>
            </a:r>
            <a:r>
              <a:rPr lang="fr-FR" sz="1400" b="0" i="0" dirty="0" err="1">
                <a:solidFill>
                  <a:srgbClr val="ECECEC"/>
                </a:solidFill>
                <a:effectLst/>
                <a:latin typeface="Söhne"/>
              </a:rPr>
              <a:t>storage</a:t>
            </a:r>
            <a:r>
              <a:rPr lang="fr-FR" sz="1400" b="0" i="0" dirty="0">
                <a:solidFill>
                  <a:srgbClr val="ECECEC"/>
                </a:solidFill>
                <a:effectLst/>
                <a:latin typeface="Söhne"/>
              </a:rPr>
              <a:t> services </a:t>
            </a:r>
            <a:r>
              <a:rPr lang="fr-FR" sz="1400" b="0" i="0" dirty="0" err="1">
                <a:solidFill>
                  <a:srgbClr val="ECECEC"/>
                </a:solidFill>
                <a:effectLst/>
                <a:latin typeface="Söhne"/>
              </a:rPr>
              <a:t>with</a:t>
            </a:r>
            <a:r>
              <a:rPr lang="fr-FR" sz="1400" b="0" i="0" dirty="0">
                <a:solidFill>
                  <a:srgbClr val="ECECEC"/>
                </a:solidFill>
                <a:effectLst/>
                <a:latin typeface="Söhne"/>
              </a:rPr>
              <a:t> </a:t>
            </a:r>
            <a:r>
              <a:rPr lang="fr-FR" sz="1400" b="0" i="0" dirty="0" err="1">
                <a:solidFill>
                  <a:srgbClr val="ECECEC"/>
                </a:solidFill>
                <a:effectLst/>
                <a:latin typeface="Söhne"/>
              </a:rPr>
              <a:t>encryption</a:t>
            </a:r>
            <a:r>
              <a:rPr lang="fr-FR" sz="1400" b="0" i="0" dirty="0">
                <a:solidFill>
                  <a:srgbClr val="ECECEC"/>
                </a:solidFill>
                <a:effectLst/>
                <a:latin typeface="Söhne"/>
              </a:rPr>
              <a:t> </a:t>
            </a:r>
            <a:r>
              <a:rPr lang="fr-FR" sz="1400" b="0" i="0" dirty="0" err="1">
                <a:solidFill>
                  <a:srgbClr val="ECECEC"/>
                </a:solidFill>
                <a:effectLst/>
                <a:latin typeface="Söhne"/>
              </a:rPr>
              <a:t>enabled</a:t>
            </a:r>
            <a:r>
              <a:rPr lang="fr-FR" sz="1400" b="0" i="0" dirty="0">
                <a:solidFill>
                  <a:srgbClr val="ECECEC"/>
                </a:solidFill>
                <a:effectLst/>
                <a:latin typeface="Söhne"/>
              </a:rPr>
              <a:t> by </a:t>
            </a:r>
            <a:r>
              <a:rPr lang="fr-FR" sz="1400" b="0" i="0" dirty="0" err="1">
                <a:solidFill>
                  <a:srgbClr val="ECECEC"/>
                </a:solidFill>
                <a:effectLst/>
                <a:latin typeface="Söhne"/>
              </a:rPr>
              <a:t>centrally</a:t>
            </a:r>
            <a:r>
              <a:rPr lang="fr-FR" sz="1400" b="0" i="0" dirty="0">
                <a:solidFill>
                  <a:srgbClr val="ECECEC"/>
                </a:solidFill>
                <a:effectLst/>
                <a:latin typeface="Söhne"/>
              </a:rPr>
              <a:t> </a:t>
            </a:r>
            <a:r>
              <a:rPr lang="fr-FR" sz="1400" b="0" i="0" dirty="0" err="1">
                <a:solidFill>
                  <a:srgbClr val="ECECEC"/>
                </a:solidFill>
                <a:effectLst/>
                <a:latin typeface="Söhne"/>
              </a:rPr>
              <a:t>managed</a:t>
            </a:r>
            <a:r>
              <a:rPr lang="fr-FR" sz="1400" b="0" i="0" dirty="0">
                <a:solidFill>
                  <a:srgbClr val="ECECEC"/>
                </a:solidFill>
                <a:effectLst/>
                <a:latin typeface="Söhne"/>
              </a:rPr>
              <a:t> keys, and Google </a:t>
            </a:r>
            <a:r>
              <a:rPr lang="fr-FR" sz="1400" b="0" i="0" dirty="0" err="1">
                <a:solidFill>
                  <a:srgbClr val="ECECEC"/>
                </a:solidFill>
                <a:effectLst/>
                <a:latin typeface="Söhne"/>
              </a:rPr>
              <a:t>also</a:t>
            </a:r>
            <a:r>
              <a:rPr lang="fr-FR" sz="1400" b="0" i="0" dirty="0">
                <a:solidFill>
                  <a:srgbClr val="ECECEC"/>
                </a:solidFill>
                <a:effectLst/>
                <a:latin typeface="Söhne"/>
              </a:rPr>
              <a:t> supports hardware </a:t>
            </a:r>
            <a:r>
              <a:rPr lang="fr-FR" sz="1400" b="0" i="0" dirty="0" err="1">
                <a:solidFill>
                  <a:srgbClr val="ECECEC"/>
                </a:solidFill>
                <a:effectLst/>
                <a:latin typeface="Söhne"/>
              </a:rPr>
              <a:t>encryption</a:t>
            </a:r>
            <a:r>
              <a:rPr lang="fr-FR" sz="1400" b="0" i="0" dirty="0">
                <a:solidFill>
                  <a:srgbClr val="ECECEC"/>
                </a:solidFill>
                <a:effectLst/>
                <a:latin typeface="Söhne"/>
              </a:rPr>
              <a:t> on hard drives and </a:t>
            </a:r>
            <a:r>
              <a:rPr lang="fr-FR" sz="1400" b="0" i="0" dirty="0" err="1">
                <a:solidFill>
                  <a:srgbClr val="ECECEC"/>
                </a:solidFill>
                <a:effectLst/>
                <a:latin typeface="Söhne"/>
              </a:rPr>
              <a:t>SSDs</a:t>
            </a:r>
            <a:r>
              <a:rPr lang="fr-FR" sz="1400" b="0" i="0" dirty="0">
                <a:solidFill>
                  <a:srgbClr val="ECECEC"/>
                </a:solidFill>
                <a:effectLst/>
                <a:latin typeface="Söhne"/>
              </a:rPr>
              <a:t> (Solid State Drives).</a:t>
            </a:r>
          </a:p>
        </p:txBody>
      </p:sp>
    </p:spTree>
    <p:extLst>
      <p:ext uri="{BB962C8B-B14F-4D97-AF65-F5344CB8AC3E}">
        <p14:creationId xmlns:p14="http://schemas.microsoft.com/office/powerpoint/2010/main" val="3591476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17215" y="339634"/>
            <a:ext cx="11530647" cy="878606"/>
          </a:xfrm>
        </p:spPr>
        <p:txBody>
          <a:bodyPr>
            <a:normAutofit/>
          </a:bodyPr>
          <a:lstStyle/>
          <a:p>
            <a:pPr algn="l"/>
            <a:r>
              <a:rPr lang="fr-FR" sz="3200" dirty="0"/>
              <a:t>SECURITY</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fontScale="77500" lnSpcReduction="20000"/>
          </a:bodyPr>
          <a:lstStyle/>
          <a:p>
            <a:pPr algn="l"/>
            <a:r>
              <a:rPr lang="fr-FR" b="1" i="0" dirty="0">
                <a:solidFill>
                  <a:srgbClr val="ECECEC"/>
                </a:solidFill>
                <a:effectLst/>
                <a:latin typeface="Söhne"/>
              </a:rPr>
              <a:t>Google Front End (GFE):</a:t>
            </a:r>
            <a:endParaRPr lang="fr-FR" b="0" i="0" dirty="0">
              <a:solidFill>
                <a:srgbClr val="ECECEC"/>
              </a:solidFill>
              <a:effectLst/>
              <a:latin typeface="Söhne"/>
            </a:endParaRPr>
          </a:p>
          <a:p>
            <a:pPr lvl="1"/>
            <a:r>
              <a:rPr lang="fr-FR" b="0" i="0" dirty="0">
                <a:solidFill>
                  <a:srgbClr val="ECECEC"/>
                </a:solidFill>
                <a:effectLst/>
                <a:latin typeface="Söhne"/>
              </a:rPr>
              <a:t>Google services on the internet use the Google Front End (GFE) for </a:t>
            </a:r>
            <a:r>
              <a:rPr lang="fr-FR" b="0" i="0" dirty="0" err="1">
                <a:solidFill>
                  <a:srgbClr val="ECECEC"/>
                </a:solidFill>
                <a:effectLst/>
                <a:latin typeface="Söhne"/>
              </a:rPr>
              <a:t>secure</a:t>
            </a:r>
            <a:r>
              <a:rPr lang="fr-FR" b="0" i="0" dirty="0">
                <a:solidFill>
                  <a:srgbClr val="ECECEC"/>
                </a:solidFill>
                <a:effectLst/>
                <a:latin typeface="Söhne"/>
              </a:rPr>
              <a:t> connections via TLS (Transport Layer Security). The GFE </a:t>
            </a:r>
            <a:r>
              <a:rPr lang="fr-FR" b="0" i="0" dirty="0" err="1">
                <a:solidFill>
                  <a:srgbClr val="ECECEC"/>
                </a:solidFill>
                <a:effectLst/>
                <a:latin typeface="Söhne"/>
              </a:rPr>
              <a:t>provides</a:t>
            </a:r>
            <a:r>
              <a:rPr lang="fr-FR" b="0" i="0" dirty="0">
                <a:solidFill>
                  <a:srgbClr val="ECECEC"/>
                </a:solidFill>
                <a:effectLst/>
                <a:latin typeface="Söhne"/>
              </a:rPr>
              <a:t> X.509 </a:t>
            </a:r>
            <a:r>
              <a:rPr lang="fr-FR" b="0" i="0" dirty="0" err="1">
                <a:solidFill>
                  <a:srgbClr val="ECECEC"/>
                </a:solidFill>
                <a:effectLst/>
                <a:latin typeface="Söhne"/>
              </a:rPr>
              <a:t>certificates</a:t>
            </a:r>
            <a:r>
              <a:rPr lang="fr-FR" b="0" i="0" dirty="0">
                <a:solidFill>
                  <a:srgbClr val="ECECEC"/>
                </a:solidFill>
                <a:effectLst/>
                <a:latin typeface="Söhne"/>
              </a:rPr>
              <a:t> and public-</a:t>
            </a:r>
            <a:r>
              <a:rPr lang="fr-FR" b="0" i="0" dirty="0" err="1">
                <a:solidFill>
                  <a:srgbClr val="ECECEC"/>
                </a:solidFill>
                <a:effectLst/>
                <a:latin typeface="Söhne"/>
              </a:rPr>
              <a:t>private</a:t>
            </a:r>
            <a:r>
              <a:rPr lang="fr-FR" b="0" i="0" dirty="0">
                <a:solidFill>
                  <a:srgbClr val="ECECEC"/>
                </a:solidFill>
                <a:effectLst/>
                <a:latin typeface="Söhne"/>
              </a:rPr>
              <a:t> keys, as </a:t>
            </a:r>
            <a:r>
              <a:rPr lang="fr-FR" b="0" i="0" dirty="0" err="1">
                <a:solidFill>
                  <a:srgbClr val="ECECEC"/>
                </a:solidFill>
                <a:effectLst/>
                <a:latin typeface="Söhne"/>
              </a:rPr>
              <a:t>well</a:t>
            </a:r>
            <a:r>
              <a:rPr lang="fr-FR" b="0" i="0" dirty="0">
                <a:solidFill>
                  <a:srgbClr val="ECECEC"/>
                </a:solidFill>
                <a:effectLst/>
                <a:latin typeface="Söhne"/>
              </a:rPr>
              <a:t> as protections </a:t>
            </a:r>
            <a:r>
              <a:rPr lang="fr-FR" b="0" i="0" dirty="0" err="1">
                <a:solidFill>
                  <a:srgbClr val="ECECEC"/>
                </a:solidFill>
                <a:effectLst/>
                <a:latin typeface="Söhne"/>
              </a:rPr>
              <a:t>against</a:t>
            </a:r>
            <a:r>
              <a:rPr lang="fr-FR" b="0" i="0" dirty="0">
                <a:solidFill>
                  <a:srgbClr val="ECECEC"/>
                </a:solidFill>
                <a:effectLst/>
                <a:latin typeface="Söhne"/>
              </a:rPr>
              <a:t> </a:t>
            </a:r>
            <a:r>
              <a:rPr lang="fr-FR" b="0" i="0" dirty="0" err="1">
                <a:solidFill>
                  <a:srgbClr val="ECECEC"/>
                </a:solidFill>
                <a:effectLst/>
                <a:latin typeface="Söhne"/>
              </a:rPr>
              <a:t>DoS</a:t>
            </a:r>
            <a:r>
              <a:rPr lang="fr-FR" b="0" i="0" dirty="0">
                <a:solidFill>
                  <a:srgbClr val="ECECEC"/>
                </a:solidFill>
                <a:effectLst/>
                <a:latin typeface="Söhne"/>
              </a:rPr>
              <a:t> (Denial of Service) </a:t>
            </a:r>
            <a:r>
              <a:rPr lang="fr-FR" b="0" i="0" dirty="0" err="1">
                <a:solidFill>
                  <a:srgbClr val="ECECEC"/>
                </a:solidFill>
                <a:effectLst/>
                <a:latin typeface="Söhne"/>
              </a:rPr>
              <a:t>attacks</a:t>
            </a:r>
            <a:r>
              <a:rPr lang="fr-FR" b="0" i="0" dirty="0">
                <a:solidFill>
                  <a:srgbClr val="ECECEC"/>
                </a:solidFill>
                <a:effectLst/>
                <a:latin typeface="Söhne"/>
              </a:rPr>
              <a:t>.</a:t>
            </a:r>
          </a:p>
          <a:p>
            <a:pPr algn="l"/>
            <a:r>
              <a:rPr lang="fr-FR" b="1" i="0" dirty="0">
                <a:solidFill>
                  <a:srgbClr val="ECECEC"/>
                </a:solidFill>
                <a:effectLst/>
                <a:latin typeface="Söhne"/>
              </a:rPr>
              <a:t>Protection </a:t>
            </a:r>
            <a:r>
              <a:rPr lang="fr-FR" b="1" i="0" dirty="0" err="1">
                <a:solidFill>
                  <a:srgbClr val="ECECEC"/>
                </a:solidFill>
                <a:effectLst/>
                <a:latin typeface="Söhne"/>
              </a:rPr>
              <a:t>against</a:t>
            </a:r>
            <a:r>
              <a:rPr lang="fr-FR" b="1" i="0" dirty="0">
                <a:solidFill>
                  <a:srgbClr val="ECECEC"/>
                </a:solidFill>
                <a:effectLst/>
                <a:latin typeface="Söhne"/>
              </a:rPr>
              <a:t> Denial of Service (</a:t>
            </a:r>
            <a:r>
              <a:rPr lang="fr-FR" b="1" i="0" dirty="0" err="1">
                <a:solidFill>
                  <a:srgbClr val="ECECEC"/>
                </a:solidFill>
                <a:effectLst/>
                <a:latin typeface="Söhne"/>
              </a:rPr>
              <a:t>DoS</a:t>
            </a:r>
            <a:r>
              <a:rPr lang="fr-FR" b="1" i="0" dirty="0">
                <a:solidFill>
                  <a:srgbClr val="ECECEC"/>
                </a:solidFill>
                <a:effectLst/>
                <a:latin typeface="Söhne"/>
              </a:rPr>
              <a:t>) </a:t>
            </a:r>
            <a:r>
              <a:rPr lang="fr-FR" b="1" i="0" dirty="0" err="1">
                <a:solidFill>
                  <a:srgbClr val="ECECEC"/>
                </a:solidFill>
                <a:effectLst/>
                <a:latin typeface="Söhne"/>
              </a:rPr>
              <a:t>Attacks</a:t>
            </a:r>
            <a:r>
              <a:rPr lang="fr-FR" b="1" i="0" dirty="0">
                <a:solidFill>
                  <a:srgbClr val="ECECEC"/>
                </a:solidFill>
                <a:effectLst/>
                <a:latin typeface="Söhne"/>
              </a:rPr>
              <a:t>:</a:t>
            </a:r>
            <a:endParaRPr lang="fr-FR" b="0" i="0" dirty="0">
              <a:solidFill>
                <a:srgbClr val="ECECEC"/>
              </a:solidFill>
              <a:effectLst/>
              <a:latin typeface="Söhne"/>
            </a:endParaRPr>
          </a:p>
          <a:p>
            <a:pPr lvl="1"/>
            <a:r>
              <a:rPr lang="fr-FR" b="0" i="0" dirty="0">
                <a:solidFill>
                  <a:srgbClr val="ECECEC"/>
                </a:solidFill>
                <a:effectLst/>
                <a:latin typeface="Söhne"/>
              </a:rPr>
              <a:t>Google can </a:t>
            </a:r>
            <a:r>
              <a:rPr lang="fr-FR" b="0" i="0" dirty="0" err="1">
                <a:solidFill>
                  <a:srgbClr val="ECECEC"/>
                </a:solidFill>
                <a:effectLst/>
                <a:latin typeface="Söhne"/>
              </a:rPr>
              <a:t>absorb</a:t>
            </a:r>
            <a:r>
              <a:rPr lang="fr-FR" b="0" i="0" dirty="0">
                <a:solidFill>
                  <a:srgbClr val="ECECEC"/>
                </a:solidFill>
                <a:effectLst/>
                <a:latin typeface="Söhne"/>
              </a:rPr>
              <a:t> </a:t>
            </a:r>
            <a:r>
              <a:rPr lang="fr-FR" b="0" i="0" dirty="0" err="1">
                <a:solidFill>
                  <a:srgbClr val="ECECEC"/>
                </a:solidFill>
                <a:effectLst/>
                <a:latin typeface="Söhne"/>
              </a:rPr>
              <a:t>many</a:t>
            </a:r>
            <a:r>
              <a:rPr lang="fr-FR" b="0" i="0" dirty="0">
                <a:solidFill>
                  <a:srgbClr val="ECECEC"/>
                </a:solidFill>
                <a:effectLst/>
                <a:latin typeface="Söhne"/>
              </a:rPr>
              <a:t> </a:t>
            </a:r>
            <a:r>
              <a:rPr lang="fr-FR" b="0" i="0" dirty="0" err="1">
                <a:solidFill>
                  <a:srgbClr val="ECECEC"/>
                </a:solidFill>
                <a:effectLst/>
                <a:latin typeface="Söhne"/>
              </a:rPr>
              <a:t>DoS</a:t>
            </a:r>
            <a:r>
              <a:rPr lang="fr-FR" b="0" i="0" dirty="0">
                <a:solidFill>
                  <a:srgbClr val="ECECEC"/>
                </a:solidFill>
                <a:effectLst/>
                <a:latin typeface="Söhne"/>
              </a:rPr>
              <a:t> </a:t>
            </a:r>
            <a:r>
              <a:rPr lang="fr-FR" b="0" i="0" dirty="0" err="1">
                <a:solidFill>
                  <a:srgbClr val="ECECEC"/>
                </a:solidFill>
                <a:effectLst/>
                <a:latin typeface="Söhne"/>
              </a:rPr>
              <a:t>attacks</a:t>
            </a:r>
            <a:r>
              <a:rPr lang="fr-FR" b="0" i="0" dirty="0">
                <a:solidFill>
                  <a:srgbClr val="ECECEC"/>
                </a:solidFill>
                <a:effectLst/>
                <a:latin typeface="Söhne"/>
              </a:rPr>
              <a:t> </a:t>
            </a:r>
            <a:r>
              <a:rPr lang="fr-FR" b="0" i="0" dirty="0" err="1">
                <a:solidFill>
                  <a:srgbClr val="ECECEC"/>
                </a:solidFill>
                <a:effectLst/>
                <a:latin typeface="Söhne"/>
              </a:rPr>
              <a:t>thanks</a:t>
            </a:r>
            <a:r>
              <a:rPr lang="fr-FR" b="0" i="0" dirty="0">
                <a:solidFill>
                  <a:srgbClr val="ECECEC"/>
                </a:solidFill>
                <a:effectLst/>
                <a:latin typeface="Söhne"/>
              </a:rPr>
              <a:t> to </a:t>
            </a:r>
            <a:r>
              <a:rPr lang="fr-FR" b="0" i="0" dirty="0" err="1">
                <a:solidFill>
                  <a:srgbClr val="ECECEC"/>
                </a:solidFill>
                <a:effectLst/>
                <a:latin typeface="Söhne"/>
              </a:rPr>
              <a:t>its</a:t>
            </a:r>
            <a:r>
              <a:rPr lang="fr-FR" b="0" i="0" dirty="0">
                <a:solidFill>
                  <a:srgbClr val="ECECEC"/>
                </a:solidFill>
                <a:effectLst/>
                <a:latin typeface="Söhne"/>
              </a:rPr>
              <a:t> large-</a:t>
            </a:r>
            <a:r>
              <a:rPr lang="fr-FR" b="0" i="0" dirty="0" err="1">
                <a:solidFill>
                  <a:srgbClr val="ECECEC"/>
                </a:solidFill>
                <a:effectLst/>
                <a:latin typeface="Söhne"/>
              </a:rPr>
              <a:t>scale</a:t>
            </a:r>
            <a:r>
              <a:rPr lang="fr-FR" b="0" i="0" dirty="0">
                <a:solidFill>
                  <a:srgbClr val="ECECEC"/>
                </a:solidFill>
                <a:effectLst/>
                <a:latin typeface="Söhne"/>
              </a:rPr>
              <a:t> infrastructure and has multiple protections to </a:t>
            </a:r>
            <a:r>
              <a:rPr lang="fr-FR" b="0" i="0" dirty="0" err="1">
                <a:solidFill>
                  <a:srgbClr val="ECECEC"/>
                </a:solidFill>
                <a:effectLst/>
                <a:latin typeface="Söhne"/>
              </a:rPr>
              <a:t>mitigate</a:t>
            </a:r>
            <a:r>
              <a:rPr lang="fr-FR" b="0" i="0" dirty="0">
                <a:solidFill>
                  <a:srgbClr val="ECECEC"/>
                </a:solidFill>
                <a:effectLst/>
                <a:latin typeface="Söhne"/>
              </a:rPr>
              <a:t> </a:t>
            </a:r>
            <a:r>
              <a:rPr lang="fr-FR" b="0" i="0" dirty="0" err="1">
                <a:solidFill>
                  <a:srgbClr val="ECECEC"/>
                </a:solidFill>
                <a:effectLst/>
                <a:latin typeface="Söhne"/>
              </a:rPr>
              <a:t>risks</a:t>
            </a:r>
            <a:r>
              <a:rPr lang="fr-FR" b="0" i="0" dirty="0">
                <a:solidFill>
                  <a:srgbClr val="ECECEC"/>
                </a:solidFill>
                <a:effectLst/>
                <a:latin typeface="Söhne"/>
              </a:rPr>
              <a:t> on services </a:t>
            </a:r>
            <a:r>
              <a:rPr lang="fr-FR" b="0" i="0" dirty="0" err="1">
                <a:solidFill>
                  <a:srgbClr val="ECECEC"/>
                </a:solidFill>
                <a:effectLst/>
                <a:latin typeface="Söhne"/>
              </a:rPr>
              <a:t>behind</a:t>
            </a:r>
            <a:r>
              <a:rPr lang="fr-FR" b="0" i="0" dirty="0">
                <a:solidFill>
                  <a:srgbClr val="ECECEC"/>
                </a:solidFill>
                <a:effectLst/>
                <a:latin typeface="Söhne"/>
              </a:rPr>
              <a:t> the GFE.</a:t>
            </a:r>
          </a:p>
          <a:p>
            <a:pPr algn="l"/>
            <a:r>
              <a:rPr lang="fr-FR" b="1" i="0" dirty="0">
                <a:solidFill>
                  <a:srgbClr val="ECECEC"/>
                </a:solidFill>
                <a:effectLst/>
                <a:latin typeface="Söhne"/>
              </a:rPr>
              <a:t>Intrusion </a:t>
            </a:r>
            <a:r>
              <a:rPr lang="fr-FR" b="1" i="0" dirty="0" err="1">
                <a:solidFill>
                  <a:srgbClr val="ECECEC"/>
                </a:solidFill>
                <a:effectLst/>
                <a:latin typeface="Söhne"/>
              </a:rPr>
              <a:t>Detection</a:t>
            </a:r>
            <a:r>
              <a:rPr lang="fr-FR" b="1" i="0" dirty="0">
                <a:solidFill>
                  <a:srgbClr val="ECECEC"/>
                </a:solidFill>
                <a:effectLst/>
                <a:latin typeface="Söhne"/>
              </a:rPr>
              <a:t>:</a:t>
            </a:r>
            <a:endParaRPr lang="fr-FR" b="0" i="0" dirty="0">
              <a:solidFill>
                <a:srgbClr val="ECECEC"/>
              </a:solidFill>
              <a:effectLst/>
              <a:latin typeface="Söhne"/>
            </a:endParaRPr>
          </a:p>
          <a:p>
            <a:pPr lvl="1"/>
            <a:r>
              <a:rPr lang="fr-FR" b="0" i="0" dirty="0">
                <a:solidFill>
                  <a:srgbClr val="ECECEC"/>
                </a:solidFill>
                <a:effectLst/>
                <a:latin typeface="Söhne"/>
              </a:rPr>
              <a:t>Rules and </a:t>
            </a:r>
            <a:r>
              <a:rPr lang="fr-FR" b="0" i="0" dirty="0" err="1">
                <a:solidFill>
                  <a:srgbClr val="ECECEC"/>
                </a:solidFill>
                <a:effectLst/>
                <a:latin typeface="Söhne"/>
              </a:rPr>
              <a:t>artificial</a:t>
            </a:r>
            <a:r>
              <a:rPr lang="fr-FR" b="0" i="0" dirty="0">
                <a:solidFill>
                  <a:srgbClr val="ECECEC"/>
                </a:solidFill>
                <a:effectLst/>
                <a:latin typeface="Söhne"/>
              </a:rPr>
              <a:t> intelligence </a:t>
            </a:r>
            <a:r>
              <a:rPr lang="fr-FR" b="0" i="0" dirty="0" err="1">
                <a:solidFill>
                  <a:srgbClr val="ECECEC"/>
                </a:solidFill>
                <a:effectLst/>
                <a:latin typeface="Söhne"/>
              </a:rPr>
              <a:t>alert</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teams to </a:t>
            </a:r>
            <a:r>
              <a:rPr lang="fr-FR" b="0" i="0" dirty="0" err="1">
                <a:solidFill>
                  <a:srgbClr val="ECECEC"/>
                </a:solidFill>
                <a:effectLst/>
                <a:latin typeface="Söhne"/>
              </a:rPr>
              <a:t>potential</a:t>
            </a:r>
            <a:r>
              <a:rPr lang="fr-FR" b="0" i="0" dirty="0">
                <a:solidFill>
                  <a:srgbClr val="ECECEC"/>
                </a:solidFill>
                <a:effectLst/>
                <a:latin typeface="Söhne"/>
              </a:rPr>
              <a:t> incidents. Regular </a:t>
            </a:r>
            <a:r>
              <a:rPr lang="fr-FR" b="0" i="0" dirty="0" err="1">
                <a:solidFill>
                  <a:srgbClr val="ECECEC"/>
                </a:solidFill>
                <a:effectLst/>
                <a:latin typeface="Söhne"/>
              </a:rPr>
              <a:t>exercises</a:t>
            </a:r>
            <a:r>
              <a:rPr lang="fr-FR" b="0" i="0" dirty="0">
                <a:solidFill>
                  <a:srgbClr val="ECECEC"/>
                </a:solidFill>
                <a:effectLst/>
                <a:latin typeface="Söhne"/>
              </a:rPr>
              <a:t> are </a:t>
            </a:r>
            <a:r>
              <a:rPr lang="fr-FR" b="0" i="0" dirty="0" err="1">
                <a:solidFill>
                  <a:srgbClr val="ECECEC"/>
                </a:solidFill>
                <a:effectLst/>
                <a:latin typeface="Söhne"/>
              </a:rPr>
              <a:t>conducted</a:t>
            </a:r>
            <a:r>
              <a:rPr lang="fr-FR" b="0" i="0" dirty="0">
                <a:solidFill>
                  <a:srgbClr val="ECECEC"/>
                </a:solidFill>
                <a:effectLst/>
                <a:latin typeface="Söhne"/>
              </a:rPr>
              <a:t> to </a:t>
            </a:r>
            <a:r>
              <a:rPr lang="fr-FR" b="0" i="0" dirty="0" err="1">
                <a:solidFill>
                  <a:srgbClr val="ECECEC"/>
                </a:solidFill>
                <a:effectLst/>
                <a:latin typeface="Söhne"/>
              </a:rPr>
              <a:t>enhance</a:t>
            </a:r>
            <a:r>
              <a:rPr lang="fr-FR" b="0" i="0" dirty="0">
                <a:solidFill>
                  <a:srgbClr val="ECECEC"/>
                </a:solidFill>
                <a:effectLst/>
                <a:latin typeface="Söhne"/>
              </a:rPr>
              <a:t> </a:t>
            </a:r>
            <a:r>
              <a:rPr lang="fr-FR" b="0" i="0" dirty="0" err="1">
                <a:solidFill>
                  <a:srgbClr val="ECECEC"/>
                </a:solidFill>
                <a:effectLst/>
                <a:latin typeface="Söhne"/>
              </a:rPr>
              <a:t>detection</a:t>
            </a:r>
            <a:r>
              <a:rPr lang="fr-FR" b="0" i="0" dirty="0">
                <a:solidFill>
                  <a:srgbClr val="ECECEC"/>
                </a:solidFill>
                <a:effectLst/>
                <a:latin typeface="Söhne"/>
              </a:rPr>
              <a:t> and </a:t>
            </a:r>
            <a:r>
              <a:rPr lang="fr-FR" b="0" i="0" dirty="0" err="1">
                <a:solidFill>
                  <a:srgbClr val="ECECEC"/>
                </a:solidFill>
                <a:effectLst/>
                <a:latin typeface="Söhne"/>
              </a:rPr>
              <a:t>response</a:t>
            </a:r>
            <a:r>
              <a:rPr lang="fr-FR" b="0" i="0" dirty="0">
                <a:solidFill>
                  <a:srgbClr val="ECECEC"/>
                </a:solidFill>
                <a:effectLst/>
                <a:latin typeface="Söhne"/>
              </a:rPr>
              <a:t>.</a:t>
            </a:r>
          </a:p>
          <a:p>
            <a:pPr algn="l"/>
            <a:r>
              <a:rPr lang="fr-FR" b="1" i="0" dirty="0">
                <a:solidFill>
                  <a:srgbClr val="ECECEC"/>
                </a:solidFill>
                <a:effectLst/>
                <a:latin typeface="Söhne"/>
              </a:rPr>
              <a:t>Mitigation of </a:t>
            </a:r>
            <a:r>
              <a:rPr lang="fr-FR" b="1" i="0" dirty="0" err="1">
                <a:solidFill>
                  <a:srgbClr val="ECECEC"/>
                </a:solidFill>
                <a:effectLst/>
                <a:latin typeface="Söhne"/>
              </a:rPr>
              <a:t>Internal</a:t>
            </a:r>
            <a:r>
              <a:rPr lang="fr-FR" b="1" i="0" dirty="0">
                <a:solidFill>
                  <a:srgbClr val="ECECEC"/>
                </a:solidFill>
                <a:effectLst/>
                <a:latin typeface="Söhne"/>
              </a:rPr>
              <a:t> Risks:</a:t>
            </a:r>
            <a:endParaRPr lang="fr-FR" b="0" i="0" dirty="0">
              <a:solidFill>
                <a:srgbClr val="ECECEC"/>
              </a:solidFill>
              <a:effectLst/>
              <a:latin typeface="Söhne"/>
            </a:endParaRPr>
          </a:p>
          <a:p>
            <a:pPr lvl="1"/>
            <a:r>
              <a:rPr lang="fr-FR" b="0" i="0" dirty="0">
                <a:solidFill>
                  <a:srgbClr val="ECECEC"/>
                </a:solidFill>
                <a:effectLst/>
                <a:latin typeface="Söhne"/>
              </a:rPr>
              <a:t>Google </a:t>
            </a:r>
            <a:r>
              <a:rPr lang="fr-FR" b="0" i="0" dirty="0" err="1">
                <a:solidFill>
                  <a:srgbClr val="ECECEC"/>
                </a:solidFill>
                <a:effectLst/>
                <a:latin typeface="Söhne"/>
              </a:rPr>
              <a:t>closely</a:t>
            </a:r>
            <a:r>
              <a:rPr lang="fr-FR" b="0" i="0" dirty="0">
                <a:solidFill>
                  <a:srgbClr val="ECECEC"/>
                </a:solidFill>
                <a:effectLst/>
                <a:latin typeface="Söhne"/>
              </a:rPr>
              <a:t> monitors the </a:t>
            </a:r>
            <a:r>
              <a:rPr lang="fr-FR" b="0" i="0" dirty="0" err="1">
                <a:solidFill>
                  <a:srgbClr val="ECECEC"/>
                </a:solidFill>
                <a:effectLst/>
                <a:latin typeface="Söhne"/>
              </a:rPr>
              <a:t>activities</a:t>
            </a:r>
            <a:r>
              <a:rPr lang="fr-FR" b="0" i="0" dirty="0">
                <a:solidFill>
                  <a:srgbClr val="ECECEC"/>
                </a:solidFill>
                <a:effectLst/>
                <a:latin typeface="Söhne"/>
              </a:rPr>
              <a:t> of </a:t>
            </a:r>
            <a:r>
              <a:rPr lang="fr-FR" b="0" i="0" dirty="0" err="1">
                <a:solidFill>
                  <a:srgbClr val="ECECEC"/>
                </a:solidFill>
                <a:effectLst/>
                <a:latin typeface="Söhne"/>
              </a:rPr>
              <a:t>employees</a:t>
            </a:r>
            <a:r>
              <a:rPr lang="fr-FR" b="0" i="0" dirty="0">
                <a:solidFill>
                  <a:srgbClr val="ECECEC"/>
                </a:solidFill>
                <a:effectLst/>
                <a:latin typeface="Söhne"/>
              </a:rPr>
              <a:t> </a:t>
            </a:r>
            <a:r>
              <a:rPr lang="fr-FR" b="0" i="0" dirty="0" err="1">
                <a:solidFill>
                  <a:srgbClr val="ECECEC"/>
                </a:solidFill>
                <a:effectLst/>
                <a:latin typeface="Söhne"/>
              </a:rPr>
              <a:t>with</a:t>
            </a:r>
            <a:r>
              <a:rPr lang="fr-FR" b="0" i="0" dirty="0">
                <a:solidFill>
                  <a:srgbClr val="ECECEC"/>
                </a:solidFill>
                <a:effectLst/>
                <a:latin typeface="Söhne"/>
              </a:rPr>
              <a:t> administrative </a:t>
            </a:r>
            <a:r>
              <a:rPr lang="fr-FR" b="0" i="0" dirty="0" err="1">
                <a:solidFill>
                  <a:srgbClr val="ECECEC"/>
                </a:solidFill>
                <a:effectLst/>
                <a:latin typeface="Söhne"/>
              </a:rPr>
              <a:t>access</a:t>
            </a:r>
            <a:r>
              <a:rPr lang="fr-FR" b="0" i="0" dirty="0">
                <a:solidFill>
                  <a:srgbClr val="ECECEC"/>
                </a:solidFill>
                <a:effectLst/>
                <a:latin typeface="Söhne"/>
              </a:rPr>
              <a:t> to the infrastructure to </a:t>
            </a:r>
            <a:r>
              <a:rPr lang="fr-FR" b="0" i="0" dirty="0" err="1">
                <a:solidFill>
                  <a:srgbClr val="ECECEC"/>
                </a:solidFill>
                <a:effectLst/>
                <a:latin typeface="Söhne"/>
              </a:rPr>
              <a:t>reduce</a:t>
            </a:r>
            <a:r>
              <a:rPr lang="fr-FR" b="0" i="0" dirty="0">
                <a:solidFill>
                  <a:srgbClr val="ECECEC"/>
                </a:solidFill>
                <a:effectLst/>
                <a:latin typeface="Söhne"/>
              </a:rPr>
              <a:t> </a:t>
            </a:r>
            <a:r>
              <a:rPr lang="fr-FR" b="0" i="0" dirty="0" err="1">
                <a:solidFill>
                  <a:srgbClr val="ECECEC"/>
                </a:solidFill>
                <a:effectLst/>
                <a:latin typeface="Söhne"/>
              </a:rPr>
              <a:t>internal</a:t>
            </a:r>
            <a:r>
              <a:rPr lang="fr-FR" b="0" i="0" dirty="0">
                <a:solidFill>
                  <a:srgbClr val="ECECEC"/>
                </a:solidFill>
                <a:effectLst/>
                <a:latin typeface="Söhne"/>
              </a:rPr>
              <a:t> </a:t>
            </a:r>
            <a:r>
              <a:rPr lang="fr-FR" b="0" i="0" dirty="0" err="1">
                <a:solidFill>
                  <a:srgbClr val="ECECEC"/>
                </a:solidFill>
                <a:effectLst/>
                <a:latin typeface="Söhne"/>
              </a:rPr>
              <a:t>risks</a:t>
            </a:r>
            <a:r>
              <a:rPr lang="fr-FR" b="0" i="0" dirty="0">
                <a:solidFill>
                  <a:srgbClr val="ECECEC"/>
                </a:solidFill>
                <a:effectLst/>
                <a:latin typeface="Söhne"/>
              </a:rPr>
              <a:t>.</a:t>
            </a:r>
          </a:p>
          <a:p>
            <a:pPr algn="l"/>
            <a:r>
              <a:rPr lang="fr-FR" b="1" i="0" dirty="0">
                <a:solidFill>
                  <a:srgbClr val="ECECEC"/>
                </a:solidFill>
                <a:effectLst/>
                <a:latin typeface="Söhne"/>
              </a:rPr>
              <a:t>Use of U2F by </a:t>
            </a:r>
            <a:r>
              <a:rPr lang="fr-FR" b="1" i="0" dirty="0" err="1">
                <a:solidFill>
                  <a:srgbClr val="ECECEC"/>
                </a:solidFill>
                <a:effectLst/>
                <a:latin typeface="Söhne"/>
              </a:rPr>
              <a:t>Employees</a:t>
            </a:r>
            <a:r>
              <a:rPr lang="fr-FR" b="1" i="0" dirty="0">
                <a:solidFill>
                  <a:srgbClr val="ECECEC"/>
                </a:solidFill>
                <a:effectLst/>
                <a:latin typeface="Söhne"/>
              </a:rPr>
              <a:t>:</a:t>
            </a:r>
            <a:endParaRPr lang="fr-FR" b="0" i="0" dirty="0">
              <a:solidFill>
                <a:srgbClr val="ECECEC"/>
              </a:solidFill>
              <a:effectLst/>
              <a:latin typeface="Söhne"/>
            </a:endParaRPr>
          </a:p>
          <a:p>
            <a:pPr lvl="1"/>
            <a:r>
              <a:rPr lang="fr-FR" b="0" i="0" dirty="0">
                <a:solidFill>
                  <a:srgbClr val="ECECEC"/>
                </a:solidFill>
                <a:effectLst/>
                <a:latin typeface="Söhne"/>
              </a:rPr>
              <a:t>Google </a:t>
            </a:r>
            <a:r>
              <a:rPr lang="fr-FR" b="0" i="0" dirty="0" err="1">
                <a:solidFill>
                  <a:srgbClr val="ECECEC"/>
                </a:solidFill>
                <a:effectLst/>
                <a:latin typeface="Söhne"/>
              </a:rPr>
              <a:t>employees</a:t>
            </a:r>
            <a:r>
              <a:rPr lang="fr-FR" b="0" i="0" dirty="0">
                <a:solidFill>
                  <a:srgbClr val="ECECEC"/>
                </a:solidFill>
                <a:effectLst/>
                <a:latin typeface="Söhne"/>
              </a:rPr>
              <a:t> are </a:t>
            </a:r>
            <a:r>
              <a:rPr lang="fr-FR" b="0" i="0" dirty="0" err="1">
                <a:solidFill>
                  <a:srgbClr val="ECECEC"/>
                </a:solidFill>
                <a:effectLst/>
                <a:latin typeface="Söhne"/>
              </a:rPr>
              <a:t>required</a:t>
            </a:r>
            <a:r>
              <a:rPr lang="fr-FR" b="0" i="0" dirty="0">
                <a:solidFill>
                  <a:srgbClr val="ECECEC"/>
                </a:solidFill>
                <a:effectLst/>
                <a:latin typeface="Söhne"/>
              </a:rPr>
              <a:t> to use U2F-compatible </a:t>
            </a:r>
            <a:r>
              <a:rPr lang="fr-FR" b="0" i="0" dirty="0" err="1">
                <a:solidFill>
                  <a:srgbClr val="ECECEC"/>
                </a:solidFill>
                <a:effectLst/>
                <a:latin typeface="Söhne"/>
              </a:rPr>
              <a:t>security</a:t>
            </a:r>
            <a:r>
              <a:rPr lang="fr-FR" b="0" i="0" dirty="0">
                <a:solidFill>
                  <a:srgbClr val="ECECEC"/>
                </a:solidFill>
                <a:effectLst/>
                <a:latin typeface="Söhne"/>
              </a:rPr>
              <a:t> keys to </a:t>
            </a:r>
            <a:r>
              <a:rPr lang="fr-FR" b="0" i="0" dirty="0" err="1">
                <a:solidFill>
                  <a:srgbClr val="ECECEC"/>
                </a:solidFill>
                <a:effectLst/>
                <a:latin typeface="Söhne"/>
              </a:rPr>
              <a:t>protect</a:t>
            </a:r>
            <a:r>
              <a:rPr lang="fr-FR" b="0" i="0" dirty="0">
                <a:solidFill>
                  <a:srgbClr val="ECECEC"/>
                </a:solidFill>
                <a:effectLst/>
                <a:latin typeface="Söhne"/>
              </a:rPr>
              <a:t> </a:t>
            </a:r>
            <a:r>
              <a:rPr lang="fr-FR" b="0" i="0" dirty="0" err="1">
                <a:solidFill>
                  <a:srgbClr val="ECECEC"/>
                </a:solidFill>
                <a:effectLst/>
                <a:latin typeface="Söhne"/>
              </a:rPr>
              <a:t>against</a:t>
            </a:r>
            <a:r>
              <a:rPr lang="fr-FR" b="0" i="0" dirty="0">
                <a:solidFill>
                  <a:srgbClr val="ECECEC"/>
                </a:solidFill>
                <a:effectLst/>
                <a:latin typeface="Söhne"/>
              </a:rPr>
              <a:t> phishing and </a:t>
            </a:r>
            <a:r>
              <a:rPr lang="fr-FR" b="0" i="0" dirty="0" err="1">
                <a:solidFill>
                  <a:srgbClr val="ECECEC"/>
                </a:solidFill>
                <a:effectLst/>
                <a:latin typeface="Söhne"/>
              </a:rPr>
              <a:t>other</a:t>
            </a:r>
            <a:r>
              <a:rPr lang="fr-FR" b="0" i="0" dirty="0">
                <a:solidFill>
                  <a:srgbClr val="ECECEC"/>
                </a:solidFill>
                <a:effectLst/>
                <a:latin typeface="Söhne"/>
              </a:rPr>
              <a:t> </a:t>
            </a:r>
            <a:r>
              <a:rPr lang="fr-FR" b="0" i="0" dirty="0" err="1">
                <a:solidFill>
                  <a:srgbClr val="ECECEC"/>
                </a:solidFill>
                <a:effectLst/>
                <a:latin typeface="Söhne"/>
              </a:rPr>
              <a:t>attacks</a:t>
            </a:r>
            <a:r>
              <a:rPr lang="fr-FR" b="0" i="0" dirty="0">
                <a:solidFill>
                  <a:srgbClr val="ECECEC"/>
                </a:solidFill>
                <a:effectLst/>
                <a:latin typeface="Söhne"/>
              </a:rPr>
              <a:t>.</a:t>
            </a:r>
          </a:p>
          <a:p>
            <a:pPr algn="l"/>
            <a:r>
              <a:rPr lang="fr-FR" b="1" i="0" dirty="0">
                <a:solidFill>
                  <a:srgbClr val="ECECEC"/>
                </a:solidFill>
                <a:effectLst/>
                <a:latin typeface="Söhne"/>
              </a:rPr>
              <a:t>Software </a:t>
            </a:r>
            <a:r>
              <a:rPr lang="fr-FR" b="1" i="0" dirty="0" err="1">
                <a:solidFill>
                  <a:srgbClr val="ECECEC"/>
                </a:solidFill>
                <a:effectLst/>
                <a:latin typeface="Söhne"/>
              </a:rPr>
              <a:t>Development</a:t>
            </a:r>
            <a:r>
              <a:rPr lang="fr-FR" b="1" i="0" dirty="0">
                <a:solidFill>
                  <a:srgbClr val="ECECEC"/>
                </a:solidFill>
                <a:effectLst/>
                <a:latin typeface="Söhne"/>
              </a:rPr>
              <a:t> Practices:</a:t>
            </a:r>
            <a:endParaRPr lang="fr-FR" b="0" i="0" dirty="0">
              <a:solidFill>
                <a:srgbClr val="ECECEC"/>
              </a:solidFill>
              <a:effectLst/>
              <a:latin typeface="Söhne"/>
            </a:endParaRPr>
          </a:p>
          <a:p>
            <a:pPr lvl="1"/>
            <a:r>
              <a:rPr lang="fr-FR" b="0" i="0" dirty="0">
                <a:solidFill>
                  <a:srgbClr val="ECECEC"/>
                </a:solidFill>
                <a:effectLst/>
                <a:latin typeface="Söhne"/>
              </a:rPr>
              <a:t>Google </a:t>
            </a:r>
            <a:r>
              <a:rPr lang="fr-FR" b="0" i="0" dirty="0" err="1">
                <a:solidFill>
                  <a:srgbClr val="ECECEC"/>
                </a:solidFill>
                <a:effectLst/>
                <a:latin typeface="Söhne"/>
              </a:rPr>
              <a:t>employs</a:t>
            </a:r>
            <a:r>
              <a:rPr lang="fr-FR" b="0" i="0" dirty="0">
                <a:solidFill>
                  <a:srgbClr val="ECECEC"/>
                </a:solidFill>
                <a:effectLst/>
                <a:latin typeface="Söhne"/>
              </a:rPr>
              <a:t> </a:t>
            </a:r>
            <a:r>
              <a:rPr lang="fr-FR" b="0" i="0" dirty="0" err="1">
                <a:solidFill>
                  <a:srgbClr val="ECECEC"/>
                </a:solidFill>
                <a:effectLst/>
                <a:latin typeface="Söhne"/>
              </a:rPr>
              <a:t>centralized</a:t>
            </a:r>
            <a:r>
              <a:rPr lang="fr-FR" b="0" i="0" dirty="0">
                <a:solidFill>
                  <a:srgbClr val="ECECEC"/>
                </a:solidFill>
                <a:effectLst/>
                <a:latin typeface="Söhne"/>
              </a:rPr>
              <a:t> code control and </a:t>
            </a:r>
            <a:r>
              <a:rPr lang="fr-FR" b="0" i="0" dirty="0" err="1">
                <a:solidFill>
                  <a:srgbClr val="ECECEC"/>
                </a:solidFill>
                <a:effectLst/>
                <a:latin typeface="Söhne"/>
              </a:rPr>
              <a:t>two</a:t>
            </a:r>
            <a:r>
              <a:rPr lang="fr-FR" b="0" i="0" dirty="0">
                <a:solidFill>
                  <a:srgbClr val="ECECEC"/>
                </a:solidFill>
                <a:effectLst/>
                <a:latin typeface="Söhne"/>
              </a:rPr>
              <a:t>-party </a:t>
            </a:r>
            <a:r>
              <a:rPr lang="fr-FR" b="0" i="0" dirty="0" err="1">
                <a:solidFill>
                  <a:srgbClr val="ECECEC"/>
                </a:solidFill>
                <a:effectLst/>
                <a:latin typeface="Söhne"/>
              </a:rPr>
              <a:t>reviews</a:t>
            </a:r>
            <a:r>
              <a:rPr lang="fr-FR" b="0" i="0" dirty="0">
                <a:solidFill>
                  <a:srgbClr val="ECECEC"/>
                </a:solidFill>
                <a:effectLst/>
                <a:latin typeface="Söhne"/>
              </a:rPr>
              <a:t>. </a:t>
            </a:r>
            <a:r>
              <a:rPr lang="fr-FR" b="0" i="0" dirty="0" err="1">
                <a:solidFill>
                  <a:srgbClr val="ECECEC"/>
                </a:solidFill>
                <a:effectLst/>
                <a:latin typeface="Söhne"/>
              </a:rPr>
              <a:t>Developers</a:t>
            </a:r>
            <a:r>
              <a:rPr lang="fr-FR" b="0" i="0" dirty="0">
                <a:solidFill>
                  <a:srgbClr val="ECECEC"/>
                </a:solidFill>
                <a:effectLst/>
                <a:latin typeface="Söhne"/>
              </a:rPr>
              <a:t> have </a:t>
            </a:r>
            <a:r>
              <a:rPr lang="fr-FR" b="0" i="0" dirty="0" err="1">
                <a:solidFill>
                  <a:srgbClr val="ECECEC"/>
                </a:solidFill>
                <a:effectLst/>
                <a:latin typeface="Söhne"/>
              </a:rPr>
              <a:t>access</a:t>
            </a:r>
            <a:r>
              <a:rPr lang="fr-FR" b="0" i="0" dirty="0">
                <a:solidFill>
                  <a:srgbClr val="ECECEC"/>
                </a:solidFill>
                <a:effectLst/>
                <a:latin typeface="Söhne"/>
              </a:rPr>
              <a:t> to </a:t>
            </a:r>
            <a:r>
              <a:rPr lang="fr-FR" b="0" i="0" dirty="0" err="1">
                <a:solidFill>
                  <a:srgbClr val="ECECEC"/>
                </a:solidFill>
                <a:effectLst/>
                <a:latin typeface="Söhne"/>
              </a:rPr>
              <a:t>libraries</a:t>
            </a:r>
            <a:r>
              <a:rPr lang="fr-FR" b="0" i="0" dirty="0">
                <a:solidFill>
                  <a:srgbClr val="ECECEC"/>
                </a:solidFill>
                <a:effectLst/>
                <a:latin typeface="Söhne"/>
              </a:rPr>
              <a:t> to </a:t>
            </a:r>
            <a:r>
              <a:rPr lang="fr-FR" b="0" i="0" dirty="0" err="1">
                <a:solidFill>
                  <a:srgbClr val="ECECEC"/>
                </a:solidFill>
                <a:effectLst/>
                <a:latin typeface="Söhne"/>
              </a:rPr>
              <a:t>avoid</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bugs. </a:t>
            </a:r>
            <a:r>
              <a:rPr lang="fr-FR" b="0" i="0" dirty="0" err="1">
                <a:solidFill>
                  <a:srgbClr val="ECECEC"/>
                </a:solidFill>
                <a:effectLst/>
                <a:latin typeface="Söhne"/>
              </a:rPr>
              <a:t>Additionally</a:t>
            </a:r>
            <a:r>
              <a:rPr lang="fr-FR" b="0" i="0" dirty="0">
                <a:solidFill>
                  <a:srgbClr val="ECECEC"/>
                </a:solidFill>
                <a:effectLst/>
                <a:latin typeface="Söhne"/>
              </a:rPr>
              <a:t>, a </a:t>
            </a:r>
            <a:r>
              <a:rPr lang="fr-FR" b="0" i="0" dirty="0" err="1">
                <a:solidFill>
                  <a:srgbClr val="ECECEC"/>
                </a:solidFill>
                <a:effectLst/>
                <a:latin typeface="Söhne"/>
              </a:rPr>
              <a:t>Vulnerability</a:t>
            </a:r>
            <a:r>
              <a:rPr lang="fr-FR" b="0" i="0" dirty="0">
                <a:solidFill>
                  <a:srgbClr val="ECECEC"/>
                </a:solidFill>
                <a:effectLst/>
                <a:latin typeface="Söhne"/>
              </a:rPr>
              <a:t> </a:t>
            </a:r>
            <a:r>
              <a:rPr lang="fr-FR" b="0" i="0" dirty="0" err="1">
                <a:solidFill>
                  <a:srgbClr val="ECECEC"/>
                </a:solidFill>
                <a:effectLst/>
                <a:latin typeface="Söhne"/>
              </a:rPr>
              <a:t>Rewards</a:t>
            </a:r>
            <a:r>
              <a:rPr lang="fr-FR" b="0" i="0" dirty="0">
                <a:solidFill>
                  <a:srgbClr val="ECECEC"/>
                </a:solidFill>
                <a:effectLst/>
                <a:latin typeface="Söhne"/>
              </a:rPr>
              <a:t> Program encourages the </a:t>
            </a:r>
            <a:r>
              <a:rPr lang="fr-FR" b="0" i="0" dirty="0" err="1">
                <a:solidFill>
                  <a:srgbClr val="ECECEC"/>
                </a:solidFill>
                <a:effectLst/>
                <a:latin typeface="Söhne"/>
              </a:rPr>
              <a:t>discovery</a:t>
            </a:r>
            <a:r>
              <a:rPr lang="fr-FR" b="0" i="0" dirty="0">
                <a:solidFill>
                  <a:srgbClr val="ECECEC"/>
                </a:solidFill>
                <a:effectLst/>
                <a:latin typeface="Söhne"/>
              </a:rPr>
              <a:t> and </a:t>
            </a:r>
            <a:r>
              <a:rPr lang="fr-FR" b="0" i="0" dirty="0" err="1">
                <a:solidFill>
                  <a:srgbClr val="ECECEC"/>
                </a:solidFill>
                <a:effectLst/>
                <a:latin typeface="Söhne"/>
              </a:rPr>
              <a:t>resolution</a:t>
            </a:r>
            <a:r>
              <a:rPr lang="fr-FR" b="0" i="0" dirty="0">
                <a:solidFill>
                  <a:srgbClr val="ECECEC"/>
                </a:solidFill>
                <a:effectLst/>
                <a:latin typeface="Söhne"/>
              </a:rPr>
              <a:t> of bugs in </a:t>
            </a:r>
            <a:r>
              <a:rPr lang="fr-FR" b="0" i="0" dirty="0" err="1">
                <a:solidFill>
                  <a:srgbClr val="ECECEC"/>
                </a:solidFill>
                <a:effectLst/>
                <a:latin typeface="Söhne"/>
              </a:rPr>
              <a:t>Google's</a:t>
            </a:r>
            <a:r>
              <a:rPr lang="fr-FR" b="0" i="0" dirty="0">
                <a:solidFill>
                  <a:srgbClr val="ECECEC"/>
                </a:solidFill>
                <a:effectLst/>
                <a:latin typeface="Söhne"/>
              </a:rPr>
              <a:t> infrastructure and applications.</a:t>
            </a:r>
          </a:p>
        </p:txBody>
      </p:sp>
    </p:spTree>
    <p:extLst>
      <p:ext uri="{BB962C8B-B14F-4D97-AF65-F5344CB8AC3E}">
        <p14:creationId xmlns:p14="http://schemas.microsoft.com/office/powerpoint/2010/main" val="22167992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9466" y="383178"/>
            <a:ext cx="11530647" cy="826354"/>
          </a:xfrm>
        </p:spPr>
        <p:txBody>
          <a:bodyPr>
            <a:normAutofit/>
          </a:bodyPr>
          <a:lstStyle/>
          <a:p>
            <a:pPr algn="l"/>
            <a:r>
              <a:rPr lang="fr-FR" sz="3200" dirty="0"/>
              <a:t>OPEN SOURCE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08139" y="2028293"/>
            <a:ext cx="10351747" cy="2801413"/>
          </a:xfrm>
        </p:spPr>
        <p:txBody>
          <a:bodyPr>
            <a:normAutofit/>
          </a:bodyPr>
          <a:lstStyle/>
          <a:p>
            <a:pPr algn="l"/>
            <a:r>
              <a:rPr lang="fr-FR" sz="2800" b="1" i="0" dirty="0" err="1">
                <a:solidFill>
                  <a:srgbClr val="ECECEC"/>
                </a:solidFill>
                <a:effectLst/>
                <a:latin typeface="Söhne"/>
              </a:rPr>
              <a:t>Concerns</a:t>
            </a:r>
            <a:r>
              <a:rPr lang="fr-FR" sz="2800" b="1" i="0" dirty="0">
                <a:solidFill>
                  <a:srgbClr val="ECECEC"/>
                </a:solidFill>
                <a:effectLst/>
                <a:latin typeface="Söhne"/>
              </a:rPr>
              <a:t> about </a:t>
            </a:r>
            <a:r>
              <a:rPr lang="fr-FR" sz="2800" b="1" i="0" dirty="0" err="1">
                <a:solidFill>
                  <a:srgbClr val="ECECEC"/>
                </a:solidFill>
                <a:effectLst/>
                <a:latin typeface="Söhne"/>
              </a:rPr>
              <a:t>Vendor</a:t>
            </a:r>
            <a:r>
              <a:rPr lang="fr-FR" sz="2800" b="1" i="0" dirty="0">
                <a:solidFill>
                  <a:srgbClr val="ECECEC"/>
                </a:solidFill>
                <a:effectLst/>
                <a:latin typeface="Söhne"/>
              </a:rPr>
              <a:t> Lock-In:</a:t>
            </a:r>
            <a:endParaRPr lang="fr-FR" sz="2800" b="0" i="0" dirty="0">
              <a:solidFill>
                <a:srgbClr val="ECECEC"/>
              </a:solidFill>
              <a:effectLst/>
              <a:latin typeface="Söhne"/>
            </a:endParaRPr>
          </a:p>
          <a:p>
            <a:pPr lvl="1"/>
            <a:r>
              <a:rPr lang="fr-FR" sz="2400" b="0" i="0" dirty="0" err="1">
                <a:solidFill>
                  <a:srgbClr val="ECECEC"/>
                </a:solidFill>
                <a:effectLst/>
                <a:latin typeface="Söhne"/>
              </a:rPr>
              <a:t>Some</a:t>
            </a:r>
            <a:r>
              <a:rPr lang="fr-FR" sz="2400" b="0" i="0" dirty="0">
                <a:solidFill>
                  <a:srgbClr val="ECECEC"/>
                </a:solidFill>
                <a:effectLst/>
                <a:latin typeface="Söhne"/>
              </a:rPr>
              <a:t> </a:t>
            </a:r>
            <a:r>
              <a:rPr lang="fr-FR" sz="2400" b="0" i="0" dirty="0" err="1">
                <a:solidFill>
                  <a:srgbClr val="ECECEC"/>
                </a:solidFill>
                <a:effectLst/>
                <a:latin typeface="Söhne"/>
              </a:rPr>
              <a:t>fear</a:t>
            </a:r>
            <a:r>
              <a:rPr lang="fr-FR" sz="2400" b="0" i="0" dirty="0">
                <a:solidFill>
                  <a:srgbClr val="ECECEC"/>
                </a:solidFill>
                <a:effectLst/>
                <a:latin typeface="Söhne"/>
              </a:rPr>
              <a:t> </a:t>
            </a:r>
            <a:r>
              <a:rPr lang="fr-FR" sz="2400" b="0" i="0" dirty="0" err="1">
                <a:solidFill>
                  <a:srgbClr val="ECECEC"/>
                </a:solidFill>
                <a:effectLst/>
                <a:latin typeface="Söhne"/>
              </a:rPr>
              <a:t>being</a:t>
            </a:r>
            <a:r>
              <a:rPr lang="fr-FR" sz="2400" b="0" i="0" dirty="0">
                <a:solidFill>
                  <a:srgbClr val="ECECEC"/>
                </a:solidFill>
                <a:effectLst/>
                <a:latin typeface="Söhne"/>
              </a:rPr>
              <a:t> </a:t>
            </a:r>
            <a:r>
              <a:rPr lang="fr-FR" sz="2400" b="0" i="0" dirty="0" err="1">
                <a:solidFill>
                  <a:srgbClr val="ECECEC"/>
                </a:solidFill>
                <a:effectLst/>
                <a:latin typeface="Söhne"/>
              </a:rPr>
              <a:t>locked</a:t>
            </a:r>
            <a:r>
              <a:rPr lang="fr-FR" sz="2400" b="0" i="0" dirty="0">
                <a:solidFill>
                  <a:srgbClr val="ECECEC"/>
                </a:solidFill>
                <a:effectLst/>
                <a:latin typeface="Söhne"/>
              </a:rPr>
              <a:t> in </a:t>
            </a:r>
            <a:r>
              <a:rPr lang="fr-FR" sz="2400" b="0" i="0" dirty="0" err="1">
                <a:solidFill>
                  <a:srgbClr val="ECECEC"/>
                </a:solidFill>
                <a:effectLst/>
                <a:latin typeface="Söhne"/>
              </a:rPr>
              <a:t>with</a:t>
            </a:r>
            <a:r>
              <a:rPr lang="fr-FR" sz="2400" b="0" i="0" dirty="0">
                <a:solidFill>
                  <a:srgbClr val="ECECEC"/>
                </a:solidFill>
                <a:effectLst/>
                <a:latin typeface="Söhne"/>
              </a:rPr>
              <a:t> a single cloud provider.</a:t>
            </a:r>
          </a:p>
          <a:p>
            <a:pPr algn="l"/>
            <a:r>
              <a:rPr lang="fr-FR" sz="2800" b="1" i="0" dirty="0" err="1">
                <a:solidFill>
                  <a:srgbClr val="ECECEC"/>
                </a:solidFill>
                <a:effectLst/>
                <a:latin typeface="Söhne"/>
              </a:rPr>
              <a:t>Google's</a:t>
            </a:r>
            <a:r>
              <a:rPr lang="fr-FR" sz="2800" b="1" i="0" dirty="0">
                <a:solidFill>
                  <a:srgbClr val="ECECEC"/>
                </a:solidFill>
                <a:effectLst/>
                <a:latin typeface="Söhne"/>
              </a:rPr>
              <a:t> </a:t>
            </a:r>
            <a:r>
              <a:rPr lang="fr-FR" sz="2800" b="1" i="0" dirty="0" err="1">
                <a:solidFill>
                  <a:srgbClr val="ECECEC"/>
                </a:solidFill>
                <a:effectLst/>
                <a:latin typeface="Söhne"/>
              </a:rPr>
              <a:t>Approach</a:t>
            </a:r>
            <a:r>
              <a:rPr lang="fr-FR" sz="2800" b="1" i="0" dirty="0">
                <a:solidFill>
                  <a:srgbClr val="ECECEC"/>
                </a:solidFill>
                <a:effectLst/>
                <a:latin typeface="Söhne"/>
              </a:rPr>
              <a:t>:</a:t>
            </a:r>
            <a:endParaRPr lang="fr-FR" sz="2800" b="0" i="0" dirty="0">
              <a:solidFill>
                <a:srgbClr val="ECECEC"/>
              </a:solidFill>
              <a:effectLst/>
              <a:latin typeface="Söhne"/>
            </a:endParaRPr>
          </a:p>
          <a:p>
            <a:pPr lvl="1"/>
            <a:r>
              <a:rPr lang="fr-FR" sz="2400" b="0" i="0" dirty="0">
                <a:solidFill>
                  <a:srgbClr val="ECECEC"/>
                </a:solidFill>
                <a:effectLst/>
                <a:latin typeface="Söhne"/>
              </a:rPr>
              <a:t>Google </a:t>
            </a:r>
            <a:r>
              <a:rPr lang="fr-FR" sz="2400" b="0" i="0" dirty="0" err="1">
                <a:solidFill>
                  <a:srgbClr val="ECECEC"/>
                </a:solidFill>
                <a:effectLst/>
                <a:latin typeface="Söhne"/>
              </a:rPr>
              <a:t>allows</a:t>
            </a:r>
            <a:r>
              <a:rPr lang="fr-FR" sz="2400" b="0" i="0" dirty="0">
                <a:solidFill>
                  <a:srgbClr val="ECECEC"/>
                </a:solidFill>
                <a:effectLst/>
                <a:latin typeface="Söhne"/>
              </a:rPr>
              <a:t> </a:t>
            </a:r>
            <a:r>
              <a:rPr lang="fr-FR" sz="2400" b="0" i="0" dirty="0" err="1">
                <a:solidFill>
                  <a:srgbClr val="ECECEC"/>
                </a:solidFill>
                <a:effectLst/>
                <a:latin typeface="Söhne"/>
              </a:rPr>
              <a:t>customers</a:t>
            </a:r>
            <a:r>
              <a:rPr lang="fr-FR" sz="2400" b="0" i="0" dirty="0">
                <a:solidFill>
                  <a:srgbClr val="ECECEC"/>
                </a:solidFill>
                <a:effectLst/>
                <a:latin typeface="Söhne"/>
              </a:rPr>
              <a:t> to switch providers if </a:t>
            </a:r>
            <a:r>
              <a:rPr lang="fr-FR" sz="2400" b="0" i="0" dirty="0" err="1">
                <a:solidFill>
                  <a:srgbClr val="ECECEC"/>
                </a:solidFill>
                <a:effectLst/>
                <a:latin typeface="Söhne"/>
              </a:rPr>
              <a:t>needed</a:t>
            </a:r>
            <a:r>
              <a:rPr lang="fr-FR" sz="2400" b="0" i="0" dirty="0">
                <a:solidFill>
                  <a:srgbClr val="ECECEC"/>
                </a:solidFill>
                <a:effectLst/>
                <a:latin typeface="Söhne"/>
              </a:rPr>
              <a:t>.</a:t>
            </a:r>
          </a:p>
          <a:p>
            <a:pPr lvl="1"/>
            <a:r>
              <a:rPr lang="fr-FR" sz="2400" b="0" i="0" dirty="0">
                <a:solidFill>
                  <a:srgbClr val="ECECEC"/>
                </a:solidFill>
                <a:effectLst/>
                <a:latin typeface="Söhne"/>
              </a:rPr>
              <a:t>Google </a:t>
            </a:r>
            <a:r>
              <a:rPr lang="fr-FR" sz="2400" b="0" i="0" dirty="0" err="1">
                <a:solidFill>
                  <a:srgbClr val="ECECEC"/>
                </a:solidFill>
                <a:effectLst/>
                <a:latin typeface="Söhne"/>
              </a:rPr>
              <a:t>utilizes</a:t>
            </a:r>
            <a:r>
              <a:rPr lang="fr-FR" sz="2400" b="0" i="0" dirty="0">
                <a:solidFill>
                  <a:srgbClr val="ECECEC"/>
                </a:solidFill>
                <a:effectLst/>
                <a:latin typeface="Söhne"/>
              </a:rPr>
              <a:t> open-source </a:t>
            </a:r>
            <a:r>
              <a:rPr lang="fr-FR" sz="2400" b="0" i="0" dirty="0" err="1">
                <a:solidFill>
                  <a:srgbClr val="ECECEC"/>
                </a:solidFill>
                <a:effectLst/>
                <a:latin typeface="Söhne"/>
              </a:rPr>
              <a:t>licenses</a:t>
            </a:r>
            <a:r>
              <a:rPr lang="fr-FR" sz="2400" b="0" i="0" dirty="0">
                <a:solidFill>
                  <a:srgbClr val="ECECEC"/>
                </a:solidFill>
                <a:effectLst/>
                <a:latin typeface="Söhne"/>
              </a:rPr>
              <a:t> to </a:t>
            </a:r>
            <a:r>
              <a:rPr lang="fr-FR" sz="2400" b="0" i="0" dirty="0" err="1">
                <a:solidFill>
                  <a:srgbClr val="ECECEC"/>
                </a:solidFill>
                <a:effectLst/>
                <a:latin typeface="Söhne"/>
              </a:rPr>
              <a:t>provide</a:t>
            </a:r>
            <a:r>
              <a:rPr lang="fr-FR" sz="2400" b="0" i="0" dirty="0">
                <a:solidFill>
                  <a:srgbClr val="ECECEC"/>
                </a:solidFill>
                <a:effectLst/>
                <a:latin typeface="Söhne"/>
              </a:rPr>
              <a:t> alternatives.</a:t>
            </a:r>
          </a:p>
          <a:p>
            <a:pPr lvl="1"/>
            <a:r>
              <a:rPr lang="fr-FR" sz="2400" b="0" i="0" dirty="0">
                <a:solidFill>
                  <a:srgbClr val="ECECEC"/>
                </a:solidFill>
                <a:effectLst/>
                <a:latin typeface="Söhne"/>
              </a:rPr>
              <a:t>Google </a:t>
            </a:r>
            <a:r>
              <a:rPr lang="fr-FR" sz="2400" b="0" i="0" dirty="0" err="1">
                <a:solidFill>
                  <a:srgbClr val="ECECEC"/>
                </a:solidFill>
                <a:effectLst/>
                <a:latin typeface="Söhne"/>
              </a:rPr>
              <a:t>ensures</a:t>
            </a:r>
            <a:r>
              <a:rPr lang="fr-FR" sz="2400" b="0" i="0" dirty="0">
                <a:solidFill>
                  <a:srgbClr val="ECECEC"/>
                </a:solidFill>
                <a:effectLst/>
                <a:latin typeface="Söhne"/>
              </a:rPr>
              <a:t> </a:t>
            </a:r>
            <a:r>
              <a:rPr lang="fr-FR" sz="2400" b="0" i="0" dirty="0" err="1">
                <a:solidFill>
                  <a:srgbClr val="ECECEC"/>
                </a:solidFill>
                <a:effectLst/>
                <a:latin typeface="Söhne"/>
              </a:rPr>
              <a:t>interoperability</a:t>
            </a:r>
            <a:r>
              <a:rPr lang="fr-FR" sz="2400" b="0" i="0" dirty="0">
                <a:solidFill>
                  <a:srgbClr val="ECECEC"/>
                </a:solidFill>
                <a:effectLst/>
                <a:latin typeface="Söhne"/>
              </a:rPr>
              <a:t> at </a:t>
            </a:r>
            <a:r>
              <a:rPr lang="fr-FR" sz="2400" b="0" i="0" dirty="0" err="1">
                <a:solidFill>
                  <a:srgbClr val="ECECEC"/>
                </a:solidFill>
                <a:effectLst/>
                <a:latin typeface="Söhne"/>
              </a:rPr>
              <a:t>various</a:t>
            </a:r>
            <a:r>
              <a:rPr lang="fr-FR" sz="2400" b="0" i="0" dirty="0">
                <a:solidFill>
                  <a:srgbClr val="ECECEC"/>
                </a:solidFill>
                <a:effectLst/>
                <a:latin typeface="Söhne"/>
              </a:rPr>
              <a:t> </a:t>
            </a:r>
            <a:r>
              <a:rPr lang="fr-FR" sz="2400" b="0" i="0" dirty="0" err="1">
                <a:solidFill>
                  <a:srgbClr val="ECECEC"/>
                </a:solidFill>
                <a:effectLst/>
                <a:latin typeface="Söhne"/>
              </a:rPr>
              <a:t>levels</a:t>
            </a:r>
            <a:r>
              <a:rPr lang="fr-FR" sz="2400" b="0" i="0" dirty="0">
                <a:solidFill>
                  <a:srgbClr val="ECECEC"/>
                </a:solidFill>
                <a:effectLst/>
                <a:latin typeface="Söhne"/>
              </a:rPr>
              <a:t> of the </a:t>
            </a:r>
            <a:r>
              <a:rPr lang="fr-FR" sz="2400" b="0" i="0" dirty="0" err="1">
                <a:solidFill>
                  <a:srgbClr val="ECECEC"/>
                </a:solidFill>
                <a:effectLst/>
                <a:latin typeface="Söhne"/>
              </a:rPr>
              <a:t>technology</a:t>
            </a:r>
            <a:r>
              <a:rPr lang="fr-FR" sz="2400" b="0" i="0" dirty="0">
                <a:solidFill>
                  <a:srgbClr val="ECECEC"/>
                </a:solidFill>
                <a:effectLst/>
                <a:latin typeface="Söhne"/>
              </a:rPr>
              <a:t> stack.</a:t>
            </a:r>
          </a:p>
        </p:txBody>
      </p:sp>
    </p:spTree>
    <p:extLst>
      <p:ext uri="{BB962C8B-B14F-4D97-AF65-F5344CB8AC3E}">
        <p14:creationId xmlns:p14="http://schemas.microsoft.com/office/powerpoint/2010/main" val="4174036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639314"/>
            <a:ext cx="11530647" cy="852480"/>
          </a:xfrm>
        </p:spPr>
        <p:txBody>
          <a:bodyPr>
            <a:normAutofit/>
          </a:bodyPr>
          <a:lstStyle/>
          <a:p>
            <a:pPr algn="l"/>
            <a:r>
              <a:rPr lang="fr-FR" sz="3200" dirty="0" err="1"/>
              <a:t>pricing</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lnSpcReduction="10000"/>
          </a:bodyPr>
          <a:lstStyle/>
          <a:p>
            <a:pPr algn="l"/>
            <a:r>
              <a:rPr lang="fr-FR" sz="2000" b="1" i="0" dirty="0">
                <a:solidFill>
                  <a:srgbClr val="ECECEC"/>
                </a:solidFill>
                <a:effectLst/>
                <a:latin typeface="Söhne"/>
              </a:rPr>
              <a:t>Google Cloud </a:t>
            </a:r>
            <a:r>
              <a:rPr lang="fr-FR" sz="2000" b="1" i="0" dirty="0" err="1">
                <a:solidFill>
                  <a:srgbClr val="ECECEC"/>
                </a:solidFill>
                <a:effectLst/>
                <a:latin typeface="Söhne"/>
              </a:rPr>
              <a:t>Billing</a:t>
            </a:r>
            <a:r>
              <a:rPr lang="fr-FR" sz="2000" b="1" i="0" dirty="0">
                <a:solidFill>
                  <a:srgbClr val="ECECEC"/>
                </a:solidFill>
                <a:effectLst/>
                <a:latin typeface="Söhne"/>
              </a:rPr>
              <a:t> Practices:</a:t>
            </a:r>
            <a:endParaRPr lang="fr-FR" sz="2000" b="0" i="0" dirty="0">
              <a:solidFill>
                <a:srgbClr val="ECECEC"/>
              </a:solidFill>
              <a:effectLst/>
              <a:latin typeface="Söhne"/>
            </a:endParaRPr>
          </a:p>
          <a:p>
            <a:pPr lvl="1"/>
            <a:r>
              <a:rPr lang="fr-FR" sz="1800" b="0" i="0" dirty="0">
                <a:solidFill>
                  <a:srgbClr val="ECECEC"/>
                </a:solidFill>
                <a:effectLst/>
                <a:latin typeface="Söhne"/>
              </a:rPr>
              <a:t>Google </a:t>
            </a:r>
            <a:r>
              <a:rPr lang="fr-FR" sz="1800" b="0" i="0" dirty="0" err="1">
                <a:solidFill>
                  <a:srgbClr val="ECECEC"/>
                </a:solidFill>
                <a:effectLst/>
                <a:latin typeface="Söhne"/>
              </a:rPr>
              <a:t>was</a:t>
            </a:r>
            <a:r>
              <a:rPr lang="fr-FR" sz="1800" b="0" i="0" dirty="0">
                <a:solidFill>
                  <a:srgbClr val="ECECEC"/>
                </a:solidFill>
                <a:effectLst/>
                <a:latin typeface="Söhne"/>
              </a:rPr>
              <a:t> the first major cloud provider to </a:t>
            </a:r>
            <a:r>
              <a:rPr lang="fr-FR" sz="1800" b="0" i="0" dirty="0" err="1">
                <a:solidFill>
                  <a:srgbClr val="ECECEC"/>
                </a:solidFill>
                <a:effectLst/>
                <a:latin typeface="Söhne"/>
              </a:rPr>
              <a:t>offer</a:t>
            </a:r>
            <a:r>
              <a:rPr lang="fr-FR" sz="1800" b="0" i="0" dirty="0">
                <a:solidFill>
                  <a:srgbClr val="ECECEC"/>
                </a:solidFill>
                <a:effectLst/>
                <a:latin typeface="Söhne"/>
              </a:rPr>
              <a:t> per-second </a:t>
            </a:r>
            <a:r>
              <a:rPr lang="fr-FR" sz="1800" b="0" i="0" dirty="0" err="1">
                <a:solidFill>
                  <a:srgbClr val="ECECEC"/>
                </a:solidFill>
                <a:effectLst/>
                <a:latin typeface="Söhne"/>
              </a:rPr>
              <a:t>billing</a:t>
            </a:r>
            <a:r>
              <a:rPr lang="fr-FR" sz="1800" b="0" i="0" dirty="0">
                <a:solidFill>
                  <a:srgbClr val="ECECEC"/>
                </a:solidFill>
                <a:effectLst/>
                <a:latin typeface="Söhne"/>
              </a:rPr>
              <a:t> for </a:t>
            </a:r>
            <a:r>
              <a:rPr lang="fr-FR" sz="1800" b="0" i="0" dirty="0" err="1">
                <a:solidFill>
                  <a:srgbClr val="ECECEC"/>
                </a:solidFill>
                <a:effectLst/>
                <a:latin typeface="Söhne"/>
              </a:rPr>
              <a:t>its</a:t>
            </a:r>
            <a:r>
              <a:rPr lang="fr-FR" sz="1800" b="0" i="0" dirty="0">
                <a:solidFill>
                  <a:srgbClr val="ECECEC"/>
                </a:solidFill>
                <a:effectLst/>
                <a:latin typeface="Söhne"/>
              </a:rPr>
              <a:t> </a:t>
            </a:r>
            <a:r>
              <a:rPr lang="fr-FR" sz="1800" b="0" i="0" dirty="0" err="1">
                <a:solidFill>
                  <a:srgbClr val="ECECEC"/>
                </a:solidFill>
                <a:effectLst/>
                <a:latin typeface="Söhne"/>
              </a:rPr>
              <a:t>Compute</a:t>
            </a:r>
            <a:r>
              <a:rPr lang="fr-FR" sz="1800" b="0" i="0" dirty="0">
                <a:solidFill>
                  <a:srgbClr val="ECECEC"/>
                </a:solidFill>
                <a:effectLst/>
                <a:latin typeface="Söhne"/>
              </a:rPr>
              <a:t> Engine service.</a:t>
            </a:r>
          </a:p>
          <a:p>
            <a:pPr lvl="1"/>
            <a:r>
              <a:rPr lang="fr-FR" sz="1800" b="0" i="0" dirty="0">
                <a:solidFill>
                  <a:srgbClr val="ECECEC"/>
                </a:solidFill>
                <a:effectLst/>
                <a:latin typeface="Söhne"/>
              </a:rPr>
              <a:t>Per-second </a:t>
            </a:r>
            <a:r>
              <a:rPr lang="fr-FR" sz="1800" b="0" i="0" dirty="0" err="1">
                <a:solidFill>
                  <a:srgbClr val="ECECEC"/>
                </a:solidFill>
                <a:effectLst/>
                <a:latin typeface="Söhne"/>
              </a:rPr>
              <a:t>billing</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t>
            </a:r>
            <a:r>
              <a:rPr lang="fr-FR" sz="1800" b="0" i="0" dirty="0" err="1">
                <a:solidFill>
                  <a:srgbClr val="ECECEC"/>
                </a:solidFill>
                <a:effectLst/>
                <a:latin typeface="Söhne"/>
              </a:rPr>
              <a:t>available</a:t>
            </a:r>
            <a:r>
              <a:rPr lang="fr-FR" sz="1800" b="0" i="0" dirty="0">
                <a:solidFill>
                  <a:srgbClr val="ECECEC"/>
                </a:solidFill>
                <a:effectLst/>
                <a:latin typeface="Söhne"/>
              </a:rPr>
              <a:t> for </a:t>
            </a:r>
            <a:r>
              <a:rPr lang="fr-FR" sz="1800" b="0" i="0" dirty="0" err="1">
                <a:solidFill>
                  <a:srgbClr val="ECECEC"/>
                </a:solidFill>
                <a:effectLst/>
                <a:latin typeface="Söhne"/>
              </a:rPr>
              <a:t>Compute</a:t>
            </a:r>
            <a:r>
              <a:rPr lang="fr-FR" sz="1800" b="0" i="0" dirty="0">
                <a:solidFill>
                  <a:srgbClr val="ECECEC"/>
                </a:solidFill>
                <a:effectLst/>
                <a:latin typeface="Söhne"/>
              </a:rPr>
              <a:t> Engine, Google </a:t>
            </a:r>
            <a:r>
              <a:rPr lang="fr-FR" sz="1800" b="0" i="0" dirty="0" err="1">
                <a:solidFill>
                  <a:srgbClr val="ECECEC"/>
                </a:solidFill>
                <a:effectLst/>
                <a:latin typeface="Söhne"/>
              </a:rPr>
              <a:t>Kubernetes</a:t>
            </a:r>
            <a:r>
              <a:rPr lang="fr-FR" sz="1800" b="0" i="0" dirty="0">
                <a:solidFill>
                  <a:srgbClr val="ECECEC"/>
                </a:solidFill>
                <a:effectLst/>
                <a:latin typeface="Söhne"/>
              </a:rPr>
              <a:t> Engine, </a:t>
            </a:r>
            <a:r>
              <a:rPr lang="fr-FR" sz="1800" b="0" i="0" dirty="0" err="1">
                <a:solidFill>
                  <a:srgbClr val="ECECEC"/>
                </a:solidFill>
                <a:effectLst/>
                <a:latin typeface="Söhne"/>
              </a:rPr>
              <a:t>Dataproc</a:t>
            </a:r>
            <a:r>
              <a:rPr lang="fr-FR" sz="1800" b="0" i="0" dirty="0">
                <a:solidFill>
                  <a:srgbClr val="ECECEC"/>
                </a:solidFill>
                <a:effectLst/>
                <a:latin typeface="Söhne"/>
              </a:rPr>
              <a:t>, and App Engine flexible </a:t>
            </a:r>
            <a:r>
              <a:rPr lang="fr-FR" sz="1800" b="0" i="0" dirty="0" err="1">
                <a:solidFill>
                  <a:srgbClr val="ECECEC"/>
                </a:solidFill>
                <a:effectLst/>
                <a:latin typeface="Söhne"/>
              </a:rPr>
              <a:t>environment</a:t>
            </a:r>
            <a:r>
              <a:rPr lang="fr-FR" sz="1800" b="0" i="0" dirty="0">
                <a:solidFill>
                  <a:srgbClr val="ECECEC"/>
                </a:solidFill>
                <a:effectLst/>
                <a:latin typeface="Söhne"/>
              </a:rPr>
              <a:t> </a:t>
            </a:r>
            <a:r>
              <a:rPr lang="fr-FR" sz="1800" b="0" i="0" dirty="0" err="1">
                <a:solidFill>
                  <a:srgbClr val="ECECEC"/>
                </a:solidFill>
                <a:effectLst/>
                <a:latin typeface="Söhne"/>
              </a:rPr>
              <a:t>VMs</a:t>
            </a:r>
            <a:r>
              <a:rPr lang="fr-FR" sz="1800" b="0" i="0" dirty="0">
                <a:solidFill>
                  <a:srgbClr val="ECECEC"/>
                </a:solidFill>
                <a:effectLst/>
                <a:latin typeface="Söhne"/>
              </a:rPr>
              <a:t>.</a:t>
            </a:r>
          </a:p>
          <a:p>
            <a:pPr lvl="1"/>
            <a:r>
              <a:rPr lang="fr-FR" sz="1800" b="0" i="0" dirty="0" err="1">
                <a:solidFill>
                  <a:srgbClr val="ECECEC"/>
                </a:solidFill>
                <a:effectLst/>
                <a:latin typeface="Söhne"/>
              </a:rPr>
              <a:t>Compute</a:t>
            </a:r>
            <a:r>
              <a:rPr lang="fr-FR" sz="1800" b="0" i="0" dirty="0">
                <a:solidFill>
                  <a:srgbClr val="ECECEC"/>
                </a:solidFill>
                <a:effectLst/>
                <a:latin typeface="Söhne"/>
              </a:rPr>
              <a:t> Engine </a:t>
            </a:r>
            <a:r>
              <a:rPr lang="fr-FR" sz="1800" b="0" i="0" dirty="0" err="1">
                <a:solidFill>
                  <a:srgbClr val="ECECEC"/>
                </a:solidFill>
                <a:effectLst/>
                <a:latin typeface="Söhne"/>
              </a:rPr>
              <a:t>also</a:t>
            </a:r>
            <a:r>
              <a:rPr lang="fr-FR" sz="1800" b="0" i="0" dirty="0">
                <a:solidFill>
                  <a:srgbClr val="ECECEC"/>
                </a:solidFill>
                <a:effectLst/>
                <a:latin typeface="Söhne"/>
              </a:rPr>
              <a:t> </a:t>
            </a:r>
            <a:r>
              <a:rPr lang="fr-FR" sz="1800" b="0" i="0" dirty="0" err="1">
                <a:solidFill>
                  <a:srgbClr val="ECECEC"/>
                </a:solidFill>
                <a:effectLst/>
                <a:latin typeface="Söhne"/>
              </a:rPr>
              <a:t>offers</a:t>
            </a:r>
            <a:r>
              <a:rPr lang="fr-FR" sz="1800" b="0" i="0" dirty="0">
                <a:solidFill>
                  <a:srgbClr val="ECECEC"/>
                </a:solidFill>
                <a:effectLst/>
                <a:latin typeface="Söhne"/>
              </a:rPr>
              <a:t> </a:t>
            </a:r>
            <a:r>
              <a:rPr lang="fr-FR" sz="1800" b="0" i="0" dirty="0" err="1">
                <a:solidFill>
                  <a:srgbClr val="ECECEC"/>
                </a:solidFill>
                <a:effectLst/>
                <a:latin typeface="Söhne"/>
              </a:rPr>
              <a:t>automatically</a:t>
            </a:r>
            <a:r>
              <a:rPr lang="fr-FR" sz="1800" b="0" i="0" dirty="0">
                <a:solidFill>
                  <a:srgbClr val="ECECEC"/>
                </a:solidFill>
                <a:effectLst/>
                <a:latin typeface="Söhne"/>
              </a:rPr>
              <a:t> </a:t>
            </a:r>
            <a:r>
              <a:rPr lang="fr-FR" sz="1800" b="0" i="0" dirty="0" err="1">
                <a:solidFill>
                  <a:srgbClr val="ECECEC"/>
                </a:solidFill>
                <a:effectLst/>
                <a:latin typeface="Söhne"/>
              </a:rPr>
              <a:t>applied</a:t>
            </a:r>
            <a:r>
              <a:rPr lang="fr-FR" sz="1800" b="0" i="0" dirty="0">
                <a:solidFill>
                  <a:srgbClr val="ECECEC"/>
                </a:solidFill>
                <a:effectLst/>
                <a:latin typeface="Söhne"/>
              </a:rPr>
              <a:t> </a:t>
            </a:r>
            <a:r>
              <a:rPr lang="fr-FR" sz="1800" b="0" i="0" dirty="0" err="1">
                <a:solidFill>
                  <a:srgbClr val="ECECEC"/>
                </a:solidFill>
                <a:effectLst/>
                <a:latin typeface="Söhne"/>
              </a:rPr>
              <a:t>sustained</a:t>
            </a:r>
            <a:r>
              <a:rPr lang="fr-FR" sz="1800" b="0" i="0" dirty="0">
                <a:solidFill>
                  <a:srgbClr val="ECECEC"/>
                </a:solidFill>
                <a:effectLst/>
                <a:latin typeface="Söhne"/>
              </a:rPr>
              <a:t> use discounts, custom machine types, and an online </a:t>
            </a:r>
            <a:r>
              <a:rPr lang="fr-FR" sz="1800" b="0" i="0" dirty="0" err="1">
                <a:solidFill>
                  <a:srgbClr val="ECECEC"/>
                </a:solidFill>
                <a:effectLst/>
                <a:latin typeface="Söhne"/>
              </a:rPr>
              <a:t>pricing</a:t>
            </a:r>
            <a:r>
              <a:rPr lang="fr-FR" sz="1800" b="0" i="0" dirty="0">
                <a:solidFill>
                  <a:srgbClr val="ECECEC"/>
                </a:solidFill>
                <a:effectLst/>
                <a:latin typeface="Söhne"/>
              </a:rPr>
              <a:t> </a:t>
            </a:r>
            <a:r>
              <a:rPr lang="fr-FR" sz="1800" b="0" i="0" dirty="0" err="1">
                <a:solidFill>
                  <a:srgbClr val="ECECEC"/>
                </a:solidFill>
                <a:effectLst/>
                <a:latin typeface="Söhne"/>
              </a:rPr>
              <a:t>calculator</a:t>
            </a:r>
            <a:r>
              <a:rPr lang="fr-FR" sz="1800" b="0" i="0" dirty="0">
                <a:solidFill>
                  <a:srgbClr val="ECECEC"/>
                </a:solidFill>
                <a:effectLst/>
                <a:latin typeface="Söhne"/>
              </a:rPr>
              <a:t> for </a:t>
            </a:r>
            <a:r>
              <a:rPr lang="fr-FR" sz="1800" b="0" i="0" dirty="0" err="1">
                <a:solidFill>
                  <a:srgbClr val="ECECEC"/>
                </a:solidFill>
                <a:effectLst/>
                <a:latin typeface="Söhne"/>
              </a:rPr>
              <a:t>cost</a:t>
            </a:r>
            <a:r>
              <a:rPr lang="fr-FR" sz="1800" b="0" i="0" dirty="0">
                <a:solidFill>
                  <a:srgbClr val="ECECEC"/>
                </a:solidFill>
                <a:effectLst/>
                <a:latin typeface="Söhne"/>
              </a:rPr>
              <a:t> estimation.</a:t>
            </a:r>
          </a:p>
          <a:p>
            <a:pPr algn="l"/>
            <a:r>
              <a:rPr lang="fr-FR" sz="2000" b="1" i="0" dirty="0">
                <a:solidFill>
                  <a:srgbClr val="ECECEC"/>
                </a:solidFill>
                <a:effectLst/>
                <a:latin typeface="Söhne"/>
              </a:rPr>
              <a:t>Tools for </a:t>
            </a:r>
            <a:r>
              <a:rPr lang="fr-FR" sz="2000" b="1" i="0" dirty="0" err="1">
                <a:solidFill>
                  <a:srgbClr val="ECECEC"/>
                </a:solidFill>
                <a:effectLst/>
                <a:latin typeface="Söhne"/>
              </a:rPr>
              <a:t>Cost</a:t>
            </a:r>
            <a:r>
              <a:rPr lang="fr-FR" sz="2000" b="1" i="0" dirty="0">
                <a:solidFill>
                  <a:srgbClr val="ECECEC"/>
                </a:solidFill>
                <a:effectLst/>
                <a:latin typeface="Söhne"/>
              </a:rPr>
              <a:t> Management:</a:t>
            </a:r>
            <a:endParaRPr lang="fr-FR" sz="2000" b="0" i="0" dirty="0">
              <a:solidFill>
                <a:srgbClr val="ECECEC"/>
              </a:solidFill>
              <a:effectLst/>
              <a:latin typeface="Söhne"/>
            </a:endParaRPr>
          </a:p>
          <a:p>
            <a:pPr lvl="1"/>
            <a:r>
              <a:rPr lang="fr-FR" sz="1800" b="0" i="0" dirty="0">
                <a:solidFill>
                  <a:srgbClr val="ECECEC"/>
                </a:solidFill>
                <a:effectLst/>
                <a:latin typeface="Söhne"/>
              </a:rPr>
              <a:t>Budget </a:t>
            </a:r>
            <a:r>
              <a:rPr lang="fr-FR" sz="1800" b="0" i="0" dirty="0" err="1">
                <a:solidFill>
                  <a:srgbClr val="ECECEC"/>
                </a:solidFill>
                <a:effectLst/>
                <a:latin typeface="Söhne"/>
              </a:rPr>
              <a:t>definition</a:t>
            </a:r>
            <a:r>
              <a:rPr lang="fr-FR" sz="1800" b="0" i="0" dirty="0">
                <a:solidFill>
                  <a:srgbClr val="ECECEC"/>
                </a:solidFill>
                <a:effectLst/>
                <a:latin typeface="Söhne"/>
              </a:rPr>
              <a:t> at the </a:t>
            </a:r>
            <a:r>
              <a:rPr lang="fr-FR" sz="1800" b="0" i="0" dirty="0" err="1">
                <a:solidFill>
                  <a:srgbClr val="ECECEC"/>
                </a:solidFill>
                <a:effectLst/>
                <a:latin typeface="Söhne"/>
              </a:rPr>
              <a:t>account</a:t>
            </a:r>
            <a:r>
              <a:rPr lang="fr-FR" sz="1800" b="0" i="0" dirty="0">
                <a:solidFill>
                  <a:srgbClr val="ECECEC"/>
                </a:solidFill>
                <a:effectLst/>
                <a:latin typeface="Söhne"/>
              </a:rPr>
              <a:t> or </a:t>
            </a:r>
            <a:r>
              <a:rPr lang="fr-FR" sz="1800" b="0" i="0" dirty="0" err="1">
                <a:solidFill>
                  <a:srgbClr val="ECECEC"/>
                </a:solidFill>
                <a:effectLst/>
                <a:latin typeface="Söhne"/>
              </a:rPr>
              <a:t>project</a:t>
            </a:r>
            <a:r>
              <a:rPr lang="fr-FR" sz="1800" b="0" i="0" dirty="0">
                <a:solidFill>
                  <a:srgbClr val="ECECEC"/>
                </a:solidFill>
                <a:effectLst/>
                <a:latin typeface="Söhne"/>
              </a:rPr>
              <a:t> </a:t>
            </a:r>
            <a:r>
              <a:rPr lang="fr-FR" sz="1800" b="0" i="0" dirty="0" err="1">
                <a:solidFill>
                  <a:srgbClr val="ECECEC"/>
                </a:solidFill>
                <a:effectLst/>
                <a:latin typeface="Söhne"/>
              </a:rPr>
              <a:t>level</a:t>
            </a:r>
            <a:r>
              <a:rPr lang="fr-FR" sz="1800" b="0" i="0" dirty="0">
                <a:solidFill>
                  <a:srgbClr val="ECECEC"/>
                </a:solidFill>
                <a:effectLst/>
                <a:latin typeface="Söhne"/>
              </a:rPr>
              <a:t>.</a:t>
            </a:r>
          </a:p>
          <a:p>
            <a:pPr lvl="1"/>
            <a:r>
              <a:rPr lang="fr-FR" sz="1800" b="0" i="0" dirty="0" err="1">
                <a:solidFill>
                  <a:srgbClr val="ECECEC"/>
                </a:solidFill>
                <a:effectLst/>
                <a:latin typeface="Söhne"/>
              </a:rPr>
              <a:t>Alerts</a:t>
            </a:r>
            <a:r>
              <a:rPr lang="fr-FR" sz="1800" b="0" i="0" dirty="0">
                <a:solidFill>
                  <a:srgbClr val="ECECEC"/>
                </a:solidFill>
                <a:effectLst/>
                <a:latin typeface="Söhne"/>
              </a:rPr>
              <a:t> </a:t>
            </a:r>
            <a:r>
              <a:rPr lang="fr-FR" sz="1800" b="0" i="0" dirty="0" err="1">
                <a:solidFill>
                  <a:srgbClr val="ECECEC"/>
                </a:solidFill>
                <a:effectLst/>
                <a:latin typeface="Söhne"/>
              </a:rPr>
              <a:t>creation</a:t>
            </a:r>
            <a:r>
              <a:rPr lang="fr-FR" sz="1800" b="0" i="0" dirty="0">
                <a:solidFill>
                  <a:srgbClr val="ECECEC"/>
                </a:solidFill>
                <a:effectLst/>
                <a:latin typeface="Söhne"/>
              </a:rPr>
              <a:t> </a:t>
            </a:r>
            <a:r>
              <a:rPr lang="fr-FR" sz="1800" b="0" i="0" dirty="0" err="1">
                <a:solidFill>
                  <a:srgbClr val="ECECEC"/>
                </a:solidFill>
                <a:effectLst/>
                <a:latin typeface="Söhne"/>
              </a:rPr>
              <a:t>when</a:t>
            </a:r>
            <a:r>
              <a:rPr lang="fr-FR" sz="1800" b="0" i="0" dirty="0">
                <a:solidFill>
                  <a:srgbClr val="ECECEC"/>
                </a:solidFill>
                <a:effectLst/>
                <a:latin typeface="Söhne"/>
              </a:rPr>
              <a:t> </a:t>
            </a:r>
            <a:r>
              <a:rPr lang="fr-FR" sz="1800" b="0" i="0" dirty="0" err="1">
                <a:solidFill>
                  <a:srgbClr val="ECECEC"/>
                </a:solidFill>
                <a:effectLst/>
                <a:latin typeface="Söhne"/>
              </a:rPr>
              <a:t>costs</a:t>
            </a:r>
            <a:r>
              <a:rPr lang="fr-FR" sz="1800" b="0" i="0" dirty="0">
                <a:solidFill>
                  <a:srgbClr val="ECECEC"/>
                </a:solidFill>
                <a:effectLst/>
                <a:latin typeface="Söhne"/>
              </a:rPr>
              <a:t> </a:t>
            </a:r>
            <a:r>
              <a:rPr lang="fr-FR" sz="1800" b="0" i="0" dirty="0" err="1">
                <a:solidFill>
                  <a:srgbClr val="ECECEC"/>
                </a:solidFill>
                <a:effectLst/>
                <a:latin typeface="Söhne"/>
              </a:rPr>
              <a:t>approach</a:t>
            </a:r>
            <a:r>
              <a:rPr lang="fr-FR" sz="1800" b="0" i="0" dirty="0">
                <a:solidFill>
                  <a:srgbClr val="ECECEC"/>
                </a:solidFill>
                <a:effectLst/>
                <a:latin typeface="Söhne"/>
              </a:rPr>
              <a:t> budget </a:t>
            </a:r>
            <a:r>
              <a:rPr lang="fr-FR" sz="1800" b="0" i="0" dirty="0" err="1">
                <a:solidFill>
                  <a:srgbClr val="ECECEC"/>
                </a:solidFill>
                <a:effectLst/>
                <a:latin typeface="Söhne"/>
              </a:rPr>
              <a:t>limits</a:t>
            </a:r>
            <a:r>
              <a:rPr lang="fr-FR" sz="1800" b="0" i="0" dirty="0">
                <a:solidFill>
                  <a:srgbClr val="ECECEC"/>
                </a:solidFill>
                <a:effectLst/>
                <a:latin typeface="Söhne"/>
              </a:rPr>
              <a:t>.</a:t>
            </a:r>
          </a:p>
          <a:p>
            <a:pPr lvl="1"/>
            <a:r>
              <a:rPr lang="fr-FR" sz="1800" b="0" i="0" dirty="0">
                <a:solidFill>
                  <a:srgbClr val="ECECEC"/>
                </a:solidFill>
                <a:effectLst/>
                <a:latin typeface="Söhne"/>
              </a:rPr>
              <a:t>Use of reports to monitor </a:t>
            </a:r>
            <a:r>
              <a:rPr lang="fr-FR" sz="1800" b="0" i="0" dirty="0" err="1">
                <a:solidFill>
                  <a:srgbClr val="ECECEC"/>
                </a:solidFill>
                <a:effectLst/>
                <a:latin typeface="Söhne"/>
              </a:rPr>
              <a:t>expenses</a:t>
            </a:r>
            <a:r>
              <a:rPr lang="fr-FR" sz="1800" b="0" i="0" dirty="0">
                <a:solidFill>
                  <a:srgbClr val="ECECEC"/>
                </a:solidFill>
                <a:effectLst/>
                <a:latin typeface="Söhne"/>
              </a:rPr>
              <a:t>.</a:t>
            </a:r>
          </a:p>
          <a:p>
            <a:pPr lvl="1"/>
            <a:r>
              <a:rPr lang="fr-FR" sz="1800" b="0" i="0" dirty="0" err="1">
                <a:solidFill>
                  <a:srgbClr val="ECECEC"/>
                </a:solidFill>
                <a:effectLst/>
                <a:latin typeface="Söhne"/>
              </a:rPr>
              <a:t>Implementation</a:t>
            </a:r>
            <a:r>
              <a:rPr lang="fr-FR" sz="1800" b="0" i="0" dirty="0">
                <a:solidFill>
                  <a:srgbClr val="ECECEC"/>
                </a:solidFill>
                <a:effectLst/>
                <a:latin typeface="Söhne"/>
              </a:rPr>
              <a:t> of quotas to </a:t>
            </a:r>
            <a:r>
              <a:rPr lang="fr-FR" sz="1800" b="0" i="0" dirty="0" err="1">
                <a:solidFill>
                  <a:srgbClr val="ECECEC"/>
                </a:solidFill>
                <a:effectLst/>
                <a:latin typeface="Söhne"/>
              </a:rPr>
              <a:t>prevent</a:t>
            </a:r>
            <a:r>
              <a:rPr lang="fr-FR" sz="1800" b="0" i="0" dirty="0">
                <a:solidFill>
                  <a:srgbClr val="ECECEC"/>
                </a:solidFill>
                <a:effectLst/>
                <a:latin typeface="Söhne"/>
              </a:rPr>
              <a:t> </a:t>
            </a:r>
            <a:r>
              <a:rPr lang="fr-FR" sz="1800" b="0" i="0" dirty="0" err="1">
                <a:solidFill>
                  <a:srgbClr val="ECECEC"/>
                </a:solidFill>
                <a:effectLst/>
                <a:latin typeface="Söhne"/>
              </a:rPr>
              <a:t>resource</a:t>
            </a:r>
            <a:r>
              <a:rPr lang="fr-FR" sz="1800" b="0" i="0" dirty="0">
                <a:solidFill>
                  <a:srgbClr val="ECECEC"/>
                </a:solidFill>
                <a:effectLst/>
                <a:latin typeface="Söhne"/>
              </a:rPr>
              <a:t> </a:t>
            </a:r>
            <a:r>
              <a:rPr lang="fr-FR" sz="1800" b="0" i="0" dirty="0" err="1">
                <a:solidFill>
                  <a:srgbClr val="ECECEC"/>
                </a:solidFill>
                <a:effectLst/>
                <a:latin typeface="Söhne"/>
              </a:rPr>
              <a:t>overconsumption</a:t>
            </a:r>
            <a:r>
              <a:rPr lang="fr-FR" sz="1800" b="0" i="0" dirty="0">
                <a:solidFill>
                  <a:srgbClr val="ECECEC"/>
                </a:solidFill>
                <a:effectLst/>
                <a:latin typeface="Söhne"/>
              </a:rPr>
              <a:t>.</a:t>
            </a:r>
          </a:p>
          <a:p>
            <a:pPr algn="l"/>
            <a:r>
              <a:rPr lang="fr-FR" sz="2000" b="1" i="0" dirty="0">
                <a:solidFill>
                  <a:srgbClr val="ECECEC"/>
                </a:solidFill>
                <a:effectLst/>
                <a:latin typeface="Söhne"/>
              </a:rPr>
              <a:t>Types of Quotas:</a:t>
            </a:r>
            <a:endParaRPr lang="fr-FR" sz="2000" b="0" i="0" dirty="0">
              <a:solidFill>
                <a:srgbClr val="ECECEC"/>
              </a:solidFill>
              <a:effectLst/>
              <a:latin typeface="Söhne"/>
            </a:endParaRPr>
          </a:p>
          <a:p>
            <a:pPr lvl="1"/>
            <a:r>
              <a:rPr lang="fr-FR" sz="1800" b="0" i="0" dirty="0">
                <a:solidFill>
                  <a:srgbClr val="ECECEC"/>
                </a:solidFill>
                <a:effectLst/>
                <a:latin typeface="Söhne"/>
              </a:rPr>
              <a:t>Rate quotas and allocation quotas </a:t>
            </a:r>
            <a:r>
              <a:rPr lang="fr-FR" sz="1800" b="0" i="0" dirty="0" err="1">
                <a:solidFill>
                  <a:srgbClr val="ECECEC"/>
                </a:solidFill>
                <a:effectLst/>
                <a:latin typeface="Söhne"/>
              </a:rPr>
              <a:t>applied</a:t>
            </a:r>
            <a:r>
              <a:rPr lang="fr-FR" sz="1800" b="0" i="0" dirty="0">
                <a:solidFill>
                  <a:srgbClr val="ECECEC"/>
                </a:solidFill>
                <a:effectLst/>
                <a:latin typeface="Söhne"/>
              </a:rPr>
              <a:t> at the </a:t>
            </a:r>
            <a:r>
              <a:rPr lang="fr-FR" sz="1800" b="0" i="0" dirty="0" err="1">
                <a:solidFill>
                  <a:srgbClr val="ECECEC"/>
                </a:solidFill>
                <a:effectLst/>
                <a:latin typeface="Söhne"/>
              </a:rPr>
              <a:t>project</a:t>
            </a:r>
            <a:r>
              <a:rPr lang="fr-FR" sz="1800" b="0" i="0" dirty="0">
                <a:solidFill>
                  <a:srgbClr val="ECECEC"/>
                </a:solidFill>
                <a:effectLst/>
                <a:latin typeface="Söhne"/>
              </a:rPr>
              <a:t> </a:t>
            </a:r>
            <a:r>
              <a:rPr lang="fr-FR" sz="1800" b="0" i="0" dirty="0" err="1">
                <a:solidFill>
                  <a:srgbClr val="ECECEC"/>
                </a:solidFill>
                <a:effectLst/>
                <a:latin typeface="Söhne"/>
              </a:rPr>
              <a:t>level</a:t>
            </a:r>
            <a:r>
              <a:rPr lang="fr-FR" sz="1800" b="0" i="0" dirty="0">
                <a:solidFill>
                  <a:srgbClr val="ECECEC"/>
                </a:solidFill>
                <a:effectLst/>
                <a:latin typeface="Söhne"/>
              </a:rPr>
              <a:t> and reset at </a:t>
            </a:r>
            <a:r>
              <a:rPr lang="fr-FR" sz="1800" b="0" i="0" dirty="0" err="1">
                <a:solidFill>
                  <a:srgbClr val="ECECEC"/>
                </a:solidFill>
                <a:effectLst/>
                <a:latin typeface="Söhne"/>
              </a:rPr>
              <a:t>specific</a:t>
            </a:r>
            <a:r>
              <a:rPr lang="fr-FR" sz="1800" b="0" i="0" dirty="0">
                <a:solidFill>
                  <a:srgbClr val="ECECEC"/>
                </a:solidFill>
                <a:effectLst/>
                <a:latin typeface="Söhne"/>
              </a:rPr>
              <a:t> </a:t>
            </a:r>
            <a:r>
              <a:rPr lang="fr-FR" sz="1800" b="0" i="0" dirty="0" err="1">
                <a:solidFill>
                  <a:srgbClr val="ECECEC"/>
                </a:solidFill>
                <a:effectLst/>
                <a:latin typeface="Söhne"/>
              </a:rPr>
              <a:t>intervals</a:t>
            </a:r>
            <a:r>
              <a:rPr lang="fr-FR" sz="1800" b="0" i="0" dirty="0">
                <a:solidFill>
                  <a:srgbClr val="ECECEC"/>
                </a:solidFill>
                <a:effectLst/>
                <a:latin typeface="Söhne"/>
              </a:rPr>
              <a:t>.</a:t>
            </a:r>
          </a:p>
          <a:p>
            <a:pPr lvl="1"/>
            <a:r>
              <a:rPr lang="fr-FR" sz="1800" b="0" i="0" dirty="0" err="1">
                <a:solidFill>
                  <a:srgbClr val="ECECEC"/>
                </a:solidFill>
                <a:effectLst/>
                <a:latin typeface="Söhne"/>
              </a:rPr>
              <a:t>Projects</a:t>
            </a:r>
            <a:r>
              <a:rPr lang="fr-FR" sz="1800" b="0" i="0" dirty="0">
                <a:solidFill>
                  <a:srgbClr val="ECECEC"/>
                </a:solidFill>
                <a:effectLst/>
                <a:latin typeface="Söhne"/>
              </a:rPr>
              <a:t> start </a:t>
            </a:r>
            <a:r>
              <a:rPr lang="fr-FR" sz="1800" b="0" i="0" dirty="0" err="1">
                <a:solidFill>
                  <a:srgbClr val="ECECEC"/>
                </a:solidFill>
                <a:effectLst/>
                <a:latin typeface="Söhne"/>
              </a:rPr>
              <a:t>with</a:t>
            </a:r>
            <a:r>
              <a:rPr lang="fr-FR" sz="1800" b="0" i="0" dirty="0">
                <a:solidFill>
                  <a:srgbClr val="ECECEC"/>
                </a:solidFill>
                <a:effectLst/>
                <a:latin typeface="Söhne"/>
              </a:rPr>
              <a:t> the </a:t>
            </a:r>
            <a:r>
              <a:rPr lang="fr-FR" sz="1800" b="0" i="0" dirty="0" err="1">
                <a:solidFill>
                  <a:srgbClr val="ECECEC"/>
                </a:solidFill>
                <a:effectLst/>
                <a:latin typeface="Söhne"/>
              </a:rPr>
              <a:t>same</a:t>
            </a:r>
            <a:r>
              <a:rPr lang="fr-FR" sz="1800" b="0" i="0" dirty="0">
                <a:solidFill>
                  <a:srgbClr val="ECECEC"/>
                </a:solidFill>
                <a:effectLst/>
                <a:latin typeface="Söhne"/>
              </a:rPr>
              <a:t> quotas, but </a:t>
            </a:r>
            <a:r>
              <a:rPr lang="fr-FR" sz="1800" b="0" i="0" dirty="0" err="1">
                <a:solidFill>
                  <a:srgbClr val="ECECEC"/>
                </a:solidFill>
                <a:effectLst/>
                <a:latin typeface="Söhne"/>
              </a:rPr>
              <a:t>some</a:t>
            </a:r>
            <a:r>
              <a:rPr lang="fr-FR" sz="1800" b="0" i="0" dirty="0">
                <a:solidFill>
                  <a:srgbClr val="ECECEC"/>
                </a:solidFill>
                <a:effectLst/>
                <a:latin typeface="Söhne"/>
              </a:rPr>
              <a:t> can </a:t>
            </a:r>
            <a:r>
              <a:rPr lang="fr-FR" sz="1800" b="0" i="0" dirty="0" err="1">
                <a:solidFill>
                  <a:srgbClr val="ECECEC"/>
                </a:solidFill>
                <a:effectLst/>
                <a:latin typeface="Söhne"/>
              </a:rPr>
              <a:t>be</a:t>
            </a:r>
            <a:r>
              <a:rPr lang="fr-FR" sz="1800" b="0" i="0" dirty="0">
                <a:solidFill>
                  <a:srgbClr val="ECECEC"/>
                </a:solidFill>
                <a:effectLst/>
                <a:latin typeface="Söhne"/>
              </a:rPr>
              <a:t> </a:t>
            </a:r>
            <a:r>
              <a:rPr lang="fr-FR" sz="1800" b="0" i="0" dirty="0" err="1">
                <a:solidFill>
                  <a:srgbClr val="ECECEC"/>
                </a:solidFill>
                <a:effectLst/>
                <a:latin typeface="Söhne"/>
              </a:rPr>
              <a:t>adjusted</a:t>
            </a:r>
            <a:r>
              <a:rPr lang="fr-FR" sz="1800" b="0" i="0" dirty="0">
                <a:solidFill>
                  <a:srgbClr val="ECECEC"/>
                </a:solidFill>
                <a:effectLst/>
                <a:latin typeface="Söhne"/>
              </a:rPr>
              <a:t> by </a:t>
            </a:r>
            <a:r>
              <a:rPr lang="fr-FR" sz="1800" b="0" i="0" dirty="0" err="1">
                <a:solidFill>
                  <a:srgbClr val="ECECEC"/>
                </a:solidFill>
                <a:effectLst/>
                <a:latin typeface="Söhne"/>
              </a:rPr>
              <a:t>requesting</a:t>
            </a:r>
            <a:r>
              <a:rPr lang="fr-FR" sz="1800" b="0" i="0" dirty="0">
                <a:solidFill>
                  <a:srgbClr val="ECECEC"/>
                </a:solidFill>
                <a:effectLst/>
                <a:latin typeface="Söhne"/>
              </a:rPr>
              <a:t> an </a:t>
            </a:r>
            <a:r>
              <a:rPr lang="fr-FR" sz="1800" b="0" i="0" dirty="0" err="1">
                <a:solidFill>
                  <a:srgbClr val="ECECEC"/>
                </a:solidFill>
                <a:effectLst/>
                <a:latin typeface="Söhne"/>
              </a:rPr>
              <a:t>increase</a:t>
            </a:r>
            <a:r>
              <a:rPr lang="fr-FR" sz="1800" b="0" i="0" dirty="0">
                <a:solidFill>
                  <a:srgbClr val="ECECEC"/>
                </a:solidFill>
                <a:effectLst/>
                <a:latin typeface="Söhne"/>
              </a:rPr>
              <a:t> </a:t>
            </a:r>
            <a:r>
              <a:rPr lang="fr-FR" sz="1800" b="0" i="0" dirty="0" err="1">
                <a:solidFill>
                  <a:srgbClr val="ECECEC"/>
                </a:solidFill>
                <a:effectLst/>
                <a:latin typeface="Söhne"/>
              </a:rPr>
              <a:t>from</a:t>
            </a:r>
            <a:r>
              <a:rPr lang="fr-FR" sz="1800" b="0" i="0" dirty="0">
                <a:solidFill>
                  <a:srgbClr val="ECECEC"/>
                </a:solidFill>
                <a:effectLst/>
                <a:latin typeface="Söhne"/>
              </a:rPr>
              <a:t> Google Cloud support.</a:t>
            </a:r>
          </a:p>
        </p:txBody>
      </p:sp>
    </p:spTree>
    <p:extLst>
      <p:ext uri="{BB962C8B-B14F-4D97-AF65-F5344CB8AC3E}">
        <p14:creationId xmlns:p14="http://schemas.microsoft.com/office/powerpoint/2010/main" val="33843408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531224"/>
            <a:ext cx="11530647" cy="826354"/>
          </a:xfrm>
        </p:spPr>
        <p:txBody>
          <a:bodyPr>
            <a:normAutofit/>
          </a:bodyPr>
          <a:lstStyle/>
          <a:p>
            <a:pPr algn="l"/>
            <a:r>
              <a:rPr lang="fr-FR" b="0" i="0" dirty="0">
                <a:solidFill>
                  <a:srgbClr val="ECECEC"/>
                </a:solidFill>
                <a:effectLst/>
                <a:latin typeface="Söhne"/>
              </a:rPr>
              <a:t>The </a:t>
            </a:r>
            <a:r>
              <a:rPr lang="fr-FR" b="0" i="0" dirty="0" err="1">
                <a:solidFill>
                  <a:srgbClr val="ECECEC"/>
                </a:solidFill>
                <a:effectLst/>
                <a:latin typeface="Söhne"/>
              </a:rPr>
              <a:t>hierarchy</a:t>
            </a:r>
            <a:r>
              <a:rPr lang="fr-FR" b="0" i="0" dirty="0">
                <a:solidFill>
                  <a:srgbClr val="ECECEC"/>
                </a:solidFill>
                <a:effectLst/>
                <a:latin typeface="Söhne"/>
              </a:rPr>
              <a:t> of GCP </a:t>
            </a:r>
            <a:r>
              <a:rPr lang="fr-FR" b="0" i="0" dirty="0" err="1">
                <a:solidFill>
                  <a:srgbClr val="ECECEC"/>
                </a:solidFill>
                <a:effectLst/>
                <a:latin typeface="Söhne"/>
              </a:rPr>
              <a:t>resources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fontScale="92500" lnSpcReduction="20000"/>
          </a:bodyPr>
          <a:lstStyle/>
          <a:p>
            <a:pPr algn="l">
              <a:buFont typeface="Arial" panose="020B0604020202020204" pitchFamily="34" charset="0"/>
              <a:buChar char="•"/>
            </a:pPr>
            <a:r>
              <a:rPr lang="fr-FR" sz="2400" b="0" i="0" dirty="0">
                <a:solidFill>
                  <a:srgbClr val="ECECEC"/>
                </a:solidFill>
                <a:effectLst/>
                <a:latin typeface="Söhne"/>
              </a:rPr>
              <a:t>The </a:t>
            </a:r>
            <a:r>
              <a:rPr lang="fr-FR" sz="2400" b="0" i="0" dirty="0" err="1">
                <a:solidFill>
                  <a:srgbClr val="ECECEC"/>
                </a:solidFill>
                <a:effectLst/>
                <a:latin typeface="Söhne"/>
              </a:rPr>
              <a:t>hierarchy</a:t>
            </a:r>
            <a:r>
              <a:rPr lang="fr-FR" sz="2400" b="0" i="0" dirty="0">
                <a:solidFill>
                  <a:srgbClr val="ECECEC"/>
                </a:solidFill>
                <a:effectLst/>
                <a:latin typeface="Söhne"/>
              </a:rPr>
              <a:t> of GCP </a:t>
            </a:r>
            <a:r>
              <a:rPr lang="fr-FR" sz="2400" b="0" i="0" dirty="0" err="1">
                <a:solidFill>
                  <a:srgbClr val="ECECEC"/>
                </a:solidFill>
                <a:effectLst/>
                <a:latin typeface="Söhne"/>
              </a:rPr>
              <a:t>resources</a:t>
            </a:r>
            <a:r>
              <a:rPr lang="fr-FR" sz="2400" b="0" i="0" dirty="0">
                <a:solidFill>
                  <a:srgbClr val="ECECEC"/>
                </a:solidFill>
                <a:effectLst/>
                <a:latin typeface="Söhne"/>
              </a:rPr>
              <a:t> comprises four </a:t>
            </a:r>
            <a:r>
              <a:rPr lang="fr-FR" sz="2400" b="0" i="0" dirty="0" err="1">
                <a:solidFill>
                  <a:srgbClr val="ECECEC"/>
                </a:solidFill>
                <a:effectLst/>
                <a:latin typeface="Söhne"/>
              </a:rPr>
              <a:t>levels</a:t>
            </a:r>
            <a:r>
              <a:rPr lang="fr-FR" sz="2400" b="0" i="0" dirty="0">
                <a:solidFill>
                  <a:srgbClr val="ECECEC"/>
                </a:solidFill>
                <a:effectLst/>
                <a:latin typeface="Söhne"/>
              </a:rPr>
              <a:t>: </a:t>
            </a:r>
            <a:r>
              <a:rPr lang="fr-FR" sz="2400" b="0" i="0" dirty="0" err="1">
                <a:solidFill>
                  <a:srgbClr val="ECECEC"/>
                </a:solidFill>
                <a:effectLst/>
                <a:latin typeface="Söhne"/>
              </a:rPr>
              <a:t>resources</a:t>
            </a:r>
            <a:r>
              <a:rPr lang="fr-FR" sz="2400" b="0" i="0" dirty="0">
                <a:solidFill>
                  <a:srgbClr val="ECECEC"/>
                </a:solidFill>
                <a:effectLst/>
                <a:latin typeface="Söhne"/>
              </a:rPr>
              <a:t>, </a:t>
            </a:r>
            <a:r>
              <a:rPr lang="fr-FR" sz="2400" b="0" i="0" dirty="0" err="1">
                <a:solidFill>
                  <a:srgbClr val="ECECEC"/>
                </a:solidFill>
                <a:effectLst/>
                <a:latin typeface="Söhne"/>
              </a:rPr>
              <a:t>projects</a:t>
            </a:r>
            <a:r>
              <a:rPr lang="fr-FR" sz="2400" b="0" i="0" dirty="0">
                <a:solidFill>
                  <a:srgbClr val="ECECEC"/>
                </a:solidFill>
                <a:effectLst/>
                <a:latin typeface="Söhne"/>
              </a:rPr>
              <a:t>, folders, and </a:t>
            </a:r>
            <a:r>
              <a:rPr lang="fr-FR" sz="2400" b="0" i="0" dirty="0" err="1">
                <a:solidFill>
                  <a:srgbClr val="ECECEC"/>
                </a:solidFill>
                <a:effectLst/>
                <a:latin typeface="Söhne"/>
              </a:rPr>
              <a:t>organization</a:t>
            </a:r>
            <a:r>
              <a:rPr lang="fr-FR" sz="2400" b="0" i="0" dirty="0">
                <a:solidFill>
                  <a:srgbClr val="ECECEC"/>
                </a:solidFill>
                <a:effectLst/>
                <a:latin typeface="Söhne"/>
              </a:rPr>
              <a:t> </a:t>
            </a:r>
            <a:r>
              <a:rPr lang="fr-FR" sz="2400" b="0" i="0" dirty="0" err="1">
                <a:solidFill>
                  <a:srgbClr val="ECECEC"/>
                </a:solidFill>
                <a:effectLst/>
                <a:latin typeface="Söhne"/>
              </a:rPr>
              <a:t>node</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Resources</a:t>
            </a:r>
            <a:r>
              <a:rPr lang="fr-FR" sz="2400" b="0" i="0" dirty="0">
                <a:solidFill>
                  <a:srgbClr val="ECECEC"/>
                </a:solidFill>
                <a:effectLst/>
                <a:latin typeface="Söhne"/>
              </a:rPr>
              <a:t> </a:t>
            </a:r>
            <a:r>
              <a:rPr lang="fr-FR" sz="2400" b="0" i="0" dirty="0" err="1">
                <a:solidFill>
                  <a:srgbClr val="ECECEC"/>
                </a:solidFill>
                <a:effectLst/>
                <a:latin typeface="Söhne"/>
              </a:rPr>
              <a:t>such</a:t>
            </a:r>
            <a:r>
              <a:rPr lang="fr-FR" sz="2400" b="0" i="0" dirty="0">
                <a:solidFill>
                  <a:srgbClr val="ECECEC"/>
                </a:solidFill>
                <a:effectLst/>
                <a:latin typeface="Söhne"/>
              </a:rPr>
              <a:t> as </a:t>
            </a:r>
            <a:r>
              <a:rPr lang="fr-FR" sz="2400" b="0" i="0" dirty="0" err="1">
                <a:solidFill>
                  <a:srgbClr val="ECECEC"/>
                </a:solidFill>
                <a:effectLst/>
                <a:latin typeface="Söhne"/>
              </a:rPr>
              <a:t>virtual</a:t>
            </a:r>
            <a:r>
              <a:rPr lang="fr-FR" sz="2400" b="0" i="0" dirty="0">
                <a:solidFill>
                  <a:srgbClr val="ECECEC"/>
                </a:solidFill>
                <a:effectLst/>
                <a:latin typeface="Söhne"/>
              </a:rPr>
              <a:t> machines, Cloud Storage </a:t>
            </a:r>
            <a:r>
              <a:rPr lang="fr-FR" sz="2400" b="0" i="0" dirty="0" err="1">
                <a:solidFill>
                  <a:srgbClr val="ECECEC"/>
                </a:solidFill>
                <a:effectLst/>
                <a:latin typeface="Söhne"/>
              </a:rPr>
              <a:t>buckets</a:t>
            </a:r>
            <a:r>
              <a:rPr lang="fr-FR" sz="2400" b="0" i="0" dirty="0">
                <a:solidFill>
                  <a:srgbClr val="ECECEC"/>
                </a:solidFill>
                <a:effectLst/>
                <a:latin typeface="Söhne"/>
              </a:rPr>
              <a:t>, etc., are at the </a:t>
            </a:r>
            <a:r>
              <a:rPr lang="fr-FR" sz="2400" b="0" i="0" dirty="0" err="1">
                <a:solidFill>
                  <a:srgbClr val="ECECEC"/>
                </a:solidFill>
                <a:effectLst/>
                <a:latin typeface="Söhne"/>
              </a:rPr>
              <a:t>lowest</a:t>
            </a:r>
            <a:r>
              <a:rPr lang="fr-FR" sz="2400" b="0" i="0" dirty="0">
                <a:solidFill>
                  <a:srgbClr val="ECECEC"/>
                </a:solidFill>
                <a:effectLst/>
                <a:latin typeface="Söhne"/>
              </a:rPr>
              <a:t> </a:t>
            </a:r>
            <a:r>
              <a:rPr lang="fr-FR" sz="2400" b="0" i="0" dirty="0" err="1">
                <a:solidFill>
                  <a:srgbClr val="ECECEC"/>
                </a:solidFill>
                <a:effectLst/>
                <a:latin typeface="Söhne"/>
              </a:rPr>
              <a:t>level</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Projects</a:t>
            </a:r>
            <a:r>
              <a:rPr lang="fr-FR" sz="2400" b="0" i="0" dirty="0">
                <a:solidFill>
                  <a:srgbClr val="ECECEC"/>
                </a:solidFill>
                <a:effectLst/>
                <a:latin typeface="Söhne"/>
              </a:rPr>
              <a:t> group </a:t>
            </a:r>
            <a:r>
              <a:rPr lang="fr-FR" sz="2400" b="0" i="0" dirty="0" err="1">
                <a:solidFill>
                  <a:srgbClr val="ECECEC"/>
                </a:solidFill>
                <a:effectLst/>
                <a:latin typeface="Söhne"/>
              </a:rPr>
              <a:t>resources</a:t>
            </a:r>
            <a:r>
              <a:rPr lang="fr-FR" sz="2400" b="0" i="0" dirty="0">
                <a:solidFill>
                  <a:srgbClr val="ECECEC"/>
                </a:solidFill>
                <a:effectLst/>
                <a:latin typeface="Söhne"/>
              </a:rPr>
              <a:t> and are </a:t>
            </a:r>
            <a:r>
              <a:rPr lang="fr-FR" sz="2400" b="0" i="0" dirty="0" err="1">
                <a:solidFill>
                  <a:srgbClr val="ECECEC"/>
                </a:solidFill>
                <a:effectLst/>
                <a:latin typeface="Söhne"/>
              </a:rPr>
              <a:t>situated</a:t>
            </a:r>
            <a:r>
              <a:rPr lang="fr-FR" sz="2400" b="0" i="0" dirty="0">
                <a:solidFill>
                  <a:srgbClr val="ECECEC"/>
                </a:solidFill>
                <a:effectLst/>
                <a:latin typeface="Söhne"/>
              </a:rPr>
              <a:t> at the second </a:t>
            </a:r>
            <a:r>
              <a:rPr lang="fr-FR" sz="2400" b="0" i="0" dirty="0" err="1">
                <a:solidFill>
                  <a:srgbClr val="ECECEC"/>
                </a:solidFill>
                <a:effectLst/>
                <a:latin typeface="Söhne"/>
              </a:rPr>
              <a:t>level</a:t>
            </a:r>
            <a:r>
              <a:rPr lang="fr-FR" sz="2400" b="0" i="0" dirty="0">
                <a:solidFill>
                  <a:srgbClr val="ECECEC"/>
                </a:solidFill>
                <a:effectLst/>
                <a:latin typeface="Söhne"/>
              </a:rPr>
              <a:t> of the </a:t>
            </a:r>
            <a:r>
              <a:rPr lang="fr-FR" sz="2400" b="0" i="0" dirty="0" err="1">
                <a:solidFill>
                  <a:srgbClr val="ECECEC"/>
                </a:solidFill>
                <a:effectLst/>
                <a:latin typeface="Söhne"/>
              </a:rPr>
              <a:t>hierarchy</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Folders, </a:t>
            </a:r>
            <a:r>
              <a:rPr lang="fr-FR" sz="2400" b="0" i="0" dirty="0" err="1">
                <a:solidFill>
                  <a:srgbClr val="ECECEC"/>
                </a:solidFill>
                <a:effectLst/>
                <a:latin typeface="Söhne"/>
              </a:rPr>
              <a:t>along</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any</a:t>
            </a:r>
            <a:r>
              <a:rPr lang="fr-FR" sz="2400" b="0" i="0" dirty="0">
                <a:solidFill>
                  <a:srgbClr val="ECECEC"/>
                </a:solidFill>
                <a:effectLst/>
                <a:latin typeface="Söhne"/>
              </a:rPr>
              <a:t> </a:t>
            </a:r>
            <a:r>
              <a:rPr lang="fr-FR" sz="2400" b="0" i="0" dirty="0" err="1">
                <a:solidFill>
                  <a:srgbClr val="ECECEC"/>
                </a:solidFill>
                <a:effectLst/>
                <a:latin typeface="Söhne"/>
              </a:rPr>
              <a:t>subfolders</a:t>
            </a:r>
            <a:r>
              <a:rPr lang="fr-FR" sz="2400" b="0" i="0" dirty="0">
                <a:solidFill>
                  <a:srgbClr val="ECECEC"/>
                </a:solidFill>
                <a:effectLst/>
                <a:latin typeface="Söhne"/>
              </a:rPr>
              <a:t>, are at the </a:t>
            </a:r>
            <a:r>
              <a:rPr lang="fr-FR" sz="2400" b="0" i="0" dirty="0" err="1">
                <a:solidFill>
                  <a:srgbClr val="ECECEC"/>
                </a:solidFill>
                <a:effectLst/>
                <a:latin typeface="Söhne"/>
              </a:rPr>
              <a:t>third</a:t>
            </a:r>
            <a:r>
              <a:rPr lang="fr-FR" sz="2400" b="0" i="0" dirty="0">
                <a:solidFill>
                  <a:srgbClr val="ECECEC"/>
                </a:solidFill>
                <a:effectLst/>
                <a:latin typeface="Söhne"/>
              </a:rPr>
              <a:t> </a:t>
            </a:r>
            <a:r>
              <a:rPr lang="fr-FR" sz="2400" b="0" i="0" dirty="0" err="1">
                <a:solidFill>
                  <a:srgbClr val="ECECEC"/>
                </a:solidFill>
                <a:effectLst/>
                <a:latin typeface="Söhne"/>
              </a:rPr>
              <a:t>level</a:t>
            </a:r>
            <a:r>
              <a:rPr lang="fr-FR" sz="2400" b="0" i="0" dirty="0">
                <a:solidFill>
                  <a:srgbClr val="ECECEC"/>
                </a:solidFill>
                <a:effectLst/>
                <a:latin typeface="Söhne"/>
              </a:rPr>
              <a:t> and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used</a:t>
            </a:r>
            <a:r>
              <a:rPr lang="fr-FR" sz="2400" b="0" i="0" dirty="0">
                <a:solidFill>
                  <a:srgbClr val="ECECEC"/>
                </a:solidFill>
                <a:effectLst/>
                <a:latin typeface="Söhne"/>
              </a:rPr>
              <a:t> to </a:t>
            </a:r>
            <a:r>
              <a:rPr lang="fr-FR" sz="2400" b="0" i="0" dirty="0" err="1">
                <a:solidFill>
                  <a:srgbClr val="ECECEC"/>
                </a:solidFill>
                <a:effectLst/>
                <a:latin typeface="Söhne"/>
              </a:rPr>
              <a:t>organize</a:t>
            </a:r>
            <a:r>
              <a:rPr lang="fr-FR" sz="2400" b="0" i="0" dirty="0">
                <a:solidFill>
                  <a:srgbClr val="ECECEC"/>
                </a:solidFill>
                <a:effectLst/>
                <a:latin typeface="Söhne"/>
              </a:rPr>
              <a:t> </a:t>
            </a:r>
            <a:r>
              <a:rPr lang="fr-FR" sz="2400" b="0" i="0" dirty="0" err="1">
                <a:solidFill>
                  <a:srgbClr val="ECECEC"/>
                </a:solidFill>
                <a:effectLst/>
                <a:latin typeface="Söhne"/>
              </a:rPr>
              <a:t>projects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The </a:t>
            </a:r>
            <a:r>
              <a:rPr lang="fr-FR" sz="2400" b="0" i="0" dirty="0" err="1">
                <a:solidFill>
                  <a:srgbClr val="ECECEC"/>
                </a:solidFill>
                <a:effectLst/>
                <a:latin typeface="Söhne"/>
              </a:rPr>
              <a:t>organization</a:t>
            </a:r>
            <a:r>
              <a:rPr lang="fr-FR" sz="2400" b="0" i="0" dirty="0">
                <a:solidFill>
                  <a:srgbClr val="ECECEC"/>
                </a:solidFill>
                <a:effectLst/>
                <a:latin typeface="Söhne"/>
              </a:rPr>
              <a:t> </a:t>
            </a:r>
            <a:r>
              <a:rPr lang="fr-FR" sz="2400" b="0" i="0" dirty="0" err="1">
                <a:solidFill>
                  <a:srgbClr val="ECECEC"/>
                </a:solidFill>
                <a:effectLst/>
                <a:latin typeface="Söhne"/>
              </a:rPr>
              <a:t>node</a:t>
            </a:r>
            <a:r>
              <a:rPr lang="fr-FR" sz="2400" b="0" i="0" dirty="0">
                <a:solidFill>
                  <a:srgbClr val="ECECEC"/>
                </a:solidFill>
                <a:effectLst/>
                <a:latin typeface="Söhne"/>
              </a:rPr>
              <a:t>, at the </a:t>
            </a:r>
            <a:r>
              <a:rPr lang="fr-FR" sz="2400" b="0" i="0" dirty="0" err="1">
                <a:solidFill>
                  <a:srgbClr val="ECECEC"/>
                </a:solidFill>
                <a:effectLst/>
                <a:latin typeface="Söhne"/>
              </a:rPr>
              <a:t>highest</a:t>
            </a:r>
            <a:r>
              <a:rPr lang="fr-FR" sz="2400" b="0" i="0" dirty="0">
                <a:solidFill>
                  <a:srgbClr val="ECECEC"/>
                </a:solidFill>
                <a:effectLst/>
                <a:latin typeface="Söhne"/>
              </a:rPr>
              <a:t> </a:t>
            </a:r>
            <a:r>
              <a:rPr lang="fr-FR" sz="2400" b="0" i="0" dirty="0" err="1">
                <a:solidFill>
                  <a:srgbClr val="ECECEC"/>
                </a:solidFill>
                <a:effectLst/>
                <a:latin typeface="Söhne"/>
              </a:rPr>
              <a:t>level</a:t>
            </a:r>
            <a:r>
              <a:rPr lang="fr-FR" sz="2400" b="0" i="0" dirty="0">
                <a:solidFill>
                  <a:srgbClr val="ECECEC"/>
                </a:solidFill>
                <a:effectLst/>
                <a:latin typeface="Söhne"/>
              </a:rPr>
              <a:t>, </a:t>
            </a:r>
            <a:r>
              <a:rPr lang="fr-FR" sz="2400" b="0" i="0" dirty="0" err="1">
                <a:solidFill>
                  <a:srgbClr val="ECECEC"/>
                </a:solidFill>
                <a:effectLst/>
                <a:latin typeface="Söhne"/>
              </a:rPr>
              <a:t>encompasses</a:t>
            </a:r>
            <a:r>
              <a:rPr lang="fr-FR" sz="2400" b="0" i="0" dirty="0">
                <a:solidFill>
                  <a:srgbClr val="ECECEC"/>
                </a:solidFill>
                <a:effectLst/>
                <a:latin typeface="Söhne"/>
              </a:rPr>
              <a:t> all </a:t>
            </a:r>
            <a:r>
              <a:rPr lang="fr-FR" sz="2400" b="0" i="0" dirty="0" err="1">
                <a:solidFill>
                  <a:srgbClr val="ECECEC"/>
                </a:solidFill>
                <a:effectLst/>
                <a:latin typeface="Söhne"/>
              </a:rPr>
              <a:t>projects</a:t>
            </a:r>
            <a:r>
              <a:rPr lang="fr-FR" sz="2400" b="0" i="0" dirty="0">
                <a:solidFill>
                  <a:srgbClr val="ECECEC"/>
                </a:solidFill>
                <a:effectLst/>
                <a:latin typeface="Söhne"/>
              </a:rPr>
              <a:t>, folders, and </a:t>
            </a:r>
            <a:r>
              <a:rPr lang="fr-FR" sz="2400" b="0" i="0" dirty="0" err="1">
                <a:solidFill>
                  <a:srgbClr val="ECECEC"/>
                </a:solidFill>
                <a:effectLst/>
                <a:latin typeface="Söhne"/>
              </a:rPr>
              <a:t>resources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Policy management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tied</a:t>
            </a:r>
            <a:r>
              <a:rPr lang="fr-FR" sz="2400" b="0" i="0" dirty="0">
                <a:solidFill>
                  <a:srgbClr val="ECECEC"/>
                </a:solidFill>
                <a:effectLst/>
                <a:latin typeface="Söhne"/>
              </a:rPr>
              <a:t> to </a:t>
            </a:r>
            <a:r>
              <a:rPr lang="fr-FR" sz="2400" b="0" i="0" dirty="0" err="1">
                <a:solidFill>
                  <a:srgbClr val="ECECEC"/>
                </a:solidFill>
                <a:effectLst/>
                <a:latin typeface="Söhne"/>
              </a:rPr>
              <a:t>this</a:t>
            </a:r>
            <a:r>
              <a:rPr lang="fr-FR" sz="2400" b="0" i="0" dirty="0">
                <a:solidFill>
                  <a:srgbClr val="ECECEC"/>
                </a:solidFill>
                <a:effectLst/>
                <a:latin typeface="Söhne"/>
              </a:rPr>
              <a:t> </a:t>
            </a:r>
            <a:r>
              <a:rPr lang="fr-FR" sz="2400" b="0" i="0" dirty="0" err="1">
                <a:solidFill>
                  <a:srgbClr val="ECECEC"/>
                </a:solidFill>
                <a:effectLst/>
                <a:latin typeface="Söhne"/>
              </a:rPr>
              <a:t>hierarchy</a:t>
            </a:r>
            <a:r>
              <a:rPr lang="fr-FR" sz="2400" b="0" i="0" dirty="0">
                <a:solidFill>
                  <a:srgbClr val="ECECEC"/>
                </a:solidFill>
                <a:effectLst/>
                <a:latin typeface="Söhne"/>
              </a:rPr>
              <a:t>: </a:t>
            </a:r>
            <a:r>
              <a:rPr lang="fr-FR" sz="2400" b="0" i="0" dirty="0" err="1">
                <a:solidFill>
                  <a:srgbClr val="ECECEC"/>
                </a:solidFill>
                <a:effectLst/>
                <a:latin typeface="Söhne"/>
              </a:rPr>
              <a:t>policies</a:t>
            </a:r>
            <a:r>
              <a:rPr lang="fr-FR" sz="2400" b="0" i="0" dirty="0">
                <a:solidFill>
                  <a:srgbClr val="ECECEC"/>
                </a:solidFill>
                <a:effectLst/>
                <a:latin typeface="Söhne"/>
              </a:rPr>
              <a:t>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defined</a:t>
            </a:r>
            <a:r>
              <a:rPr lang="fr-FR" sz="2400" b="0" i="0" dirty="0">
                <a:solidFill>
                  <a:srgbClr val="ECECEC"/>
                </a:solidFill>
                <a:effectLst/>
                <a:latin typeface="Söhne"/>
              </a:rPr>
              <a:t> at the </a:t>
            </a:r>
            <a:r>
              <a:rPr lang="fr-FR" sz="2400" b="0" i="0" dirty="0" err="1">
                <a:solidFill>
                  <a:srgbClr val="ECECEC"/>
                </a:solidFill>
                <a:effectLst/>
                <a:latin typeface="Söhne"/>
              </a:rPr>
              <a:t>project</a:t>
            </a:r>
            <a:r>
              <a:rPr lang="fr-FR" sz="2400" b="0" i="0" dirty="0">
                <a:solidFill>
                  <a:srgbClr val="ECECEC"/>
                </a:solidFill>
                <a:effectLst/>
                <a:latin typeface="Söhne"/>
              </a:rPr>
              <a:t>, folder, and </a:t>
            </a:r>
            <a:r>
              <a:rPr lang="fr-FR" sz="2400" b="0" i="0" dirty="0" err="1">
                <a:solidFill>
                  <a:srgbClr val="ECECEC"/>
                </a:solidFill>
                <a:effectLst/>
                <a:latin typeface="Söhne"/>
              </a:rPr>
              <a:t>organization</a:t>
            </a:r>
            <a:r>
              <a:rPr lang="fr-FR" sz="2400" b="0" i="0" dirty="0">
                <a:solidFill>
                  <a:srgbClr val="ECECEC"/>
                </a:solidFill>
                <a:effectLst/>
                <a:latin typeface="Söhne"/>
              </a:rPr>
              <a:t> </a:t>
            </a:r>
            <a:r>
              <a:rPr lang="fr-FR" sz="2400" b="0" i="0" dirty="0" err="1">
                <a:solidFill>
                  <a:srgbClr val="ECECEC"/>
                </a:solidFill>
                <a:effectLst/>
                <a:latin typeface="Söhne"/>
              </a:rPr>
              <a:t>node</a:t>
            </a:r>
            <a:r>
              <a:rPr lang="fr-FR" sz="2400" b="0" i="0" dirty="0">
                <a:solidFill>
                  <a:srgbClr val="ECECEC"/>
                </a:solidFill>
                <a:effectLst/>
                <a:latin typeface="Söhne"/>
              </a:rPr>
              <a:t> </a:t>
            </a:r>
            <a:r>
              <a:rPr lang="fr-FR" sz="2400" b="0" i="0" dirty="0" err="1">
                <a:solidFill>
                  <a:srgbClr val="ECECEC"/>
                </a:solidFill>
                <a:effectLst/>
                <a:latin typeface="Söhne"/>
              </a:rPr>
              <a:t>levels</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Some</a:t>
            </a:r>
            <a:r>
              <a:rPr lang="fr-FR" sz="2400" b="0" i="0" dirty="0">
                <a:solidFill>
                  <a:srgbClr val="ECECEC"/>
                </a:solidFill>
                <a:effectLst/>
                <a:latin typeface="Söhne"/>
              </a:rPr>
              <a:t> Google Cloud services </a:t>
            </a:r>
            <a:r>
              <a:rPr lang="fr-FR" sz="2400" b="0" i="0" dirty="0" err="1">
                <a:solidFill>
                  <a:srgbClr val="ECECEC"/>
                </a:solidFill>
                <a:effectLst/>
                <a:latin typeface="Söhne"/>
              </a:rPr>
              <a:t>also</a:t>
            </a:r>
            <a:r>
              <a:rPr lang="fr-FR" sz="2400" b="0" i="0" dirty="0">
                <a:solidFill>
                  <a:srgbClr val="ECECEC"/>
                </a:solidFill>
                <a:effectLst/>
                <a:latin typeface="Söhne"/>
              </a:rPr>
              <a:t> </a:t>
            </a:r>
            <a:r>
              <a:rPr lang="fr-FR" sz="2400" b="0" i="0" dirty="0" err="1">
                <a:solidFill>
                  <a:srgbClr val="ECECEC"/>
                </a:solidFill>
                <a:effectLst/>
                <a:latin typeface="Söhne"/>
              </a:rPr>
              <a:t>allow</a:t>
            </a:r>
            <a:r>
              <a:rPr lang="fr-FR" sz="2400" b="0" i="0" dirty="0">
                <a:solidFill>
                  <a:srgbClr val="ECECEC"/>
                </a:solidFill>
                <a:effectLst/>
                <a:latin typeface="Söhne"/>
              </a:rPr>
              <a:t> </a:t>
            </a:r>
            <a:r>
              <a:rPr lang="fr-FR" sz="2400" b="0" i="0" dirty="0" err="1">
                <a:solidFill>
                  <a:srgbClr val="ECECEC"/>
                </a:solidFill>
                <a:effectLst/>
                <a:latin typeface="Söhne"/>
              </a:rPr>
              <a:t>policy</a:t>
            </a:r>
            <a:r>
              <a:rPr lang="fr-FR" sz="2400" b="0" i="0" dirty="0">
                <a:solidFill>
                  <a:srgbClr val="ECECEC"/>
                </a:solidFill>
                <a:effectLst/>
                <a:latin typeface="Söhne"/>
              </a:rPr>
              <a:t> </a:t>
            </a:r>
            <a:r>
              <a:rPr lang="fr-FR" sz="2400" b="0" i="0" dirty="0" err="1">
                <a:solidFill>
                  <a:srgbClr val="ECECEC"/>
                </a:solidFill>
                <a:effectLst/>
                <a:latin typeface="Söhne"/>
              </a:rPr>
              <a:t>enforcement</a:t>
            </a:r>
            <a:r>
              <a:rPr lang="fr-FR" sz="2400" b="0" i="0" dirty="0">
                <a:solidFill>
                  <a:srgbClr val="ECECEC"/>
                </a:solidFill>
                <a:effectLst/>
                <a:latin typeface="Söhne"/>
              </a:rPr>
              <a:t> at the </a:t>
            </a:r>
            <a:r>
              <a:rPr lang="fr-FR" sz="2400" b="0" i="0" dirty="0" err="1">
                <a:solidFill>
                  <a:srgbClr val="ECECEC"/>
                </a:solidFill>
                <a:effectLst/>
                <a:latin typeface="Söhne"/>
              </a:rPr>
              <a:t>individual</a:t>
            </a:r>
            <a:r>
              <a:rPr lang="fr-FR" sz="2400" b="0" i="0" dirty="0">
                <a:solidFill>
                  <a:srgbClr val="ECECEC"/>
                </a:solidFill>
                <a:effectLst/>
                <a:latin typeface="Söhne"/>
              </a:rPr>
              <a:t> </a:t>
            </a:r>
            <a:r>
              <a:rPr lang="fr-FR" sz="2400" b="0" i="0" dirty="0" err="1">
                <a:solidFill>
                  <a:srgbClr val="ECECEC"/>
                </a:solidFill>
                <a:effectLst/>
                <a:latin typeface="Söhne"/>
              </a:rPr>
              <a:t>resource</a:t>
            </a:r>
            <a:r>
              <a:rPr lang="fr-FR" sz="2400" b="0" i="0" dirty="0">
                <a:solidFill>
                  <a:srgbClr val="ECECEC"/>
                </a:solidFill>
                <a:effectLst/>
                <a:latin typeface="Söhne"/>
              </a:rPr>
              <a:t> </a:t>
            </a:r>
            <a:r>
              <a:rPr lang="fr-FR" sz="2400" b="0" i="0" dirty="0" err="1">
                <a:solidFill>
                  <a:srgbClr val="ECECEC"/>
                </a:solidFill>
                <a:effectLst/>
                <a:latin typeface="Söhne"/>
              </a:rPr>
              <a:t>level</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Policies</a:t>
            </a:r>
            <a:r>
              <a:rPr lang="fr-FR" sz="2400" b="0" i="0" dirty="0">
                <a:solidFill>
                  <a:srgbClr val="ECECEC"/>
                </a:solidFill>
                <a:effectLst/>
                <a:latin typeface="Söhne"/>
              </a:rPr>
              <a:t> are </a:t>
            </a:r>
            <a:r>
              <a:rPr lang="fr-FR" sz="2400" b="0" i="0" dirty="0" err="1">
                <a:solidFill>
                  <a:srgbClr val="ECECEC"/>
                </a:solidFill>
                <a:effectLst/>
                <a:latin typeface="Söhne"/>
              </a:rPr>
              <a:t>inherited</a:t>
            </a:r>
            <a:r>
              <a:rPr lang="fr-FR" sz="2400" b="0" i="0" dirty="0">
                <a:solidFill>
                  <a:srgbClr val="ECECEC"/>
                </a:solidFill>
                <a:effectLst/>
                <a:latin typeface="Söhne"/>
              </a:rPr>
              <a:t> </a:t>
            </a:r>
            <a:r>
              <a:rPr lang="fr-FR" sz="2400" b="0" i="0" dirty="0" err="1">
                <a:solidFill>
                  <a:srgbClr val="ECECEC"/>
                </a:solidFill>
                <a:effectLst/>
                <a:latin typeface="Söhne"/>
              </a:rPr>
              <a:t>downwards</a:t>
            </a:r>
            <a:r>
              <a:rPr lang="fr-FR" sz="2400" b="0" i="0" dirty="0">
                <a:solidFill>
                  <a:srgbClr val="ECECEC"/>
                </a:solidFill>
                <a:effectLst/>
                <a:latin typeface="Söhne"/>
              </a:rPr>
              <a:t>: a </a:t>
            </a:r>
            <a:r>
              <a:rPr lang="fr-FR" sz="2400" b="0" i="0" dirty="0" err="1">
                <a:solidFill>
                  <a:srgbClr val="ECECEC"/>
                </a:solidFill>
                <a:effectLst/>
                <a:latin typeface="Söhne"/>
              </a:rPr>
              <a:t>policy</a:t>
            </a:r>
            <a:r>
              <a:rPr lang="fr-FR" sz="2400" b="0" i="0" dirty="0">
                <a:solidFill>
                  <a:srgbClr val="ECECEC"/>
                </a:solidFill>
                <a:effectLst/>
                <a:latin typeface="Söhne"/>
              </a:rPr>
              <a:t> </a:t>
            </a:r>
            <a:r>
              <a:rPr lang="fr-FR" sz="2400" b="0" i="0" dirty="0" err="1">
                <a:solidFill>
                  <a:srgbClr val="ECECEC"/>
                </a:solidFill>
                <a:effectLst/>
                <a:latin typeface="Söhne"/>
              </a:rPr>
              <a:t>applied</a:t>
            </a:r>
            <a:r>
              <a:rPr lang="fr-FR" sz="2400" b="0" i="0" dirty="0">
                <a:solidFill>
                  <a:srgbClr val="ECECEC"/>
                </a:solidFill>
                <a:effectLst/>
                <a:latin typeface="Söhne"/>
              </a:rPr>
              <a:t> to a folder </a:t>
            </a:r>
            <a:r>
              <a:rPr lang="fr-FR" sz="2400" b="0" i="0" dirty="0" err="1">
                <a:solidFill>
                  <a:srgbClr val="ECECEC"/>
                </a:solidFill>
                <a:effectLst/>
                <a:latin typeface="Söhne"/>
              </a:rPr>
              <a:t>will</a:t>
            </a:r>
            <a:r>
              <a:rPr lang="fr-FR" sz="2400" b="0" i="0" dirty="0">
                <a:solidFill>
                  <a:srgbClr val="ECECEC"/>
                </a:solidFill>
                <a:effectLst/>
                <a:latin typeface="Söhne"/>
              </a:rPr>
              <a:t> </a:t>
            </a:r>
            <a:r>
              <a:rPr lang="fr-FR" sz="2400" b="0" i="0" dirty="0" err="1">
                <a:solidFill>
                  <a:srgbClr val="ECECEC"/>
                </a:solidFill>
                <a:effectLst/>
                <a:latin typeface="Söhne"/>
              </a:rPr>
              <a:t>apply</a:t>
            </a:r>
            <a:r>
              <a:rPr lang="fr-FR" sz="2400" b="0" i="0" dirty="0">
                <a:solidFill>
                  <a:srgbClr val="ECECEC"/>
                </a:solidFill>
                <a:effectLst/>
                <a:latin typeface="Söhne"/>
              </a:rPr>
              <a:t> to all </a:t>
            </a:r>
            <a:r>
              <a:rPr lang="fr-FR" sz="2400" b="0" i="0" dirty="0" err="1">
                <a:solidFill>
                  <a:srgbClr val="ECECEC"/>
                </a:solidFill>
                <a:effectLst/>
                <a:latin typeface="Söhne"/>
              </a:rPr>
              <a:t>projects</a:t>
            </a:r>
            <a:r>
              <a:rPr lang="fr-FR" sz="2400" b="0" i="0" dirty="0">
                <a:solidFill>
                  <a:srgbClr val="ECECEC"/>
                </a:solidFill>
                <a:effectLst/>
                <a:latin typeface="Söhne"/>
              </a:rPr>
              <a:t> </a:t>
            </a:r>
            <a:r>
              <a:rPr lang="fr-FR" sz="2400" b="0" i="0" dirty="0" err="1">
                <a:solidFill>
                  <a:srgbClr val="ECECEC"/>
                </a:solidFill>
                <a:effectLst/>
                <a:latin typeface="Söhne"/>
              </a:rPr>
              <a:t>it</a:t>
            </a:r>
            <a:r>
              <a:rPr lang="fr-FR" sz="2400" b="0" i="0" dirty="0">
                <a:solidFill>
                  <a:srgbClr val="ECECEC"/>
                </a:solidFill>
                <a:effectLst/>
                <a:latin typeface="Söhne"/>
              </a:rPr>
              <a:t> </a:t>
            </a:r>
            <a:r>
              <a:rPr lang="fr-FR" sz="2400" b="0" i="0" dirty="0" err="1">
                <a:solidFill>
                  <a:srgbClr val="ECECEC"/>
                </a:solidFill>
                <a:effectLst/>
                <a:latin typeface="Söhne"/>
              </a:rPr>
              <a:t>contains</a:t>
            </a:r>
            <a:r>
              <a:rPr lang="fr-FR" sz="2400" b="0" i="0" dirty="0">
                <a:solidFill>
                  <a:srgbClr val="ECECEC"/>
                </a:solidFill>
                <a:effectLst/>
                <a:latin typeface="Söhne"/>
              </a:rPr>
              <a:t>.</a:t>
            </a:r>
          </a:p>
        </p:txBody>
      </p:sp>
    </p:spTree>
    <p:extLst>
      <p:ext uri="{BB962C8B-B14F-4D97-AF65-F5344CB8AC3E}">
        <p14:creationId xmlns:p14="http://schemas.microsoft.com/office/powerpoint/2010/main" val="18967325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01F24709-DF28-923A-E29E-198A3DE01191}"/>
              </a:ext>
            </a:extLst>
          </p:cNvPr>
          <p:cNvPicPr>
            <a:picLocks noGrp="1" noChangeAspect="1"/>
          </p:cNvPicPr>
          <p:nvPr>
            <p:ph idx="1"/>
          </p:nvPr>
        </p:nvPicPr>
        <p:blipFill>
          <a:blip r:embed="rId2"/>
          <a:stretch>
            <a:fillRect/>
          </a:stretch>
        </p:blipFill>
        <p:spPr>
          <a:xfrm>
            <a:off x="6096000" y="2372644"/>
            <a:ext cx="5881636" cy="2813309"/>
          </a:xfrm>
          <a:prstGeom prst="rect">
            <a:avLst/>
          </a:prstGeom>
        </p:spPr>
      </p:pic>
      <p:pic>
        <p:nvPicPr>
          <p:cNvPr id="6" name="Image 5">
            <a:extLst>
              <a:ext uri="{FF2B5EF4-FFF2-40B4-BE49-F238E27FC236}">
                <a16:creationId xmlns:a16="http://schemas.microsoft.com/office/drawing/2014/main" id="{D0133278-E615-9963-4449-2D291C235404}"/>
              </a:ext>
            </a:extLst>
          </p:cNvPr>
          <p:cNvPicPr>
            <a:picLocks noChangeAspect="1"/>
          </p:cNvPicPr>
          <p:nvPr/>
        </p:nvPicPr>
        <p:blipFill>
          <a:blip r:embed="rId3"/>
          <a:stretch>
            <a:fillRect/>
          </a:stretch>
        </p:blipFill>
        <p:spPr>
          <a:xfrm>
            <a:off x="214364" y="2372645"/>
            <a:ext cx="5698755" cy="2813309"/>
          </a:xfrm>
          <a:prstGeom prst="rect">
            <a:avLst/>
          </a:prstGeom>
        </p:spPr>
      </p:pic>
      <p:sp>
        <p:nvSpPr>
          <p:cNvPr id="10" name="Titre 1">
            <a:extLst>
              <a:ext uri="{FF2B5EF4-FFF2-40B4-BE49-F238E27FC236}">
                <a16:creationId xmlns:a16="http://schemas.microsoft.com/office/drawing/2014/main" id="{3270EA32-923E-A37B-2862-07C31B1ED24A}"/>
              </a:ext>
            </a:extLst>
          </p:cNvPr>
          <p:cNvSpPr>
            <a:spLocks noGrp="1"/>
          </p:cNvSpPr>
          <p:nvPr>
            <p:ph type="title"/>
          </p:nvPr>
        </p:nvSpPr>
        <p:spPr>
          <a:xfrm>
            <a:off x="278175" y="639315"/>
            <a:ext cx="11530647" cy="1293028"/>
          </a:xfrm>
        </p:spPr>
        <p:txBody>
          <a:bodyPr>
            <a:normAutofit/>
          </a:bodyPr>
          <a:lstStyle/>
          <a:p>
            <a:pPr algn="l"/>
            <a:r>
              <a:rPr lang="fr-FR" sz="3200" dirty="0" err="1"/>
              <a:t>hierarchy</a:t>
            </a:r>
            <a:endParaRPr lang="fr-FR" sz="3200" dirty="0"/>
          </a:p>
        </p:txBody>
      </p:sp>
    </p:spTree>
    <p:extLst>
      <p:ext uri="{BB962C8B-B14F-4D97-AF65-F5344CB8AC3E}">
        <p14:creationId xmlns:p14="http://schemas.microsoft.com/office/powerpoint/2010/main" val="28535754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238720"/>
            <a:ext cx="11530647" cy="1293028"/>
          </a:xfrm>
        </p:spPr>
        <p:txBody>
          <a:bodyPr>
            <a:normAutofit/>
          </a:bodyPr>
          <a:lstStyle/>
          <a:p>
            <a:pPr algn="l"/>
            <a:r>
              <a:rPr lang="fr-FR" sz="3200" dirty="0"/>
              <a:t>IAM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There are </a:t>
            </a:r>
            <a:r>
              <a:rPr lang="fr-FR" sz="2000" b="0" i="0" dirty="0" err="1">
                <a:solidFill>
                  <a:srgbClr val="ECECEC"/>
                </a:solidFill>
                <a:effectLst/>
                <a:latin typeface="Söhne"/>
              </a:rPr>
              <a:t>three</a:t>
            </a:r>
            <a:r>
              <a:rPr lang="fr-FR" sz="2000" b="0" i="0" dirty="0">
                <a:solidFill>
                  <a:srgbClr val="ECECEC"/>
                </a:solidFill>
                <a:effectLst/>
                <a:latin typeface="Söhne"/>
              </a:rPr>
              <a:t> types of </a:t>
            </a:r>
            <a:r>
              <a:rPr lang="fr-FR" sz="2000" b="0" i="0" dirty="0" err="1">
                <a:solidFill>
                  <a:srgbClr val="ECECEC"/>
                </a:solidFill>
                <a:effectLst/>
                <a:latin typeface="Söhne"/>
              </a:rPr>
              <a:t>roles</a:t>
            </a:r>
            <a:r>
              <a:rPr lang="fr-FR" sz="2000" b="0" i="0" dirty="0">
                <a:solidFill>
                  <a:srgbClr val="ECECEC"/>
                </a:solidFill>
                <a:effectLst/>
                <a:latin typeface="Söhne"/>
              </a:rPr>
              <a:t> in IAM: basic, </a:t>
            </a:r>
            <a:r>
              <a:rPr lang="fr-FR" sz="2000" b="0" i="0" dirty="0" err="1">
                <a:solidFill>
                  <a:srgbClr val="ECECEC"/>
                </a:solidFill>
                <a:effectLst/>
                <a:latin typeface="Söhne"/>
              </a:rPr>
              <a:t>predefined</a:t>
            </a:r>
            <a:r>
              <a:rPr lang="fr-FR" sz="2000" b="0" i="0" dirty="0">
                <a:solidFill>
                  <a:srgbClr val="ECECEC"/>
                </a:solidFill>
                <a:effectLst/>
                <a:latin typeface="Söhne"/>
              </a:rPr>
              <a:t>, and custom.</a:t>
            </a:r>
          </a:p>
          <a:p>
            <a:pPr algn="l">
              <a:buFont typeface="Arial" panose="020B0604020202020204" pitchFamily="34" charset="0"/>
              <a:buChar char="•"/>
            </a:pPr>
            <a:r>
              <a:rPr lang="fr-FR" sz="2000" b="0" i="0" dirty="0">
                <a:solidFill>
                  <a:srgbClr val="ECECEC"/>
                </a:solidFill>
                <a:effectLst/>
                <a:latin typeface="Söhne"/>
              </a:rPr>
              <a:t>Basic </a:t>
            </a:r>
            <a:r>
              <a:rPr lang="fr-FR" sz="2000" b="0" i="0" dirty="0" err="1">
                <a:solidFill>
                  <a:srgbClr val="ECECEC"/>
                </a:solidFill>
                <a:effectLst/>
                <a:latin typeface="Söhne"/>
              </a:rPr>
              <a:t>roles</a:t>
            </a:r>
            <a:r>
              <a:rPr lang="fr-FR" sz="2000" b="0" i="0" dirty="0">
                <a:solidFill>
                  <a:srgbClr val="ECECEC"/>
                </a:solidFill>
                <a:effectLst/>
                <a:latin typeface="Söhne"/>
              </a:rPr>
              <a:t> have </a:t>
            </a:r>
            <a:r>
              <a:rPr lang="fr-FR" sz="2000" b="0" i="0" dirty="0" err="1">
                <a:solidFill>
                  <a:srgbClr val="ECECEC"/>
                </a:solidFill>
                <a:effectLst/>
                <a:latin typeface="Söhne"/>
              </a:rPr>
              <a:t>broad</a:t>
            </a:r>
            <a:r>
              <a:rPr lang="fr-FR" sz="2000" b="0" i="0" dirty="0">
                <a:solidFill>
                  <a:srgbClr val="ECECEC"/>
                </a:solidFill>
                <a:effectLst/>
                <a:latin typeface="Söhne"/>
              </a:rPr>
              <a:t> scope and affect all </a:t>
            </a:r>
            <a:r>
              <a:rPr lang="fr-FR" sz="2000" b="0" i="0" dirty="0" err="1">
                <a:solidFill>
                  <a:srgbClr val="ECECEC"/>
                </a:solidFill>
                <a:effectLst/>
                <a:latin typeface="Söhne"/>
              </a:rPr>
              <a:t>resources</a:t>
            </a:r>
            <a:r>
              <a:rPr lang="fr-FR" sz="2000" b="0" i="0" dirty="0">
                <a:solidFill>
                  <a:srgbClr val="ECECEC"/>
                </a:solidFill>
                <a:effectLst/>
                <a:latin typeface="Söhne"/>
              </a:rPr>
              <a:t> </a:t>
            </a:r>
            <a:r>
              <a:rPr lang="fr-FR" sz="2000" b="0" i="0" dirty="0" err="1">
                <a:solidFill>
                  <a:srgbClr val="ECECEC"/>
                </a:solidFill>
                <a:effectLst/>
                <a:latin typeface="Söhne"/>
              </a:rPr>
              <a:t>within</a:t>
            </a:r>
            <a:r>
              <a:rPr lang="fr-FR" sz="2000" b="0" i="0" dirty="0">
                <a:solidFill>
                  <a:srgbClr val="ECECEC"/>
                </a:solidFill>
                <a:effectLst/>
                <a:latin typeface="Söhne"/>
              </a:rPr>
              <a:t> a Google Cloud </a:t>
            </a:r>
            <a:r>
              <a:rPr lang="fr-FR" sz="2000" b="0" i="0" dirty="0" err="1">
                <a:solidFill>
                  <a:srgbClr val="ECECEC"/>
                </a:solidFill>
                <a:effectLst/>
                <a:latin typeface="Söhne"/>
              </a:rPr>
              <a:t>project</a:t>
            </a:r>
            <a:r>
              <a:rPr lang="fr-FR" sz="2000" b="0" i="0" dirty="0">
                <a:solidFill>
                  <a:srgbClr val="ECECEC"/>
                </a:solidFill>
                <a:effectLst/>
                <a:latin typeface="Söhne"/>
              </a:rPr>
              <a:t> </a:t>
            </a:r>
            <a:r>
              <a:rPr lang="fr-FR" sz="2000" b="0" i="0" dirty="0" err="1">
                <a:solidFill>
                  <a:srgbClr val="ECECEC"/>
                </a:solidFill>
                <a:effectLst/>
                <a:latin typeface="Söhne"/>
              </a:rPr>
              <a:t>when</a:t>
            </a:r>
            <a:r>
              <a:rPr lang="fr-FR" sz="2000" b="0" i="0" dirty="0">
                <a:solidFill>
                  <a:srgbClr val="ECECEC"/>
                </a:solidFill>
                <a:effectLst/>
                <a:latin typeface="Söhne"/>
              </a:rPr>
              <a:t> </a:t>
            </a:r>
            <a:r>
              <a:rPr lang="fr-FR" sz="2000" b="0" i="0" dirty="0" err="1">
                <a:solidFill>
                  <a:srgbClr val="ECECEC"/>
                </a:solidFill>
                <a:effectLst/>
                <a:latin typeface="Söhne"/>
              </a:rPr>
              <a:t>applied</a:t>
            </a:r>
            <a:r>
              <a:rPr lang="fr-FR" sz="2000" b="0" i="0" dirty="0">
                <a:solidFill>
                  <a:srgbClr val="ECECEC"/>
                </a:solidFill>
                <a:effectLst/>
                <a:latin typeface="Söhne"/>
              </a:rPr>
              <a:t>. </a:t>
            </a:r>
            <a:r>
              <a:rPr lang="fr-FR" sz="2000" b="0" i="0" dirty="0" err="1">
                <a:solidFill>
                  <a:srgbClr val="ECECEC"/>
                </a:solidFill>
                <a:effectLst/>
                <a:latin typeface="Söhne"/>
              </a:rPr>
              <a:t>They</a:t>
            </a:r>
            <a:r>
              <a:rPr lang="fr-FR" sz="2000" b="0" i="0" dirty="0">
                <a:solidFill>
                  <a:srgbClr val="ECECEC"/>
                </a:solidFill>
                <a:effectLst/>
                <a:latin typeface="Söhne"/>
              </a:rPr>
              <a:t> </a:t>
            </a:r>
            <a:r>
              <a:rPr lang="fr-FR" sz="2000" b="0" i="0" dirty="0" err="1">
                <a:solidFill>
                  <a:srgbClr val="ECECEC"/>
                </a:solidFill>
                <a:effectLst/>
                <a:latin typeface="Söhne"/>
              </a:rPr>
              <a:t>include</a:t>
            </a:r>
            <a:r>
              <a:rPr lang="fr-FR" sz="2000" b="0" i="0" dirty="0">
                <a:solidFill>
                  <a:srgbClr val="ECECEC"/>
                </a:solidFill>
                <a:effectLst/>
                <a:latin typeface="Söhne"/>
              </a:rPr>
              <a:t> </a:t>
            </a:r>
            <a:r>
              <a:rPr lang="fr-FR" sz="2000" b="0" i="0" dirty="0" err="1">
                <a:solidFill>
                  <a:srgbClr val="ECECEC"/>
                </a:solidFill>
                <a:effectLst/>
                <a:latin typeface="Söhne"/>
              </a:rPr>
              <a:t>owner</a:t>
            </a:r>
            <a:r>
              <a:rPr lang="fr-FR" sz="2000" b="0" i="0" dirty="0">
                <a:solidFill>
                  <a:srgbClr val="ECECEC"/>
                </a:solidFill>
                <a:effectLst/>
                <a:latin typeface="Söhne"/>
              </a:rPr>
              <a:t>, editor, </a:t>
            </a:r>
            <a:r>
              <a:rPr lang="fr-FR" sz="2000" b="0" i="0" dirty="0" err="1">
                <a:solidFill>
                  <a:srgbClr val="ECECEC"/>
                </a:solidFill>
                <a:effectLst/>
                <a:latin typeface="Söhne"/>
              </a:rPr>
              <a:t>viewer</a:t>
            </a:r>
            <a:r>
              <a:rPr lang="fr-FR" sz="2000" b="0" i="0" dirty="0">
                <a:solidFill>
                  <a:srgbClr val="ECECEC"/>
                </a:solidFill>
                <a:effectLst/>
                <a:latin typeface="Söhne"/>
              </a:rPr>
              <a:t>, and </a:t>
            </a:r>
            <a:r>
              <a:rPr lang="fr-FR" sz="2000" b="0" i="0" dirty="0" err="1">
                <a:solidFill>
                  <a:srgbClr val="ECECEC"/>
                </a:solidFill>
                <a:effectLst/>
                <a:latin typeface="Söhne"/>
              </a:rPr>
              <a:t>billing</a:t>
            </a:r>
            <a:r>
              <a:rPr lang="fr-FR" sz="2000" b="0" i="0" dirty="0">
                <a:solidFill>
                  <a:srgbClr val="ECECEC"/>
                </a:solidFill>
                <a:effectLst/>
                <a:latin typeface="Söhne"/>
              </a:rPr>
              <a:t> </a:t>
            </a:r>
            <a:r>
              <a:rPr lang="fr-FR" sz="2000" b="0" i="0" dirty="0" err="1">
                <a:solidFill>
                  <a:srgbClr val="ECECEC"/>
                </a:solidFill>
                <a:effectLst/>
                <a:latin typeface="Söhne"/>
              </a:rPr>
              <a:t>administrator</a:t>
            </a:r>
            <a:r>
              <a:rPr lang="fr-FR" sz="2000" b="0" i="0" dirty="0">
                <a:solidFill>
                  <a:srgbClr val="ECECEC"/>
                </a:solidFill>
                <a:effectLst/>
                <a:latin typeface="Söhne"/>
              </a:rPr>
              <a:t>.</a:t>
            </a:r>
          </a:p>
          <a:p>
            <a:pPr algn="l">
              <a:buFont typeface="Arial" panose="020B0604020202020204" pitchFamily="34" charset="0"/>
              <a:buChar char="•"/>
            </a:pPr>
            <a:r>
              <a:rPr lang="fr-FR" sz="2000" b="0" i="0" dirty="0" err="1">
                <a:solidFill>
                  <a:srgbClr val="ECECEC"/>
                </a:solidFill>
                <a:effectLst/>
                <a:latin typeface="Söhne"/>
              </a:rPr>
              <a:t>Predefined</a:t>
            </a:r>
            <a:r>
              <a:rPr lang="fr-FR" sz="2000" b="0" i="0" dirty="0">
                <a:solidFill>
                  <a:srgbClr val="ECECEC"/>
                </a:solidFill>
                <a:effectLst/>
                <a:latin typeface="Söhne"/>
              </a:rPr>
              <a:t> </a:t>
            </a:r>
            <a:r>
              <a:rPr lang="fr-FR" sz="2000" b="0" i="0" dirty="0" err="1">
                <a:solidFill>
                  <a:srgbClr val="ECECEC"/>
                </a:solidFill>
                <a:effectLst/>
                <a:latin typeface="Söhne"/>
              </a:rPr>
              <a:t>roles</a:t>
            </a:r>
            <a:r>
              <a:rPr lang="fr-FR" sz="2000" b="0" i="0" dirty="0">
                <a:solidFill>
                  <a:srgbClr val="ECECEC"/>
                </a:solidFill>
                <a:effectLst/>
                <a:latin typeface="Söhne"/>
              </a:rPr>
              <a:t> are </a:t>
            </a:r>
            <a:r>
              <a:rPr lang="fr-FR" sz="2000" b="0" i="0" dirty="0" err="1">
                <a:solidFill>
                  <a:srgbClr val="ECECEC"/>
                </a:solidFill>
                <a:effectLst/>
                <a:latin typeface="Söhne"/>
              </a:rPr>
              <a:t>specific</a:t>
            </a:r>
            <a:r>
              <a:rPr lang="fr-FR" sz="2000" b="0" i="0" dirty="0">
                <a:solidFill>
                  <a:srgbClr val="ECECEC"/>
                </a:solidFill>
                <a:effectLst/>
                <a:latin typeface="Söhne"/>
              </a:rPr>
              <a:t> to certain Google Cloud services and </a:t>
            </a:r>
            <a:r>
              <a:rPr lang="fr-FR" sz="2000" b="0" i="0" dirty="0" err="1">
                <a:solidFill>
                  <a:srgbClr val="ECECEC"/>
                </a:solidFill>
                <a:effectLst/>
                <a:latin typeface="Söhne"/>
              </a:rPr>
              <a:t>define</a:t>
            </a:r>
            <a:r>
              <a:rPr lang="fr-FR" sz="2000" b="0" i="0" dirty="0">
                <a:solidFill>
                  <a:srgbClr val="ECECEC"/>
                </a:solidFill>
                <a:effectLst/>
                <a:latin typeface="Söhne"/>
              </a:rPr>
              <a:t> a set of </a:t>
            </a:r>
            <a:r>
              <a:rPr lang="fr-FR" sz="2000" b="0" i="0" dirty="0" err="1">
                <a:solidFill>
                  <a:srgbClr val="ECECEC"/>
                </a:solidFill>
                <a:effectLst/>
                <a:latin typeface="Söhne"/>
              </a:rPr>
              <a:t>predefined</a:t>
            </a:r>
            <a:r>
              <a:rPr lang="fr-FR" sz="2000" b="0" i="0" dirty="0">
                <a:solidFill>
                  <a:srgbClr val="ECECEC"/>
                </a:solidFill>
                <a:effectLst/>
                <a:latin typeface="Söhne"/>
              </a:rPr>
              <a:t> actions. For </a:t>
            </a:r>
            <a:r>
              <a:rPr lang="fr-FR" sz="2000" b="0" i="0" dirty="0" err="1">
                <a:solidFill>
                  <a:srgbClr val="ECECEC"/>
                </a:solidFill>
                <a:effectLst/>
                <a:latin typeface="Söhne"/>
              </a:rPr>
              <a:t>example</a:t>
            </a:r>
            <a:r>
              <a:rPr lang="fr-FR" sz="2000" b="0" i="0" dirty="0">
                <a:solidFill>
                  <a:srgbClr val="ECECEC"/>
                </a:solidFill>
                <a:effectLst/>
                <a:latin typeface="Söhne"/>
              </a:rPr>
              <a:t>, </a:t>
            </a:r>
            <a:r>
              <a:rPr lang="fr-FR" sz="2000" b="0" i="0" dirty="0" err="1">
                <a:solidFill>
                  <a:srgbClr val="ECECEC"/>
                </a:solidFill>
                <a:effectLst/>
                <a:latin typeface="Söhne"/>
              </a:rPr>
              <a:t>Compute</a:t>
            </a:r>
            <a:r>
              <a:rPr lang="fr-FR" sz="2000" b="0" i="0" dirty="0">
                <a:solidFill>
                  <a:srgbClr val="ECECEC"/>
                </a:solidFill>
                <a:effectLst/>
                <a:latin typeface="Söhne"/>
              </a:rPr>
              <a:t> Engine </a:t>
            </a:r>
            <a:r>
              <a:rPr lang="fr-FR" sz="2000" b="0" i="0" dirty="0" err="1">
                <a:solidFill>
                  <a:srgbClr val="ECECEC"/>
                </a:solidFill>
                <a:effectLst/>
                <a:latin typeface="Söhne"/>
              </a:rPr>
              <a:t>offers</a:t>
            </a:r>
            <a:r>
              <a:rPr lang="fr-FR" sz="2000" b="0" i="0" dirty="0">
                <a:solidFill>
                  <a:srgbClr val="ECECEC"/>
                </a:solidFill>
                <a:effectLst/>
                <a:latin typeface="Söhne"/>
              </a:rPr>
              <a:t> </a:t>
            </a:r>
            <a:r>
              <a:rPr lang="fr-FR" sz="2000" b="0" i="0" dirty="0" err="1">
                <a:solidFill>
                  <a:srgbClr val="ECECEC"/>
                </a:solidFill>
                <a:effectLst/>
                <a:latin typeface="Söhne"/>
              </a:rPr>
              <a:t>predefined</a:t>
            </a:r>
            <a:r>
              <a:rPr lang="fr-FR" sz="2000" b="0" i="0" dirty="0">
                <a:solidFill>
                  <a:srgbClr val="ECECEC"/>
                </a:solidFill>
                <a:effectLst/>
                <a:latin typeface="Söhne"/>
              </a:rPr>
              <a:t> </a:t>
            </a:r>
            <a:r>
              <a:rPr lang="fr-FR" sz="2000" b="0" i="0" dirty="0" err="1">
                <a:solidFill>
                  <a:srgbClr val="ECECEC"/>
                </a:solidFill>
                <a:effectLst/>
                <a:latin typeface="Söhne"/>
              </a:rPr>
              <a:t>roles</a:t>
            </a:r>
            <a:r>
              <a:rPr lang="fr-FR" sz="2000" b="0" i="0" dirty="0">
                <a:solidFill>
                  <a:srgbClr val="ECECEC"/>
                </a:solidFill>
                <a:effectLst/>
                <a:latin typeface="Söhne"/>
              </a:rPr>
              <a:t> like "</a:t>
            </a:r>
            <a:r>
              <a:rPr lang="fr-FR" sz="2000" b="0" i="0" dirty="0" err="1">
                <a:solidFill>
                  <a:srgbClr val="ECECEC"/>
                </a:solidFill>
                <a:effectLst/>
                <a:latin typeface="Söhne"/>
              </a:rPr>
              <a:t>instanceAdmin</a:t>
            </a:r>
            <a:r>
              <a:rPr lang="fr-FR" sz="2000" b="0" i="0" dirty="0">
                <a:solidFill>
                  <a:srgbClr val="ECECEC"/>
                </a:solidFill>
                <a:effectLst/>
                <a:latin typeface="Söhne"/>
              </a:rPr>
              <a:t>" to manage </a:t>
            </a:r>
            <a:r>
              <a:rPr lang="fr-FR" sz="2000" b="0" i="0" dirty="0" err="1">
                <a:solidFill>
                  <a:srgbClr val="ECECEC"/>
                </a:solidFill>
                <a:effectLst/>
                <a:latin typeface="Söhne"/>
              </a:rPr>
              <a:t>specific</a:t>
            </a:r>
            <a:r>
              <a:rPr lang="fr-FR" sz="2000" b="0" i="0" dirty="0">
                <a:solidFill>
                  <a:srgbClr val="ECECEC"/>
                </a:solidFill>
                <a:effectLst/>
                <a:latin typeface="Söhne"/>
              </a:rPr>
              <a:t> </a:t>
            </a:r>
            <a:r>
              <a:rPr lang="fr-FR" sz="2000" b="0" i="0" dirty="0" err="1">
                <a:solidFill>
                  <a:srgbClr val="ECECEC"/>
                </a:solidFill>
                <a:effectLst/>
                <a:latin typeface="Söhne"/>
              </a:rPr>
              <a:t>resources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Custom </a:t>
            </a:r>
            <a:r>
              <a:rPr lang="fr-FR" sz="2000" b="0" i="0" dirty="0" err="1">
                <a:solidFill>
                  <a:srgbClr val="ECECEC"/>
                </a:solidFill>
                <a:effectLst/>
                <a:latin typeface="Söhne"/>
              </a:rPr>
              <a:t>roles</a:t>
            </a:r>
            <a:r>
              <a:rPr lang="fr-FR" sz="2000" b="0" i="0" dirty="0">
                <a:solidFill>
                  <a:srgbClr val="ECECEC"/>
                </a:solidFill>
                <a:effectLst/>
                <a:latin typeface="Söhne"/>
              </a:rPr>
              <a:t> are </a:t>
            </a:r>
            <a:r>
              <a:rPr lang="fr-FR" sz="2000" b="0" i="0" dirty="0" err="1">
                <a:solidFill>
                  <a:srgbClr val="ECECEC"/>
                </a:solidFill>
                <a:effectLst/>
                <a:latin typeface="Söhne"/>
              </a:rPr>
              <a:t>used</a:t>
            </a:r>
            <a:r>
              <a:rPr lang="fr-FR" sz="2000" b="0" i="0" dirty="0">
                <a:solidFill>
                  <a:srgbClr val="ECECEC"/>
                </a:solidFill>
                <a:effectLst/>
                <a:latin typeface="Söhne"/>
              </a:rPr>
              <a:t> to </a:t>
            </a:r>
            <a:r>
              <a:rPr lang="fr-FR" sz="2000" b="0" i="0" dirty="0" err="1">
                <a:solidFill>
                  <a:srgbClr val="ECECEC"/>
                </a:solidFill>
                <a:effectLst/>
                <a:latin typeface="Söhne"/>
              </a:rPr>
              <a:t>assign</a:t>
            </a:r>
            <a:r>
              <a:rPr lang="fr-FR" sz="2000" b="0" i="0" dirty="0">
                <a:solidFill>
                  <a:srgbClr val="ECECEC"/>
                </a:solidFill>
                <a:effectLst/>
                <a:latin typeface="Söhne"/>
              </a:rPr>
              <a:t> more </a:t>
            </a:r>
            <a:r>
              <a:rPr lang="fr-FR" sz="2000" b="0" i="0" dirty="0" err="1">
                <a:solidFill>
                  <a:srgbClr val="ECECEC"/>
                </a:solidFill>
                <a:effectLst/>
                <a:latin typeface="Söhne"/>
              </a:rPr>
              <a:t>specific</a:t>
            </a:r>
            <a:r>
              <a:rPr lang="fr-FR" sz="2000" b="0" i="0" dirty="0">
                <a:solidFill>
                  <a:srgbClr val="ECECEC"/>
                </a:solidFill>
                <a:effectLst/>
                <a:latin typeface="Söhne"/>
              </a:rPr>
              <a:t> permissions </a:t>
            </a:r>
            <a:r>
              <a:rPr lang="fr-FR" sz="2000" b="0" i="0" dirty="0" err="1">
                <a:solidFill>
                  <a:srgbClr val="ECECEC"/>
                </a:solidFill>
                <a:effectLst/>
                <a:latin typeface="Söhne"/>
              </a:rPr>
              <a:t>following</a:t>
            </a:r>
            <a:r>
              <a:rPr lang="fr-FR" sz="2000" b="0" i="0" dirty="0">
                <a:solidFill>
                  <a:srgbClr val="ECECEC"/>
                </a:solidFill>
                <a:effectLst/>
                <a:latin typeface="Söhne"/>
              </a:rPr>
              <a:t> the </a:t>
            </a:r>
            <a:r>
              <a:rPr lang="fr-FR" sz="2000" b="0" i="0" dirty="0" err="1">
                <a:solidFill>
                  <a:srgbClr val="ECECEC"/>
                </a:solidFill>
                <a:effectLst/>
                <a:latin typeface="Söhne"/>
              </a:rPr>
              <a:t>principle</a:t>
            </a:r>
            <a:r>
              <a:rPr lang="fr-FR" sz="2000" b="0" i="0" dirty="0">
                <a:solidFill>
                  <a:srgbClr val="ECECEC"/>
                </a:solidFill>
                <a:effectLst/>
                <a:latin typeface="Söhne"/>
              </a:rPr>
              <a:t> of "least </a:t>
            </a:r>
            <a:r>
              <a:rPr lang="fr-FR" sz="2000" b="0" i="0" dirty="0" err="1">
                <a:solidFill>
                  <a:srgbClr val="ECECEC"/>
                </a:solidFill>
                <a:effectLst/>
                <a:latin typeface="Söhne"/>
              </a:rPr>
              <a:t>privilege</a:t>
            </a:r>
            <a:r>
              <a:rPr lang="fr-FR" sz="2000" b="0" i="0" dirty="0">
                <a:solidFill>
                  <a:srgbClr val="ECECEC"/>
                </a:solidFill>
                <a:effectLst/>
                <a:latin typeface="Söhne"/>
              </a:rPr>
              <a:t>." For </a:t>
            </a:r>
            <a:r>
              <a:rPr lang="fr-FR" sz="2000" b="0" i="0" dirty="0" err="1">
                <a:solidFill>
                  <a:srgbClr val="ECECEC"/>
                </a:solidFill>
                <a:effectLst/>
                <a:latin typeface="Söhne"/>
              </a:rPr>
              <a:t>example</a:t>
            </a:r>
            <a:r>
              <a:rPr lang="fr-FR" sz="2000" b="0" i="0" dirty="0">
                <a:solidFill>
                  <a:srgbClr val="ECECEC"/>
                </a:solidFill>
                <a:effectLst/>
                <a:latin typeface="Söhne"/>
              </a:rPr>
              <a:t>, </a:t>
            </a:r>
            <a:r>
              <a:rPr lang="fr-FR" sz="2000" b="0" i="0" dirty="0" err="1">
                <a:solidFill>
                  <a:srgbClr val="ECECEC"/>
                </a:solidFill>
                <a:effectLst/>
                <a:latin typeface="Söhne"/>
              </a:rPr>
              <a:t>creating</a:t>
            </a:r>
            <a:r>
              <a:rPr lang="fr-FR" sz="2000" b="0" i="0" dirty="0">
                <a:solidFill>
                  <a:srgbClr val="ECECEC"/>
                </a:solidFill>
                <a:effectLst/>
                <a:latin typeface="Söhne"/>
              </a:rPr>
              <a:t> an "</a:t>
            </a:r>
            <a:r>
              <a:rPr lang="fr-FR" sz="2000" b="0" i="0" dirty="0" err="1">
                <a:solidFill>
                  <a:srgbClr val="ECECEC"/>
                </a:solidFill>
                <a:effectLst/>
                <a:latin typeface="Söhne"/>
              </a:rPr>
              <a:t>instanceOperator</a:t>
            </a:r>
            <a:r>
              <a:rPr lang="fr-FR" sz="2000" b="0" i="0" dirty="0">
                <a:solidFill>
                  <a:srgbClr val="ECECEC"/>
                </a:solidFill>
                <a:effectLst/>
                <a:latin typeface="Söhne"/>
              </a:rPr>
              <a:t>" </a:t>
            </a:r>
            <a:r>
              <a:rPr lang="fr-FR" sz="2000" b="0" i="0" dirty="0" err="1">
                <a:solidFill>
                  <a:srgbClr val="ECECEC"/>
                </a:solidFill>
                <a:effectLst/>
                <a:latin typeface="Söhne"/>
              </a:rPr>
              <a:t>role</a:t>
            </a:r>
            <a:r>
              <a:rPr lang="fr-FR" sz="2000" b="0" i="0" dirty="0">
                <a:solidFill>
                  <a:srgbClr val="ECECEC"/>
                </a:solidFill>
                <a:effectLst/>
                <a:latin typeface="Söhne"/>
              </a:rPr>
              <a:t> to </a:t>
            </a:r>
            <a:r>
              <a:rPr lang="fr-FR" sz="2000" b="0" i="0" dirty="0" err="1">
                <a:solidFill>
                  <a:srgbClr val="ECECEC"/>
                </a:solidFill>
                <a:effectLst/>
                <a:latin typeface="Söhne"/>
              </a:rPr>
              <a:t>allow</a:t>
            </a:r>
            <a:r>
              <a:rPr lang="fr-FR" sz="2000" b="0" i="0" dirty="0">
                <a:solidFill>
                  <a:srgbClr val="ECECEC"/>
                </a:solidFill>
                <a:effectLst/>
                <a:latin typeface="Söhne"/>
              </a:rPr>
              <a:t> certain </a:t>
            </a:r>
            <a:r>
              <a:rPr lang="fr-FR" sz="2000" b="0" i="0" dirty="0" err="1">
                <a:solidFill>
                  <a:srgbClr val="ECECEC"/>
                </a:solidFill>
                <a:effectLst/>
                <a:latin typeface="Söhne"/>
              </a:rPr>
              <a:t>users</a:t>
            </a:r>
            <a:r>
              <a:rPr lang="fr-FR" sz="2000" b="0" i="0" dirty="0">
                <a:solidFill>
                  <a:srgbClr val="ECECEC"/>
                </a:solidFill>
                <a:effectLst/>
                <a:latin typeface="Söhne"/>
              </a:rPr>
              <a:t> to manage </a:t>
            </a:r>
            <a:r>
              <a:rPr lang="fr-FR" sz="2000" b="0" i="0" dirty="0" err="1">
                <a:solidFill>
                  <a:srgbClr val="ECECEC"/>
                </a:solidFill>
                <a:effectLst/>
                <a:latin typeface="Söhne"/>
              </a:rPr>
              <a:t>virtual</a:t>
            </a:r>
            <a:r>
              <a:rPr lang="fr-FR" sz="2000" b="0" i="0" dirty="0">
                <a:solidFill>
                  <a:srgbClr val="ECECEC"/>
                </a:solidFill>
                <a:effectLst/>
                <a:latin typeface="Söhne"/>
              </a:rPr>
              <a:t> machines </a:t>
            </a:r>
            <a:r>
              <a:rPr lang="fr-FR" sz="2000" b="0" i="0" dirty="0" err="1">
                <a:solidFill>
                  <a:srgbClr val="ECECEC"/>
                </a:solidFill>
                <a:effectLst/>
                <a:latin typeface="Söhne"/>
              </a:rPr>
              <a:t>without</a:t>
            </a:r>
            <a:r>
              <a:rPr lang="fr-FR" sz="2000" b="0" i="0" dirty="0">
                <a:solidFill>
                  <a:srgbClr val="ECECEC"/>
                </a:solidFill>
                <a:effectLst/>
                <a:latin typeface="Söhne"/>
              </a:rPr>
              <a:t> the </a:t>
            </a:r>
            <a:r>
              <a:rPr lang="fr-FR" sz="2000" b="0" i="0" dirty="0" err="1">
                <a:solidFill>
                  <a:srgbClr val="ECECEC"/>
                </a:solidFill>
                <a:effectLst/>
                <a:latin typeface="Söhne"/>
              </a:rPr>
              <a:t>ability</a:t>
            </a:r>
            <a:r>
              <a:rPr lang="fr-FR" sz="2000" b="0" i="0" dirty="0">
                <a:solidFill>
                  <a:srgbClr val="ECECEC"/>
                </a:solidFill>
                <a:effectLst/>
                <a:latin typeface="Söhne"/>
              </a:rPr>
              <a:t> to reconfigure </a:t>
            </a:r>
            <a:r>
              <a:rPr lang="fr-FR" sz="2000" b="0" i="0" dirty="0" err="1">
                <a:solidFill>
                  <a:srgbClr val="ECECEC"/>
                </a:solidFill>
                <a:effectLst/>
                <a:latin typeface="Söhne"/>
              </a:rPr>
              <a:t>them</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Service </a:t>
            </a:r>
            <a:r>
              <a:rPr lang="fr-FR" sz="2000" b="0" i="0" dirty="0" err="1">
                <a:solidFill>
                  <a:srgbClr val="ECECEC"/>
                </a:solidFill>
                <a:effectLst/>
                <a:latin typeface="Söhne"/>
              </a:rPr>
              <a:t>accounts</a:t>
            </a:r>
            <a:r>
              <a:rPr lang="fr-FR" sz="2000" b="0" i="0" dirty="0">
                <a:solidFill>
                  <a:srgbClr val="ECECEC"/>
                </a:solidFill>
                <a:effectLst/>
                <a:latin typeface="Söhne"/>
              </a:rPr>
              <a:t> are </a:t>
            </a:r>
            <a:r>
              <a:rPr lang="fr-FR" sz="2000" b="0" i="0" dirty="0" err="1">
                <a:solidFill>
                  <a:srgbClr val="ECECEC"/>
                </a:solidFill>
                <a:effectLst/>
                <a:latin typeface="Söhne"/>
              </a:rPr>
              <a:t>used</a:t>
            </a:r>
            <a:r>
              <a:rPr lang="fr-FR" sz="2000" b="0" i="0" dirty="0">
                <a:solidFill>
                  <a:srgbClr val="ECECEC"/>
                </a:solidFill>
                <a:effectLst/>
                <a:latin typeface="Söhne"/>
              </a:rPr>
              <a:t> to </a:t>
            </a:r>
            <a:r>
              <a:rPr lang="fr-FR" sz="2000" b="0" i="0" dirty="0" err="1">
                <a:solidFill>
                  <a:srgbClr val="ECECEC"/>
                </a:solidFill>
                <a:effectLst/>
                <a:latin typeface="Söhne"/>
              </a:rPr>
              <a:t>authenticate</a:t>
            </a:r>
            <a:r>
              <a:rPr lang="fr-FR" sz="2000" b="0" i="0" dirty="0">
                <a:solidFill>
                  <a:srgbClr val="ECECEC"/>
                </a:solidFill>
                <a:effectLst/>
                <a:latin typeface="Söhne"/>
              </a:rPr>
              <a:t> </a:t>
            </a:r>
            <a:r>
              <a:rPr lang="fr-FR" sz="2000" b="0" i="0" dirty="0" err="1">
                <a:solidFill>
                  <a:srgbClr val="ECECEC"/>
                </a:solidFill>
                <a:effectLst/>
                <a:latin typeface="Söhne"/>
              </a:rPr>
              <a:t>virtual</a:t>
            </a:r>
            <a:r>
              <a:rPr lang="fr-FR" sz="2000" b="0" i="0" dirty="0">
                <a:solidFill>
                  <a:srgbClr val="ECECEC"/>
                </a:solidFill>
                <a:effectLst/>
                <a:latin typeface="Söhne"/>
              </a:rPr>
              <a:t> machines </a:t>
            </a:r>
            <a:r>
              <a:rPr lang="fr-FR" sz="2000" b="0" i="0" dirty="0" err="1">
                <a:solidFill>
                  <a:srgbClr val="ECECEC"/>
                </a:solidFill>
                <a:effectLst/>
                <a:latin typeface="Söhne"/>
              </a:rPr>
              <a:t>with</a:t>
            </a:r>
            <a:r>
              <a:rPr lang="fr-FR" sz="2000" b="0" i="0" dirty="0">
                <a:solidFill>
                  <a:srgbClr val="ECECEC"/>
                </a:solidFill>
                <a:effectLst/>
                <a:latin typeface="Söhne"/>
              </a:rPr>
              <a:t> Google Cloud services. </a:t>
            </a:r>
            <a:r>
              <a:rPr lang="fr-FR" sz="2000" b="0" i="0" dirty="0" err="1">
                <a:solidFill>
                  <a:srgbClr val="ECECEC"/>
                </a:solidFill>
                <a:effectLst/>
                <a:latin typeface="Söhne"/>
              </a:rPr>
              <a:t>They</a:t>
            </a:r>
            <a:r>
              <a:rPr lang="fr-FR" sz="2000" b="0" i="0" dirty="0">
                <a:solidFill>
                  <a:srgbClr val="ECECEC"/>
                </a:solidFill>
                <a:effectLst/>
                <a:latin typeface="Söhne"/>
              </a:rPr>
              <a:t> are </a:t>
            </a:r>
            <a:r>
              <a:rPr lang="fr-FR" sz="2000" b="0" i="0" dirty="0" err="1">
                <a:solidFill>
                  <a:srgbClr val="ECECEC"/>
                </a:solidFill>
                <a:effectLst/>
                <a:latin typeface="Söhne"/>
              </a:rPr>
              <a:t>associated</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an email </a:t>
            </a:r>
            <a:r>
              <a:rPr lang="fr-FR" sz="2000" b="0" i="0" dirty="0" err="1">
                <a:solidFill>
                  <a:srgbClr val="ECECEC"/>
                </a:solidFill>
                <a:effectLst/>
                <a:latin typeface="Söhne"/>
              </a:rPr>
              <a:t>address</a:t>
            </a:r>
            <a:r>
              <a:rPr lang="fr-FR" sz="2000" b="0" i="0" dirty="0">
                <a:solidFill>
                  <a:srgbClr val="ECECEC"/>
                </a:solidFill>
                <a:effectLst/>
                <a:latin typeface="Söhne"/>
              </a:rPr>
              <a:t> and use </a:t>
            </a:r>
            <a:r>
              <a:rPr lang="fr-FR" sz="2000" b="0" i="0" dirty="0" err="1">
                <a:solidFill>
                  <a:srgbClr val="ECECEC"/>
                </a:solidFill>
                <a:effectLst/>
                <a:latin typeface="Söhne"/>
              </a:rPr>
              <a:t>cryptographic</a:t>
            </a:r>
            <a:r>
              <a:rPr lang="fr-FR" sz="2000" b="0" i="0" dirty="0">
                <a:solidFill>
                  <a:srgbClr val="ECECEC"/>
                </a:solidFill>
                <a:effectLst/>
                <a:latin typeface="Söhne"/>
              </a:rPr>
              <a:t> keys to </a:t>
            </a:r>
            <a:r>
              <a:rPr lang="fr-FR" sz="2000" b="0" i="0" dirty="0" err="1">
                <a:solidFill>
                  <a:srgbClr val="ECECEC"/>
                </a:solidFill>
                <a:effectLst/>
                <a:latin typeface="Söhne"/>
              </a:rPr>
              <a:t>access</a:t>
            </a:r>
            <a:r>
              <a:rPr lang="fr-FR" sz="2000" b="0" i="0" dirty="0">
                <a:solidFill>
                  <a:srgbClr val="ECECEC"/>
                </a:solidFill>
                <a:effectLst/>
                <a:latin typeface="Söhne"/>
              </a:rPr>
              <a:t> </a:t>
            </a:r>
            <a:r>
              <a:rPr lang="fr-FR" sz="2000" b="0" i="0" dirty="0" err="1">
                <a:solidFill>
                  <a:srgbClr val="ECECEC"/>
                </a:solidFill>
                <a:effectLst/>
                <a:latin typeface="Söhne"/>
              </a:rPr>
              <a:t>resources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roles</a:t>
            </a:r>
            <a:r>
              <a:rPr lang="fr-FR" sz="2000" b="0" i="0" dirty="0">
                <a:solidFill>
                  <a:srgbClr val="ECECEC"/>
                </a:solidFill>
                <a:effectLst/>
                <a:latin typeface="Söhne"/>
              </a:rPr>
              <a:t> </a:t>
            </a:r>
            <a:r>
              <a:rPr lang="fr-FR" sz="2000" b="0" i="0" dirty="0" err="1">
                <a:solidFill>
                  <a:srgbClr val="ECECEC"/>
                </a:solidFill>
                <a:effectLst/>
                <a:latin typeface="Söhne"/>
              </a:rPr>
              <a:t>assigned</a:t>
            </a:r>
            <a:r>
              <a:rPr lang="fr-FR" sz="2000" b="0" i="0" dirty="0">
                <a:solidFill>
                  <a:srgbClr val="ECECEC"/>
                </a:solidFill>
                <a:effectLst/>
                <a:latin typeface="Söhne"/>
              </a:rPr>
              <a:t> to a service </a:t>
            </a:r>
            <a:r>
              <a:rPr lang="fr-FR" sz="2000" b="0" i="0" dirty="0" err="1">
                <a:solidFill>
                  <a:srgbClr val="ECECEC"/>
                </a:solidFill>
                <a:effectLst/>
                <a:latin typeface="Söhne"/>
              </a:rPr>
              <a:t>account</a:t>
            </a:r>
            <a:r>
              <a:rPr lang="fr-FR" sz="2000" b="0" i="0" dirty="0">
                <a:solidFill>
                  <a:srgbClr val="ECECEC"/>
                </a:solidFill>
                <a:effectLst/>
                <a:latin typeface="Söhne"/>
              </a:rPr>
              <a:t> </a:t>
            </a:r>
            <a:r>
              <a:rPr lang="fr-FR" sz="2000" b="0" i="0" dirty="0" err="1">
                <a:solidFill>
                  <a:srgbClr val="ECECEC"/>
                </a:solidFill>
                <a:effectLst/>
                <a:latin typeface="Söhne"/>
              </a:rPr>
              <a:t>determine</a:t>
            </a:r>
            <a:r>
              <a:rPr lang="fr-FR" sz="2000" b="0" i="0" dirty="0">
                <a:solidFill>
                  <a:srgbClr val="ECECEC"/>
                </a:solidFill>
                <a:effectLst/>
                <a:latin typeface="Söhne"/>
              </a:rPr>
              <a:t> the actions </a:t>
            </a:r>
            <a:r>
              <a:rPr lang="fr-FR" sz="2000" b="0" i="0" dirty="0" err="1">
                <a:solidFill>
                  <a:srgbClr val="ECECEC"/>
                </a:solidFill>
                <a:effectLst/>
                <a:latin typeface="Söhne"/>
              </a:rPr>
              <a:t>that</a:t>
            </a:r>
            <a:r>
              <a:rPr lang="fr-FR" sz="2000" b="0" i="0" dirty="0">
                <a:solidFill>
                  <a:srgbClr val="ECECEC"/>
                </a:solidFill>
                <a:effectLst/>
                <a:latin typeface="Söhne"/>
              </a:rPr>
              <a:t> an application running on a </a:t>
            </a:r>
            <a:r>
              <a:rPr lang="fr-FR" sz="2000" b="0" i="0" dirty="0" err="1">
                <a:solidFill>
                  <a:srgbClr val="ECECEC"/>
                </a:solidFill>
                <a:effectLst/>
                <a:latin typeface="Söhne"/>
              </a:rPr>
              <a:t>virtual</a:t>
            </a:r>
            <a:r>
              <a:rPr lang="fr-FR" sz="2000" b="0" i="0" dirty="0">
                <a:solidFill>
                  <a:srgbClr val="ECECEC"/>
                </a:solidFill>
                <a:effectLst/>
                <a:latin typeface="Söhne"/>
              </a:rPr>
              <a:t> machine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that</a:t>
            </a:r>
            <a:r>
              <a:rPr lang="fr-FR" sz="2000" b="0" i="0" dirty="0">
                <a:solidFill>
                  <a:srgbClr val="ECECEC"/>
                </a:solidFill>
                <a:effectLst/>
                <a:latin typeface="Söhne"/>
              </a:rPr>
              <a:t> </a:t>
            </a:r>
            <a:r>
              <a:rPr lang="fr-FR" sz="2000" b="0" i="0" dirty="0" err="1">
                <a:solidFill>
                  <a:srgbClr val="ECECEC"/>
                </a:solidFill>
                <a:effectLst/>
                <a:latin typeface="Söhne"/>
              </a:rPr>
              <a:t>account</a:t>
            </a:r>
            <a:r>
              <a:rPr lang="fr-FR" sz="2000" b="0" i="0" dirty="0">
                <a:solidFill>
                  <a:srgbClr val="ECECEC"/>
                </a:solidFill>
                <a:effectLst/>
                <a:latin typeface="Söhne"/>
              </a:rPr>
              <a:t> can </a:t>
            </a:r>
            <a:r>
              <a:rPr lang="fr-FR" sz="2000" b="0" i="0" dirty="0" err="1">
                <a:solidFill>
                  <a:srgbClr val="ECECEC"/>
                </a:solidFill>
                <a:effectLst/>
                <a:latin typeface="Söhne"/>
              </a:rPr>
              <a:t>perform</a:t>
            </a:r>
            <a:r>
              <a:rPr lang="fr-FR" sz="2000" b="0" i="0" dirty="0">
                <a:solidFill>
                  <a:srgbClr val="ECECEC"/>
                </a:solidFill>
                <a:effectLst/>
                <a:latin typeface="Söhne"/>
              </a:rPr>
              <a:t>, </a:t>
            </a:r>
            <a:r>
              <a:rPr lang="fr-FR" sz="2000" b="0" i="0" dirty="0" err="1">
                <a:solidFill>
                  <a:srgbClr val="ECECEC"/>
                </a:solidFill>
                <a:effectLst/>
                <a:latin typeface="Söhne"/>
              </a:rPr>
              <a:t>such</a:t>
            </a:r>
            <a:r>
              <a:rPr lang="fr-FR" sz="2000" b="0" i="0" dirty="0">
                <a:solidFill>
                  <a:srgbClr val="ECECEC"/>
                </a:solidFill>
                <a:effectLst/>
                <a:latin typeface="Söhne"/>
              </a:rPr>
              <a:t> as </a:t>
            </a:r>
            <a:r>
              <a:rPr lang="fr-FR" sz="2000" b="0" i="0" dirty="0" err="1">
                <a:solidFill>
                  <a:srgbClr val="ECECEC"/>
                </a:solidFill>
                <a:effectLst/>
                <a:latin typeface="Söhne"/>
              </a:rPr>
              <a:t>creating</a:t>
            </a:r>
            <a:r>
              <a:rPr lang="fr-FR" sz="2000" b="0" i="0" dirty="0">
                <a:solidFill>
                  <a:srgbClr val="ECECEC"/>
                </a:solidFill>
                <a:effectLst/>
                <a:latin typeface="Söhne"/>
              </a:rPr>
              <a:t>, </a:t>
            </a:r>
            <a:r>
              <a:rPr lang="fr-FR" sz="2000" b="0" i="0" dirty="0" err="1">
                <a:solidFill>
                  <a:srgbClr val="ECECEC"/>
                </a:solidFill>
                <a:effectLst/>
                <a:latin typeface="Söhne"/>
              </a:rPr>
              <a:t>modifying</a:t>
            </a:r>
            <a:r>
              <a:rPr lang="fr-FR" sz="2000" b="0" i="0" dirty="0">
                <a:solidFill>
                  <a:srgbClr val="ECECEC"/>
                </a:solidFill>
                <a:effectLst/>
                <a:latin typeface="Söhne"/>
              </a:rPr>
              <a:t>, or </a:t>
            </a:r>
            <a:r>
              <a:rPr lang="fr-FR" sz="2000" b="0" i="0" dirty="0" err="1">
                <a:solidFill>
                  <a:srgbClr val="ECECEC"/>
                </a:solidFill>
                <a:effectLst/>
                <a:latin typeface="Söhne"/>
              </a:rPr>
              <a:t>deleting</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a:t>
            </a:r>
            <a:r>
              <a:rPr lang="fr-FR" sz="2000" b="0" i="0" dirty="0" err="1">
                <a:solidFill>
                  <a:srgbClr val="ECECEC"/>
                </a:solidFill>
                <a:effectLst/>
                <a:latin typeface="Söhne"/>
              </a:rPr>
              <a:t>virtual</a:t>
            </a:r>
            <a:r>
              <a:rPr lang="fr-FR" sz="2000" b="0" i="0" dirty="0">
                <a:solidFill>
                  <a:srgbClr val="ECECEC"/>
                </a:solidFill>
                <a:effectLst/>
                <a:latin typeface="Söhne"/>
              </a:rPr>
              <a:t> machines.</a:t>
            </a:r>
          </a:p>
        </p:txBody>
      </p:sp>
    </p:spTree>
    <p:extLst>
      <p:ext uri="{BB962C8B-B14F-4D97-AF65-F5344CB8AC3E}">
        <p14:creationId xmlns:p14="http://schemas.microsoft.com/office/powerpoint/2010/main" val="813566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34632" y="151635"/>
            <a:ext cx="11530647" cy="1293028"/>
          </a:xfrm>
        </p:spPr>
        <p:txBody>
          <a:bodyPr>
            <a:normAutofit/>
          </a:bodyPr>
          <a:lstStyle/>
          <a:p>
            <a:pPr algn="l"/>
            <a:r>
              <a:rPr lang="fr-FR" sz="3200" dirty="0"/>
              <a:t>IAM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561581"/>
            <a:ext cx="10351747" cy="4578728"/>
          </a:xfrm>
        </p:spPr>
        <p:txBody>
          <a:bodyPr>
            <a:normAutofit/>
          </a:bodyPr>
          <a:lstStyle/>
          <a:p>
            <a:pPr marL="0" indent="0">
              <a:buNone/>
            </a:pPr>
            <a:r>
              <a:rPr lang="fr-FR" sz="1800" dirty="0">
                <a:latin typeface="Roboto" panose="02000000000000000000" pitchFamily="2" charset="0"/>
              </a:rPr>
              <a:t>QUIZ : </a:t>
            </a:r>
          </a:p>
          <a:p>
            <a:r>
              <a:rPr lang="fr-FR" sz="1800" dirty="0" err="1">
                <a:effectLst/>
                <a:latin typeface="Roboto" panose="02000000000000000000" pitchFamily="2" charset="0"/>
              </a:rPr>
              <a:t>Choose</a:t>
            </a:r>
            <a:r>
              <a:rPr lang="fr-FR" sz="1800" dirty="0">
                <a:effectLst/>
                <a:latin typeface="Roboto" panose="02000000000000000000" pitchFamily="2" charset="0"/>
              </a:rPr>
              <a:t> the correct </a:t>
            </a:r>
            <a:r>
              <a:rPr lang="fr-FR" sz="1800" dirty="0" err="1">
                <a:effectLst/>
                <a:latin typeface="Roboto" panose="02000000000000000000" pitchFamily="2" charset="0"/>
              </a:rPr>
              <a:t>completion</a:t>
            </a:r>
            <a:r>
              <a:rPr lang="fr-FR" sz="1800" dirty="0">
                <a:effectLst/>
                <a:latin typeface="Roboto" panose="02000000000000000000" pitchFamily="2" charset="0"/>
              </a:rPr>
              <a:t>: Services and APIs are </a:t>
            </a:r>
            <a:r>
              <a:rPr lang="fr-FR" sz="1800" dirty="0" err="1">
                <a:effectLst/>
                <a:latin typeface="Roboto" panose="02000000000000000000" pitchFamily="2" charset="0"/>
              </a:rPr>
              <a:t>enabled</a:t>
            </a:r>
            <a:r>
              <a:rPr lang="fr-FR" sz="1800" dirty="0">
                <a:effectLst/>
                <a:latin typeface="Roboto" panose="02000000000000000000" pitchFamily="2" charset="0"/>
              </a:rPr>
              <a:t> on a per-__________ basis. </a:t>
            </a:r>
            <a:endParaRPr lang="fr-FR" sz="1400" dirty="0"/>
          </a:p>
          <a:p>
            <a:pPr lvl="1"/>
            <a:r>
              <a:rPr lang="fr-FR" sz="1600" dirty="0">
                <a:effectLst/>
                <a:latin typeface="Roboto" panose="02000000000000000000" pitchFamily="2" charset="0"/>
              </a:rPr>
              <a:t>A: Folder</a:t>
            </a:r>
          </a:p>
          <a:p>
            <a:pPr lvl="1"/>
            <a:r>
              <a:rPr lang="fr-FR" sz="1600" b="1" dirty="0">
                <a:effectLst/>
                <a:latin typeface="Roboto" panose="02000000000000000000" pitchFamily="2" charset="0"/>
              </a:rPr>
              <a:t>B: Project </a:t>
            </a:r>
            <a:endParaRPr lang="fr-FR" sz="1200" dirty="0"/>
          </a:p>
          <a:p>
            <a:pPr lvl="1"/>
            <a:r>
              <a:rPr lang="fr-FR" sz="1600" dirty="0">
                <a:effectLst/>
                <a:latin typeface="Roboto" panose="02000000000000000000" pitchFamily="2" charset="0"/>
              </a:rPr>
              <a:t>C: </a:t>
            </a:r>
            <a:r>
              <a:rPr lang="fr-FR" sz="1600" dirty="0" err="1">
                <a:effectLst/>
                <a:latin typeface="Roboto" panose="02000000000000000000" pitchFamily="2" charset="0"/>
              </a:rPr>
              <a:t>Organization</a:t>
            </a:r>
            <a:endParaRPr lang="fr-FR" sz="1600" dirty="0">
              <a:latin typeface="Roboto" panose="02000000000000000000" pitchFamily="2" charset="0"/>
            </a:endParaRPr>
          </a:p>
          <a:p>
            <a:pPr lvl="1"/>
            <a:r>
              <a:rPr lang="fr-FR" sz="1600" dirty="0">
                <a:effectLst/>
                <a:latin typeface="Roboto" panose="02000000000000000000" pitchFamily="2" charset="0"/>
              </a:rPr>
              <a:t>D: </a:t>
            </a:r>
            <a:r>
              <a:rPr lang="fr-FR" sz="1600" dirty="0" err="1">
                <a:effectLst/>
                <a:latin typeface="Roboto" panose="02000000000000000000" pitchFamily="2" charset="0"/>
              </a:rPr>
              <a:t>Billing</a:t>
            </a:r>
            <a:r>
              <a:rPr lang="fr-FR" sz="1600" dirty="0">
                <a:effectLst/>
                <a:latin typeface="Roboto" panose="02000000000000000000" pitchFamily="2" charset="0"/>
              </a:rPr>
              <a:t> </a:t>
            </a:r>
            <a:r>
              <a:rPr lang="fr-FR" sz="1600" dirty="0" err="1">
                <a:effectLst/>
                <a:latin typeface="Roboto" panose="02000000000000000000" pitchFamily="2" charset="0"/>
              </a:rPr>
              <a:t>account</a:t>
            </a:r>
            <a:br>
              <a:rPr lang="fr-FR" sz="1600" dirty="0">
                <a:effectLst/>
                <a:latin typeface="Roboto" panose="02000000000000000000" pitchFamily="2" charset="0"/>
              </a:rPr>
            </a:br>
            <a:endParaRPr lang="fr-FR" sz="800" dirty="0"/>
          </a:p>
          <a:p>
            <a:pPr marL="0" indent="0">
              <a:buNone/>
            </a:pPr>
            <a:r>
              <a:rPr lang="fr-FR" sz="1800" dirty="0">
                <a:latin typeface="Roboto" panose="02000000000000000000" pitchFamily="2" charset="0"/>
              </a:rPr>
              <a:t>QUIZ 2</a:t>
            </a:r>
          </a:p>
          <a:p>
            <a:r>
              <a:rPr lang="fr-FR" sz="1800" dirty="0" err="1">
                <a:effectLst/>
                <a:latin typeface="Roboto" panose="02000000000000000000" pitchFamily="2" charset="0"/>
              </a:rPr>
              <a:t>Order</a:t>
            </a:r>
            <a:r>
              <a:rPr lang="fr-FR" sz="1800" dirty="0">
                <a:effectLst/>
                <a:latin typeface="Roboto" panose="02000000000000000000" pitchFamily="2" charset="0"/>
              </a:rPr>
              <a:t> </a:t>
            </a:r>
            <a:r>
              <a:rPr lang="fr-FR" sz="1800" dirty="0" err="1">
                <a:effectLst/>
                <a:latin typeface="Roboto" panose="02000000000000000000" pitchFamily="2" charset="0"/>
              </a:rPr>
              <a:t>these</a:t>
            </a:r>
            <a:r>
              <a:rPr lang="fr-FR" sz="1800" dirty="0">
                <a:effectLst/>
                <a:latin typeface="Roboto" panose="02000000000000000000" pitchFamily="2" charset="0"/>
              </a:rPr>
              <a:t> IAM </a:t>
            </a:r>
            <a:r>
              <a:rPr lang="fr-FR" sz="1800" dirty="0" err="1">
                <a:effectLst/>
                <a:latin typeface="Roboto" panose="02000000000000000000" pitchFamily="2" charset="0"/>
              </a:rPr>
              <a:t>role</a:t>
            </a:r>
            <a:r>
              <a:rPr lang="fr-FR" sz="1800" dirty="0">
                <a:effectLst/>
                <a:latin typeface="Roboto" panose="02000000000000000000" pitchFamily="2" charset="0"/>
              </a:rPr>
              <a:t> types </a:t>
            </a:r>
            <a:r>
              <a:rPr lang="fr-FR" sz="1800" dirty="0" err="1">
                <a:effectLst/>
                <a:latin typeface="Roboto" panose="02000000000000000000" pitchFamily="2" charset="0"/>
              </a:rPr>
              <a:t>from</a:t>
            </a:r>
            <a:r>
              <a:rPr lang="fr-FR" sz="1800" dirty="0">
                <a:effectLst/>
                <a:latin typeface="Roboto" panose="02000000000000000000" pitchFamily="2" charset="0"/>
              </a:rPr>
              <a:t> </a:t>
            </a:r>
            <a:r>
              <a:rPr lang="fr-FR" sz="1800" dirty="0" err="1">
                <a:effectLst/>
                <a:latin typeface="Roboto" panose="02000000000000000000" pitchFamily="2" charset="0"/>
              </a:rPr>
              <a:t>broadest</a:t>
            </a:r>
            <a:r>
              <a:rPr lang="fr-FR" sz="1800" dirty="0">
                <a:effectLst/>
                <a:latin typeface="Roboto" panose="02000000000000000000" pitchFamily="2" charset="0"/>
              </a:rPr>
              <a:t> to </a:t>
            </a:r>
            <a:r>
              <a:rPr lang="fr-FR" sz="1800" dirty="0" err="1">
                <a:effectLst/>
                <a:latin typeface="Roboto" panose="02000000000000000000" pitchFamily="2" charset="0"/>
              </a:rPr>
              <a:t>finest-grained</a:t>
            </a:r>
            <a:r>
              <a:rPr lang="fr-FR" sz="1800" dirty="0">
                <a:effectLst/>
                <a:latin typeface="Roboto" panose="02000000000000000000" pitchFamily="2" charset="0"/>
              </a:rPr>
              <a:t>. </a:t>
            </a:r>
            <a:endParaRPr lang="fr-FR" sz="800" dirty="0"/>
          </a:p>
          <a:p>
            <a:pPr lvl="1"/>
            <a:r>
              <a:rPr lang="fr-FR" sz="1600" dirty="0">
                <a:effectLst/>
                <a:latin typeface="Roboto" panose="02000000000000000000" pitchFamily="2" charset="0"/>
              </a:rPr>
              <a:t>A: Custom </a:t>
            </a:r>
            <a:r>
              <a:rPr lang="fr-FR" sz="1600" dirty="0" err="1">
                <a:effectLst/>
                <a:latin typeface="Roboto" panose="02000000000000000000" pitchFamily="2" charset="0"/>
              </a:rPr>
              <a:t>roles</a:t>
            </a:r>
            <a:r>
              <a:rPr lang="fr-FR" sz="1600" dirty="0">
                <a:effectLst/>
                <a:latin typeface="Roboto" panose="02000000000000000000" pitchFamily="2" charset="0"/>
              </a:rPr>
              <a:t>, </a:t>
            </a:r>
            <a:r>
              <a:rPr lang="fr-FR" sz="1600" dirty="0" err="1">
                <a:effectLst/>
                <a:latin typeface="Roboto" panose="02000000000000000000" pitchFamily="2" charset="0"/>
              </a:rPr>
              <a:t>predefined</a:t>
            </a:r>
            <a:r>
              <a:rPr lang="fr-FR" sz="1600" dirty="0">
                <a:effectLst/>
                <a:latin typeface="Roboto" panose="02000000000000000000" pitchFamily="2" charset="0"/>
              </a:rPr>
              <a:t> </a:t>
            </a:r>
            <a:r>
              <a:rPr lang="fr-FR" sz="1600" dirty="0" err="1">
                <a:effectLst/>
                <a:latin typeface="Roboto" panose="02000000000000000000" pitchFamily="2" charset="0"/>
              </a:rPr>
              <a:t>roles</a:t>
            </a:r>
            <a:r>
              <a:rPr lang="fr-FR" sz="1600" dirty="0">
                <a:effectLst/>
                <a:latin typeface="Roboto" panose="02000000000000000000" pitchFamily="2" charset="0"/>
              </a:rPr>
              <a:t>, basic </a:t>
            </a:r>
            <a:r>
              <a:rPr lang="fr-FR" sz="1600" dirty="0" err="1">
                <a:effectLst/>
                <a:latin typeface="Roboto" panose="02000000000000000000" pitchFamily="2" charset="0"/>
              </a:rPr>
              <a:t>roles</a:t>
            </a:r>
            <a:r>
              <a:rPr lang="fr-FR" sz="1600" dirty="0">
                <a:effectLst/>
                <a:latin typeface="Roboto" panose="02000000000000000000" pitchFamily="2" charset="0"/>
              </a:rPr>
              <a:t> </a:t>
            </a:r>
          </a:p>
          <a:p>
            <a:pPr lvl="1"/>
            <a:r>
              <a:rPr lang="fr-FR" sz="1600" dirty="0">
                <a:effectLst/>
                <a:latin typeface="Roboto" panose="02000000000000000000" pitchFamily="2" charset="0"/>
              </a:rPr>
              <a:t>B: </a:t>
            </a:r>
            <a:r>
              <a:rPr lang="fr-FR" sz="1600" dirty="0" err="1">
                <a:effectLst/>
                <a:latin typeface="Roboto" panose="02000000000000000000" pitchFamily="2" charset="0"/>
              </a:rPr>
              <a:t>Predefined</a:t>
            </a:r>
            <a:r>
              <a:rPr lang="fr-FR" sz="1600" dirty="0">
                <a:effectLst/>
                <a:latin typeface="Roboto" panose="02000000000000000000" pitchFamily="2" charset="0"/>
              </a:rPr>
              <a:t> </a:t>
            </a:r>
            <a:r>
              <a:rPr lang="fr-FR" sz="1600" dirty="0" err="1">
                <a:effectLst/>
                <a:latin typeface="Roboto" panose="02000000000000000000" pitchFamily="2" charset="0"/>
              </a:rPr>
              <a:t>roles</a:t>
            </a:r>
            <a:r>
              <a:rPr lang="fr-FR" sz="1600" dirty="0">
                <a:effectLst/>
                <a:latin typeface="Roboto" panose="02000000000000000000" pitchFamily="2" charset="0"/>
              </a:rPr>
              <a:t>, custom </a:t>
            </a:r>
            <a:r>
              <a:rPr lang="fr-FR" sz="1600" dirty="0" err="1">
                <a:effectLst/>
                <a:latin typeface="Roboto" panose="02000000000000000000" pitchFamily="2" charset="0"/>
              </a:rPr>
              <a:t>roles</a:t>
            </a:r>
            <a:r>
              <a:rPr lang="fr-FR" sz="1600" dirty="0">
                <a:effectLst/>
                <a:latin typeface="Roboto" panose="02000000000000000000" pitchFamily="2" charset="0"/>
              </a:rPr>
              <a:t>, basic </a:t>
            </a:r>
            <a:r>
              <a:rPr lang="fr-FR" sz="1600" dirty="0" err="1">
                <a:effectLst/>
                <a:latin typeface="Roboto" panose="02000000000000000000" pitchFamily="2" charset="0"/>
              </a:rPr>
              <a:t>roles</a:t>
            </a:r>
            <a:endParaRPr lang="fr-FR" sz="600" dirty="0"/>
          </a:p>
          <a:p>
            <a:pPr lvl="1"/>
            <a:r>
              <a:rPr lang="fr-FR" sz="1600" b="1" dirty="0">
                <a:effectLst/>
                <a:latin typeface="Roboto" panose="02000000000000000000" pitchFamily="2" charset="0"/>
              </a:rPr>
              <a:t>C: Basic </a:t>
            </a:r>
            <a:r>
              <a:rPr lang="fr-FR" sz="1600" b="1" dirty="0" err="1">
                <a:effectLst/>
                <a:latin typeface="Roboto" panose="02000000000000000000" pitchFamily="2" charset="0"/>
              </a:rPr>
              <a:t>roles</a:t>
            </a:r>
            <a:r>
              <a:rPr lang="fr-FR" sz="1600" b="1" dirty="0">
                <a:effectLst/>
                <a:latin typeface="Roboto" panose="02000000000000000000" pitchFamily="2" charset="0"/>
              </a:rPr>
              <a:t>, </a:t>
            </a:r>
            <a:r>
              <a:rPr lang="fr-FR" sz="1600" b="1" dirty="0" err="1">
                <a:effectLst/>
                <a:latin typeface="Roboto" panose="02000000000000000000" pitchFamily="2" charset="0"/>
              </a:rPr>
              <a:t>predefined</a:t>
            </a:r>
            <a:r>
              <a:rPr lang="fr-FR" sz="1600" b="1" dirty="0">
                <a:effectLst/>
                <a:latin typeface="Roboto" panose="02000000000000000000" pitchFamily="2" charset="0"/>
              </a:rPr>
              <a:t> </a:t>
            </a:r>
            <a:r>
              <a:rPr lang="fr-FR" sz="1600" b="1" dirty="0" err="1">
                <a:effectLst/>
                <a:latin typeface="Roboto" panose="02000000000000000000" pitchFamily="2" charset="0"/>
              </a:rPr>
              <a:t>roles</a:t>
            </a:r>
            <a:r>
              <a:rPr lang="fr-FR" sz="1600" b="1" dirty="0">
                <a:effectLst/>
                <a:latin typeface="Roboto" panose="02000000000000000000" pitchFamily="2" charset="0"/>
              </a:rPr>
              <a:t>, custom </a:t>
            </a:r>
            <a:r>
              <a:rPr lang="fr-FR" sz="1600" b="1" dirty="0" err="1">
                <a:effectLst/>
                <a:latin typeface="Roboto" panose="02000000000000000000" pitchFamily="2" charset="0"/>
              </a:rPr>
              <a:t>roles</a:t>
            </a:r>
            <a:endParaRPr lang="fr-FR" sz="600" dirty="0"/>
          </a:p>
        </p:txBody>
      </p:sp>
    </p:spTree>
    <p:extLst>
      <p:ext uri="{BB962C8B-B14F-4D97-AF65-F5344CB8AC3E}">
        <p14:creationId xmlns:p14="http://schemas.microsoft.com/office/powerpoint/2010/main" val="3728719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151635"/>
            <a:ext cx="11530647" cy="1293028"/>
          </a:xfrm>
        </p:spPr>
        <p:txBody>
          <a:bodyPr>
            <a:normAutofit/>
          </a:bodyPr>
          <a:lstStyle/>
          <a:p>
            <a:pPr algn="l"/>
            <a:r>
              <a:rPr lang="fr-FR" sz="3200" dirty="0"/>
              <a:t>VPC</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02412" y="1631249"/>
            <a:ext cx="10787174"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A Virtual </a:t>
            </a:r>
            <a:r>
              <a:rPr lang="fr-FR" sz="2000" b="0" i="0" dirty="0" err="1">
                <a:solidFill>
                  <a:srgbClr val="ECECEC"/>
                </a:solidFill>
                <a:effectLst/>
                <a:latin typeface="Söhne"/>
              </a:rPr>
              <a:t>Private</a:t>
            </a:r>
            <a:r>
              <a:rPr lang="fr-FR" sz="2000" b="0" i="0" dirty="0">
                <a:solidFill>
                  <a:srgbClr val="ECECEC"/>
                </a:solidFill>
                <a:effectLst/>
                <a:latin typeface="Söhne"/>
              </a:rPr>
              <a:t> Cloud (VPC)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secure</a:t>
            </a:r>
            <a:r>
              <a:rPr lang="fr-FR" sz="2000" b="0" i="0" dirty="0">
                <a:solidFill>
                  <a:srgbClr val="ECECEC"/>
                </a:solidFill>
                <a:effectLst/>
                <a:latin typeface="Söhne"/>
              </a:rPr>
              <a:t> and </a:t>
            </a:r>
            <a:r>
              <a:rPr lang="fr-FR" sz="2000" b="0" i="0" dirty="0" err="1">
                <a:solidFill>
                  <a:srgbClr val="ECECEC"/>
                </a:solidFill>
                <a:effectLst/>
                <a:latin typeface="Söhne"/>
              </a:rPr>
              <a:t>private</a:t>
            </a:r>
            <a:r>
              <a:rPr lang="fr-FR" sz="2000" b="0" i="0" dirty="0">
                <a:solidFill>
                  <a:srgbClr val="ECECEC"/>
                </a:solidFill>
                <a:effectLst/>
                <a:latin typeface="Söhne"/>
              </a:rPr>
              <a:t> cloud </a:t>
            </a:r>
            <a:r>
              <a:rPr lang="fr-FR" sz="2000" b="0" i="0" dirty="0" err="1">
                <a:solidFill>
                  <a:srgbClr val="ECECEC"/>
                </a:solidFill>
                <a:effectLst/>
                <a:latin typeface="Söhne"/>
              </a:rPr>
              <a:t>computing</a:t>
            </a:r>
            <a:r>
              <a:rPr lang="fr-FR" sz="2000" b="0" i="0" dirty="0">
                <a:solidFill>
                  <a:srgbClr val="ECECEC"/>
                </a:solidFill>
                <a:effectLst/>
                <a:latin typeface="Söhne"/>
              </a:rPr>
              <a:t> model </a:t>
            </a:r>
            <a:r>
              <a:rPr lang="fr-FR" sz="2000" b="0" i="0" dirty="0" err="1">
                <a:solidFill>
                  <a:srgbClr val="ECECEC"/>
                </a:solidFill>
                <a:effectLst/>
                <a:latin typeface="Söhne"/>
              </a:rPr>
              <a:t>hosted</a:t>
            </a:r>
            <a:r>
              <a:rPr lang="fr-FR" sz="2000" b="0" i="0" dirty="0">
                <a:solidFill>
                  <a:srgbClr val="ECECEC"/>
                </a:solidFill>
                <a:effectLst/>
                <a:latin typeface="Söhne"/>
              </a:rPr>
              <a:t> </a:t>
            </a:r>
            <a:r>
              <a:rPr lang="fr-FR" sz="2000" b="0" i="0" dirty="0" err="1">
                <a:solidFill>
                  <a:srgbClr val="ECECEC"/>
                </a:solidFill>
                <a:effectLst/>
                <a:latin typeface="Söhne"/>
              </a:rPr>
              <a:t>within</a:t>
            </a:r>
            <a:r>
              <a:rPr lang="fr-FR" sz="2000" b="0" i="0" dirty="0">
                <a:solidFill>
                  <a:srgbClr val="ECECEC"/>
                </a:solidFill>
                <a:effectLst/>
                <a:latin typeface="Söhne"/>
              </a:rPr>
              <a:t> a public cloud, </a:t>
            </a:r>
            <a:r>
              <a:rPr lang="fr-FR" sz="2000" b="0" i="0" dirty="0" err="1">
                <a:solidFill>
                  <a:srgbClr val="ECECEC"/>
                </a:solidFill>
                <a:effectLst/>
                <a:latin typeface="Söhne"/>
              </a:rPr>
              <a:t>such</a:t>
            </a:r>
            <a:r>
              <a:rPr lang="fr-FR" sz="2000" b="0" i="0" dirty="0">
                <a:solidFill>
                  <a:srgbClr val="ECECEC"/>
                </a:solidFill>
                <a:effectLst/>
                <a:latin typeface="Söhne"/>
              </a:rPr>
              <a:t> as Google Cloud.</a:t>
            </a:r>
          </a:p>
          <a:p>
            <a:pPr algn="l">
              <a:buFont typeface="Arial" panose="020B0604020202020204" pitchFamily="34" charset="0"/>
              <a:buChar char="•"/>
            </a:pPr>
            <a:r>
              <a:rPr lang="fr-FR" sz="2000" b="0" i="0" dirty="0">
                <a:solidFill>
                  <a:srgbClr val="ECECEC"/>
                </a:solidFill>
                <a:effectLst/>
                <a:latin typeface="Söhne"/>
              </a:rPr>
              <a:t>Clients can run code, store data, host </a:t>
            </a:r>
            <a:r>
              <a:rPr lang="fr-FR" sz="2000" b="0" i="0" dirty="0" err="1">
                <a:solidFill>
                  <a:srgbClr val="ECECEC"/>
                </a:solidFill>
                <a:effectLst/>
                <a:latin typeface="Söhne"/>
              </a:rPr>
              <a:t>websites</a:t>
            </a:r>
            <a:r>
              <a:rPr lang="fr-FR" sz="2000" b="0" i="0" dirty="0">
                <a:solidFill>
                  <a:srgbClr val="ECECEC"/>
                </a:solidFill>
                <a:effectLst/>
                <a:latin typeface="Söhne"/>
              </a:rPr>
              <a:t>, and </a:t>
            </a:r>
            <a:r>
              <a:rPr lang="fr-FR" sz="2000" b="0" i="0" dirty="0" err="1">
                <a:solidFill>
                  <a:srgbClr val="ECECEC"/>
                </a:solidFill>
                <a:effectLst/>
                <a:latin typeface="Söhne"/>
              </a:rPr>
              <a:t>perform</a:t>
            </a:r>
            <a:r>
              <a:rPr lang="fr-FR" sz="2000" b="0" i="0" dirty="0">
                <a:solidFill>
                  <a:srgbClr val="ECECEC"/>
                </a:solidFill>
                <a:effectLst/>
                <a:latin typeface="Söhne"/>
              </a:rPr>
              <a:t> all </a:t>
            </a:r>
            <a:r>
              <a:rPr lang="fr-FR" sz="2000" b="0" i="0" dirty="0" err="1">
                <a:solidFill>
                  <a:srgbClr val="ECECEC"/>
                </a:solidFill>
                <a:effectLst/>
                <a:latin typeface="Söhne"/>
              </a:rPr>
              <a:t>other</a:t>
            </a:r>
            <a:r>
              <a:rPr lang="fr-FR" sz="2000" b="0" i="0" dirty="0">
                <a:solidFill>
                  <a:srgbClr val="ECECEC"/>
                </a:solidFill>
                <a:effectLst/>
                <a:latin typeface="Söhne"/>
              </a:rPr>
              <a:t> </a:t>
            </a:r>
            <a:r>
              <a:rPr lang="fr-FR" sz="2000" b="0" i="0" dirty="0" err="1">
                <a:solidFill>
                  <a:srgbClr val="ECECEC"/>
                </a:solidFill>
                <a:effectLst/>
                <a:latin typeface="Söhne"/>
              </a:rPr>
              <a:t>tasks</a:t>
            </a:r>
            <a:r>
              <a:rPr lang="fr-FR" sz="2000" b="0" i="0" dirty="0">
                <a:solidFill>
                  <a:srgbClr val="ECECEC"/>
                </a:solidFill>
                <a:effectLst/>
                <a:latin typeface="Söhne"/>
              </a:rPr>
              <a:t> possible in a </a:t>
            </a:r>
            <a:r>
              <a:rPr lang="fr-FR" sz="2000" b="0" i="0" dirty="0" err="1">
                <a:solidFill>
                  <a:srgbClr val="ECECEC"/>
                </a:solidFill>
                <a:effectLst/>
                <a:latin typeface="Söhne"/>
              </a:rPr>
              <a:t>regular</a:t>
            </a:r>
            <a:r>
              <a:rPr lang="fr-FR" sz="2000" b="0" i="0" dirty="0">
                <a:solidFill>
                  <a:srgbClr val="ECECEC"/>
                </a:solidFill>
                <a:effectLst/>
                <a:latin typeface="Söhne"/>
              </a:rPr>
              <a:t> </a:t>
            </a:r>
            <a:r>
              <a:rPr lang="fr-FR" sz="2000" b="0" i="0" dirty="0" err="1">
                <a:solidFill>
                  <a:srgbClr val="ECECEC"/>
                </a:solidFill>
                <a:effectLst/>
                <a:latin typeface="Söhne"/>
              </a:rPr>
              <a:t>private</a:t>
            </a:r>
            <a:r>
              <a:rPr lang="fr-FR" sz="2000" b="0" i="0" dirty="0">
                <a:solidFill>
                  <a:srgbClr val="ECECEC"/>
                </a:solidFill>
                <a:effectLst/>
                <a:latin typeface="Söhne"/>
              </a:rPr>
              <a:t> cloud on a VPC.</a:t>
            </a:r>
          </a:p>
          <a:p>
            <a:pPr algn="l">
              <a:buFont typeface="Arial" panose="020B0604020202020204" pitchFamily="34" charset="0"/>
              <a:buChar char="•"/>
            </a:pPr>
            <a:r>
              <a:rPr lang="fr-FR" sz="2000" b="0" i="0" dirty="0" err="1">
                <a:solidFill>
                  <a:srgbClr val="ECECEC"/>
                </a:solidFill>
                <a:effectLst/>
                <a:latin typeface="Söhne"/>
              </a:rPr>
              <a:t>VPCs</a:t>
            </a:r>
            <a:r>
              <a:rPr lang="fr-FR" sz="2000" b="0" i="0" dirty="0">
                <a:solidFill>
                  <a:srgbClr val="ECECEC"/>
                </a:solidFill>
                <a:effectLst/>
                <a:latin typeface="Söhne"/>
              </a:rPr>
              <a:t> combine the </a:t>
            </a:r>
            <a:r>
              <a:rPr lang="fr-FR" sz="2000" b="0" i="0" dirty="0" err="1">
                <a:solidFill>
                  <a:srgbClr val="ECECEC"/>
                </a:solidFill>
                <a:effectLst/>
                <a:latin typeface="Söhne"/>
              </a:rPr>
              <a:t>scalability</a:t>
            </a:r>
            <a:r>
              <a:rPr lang="fr-FR" sz="2000" b="0" i="0" dirty="0">
                <a:solidFill>
                  <a:srgbClr val="ECECEC"/>
                </a:solidFill>
                <a:effectLst/>
                <a:latin typeface="Söhne"/>
              </a:rPr>
              <a:t> and </a:t>
            </a:r>
            <a:r>
              <a:rPr lang="fr-FR" sz="2000" b="0" i="0" dirty="0" err="1">
                <a:solidFill>
                  <a:srgbClr val="ECECEC"/>
                </a:solidFill>
                <a:effectLst/>
                <a:latin typeface="Söhne"/>
              </a:rPr>
              <a:t>convenience</a:t>
            </a:r>
            <a:r>
              <a:rPr lang="fr-FR" sz="2000" b="0" i="0" dirty="0">
                <a:solidFill>
                  <a:srgbClr val="ECECEC"/>
                </a:solidFill>
                <a:effectLst/>
                <a:latin typeface="Söhne"/>
              </a:rPr>
              <a:t> of public cloud </a:t>
            </a:r>
            <a:r>
              <a:rPr lang="fr-FR" sz="2000" b="0" i="0" dirty="0" err="1">
                <a:solidFill>
                  <a:srgbClr val="ECECEC"/>
                </a:solidFill>
                <a:effectLst/>
                <a:latin typeface="Söhne"/>
              </a:rPr>
              <a:t>with</a:t>
            </a:r>
            <a:r>
              <a:rPr lang="fr-FR" sz="2000" b="0" i="0" dirty="0">
                <a:solidFill>
                  <a:srgbClr val="ECECEC"/>
                </a:solidFill>
                <a:effectLst/>
                <a:latin typeface="Söhne"/>
              </a:rPr>
              <a:t> the data isolation of </a:t>
            </a:r>
            <a:r>
              <a:rPr lang="fr-FR" sz="2000" b="0" i="0" dirty="0" err="1">
                <a:solidFill>
                  <a:srgbClr val="ECECEC"/>
                </a:solidFill>
                <a:effectLst/>
                <a:latin typeface="Söhne"/>
              </a:rPr>
              <a:t>private</a:t>
            </a:r>
            <a:r>
              <a:rPr lang="fr-FR" sz="2000" b="0" i="0" dirty="0">
                <a:solidFill>
                  <a:srgbClr val="ECECEC"/>
                </a:solidFill>
                <a:effectLst/>
                <a:latin typeface="Söhne"/>
              </a:rPr>
              <a:t> cloud.</a:t>
            </a:r>
          </a:p>
          <a:p>
            <a:pPr algn="l">
              <a:buFont typeface="Arial" panose="020B0604020202020204" pitchFamily="34" charset="0"/>
              <a:buChar char="•"/>
            </a:pPr>
            <a:r>
              <a:rPr lang="fr-FR" sz="2000" b="0" i="0" dirty="0">
                <a:solidFill>
                  <a:srgbClr val="ECECEC"/>
                </a:solidFill>
                <a:effectLst/>
                <a:latin typeface="Söhne"/>
              </a:rPr>
              <a:t>VPC networks </a:t>
            </a:r>
            <a:r>
              <a:rPr lang="fr-FR" sz="2000" b="0" i="0" dirty="0" err="1">
                <a:solidFill>
                  <a:srgbClr val="ECECEC"/>
                </a:solidFill>
                <a:effectLst/>
                <a:latin typeface="Söhne"/>
              </a:rPr>
              <a:t>connect</a:t>
            </a:r>
            <a:r>
              <a:rPr lang="fr-FR" sz="2000" b="0" i="0" dirty="0">
                <a:solidFill>
                  <a:srgbClr val="ECECEC"/>
                </a:solidFill>
                <a:effectLst/>
                <a:latin typeface="Söhne"/>
              </a:rPr>
              <a:t> Google Cloud </a:t>
            </a:r>
            <a:r>
              <a:rPr lang="fr-FR" sz="2000" b="0" i="0" dirty="0" err="1">
                <a:solidFill>
                  <a:srgbClr val="ECECEC"/>
                </a:solidFill>
                <a:effectLst/>
                <a:latin typeface="Söhne"/>
              </a:rPr>
              <a:t>resources</a:t>
            </a:r>
            <a:r>
              <a:rPr lang="fr-FR" sz="2000" b="0" i="0" dirty="0">
                <a:solidFill>
                  <a:srgbClr val="ECECEC"/>
                </a:solidFill>
                <a:effectLst/>
                <a:latin typeface="Söhne"/>
              </a:rPr>
              <a:t> to </a:t>
            </a:r>
            <a:r>
              <a:rPr lang="fr-FR" sz="2000" b="0" i="0" dirty="0" err="1">
                <a:solidFill>
                  <a:srgbClr val="ECECEC"/>
                </a:solidFill>
                <a:effectLst/>
                <a:latin typeface="Söhne"/>
              </a:rPr>
              <a:t>each</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and to the internet, </a:t>
            </a:r>
            <a:r>
              <a:rPr lang="fr-FR" sz="2000" b="0" i="0" dirty="0" err="1">
                <a:solidFill>
                  <a:srgbClr val="ECECEC"/>
                </a:solidFill>
                <a:effectLst/>
                <a:latin typeface="Söhne"/>
              </a:rPr>
              <a:t>including</a:t>
            </a:r>
            <a:r>
              <a:rPr lang="fr-FR" sz="2000" b="0" i="0" dirty="0">
                <a:solidFill>
                  <a:srgbClr val="ECECEC"/>
                </a:solidFill>
                <a:effectLst/>
                <a:latin typeface="Söhne"/>
              </a:rPr>
              <a:t> network segmentation, firewall </a:t>
            </a:r>
            <a:r>
              <a:rPr lang="fr-FR" sz="2000" b="0" i="0" dirty="0" err="1">
                <a:solidFill>
                  <a:srgbClr val="ECECEC"/>
                </a:solidFill>
                <a:effectLst/>
                <a:latin typeface="Söhne"/>
              </a:rPr>
              <a:t>rule</a:t>
            </a:r>
            <a:r>
              <a:rPr lang="fr-FR" sz="2000" b="0" i="0" dirty="0">
                <a:solidFill>
                  <a:srgbClr val="ECECEC"/>
                </a:solidFill>
                <a:effectLst/>
                <a:latin typeface="Söhne"/>
              </a:rPr>
              <a:t> usage, and </a:t>
            </a:r>
            <a:r>
              <a:rPr lang="fr-FR" sz="2000" b="0" i="0" dirty="0" err="1">
                <a:solidFill>
                  <a:srgbClr val="ECECEC"/>
                </a:solidFill>
                <a:effectLst/>
                <a:latin typeface="Söhne"/>
              </a:rPr>
              <a:t>static</a:t>
            </a:r>
            <a:r>
              <a:rPr lang="fr-FR" sz="2000" b="0" i="0" dirty="0">
                <a:solidFill>
                  <a:srgbClr val="ECECEC"/>
                </a:solidFill>
                <a:effectLst/>
                <a:latin typeface="Söhne"/>
              </a:rPr>
              <a:t> route </a:t>
            </a:r>
            <a:r>
              <a:rPr lang="fr-FR" sz="2000" b="0" i="0" dirty="0" err="1">
                <a:solidFill>
                  <a:srgbClr val="ECECEC"/>
                </a:solidFill>
                <a:effectLst/>
                <a:latin typeface="Söhne"/>
              </a:rPr>
              <a:t>creation</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A </a:t>
            </a:r>
            <a:r>
              <a:rPr lang="fr-FR" sz="2000" b="0" i="0" dirty="0" err="1">
                <a:solidFill>
                  <a:srgbClr val="ECECEC"/>
                </a:solidFill>
                <a:effectLst/>
                <a:latin typeface="Söhne"/>
              </a:rPr>
              <a:t>surprising</a:t>
            </a:r>
            <a:r>
              <a:rPr lang="fr-FR" sz="2000" b="0" i="0" dirty="0">
                <a:solidFill>
                  <a:srgbClr val="ECECEC"/>
                </a:solidFill>
                <a:effectLst/>
                <a:latin typeface="Söhne"/>
              </a:rPr>
              <a:t> aspect for </a:t>
            </a:r>
            <a:r>
              <a:rPr lang="fr-FR" sz="2000" b="0" i="0" dirty="0" err="1">
                <a:solidFill>
                  <a:srgbClr val="ECECEC"/>
                </a:solidFill>
                <a:effectLst/>
                <a:latin typeface="Söhne"/>
              </a:rPr>
              <a:t>many</a:t>
            </a:r>
            <a:r>
              <a:rPr lang="fr-FR" sz="2000" b="0" i="0" dirty="0">
                <a:solidFill>
                  <a:srgbClr val="ECECEC"/>
                </a:solidFill>
                <a:effectLst/>
                <a:latin typeface="Söhne"/>
              </a:rPr>
              <a:t> new Google Cloud </a:t>
            </a:r>
            <a:r>
              <a:rPr lang="fr-FR" sz="2000" b="0" i="0" dirty="0" err="1">
                <a:solidFill>
                  <a:srgbClr val="ECECEC"/>
                </a:solidFill>
                <a:effectLst/>
                <a:latin typeface="Söhne"/>
              </a:rPr>
              <a:t>users</a:t>
            </a:r>
            <a:r>
              <a:rPr lang="fr-FR" sz="2000" b="0" i="0" dirty="0">
                <a:solidFill>
                  <a:srgbClr val="ECECEC"/>
                </a:solidFill>
                <a:effectLst/>
                <a:latin typeface="Söhne"/>
              </a:rPr>
              <a:t>: Google VPC networks are global and can have </a:t>
            </a:r>
            <a:r>
              <a:rPr lang="fr-FR" sz="2000" b="0" i="0" dirty="0" err="1">
                <a:solidFill>
                  <a:srgbClr val="ECECEC"/>
                </a:solidFill>
                <a:effectLst/>
                <a:latin typeface="Söhne"/>
              </a:rPr>
              <a:t>subnetworks</a:t>
            </a:r>
            <a:r>
              <a:rPr lang="fr-FR" sz="2000" b="0" i="0" dirty="0">
                <a:solidFill>
                  <a:srgbClr val="ECECEC"/>
                </a:solidFill>
                <a:effectLst/>
                <a:latin typeface="Söhne"/>
              </a:rPr>
              <a:t>, </a:t>
            </a:r>
            <a:r>
              <a:rPr lang="fr-FR" sz="2000" b="0" i="0" dirty="0" err="1">
                <a:solidFill>
                  <a:srgbClr val="ECECEC"/>
                </a:solidFill>
                <a:effectLst/>
                <a:latin typeface="Söhne"/>
              </a:rPr>
              <a:t>which</a:t>
            </a:r>
            <a:r>
              <a:rPr lang="fr-FR" sz="2000" b="0" i="0" dirty="0">
                <a:solidFill>
                  <a:srgbClr val="ECECEC"/>
                </a:solidFill>
                <a:effectLst/>
                <a:latin typeface="Söhne"/>
              </a:rPr>
              <a:t> are </a:t>
            </a:r>
            <a:r>
              <a:rPr lang="fr-FR" sz="2000" b="0" i="0" dirty="0" err="1">
                <a:solidFill>
                  <a:srgbClr val="ECECEC"/>
                </a:solidFill>
                <a:effectLst/>
                <a:latin typeface="Söhne"/>
              </a:rPr>
              <a:t>segmented</a:t>
            </a:r>
            <a:r>
              <a:rPr lang="fr-FR" sz="2000" b="0" i="0" dirty="0">
                <a:solidFill>
                  <a:srgbClr val="ECECEC"/>
                </a:solidFill>
                <a:effectLst/>
                <a:latin typeface="Söhne"/>
              </a:rPr>
              <a:t> parts of the </a:t>
            </a:r>
            <a:r>
              <a:rPr lang="fr-FR" sz="2000" b="0" i="0" dirty="0" err="1">
                <a:solidFill>
                  <a:srgbClr val="ECECEC"/>
                </a:solidFill>
                <a:effectLst/>
                <a:latin typeface="Söhne"/>
              </a:rPr>
              <a:t>larger</a:t>
            </a:r>
            <a:r>
              <a:rPr lang="fr-FR" sz="2000" b="0" i="0" dirty="0">
                <a:solidFill>
                  <a:srgbClr val="ECECEC"/>
                </a:solidFill>
                <a:effectLst/>
                <a:latin typeface="Söhne"/>
              </a:rPr>
              <a:t> network, in </a:t>
            </a:r>
            <a:r>
              <a:rPr lang="fr-FR" sz="2000" b="0" i="0" dirty="0" err="1">
                <a:solidFill>
                  <a:srgbClr val="ECECEC"/>
                </a:solidFill>
                <a:effectLst/>
                <a:latin typeface="Söhne"/>
              </a:rPr>
              <a:t>any</a:t>
            </a:r>
            <a:r>
              <a:rPr lang="fr-FR" sz="2000" b="0" i="0" dirty="0">
                <a:solidFill>
                  <a:srgbClr val="ECECEC"/>
                </a:solidFill>
                <a:effectLst/>
                <a:latin typeface="Söhne"/>
              </a:rPr>
              <a:t> Google Cloud </a:t>
            </a:r>
            <a:r>
              <a:rPr lang="fr-FR" sz="2000" b="0" i="0" dirty="0" err="1">
                <a:solidFill>
                  <a:srgbClr val="ECECEC"/>
                </a:solidFill>
                <a:effectLst/>
                <a:latin typeface="Söhne"/>
              </a:rPr>
              <a:t>region</a:t>
            </a:r>
            <a:r>
              <a:rPr lang="fr-FR" sz="2000" b="0" i="0" dirty="0">
                <a:solidFill>
                  <a:srgbClr val="ECECEC"/>
                </a:solidFill>
                <a:effectLst/>
                <a:latin typeface="Söhne"/>
              </a:rPr>
              <a:t> </a:t>
            </a:r>
            <a:r>
              <a:rPr lang="fr-FR" sz="2000" b="0" i="0" dirty="0" err="1">
                <a:solidFill>
                  <a:srgbClr val="ECECEC"/>
                </a:solidFill>
                <a:effectLst/>
                <a:latin typeface="Söhne"/>
              </a:rPr>
              <a:t>worldwide</a:t>
            </a:r>
            <a:r>
              <a:rPr lang="fr-FR" sz="2000" b="0" i="0" dirty="0">
                <a:solidFill>
                  <a:srgbClr val="ECECEC"/>
                </a:solidFill>
                <a:effectLst/>
                <a:latin typeface="Söhne"/>
              </a:rPr>
              <a:t>.</a:t>
            </a:r>
          </a:p>
          <a:p>
            <a:pPr algn="l">
              <a:buFont typeface="Arial" panose="020B0604020202020204" pitchFamily="34" charset="0"/>
              <a:buChar char="•"/>
            </a:pPr>
            <a:r>
              <a:rPr lang="fr-FR" sz="2000" b="0" i="0" dirty="0" err="1">
                <a:solidFill>
                  <a:srgbClr val="ECECEC"/>
                </a:solidFill>
                <a:effectLst/>
                <a:latin typeface="Söhne"/>
              </a:rPr>
              <a:t>Subnetworks</a:t>
            </a:r>
            <a:r>
              <a:rPr lang="fr-FR" sz="2000" b="0" i="0" dirty="0">
                <a:solidFill>
                  <a:srgbClr val="ECECEC"/>
                </a:solidFill>
                <a:effectLst/>
                <a:latin typeface="Söhne"/>
              </a:rPr>
              <a:t> can cover the zones </a:t>
            </a:r>
            <a:r>
              <a:rPr lang="fr-FR" sz="2000" b="0" i="0" dirty="0" err="1">
                <a:solidFill>
                  <a:srgbClr val="ECECEC"/>
                </a:solidFill>
                <a:effectLst/>
                <a:latin typeface="Söhne"/>
              </a:rPr>
              <a:t>that</a:t>
            </a:r>
            <a:r>
              <a:rPr lang="fr-FR" sz="2000" b="0" i="0" dirty="0">
                <a:solidFill>
                  <a:srgbClr val="ECECEC"/>
                </a:solidFill>
                <a:effectLst/>
                <a:latin typeface="Söhne"/>
              </a:rPr>
              <a:t> </a:t>
            </a:r>
            <a:r>
              <a:rPr lang="fr-FR" sz="2000" b="0" i="0" dirty="0" err="1">
                <a:solidFill>
                  <a:srgbClr val="ECECEC"/>
                </a:solidFill>
                <a:effectLst/>
                <a:latin typeface="Söhne"/>
              </a:rPr>
              <a:t>make</a:t>
            </a:r>
            <a:r>
              <a:rPr lang="fr-FR" sz="2000" b="0" i="0" dirty="0">
                <a:solidFill>
                  <a:srgbClr val="ECECEC"/>
                </a:solidFill>
                <a:effectLst/>
                <a:latin typeface="Söhne"/>
              </a:rPr>
              <a:t> up a </a:t>
            </a:r>
            <a:r>
              <a:rPr lang="fr-FR" sz="2000" b="0" i="0" dirty="0" err="1">
                <a:solidFill>
                  <a:srgbClr val="ECECEC"/>
                </a:solidFill>
                <a:effectLst/>
                <a:latin typeface="Söhne"/>
              </a:rPr>
              <a:t>region</a:t>
            </a:r>
            <a:r>
              <a:rPr lang="fr-FR" sz="2000" b="0" i="0" dirty="0">
                <a:solidFill>
                  <a:srgbClr val="ECECEC"/>
                </a:solidFill>
                <a:effectLst/>
                <a:latin typeface="Söhne"/>
              </a:rPr>
              <a:t>, </a:t>
            </a:r>
            <a:r>
              <a:rPr lang="fr-FR" sz="2000" b="0" i="0" dirty="0" err="1">
                <a:solidFill>
                  <a:srgbClr val="ECECEC"/>
                </a:solidFill>
                <a:effectLst/>
                <a:latin typeface="Söhne"/>
              </a:rPr>
              <a:t>allowing</a:t>
            </a:r>
            <a:r>
              <a:rPr lang="fr-FR" sz="2000" b="0" i="0" dirty="0">
                <a:solidFill>
                  <a:srgbClr val="ECECEC"/>
                </a:solidFill>
                <a:effectLst/>
                <a:latin typeface="Söhne"/>
              </a:rPr>
              <a:t> for global networking, and </a:t>
            </a:r>
            <a:r>
              <a:rPr lang="fr-FR" sz="2000" b="0" i="0" dirty="0" err="1">
                <a:solidFill>
                  <a:srgbClr val="ECECEC"/>
                </a:solidFill>
                <a:effectLst/>
                <a:latin typeface="Söhne"/>
              </a:rPr>
              <a:t>resources</a:t>
            </a:r>
            <a:r>
              <a:rPr lang="fr-FR" sz="2000" b="0" i="0" dirty="0">
                <a:solidFill>
                  <a:srgbClr val="ECECEC"/>
                </a:solidFill>
                <a:effectLst/>
                <a:latin typeface="Söhne"/>
              </a:rPr>
              <a:t> can </a:t>
            </a:r>
            <a:r>
              <a:rPr lang="fr-FR" sz="2000" b="0" i="0" dirty="0" err="1">
                <a:solidFill>
                  <a:srgbClr val="ECECEC"/>
                </a:solidFill>
                <a:effectLst/>
                <a:latin typeface="Söhne"/>
              </a:rPr>
              <a:t>even</a:t>
            </a:r>
            <a:r>
              <a:rPr lang="fr-FR" sz="2000" b="0" i="0" dirty="0">
                <a:solidFill>
                  <a:srgbClr val="ECECEC"/>
                </a:solidFill>
                <a:effectLst/>
                <a:latin typeface="Söhne"/>
              </a:rPr>
              <a:t> </a:t>
            </a:r>
            <a:r>
              <a:rPr lang="fr-FR" sz="2000" b="0" i="0" dirty="0" err="1">
                <a:solidFill>
                  <a:srgbClr val="ECECEC"/>
                </a:solidFill>
                <a:effectLst/>
                <a:latin typeface="Söhne"/>
              </a:rPr>
              <a:t>be</a:t>
            </a:r>
            <a:r>
              <a:rPr lang="fr-FR" sz="2000" b="0" i="0" dirty="0">
                <a:solidFill>
                  <a:srgbClr val="ECECEC"/>
                </a:solidFill>
                <a:effectLst/>
                <a:latin typeface="Söhne"/>
              </a:rPr>
              <a:t> in </a:t>
            </a:r>
            <a:r>
              <a:rPr lang="fr-FR" sz="2000" b="0" i="0" dirty="0" err="1">
                <a:solidFill>
                  <a:srgbClr val="ECECEC"/>
                </a:solidFill>
                <a:effectLst/>
                <a:latin typeface="Söhne"/>
              </a:rPr>
              <a:t>different</a:t>
            </a:r>
            <a:r>
              <a:rPr lang="fr-FR" sz="2000" b="0" i="0" dirty="0">
                <a:solidFill>
                  <a:srgbClr val="ECECEC"/>
                </a:solidFill>
                <a:effectLst/>
                <a:latin typeface="Söhne"/>
              </a:rPr>
              <a:t> zones on the </a:t>
            </a:r>
            <a:r>
              <a:rPr lang="fr-FR" sz="2000" b="0" i="0" dirty="0" err="1">
                <a:solidFill>
                  <a:srgbClr val="ECECEC"/>
                </a:solidFill>
                <a:effectLst/>
                <a:latin typeface="Söhne"/>
              </a:rPr>
              <a:t>same</a:t>
            </a:r>
            <a:r>
              <a:rPr lang="fr-FR" sz="2000" b="0" i="0" dirty="0">
                <a:solidFill>
                  <a:srgbClr val="ECECEC"/>
                </a:solidFill>
                <a:effectLst/>
                <a:latin typeface="Söhne"/>
              </a:rPr>
              <a:t> </a:t>
            </a:r>
            <a:r>
              <a:rPr lang="fr-FR" sz="2000" b="0" i="0" dirty="0" err="1">
                <a:solidFill>
                  <a:srgbClr val="ECECEC"/>
                </a:solidFill>
                <a:effectLst/>
                <a:latin typeface="Söhne"/>
              </a:rPr>
              <a:t>subnetwork</a:t>
            </a:r>
            <a:r>
              <a:rPr lang="fr-FR" sz="2000" b="0" i="0" dirty="0">
                <a:solidFill>
                  <a:srgbClr val="ECECEC"/>
                </a:solidFill>
                <a:effectLst/>
                <a:latin typeface="Söhne"/>
              </a:rPr>
              <a:t>.</a:t>
            </a:r>
          </a:p>
        </p:txBody>
      </p:sp>
    </p:spTree>
    <p:extLst>
      <p:ext uri="{BB962C8B-B14F-4D97-AF65-F5344CB8AC3E}">
        <p14:creationId xmlns:p14="http://schemas.microsoft.com/office/powerpoint/2010/main" val="11985810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3" y="471764"/>
            <a:ext cx="11530647" cy="1293028"/>
          </a:xfrm>
        </p:spPr>
        <p:txBody>
          <a:bodyPr>
            <a:normAutofit/>
          </a:bodyPr>
          <a:lstStyle/>
          <a:p>
            <a:pPr algn="l"/>
            <a:r>
              <a:rPr lang="fr-FR" sz="3200" dirty="0"/>
              <a:t>COMPUTE ENGINE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7624" y="1932343"/>
            <a:ext cx="10351747" cy="4107699"/>
          </a:xfrm>
        </p:spPr>
        <p:txBody>
          <a:bodyPr>
            <a:normAutofit fontScale="92500" lnSpcReduction="10000"/>
          </a:bodyPr>
          <a:lstStyle/>
          <a:p>
            <a:pPr algn="l">
              <a:buFont typeface="Arial" panose="020B0604020202020204" pitchFamily="34" charset="0"/>
              <a:buChar char="•"/>
            </a:pPr>
            <a:r>
              <a:rPr lang="fr-FR" sz="2400" b="0" i="0" dirty="0" err="1">
                <a:solidFill>
                  <a:srgbClr val="ECECEC"/>
                </a:solidFill>
                <a:effectLst/>
                <a:latin typeface="Söhne"/>
              </a:rPr>
              <a:t>Compute</a:t>
            </a:r>
            <a:r>
              <a:rPr lang="fr-FR" sz="2400" b="0" i="0" dirty="0">
                <a:solidFill>
                  <a:srgbClr val="ECECEC"/>
                </a:solidFill>
                <a:effectLst/>
                <a:latin typeface="Söhne"/>
              </a:rPr>
              <a:t> Engine </a:t>
            </a:r>
            <a:r>
              <a:rPr lang="fr-FR" sz="2400" b="0" i="0" dirty="0" err="1">
                <a:solidFill>
                  <a:srgbClr val="ECECEC"/>
                </a:solidFill>
                <a:effectLst/>
                <a:latin typeface="Söhne"/>
              </a:rPr>
              <a:t>allows</a:t>
            </a:r>
            <a:r>
              <a:rPr lang="fr-FR" sz="2400" b="0" i="0" dirty="0">
                <a:solidFill>
                  <a:srgbClr val="ECECEC"/>
                </a:solidFill>
                <a:effectLst/>
                <a:latin typeface="Söhne"/>
              </a:rPr>
              <a:t> </a:t>
            </a:r>
            <a:r>
              <a:rPr lang="fr-FR" sz="2400" b="0" i="0" dirty="0" err="1">
                <a:solidFill>
                  <a:srgbClr val="ECECEC"/>
                </a:solidFill>
                <a:effectLst/>
                <a:latin typeface="Söhne"/>
              </a:rPr>
              <a:t>users</a:t>
            </a:r>
            <a:r>
              <a:rPr lang="fr-FR" sz="2400" b="0" i="0" dirty="0">
                <a:solidFill>
                  <a:srgbClr val="ECECEC"/>
                </a:solidFill>
                <a:effectLst/>
                <a:latin typeface="Söhne"/>
              </a:rPr>
              <a:t> to </a:t>
            </a:r>
            <a:r>
              <a:rPr lang="fr-FR" sz="2400" b="0" i="0" dirty="0" err="1">
                <a:solidFill>
                  <a:srgbClr val="ECECEC"/>
                </a:solidFill>
                <a:effectLst/>
                <a:latin typeface="Söhne"/>
              </a:rPr>
              <a:t>create</a:t>
            </a:r>
            <a:r>
              <a:rPr lang="fr-FR" sz="2400" b="0" i="0" dirty="0">
                <a:solidFill>
                  <a:srgbClr val="ECECEC"/>
                </a:solidFill>
                <a:effectLst/>
                <a:latin typeface="Söhne"/>
              </a:rPr>
              <a:t> and run </a:t>
            </a:r>
            <a:r>
              <a:rPr lang="fr-FR" sz="2400" b="0" i="0" dirty="0" err="1">
                <a:solidFill>
                  <a:srgbClr val="ECECEC"/>
                </a:solidFill>
                <a:effectLst/>
                <a:latin typeface="Söhne"/>
              </a:rPr>
              <a:t>virtual</a:t>
            </a:r>
            <a:r>
              <a:rPr lang="fr-FR" sz="2400" b="0" i="0" dirty="0">
                <a:solidFill>
                  <a:srgbClr val="ECECEC"/>
                </a:solidFill>
                <a:effectLst/>
                <a:latin typeface="Söhne"/>
              </a:rPr>
              <a:t> machines on </a:t>
            </a:r>
            <a:r>
              <a:rPr lang="fr-FR" sz="2400" b="0" i="0" dirty="0" err="1">
                <a:solidFill>
                  <a:srgbClr val="ECECEC"/>
                </a:solidFill>
                <a:effectLst/>
                <a:latin typeface="Söhne"/>
              </a:rPr>
              <a:t>Google's</a:t>
            </a:r>
            <a:r>
              <a:rPr lang="fr-FR" sz="2400" b="0" i="0" dirty="0">
                <a:solidFill>
                  <a:srgbClr val="ECECEC"/>
                </a:solidFill>
                <a:effectLst/>
                <a:latin typeface="Söhne"/>
              </a:rPr>
              <a:t> infrastructure </a:t>
            </a:r>
            <a:r>
              <a:rPr lang="fr-FR" sz="2400" b="0" i="0" dirty="0" err="1">
                <a:solidFill>
                  <a:srgbClr val="ECECEC"/>
                </a:solidFill>
                <a:effectLst/>
                <a:latin typeface="Söhne"/>
              </a:rPr>
              <a:t>without</a:t>
            </a:r>
            <a:r>
              <a:rPr lang="fr-FR" sz="2400" b="0" i="0" dirty="0">
                <a:solidFill>
                  <a:srgbClr val="ECECEC"/>
                </a:solidFill>
                <a:effectLst/>
                <a:latin typeface="Söhne"/>
              </a:rPr>
              <a:t> </a:t>
            </a:r>
            <a:r>
              <a:rPr lang="fr-FR" sz="2400" b="0" i="0" dirty="0" err="1">
                <a:solidFill>
                  <a:srgbClr val="ECECEC"/>
                </a:solidFill>
                <a:effectLst/>
                <a:latin typeface="Söhne"/>
              </a:rPr>
              <a:t>any</a:t>
            </a:r>
            <a:r>
              <a:rPr lang="fr-FR" sz="2400" b="0" i="0" dirty="0">
                <a:solidFill>
                  <a:srgbClr val="ECECEC"/>
                </a:solidFill>
                <a:effectLst/>
                <a:latin typeface="Söhne"/>
              </a:rPr>
              <a:t> </a:t>
            </a:r>
            <a:r>
              <a:rPr lang="fr-FR" sz="2400" b="0" i="0" dirty="0" err="1">
                <a:solidFill>
                  <a:srgbClr val="ECECEC"/>
                </a:solidFill>
                <a:effectLst/>
                <a:latin typeface="Söhne"/>
              </a:rPr>
              <a:t>upfront</a:t>
            </a:r>
            <a:r>
              <a:rPr lang="fr-FR" sz="2400" b="0" i="0" dirty="0">
                <a:solidFill>
                  <a:srgbClr val="ECECEC"/>
                </a:solidFill>
                <a:effectLst/>
                <a:latin typeface="Söhne"/>
              </a:rPr>
              <a:t> </a:t>
            </a:r>
            <a:r>
              <a:rPr lang="fr-FR" sz="2400" b="0" i="0" dirty="0" err="1">
                <a:solidFill>
                  <a:srgbClr val="ECECEC"/>
                </a:solidFill>
                <a:effectLst/>
                <a:latin typeface="Söhne"/>
              </a:rPr>
              <a:t>investments</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Each</a:t>
            </a:r>
            <a:r>
              <a:rPr lang="fr-FR" sz="2400" b="0" i="0" dirty="0">
                <a:solidFill>
                  <a:srgbClr val="ECECEC"/>
                </a:solidFill>
                <a:effectLst/>
                <a:latin typeface="Söhne"/>
              </a:rPr>
              <a:t> </a:t>
            </a:r>
            <a:r>
              <a:rPr lang="fr-FR" sz="2400" b="0" i="0" dirty="0" err="1">
                <a:solidFill>
                  <a:srgbClr val="ECECEC"/>
                </a:solidFill>
                <a:effectLst/>
                <a:latin typeface="Söhne"/>
              </a:rPr>
              <a:t>virtual</a:t>
            </a:r>
            <a:r>
              <a:rPr lang="fr-FR" sz="2400" b="0" i="0" dirty="0">
                <a:solidFill>
                  <a:srgbClr val="ECECEC"/>
                </a:solidFill>
                <a:effectLst/>
                <a:latin typeface="Söhne"/>
              </a:rPr>
              <a:t> machine </a:t>
            </a:r>
            <a:r>
              <a:rPr lang="fr-FR" sz="2400" b="0" i="0" dirty="0" err="1">
                <a:solidFill>
                  <a:srgbClr val="ECECEC"/>
                </a:solidFill>
                <a:effectLst/>
                <a:latin typeface="Söhne"/>
              </a:rPr>
              <a:t>provides</a:t>
            </a:r>
            <a:r>
              <a:rPr lang="fr-FR" sz="2400" b="0" i="0" dirty="0">
                <a:solidFill>
                  <a:srgbClr val="ECECEC"/>
                </a:solidFill>
                <a:effectLst/>
                <a:latin typeface="Söhne"/>
              </a:rPr>
              <a:t> full operating system </a:t>
            </a:r>
            <a:r>
              <a:rPr lang="fr-FR" sz="2400" b="0" i="0" dirty="0" err="1">
                <a:solidFill>
                  <a:srgbClr val="ECECEC"/>
                </a:solidFill>
                <a:effectLst/>
                <a:latin typeface="Söhne"/>
              </a:rPr>
              <a:t>capabilities</a:t>
            </a:r>
            <a:r>
              <a:rPr lang="fr-FR" sz="2400" b="0" i="0" dirty="0">
                <a:solidFill>
                  <a:srgbClr val="ECECEC"/>
                </a:solidFill>
                <a:effectLst/>
                <a:latin typeface="Söhne"/>
              </a:rPr>
              <a:t> and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configured</a:t>
            </a:r>
            <a:r>
              <a:rPr lang="fr-FR" sz="2400" b="0" i="0" dirty="0">
                <a:solidFill>
                  <a:srgbClr val="ECECEC"/>
                </a:solidFill>
                <a:effectLst/>
                <a:latin typeface="Söhne"/>
              </a:rPr>
              <a:t> </a:t>
            </a:r>
            <a:r>
              <a:rPr lang="fr-FR" sz="2400" b="0" i="0" dirty="0" err="1">
                <a:solidFill>
                  <a:srgbClr val="ECECEC"/>
                </a:solidFill>
                <a:effectLst/>
                <a:latin typeface="Söhne"/>
              </a:rPr>
              <a:t>according</a:t>
            </a:r>
            <a:r>
              <a:rPr lang="fr-FR" sz="2400" b="0" i="0" dirty="0">
                <a:solidFill>
                  <a:srgbClr val="ECECEC"/>
                </a:solidFill>
                <a:effectLst/>
                <a:latin typeface="Söhne"/>
              </a:rPr>
              <a:t> to CPU, memory, </a:t>
            </a:r>
            <a:r>
              <a:rPr lang="fr-FR" sz="2400" b="0" i="0" dirty="0" err="1">
                <a:solidFill>
                  <a:srgbClr val="ECECEC"/>
                </a:solidFill>
                <a:effectLst/>
                <a:latin typeface="Söhne"/>
              </a:rPr>
              <a:t>storage</a:t>
            </a:r>
            <a:r>
              <a:rPr lang="fr-FR" sz="2400" b="0" i="0" dirty="0">
                <a:solidFill>
                  <a:srgbClr val="ECECEC"/>
                </a:solidFill>
                <a:effectLst/>
                <a:latin typeface="Söhne"/>
              </a:rPr>
              <a:t>, and operating system </a:t>
            </a:r>
            <a:r>
              <a:rPr lang="fr-FR" sz="2400" b="0" i="0" dirty="0" err="1">
                <a:solidFill>
                  <a:srgbClr val="ECECEC"/>
                </a:solidFill>
                <a:effectLst/>
                <a:latin typeface="Söhne"/>
              </a:rPr>
              <a:t>requirements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Instances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created</a:t>
            </a:r>
            <a:r>
              <a:rPr lang="fr-FR" sz="2400" b="0" i="0" dirty="0">
                <a:solidFill>
                  <a:srgbClr val="ECECEC"/>
                </a:solidFill>
                <a:effectLst/>
                <a:latin typeface="Söhne"/>
              </a:rPr>
              <a:t> via the Google Cloud Console, CLI, or </a:t>
            </a:r>
            <a:r>
              <a:rPr lang="fr-FR" sz="2400" b="0" i="0" dirty="0" err="1">
                <a:solidFill>
                  <a:srgbClr val="ECECEC"/>
                </a:solidFill>
                <a:effectLst/>
                <a:latin typeface="Söhne"/>
              </a:rPr>
              <a:t>Compute</a:t>
            </a:r>
            <a:r>
              <a:rPr lang="fr-FR" sz="2400" b="0" i="0" dirty="0">
                <a:solidFill>
                  <a:srgbClr val="ECECEC"/>
                </a:solidFill>
                <a:effectLst/>
                <a:latin typeface="Söhne"/>
              </a:rPr>
              <a:t> Engine API.</a:t>
            </a:r>
          </a:p>
          <a:p>
            <a:pPr algn="l">
              <a:buFont typeface="Arial" panose="020B0604020202020204" pitchFamily="34" charset="0"/>
              <a:buChar char="•"/>
            </a:pPr>
            <a:r>
              <a:rPr lang="fr-FR" sz="2400" b="0" i="0" dirty="0" err="1">
                <a:solidFill>
                  <a:srgbClr val="ECECEC"/>
                </a:solidFill>
                <a:effectLst/>
                <a:latin typeface="Söhne"/>
              </a:rPr>
              <a:t>Compute</a:t>
            </a:r>
            <a:r>
              <a:rPr lang="fr-FR" sz="2400" b="0" i="0" dirty="0">
                <a:solidFill>
                  <a:srgbClr val="ECECEC"/>
                </a:solidFill>
                <a:effectLst/>
                <a:latin typeface="Söhne"/>
              </a:rPr>
              <a:t> Engine </a:t>
            </a:r>
            <a:r>
              <a:rPr lang="fr-FR" sz="2400" b="0" i="0" dirty="0" err="1">
                <a:solidFill>
                  <a:srgbClr val="ECECEC"/>
                </a:solidFill>
                <a:effectLst/>
                <a:latin typeface="Söhne"/>
              </a:rPr>
              <a:t>offers</a:t>
            </a:r>
            <a:r>
              <a:rPr lang="fr-FR" sz="2400" b="0" i="0" dirty="0">
                <a:solidFill>
                  <a:srgbClr val="ECECEC"/>
                </a:solidFill>
                <a:effectLst/>
                <a:latin typeface="Söhne"/>
              </a:rPr>
              <a:t> </a:t>
            </a:r>
            <a:r>
              <a:rPr lang="fr-FR" sz="2400" b="0" i="0" dirty="0" err="1">
                <a:solidFill>
                  <a:srgbClr val="ECECEC"/>
                </a:solidFill>
                <a:effectLst/>
                <a:latin typeface="Söhne"/>
              </a:rPr>
              <a:t>several</a:t>
            </a:r>
            <a:r>
              <a:rPr lang="fr-FR" sz="2400" b="0" i="0" dirty="0">
                <a:solidFill>
                  <a:srgbClr val="ECECEC"/>
                </a:solidFill>
                <a:effectLst/>
                <a:latin typeface="Söhne"/>
              </a:rPr>
              <a:t> </a:t>
            </a:r>
            <a:r>
              <a:rPr lang="fr-FR" sz="2400" b="0" i="0" dirty="0" err="1">
                <a:solidFill>
                  <a:srgbClr val="ECECEC"/>
                </a:solidFill>
                <a:effectLst/>
                <a:latin typeface="Söhne"/>
              </a:rPr>
              <a:t>storage</a:t>
            </a:r>
            <a:r>
              <a:rPr lang="fr-FR" sz="2400" b="0" i="0" dirty="0">
                <a:solidFill>
                  <a:srgbClr val="ECECEC"/>
                </a:solidFill>
                <a:effectLst/>
                <a:latin typeface="Söhne"/>
              </a:rPr>
              <a:t> options </a:t>
            </a:r>
            <a:r>
              <a:rPr lang="fr-FR" sz="2400" b="0" i="0" dirty="0" err="1">
                <a:solidFill>
                  <a:srgbClr val="ECECEC"/>
                </a:solidFill>
                <a:effectLst/>
                <a:latin typeface="Söhne"/>
              </a:rPr>
              <a:t>with</a:t>
            </a:r>
            <a:r>
              <a:rPr lang="fr-FR" sz="2400" b="0" i="0" dirty="0">
                <a:solidFill>
                  <a:srgbClr val="ECECEC"/>
                </a:solidFill>
                <a:effectLst/>
                <a:latin typeface="Söhne"/>
              </a:rPr>
              <a:t> unique </a:t>
            </a:r>
            <a:r>
              <a:rPr lang="fr-FR" sz="2400" b="0" i="0" dirty="0" err="1">
                <a:solidFill>
                  <a:srgbClr val="ECECEC"/>
                </a:solidFill>
                <a:effectLst/>
                <a:latin typeface="Söhne"/>
              </a:rPr>
              <a:t>pricing</a:t>
            </a:r>
            <a:r>
              <a:rPr lang="fr-FR" sz="2400" b="0" i="0" dirty="0">
                <a:solidFill>
                  <a:srgbClr val="ECECEC"/>
                </a:solidFill>
                <a:effectLst/>
                <a:latin typeface="Söhne"/>
              </a:rPr>
              <a:t> and performance </a:t>
            </a:r>
            <a:r>
              <a:rPr lang="fr-FR" sz="2400" b="0" i="0" dirty="0" err="1">
                <a:solidFill>
                  <a:srgbClr val="ECECEC"/>
                </a:solidFill>
                <a:effectLst/>
                <a:latin typeface="Söhne"/>
              </a:rPr>
              <a:t>characteristics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Custom machine types enable </a:t>
            </a:r>
            <a:r>
              <a:rPr lang="fr-FR" sz="2400" b="0" i="0" dirty="0" err="1">
                <a:solidFill>
                  <a:srgbClr val="ECECEC"/>
                </a:solidFill>
                <a:effectLst/>
                <a:latin typeface="Söhne"/>
              </a:rPr>
              <a:t>precise</a:t>
            </a:r>
            <a:r>
              <a:rPr lang="fr-FR" sz="2400" b="0" i="0" dirty="0">
                <a:solidFill>
                  <a:srgbClr val="ECECEC"/>
                </a:solidFill>
                <a:effectLst/>
                <a:latin typeface="Söhne"/>
              </a:rPr>
              <a:t> </a:t>
            </a:r>
            <a:r>
              <a:rPr lang="fr-FR" sz="2400" b="0" i="0" dirty="0" err="1">
                <a:solidFill>
                  <a:srgbClr val="ECECEC"/>
                </a:solidFill>
                <a:effectLst/>
                <a:latin typeface="Söhne"/>
              </a:rPr>
              <a:t>selection</a:t>
            </a:r>
            <a:r>
              <a:rPr lang="fr-FR" sz="2400" b="0" i="0" dirty="0">
                <a:solidFill>
                  <a:srgbClr val="ECECEC"/>
                </a:solidFill>
                <a:effectLst/>
                <a:latin typeface="Söhne"/>
              </a:rPr>
              <a:t> of instance </a:t>
            </a:r>
            <a:r>
              <a:rPr lang="fr-FR" sz="2400" b="0" i="0" dirty="0" err="1">
                <a:solidFill>
                  <a:srgbClr val="ECECEC"/>
                </a:solidFill>
                <a:effectLst/>
                <a:latin typeface="Söhne"/>
              </a:rPr>
              <a:t>properties</a:t>
            </a:r>
            <a:r>
              <a:rPr lang="fr-FR" sz="2400" b="0" i="0" dirty="0">
                <a:solidFill>
                  <a:srgbClr val="ECECEC"/>
                </a:solidFill>
                <a:effectLst/>
                <a:latin typeface="Söhne"/>
              </a:rPr>
              <a:t> </a:t>
            </a:r>
            <a:r>
              <a:rPr lang="fr-FR" sz="2400" b="0" i="0" dirty="0" err="1">
                <a:solidFill>
                  <a:srgbClr val="ECECEC"/>
                </a:solidFill>
                <a:effectLst/>
                <a:latin typeface="Söhne"/>
              </a:rPr>
              <a:t>based</a:t>
            </a:r>
            <a:r>
              <a:rPr lang="fr-FR" sz="2400" b="0" i="0" dirty="0">
                <a:solidFill>
                  <a:srgbClr val="ECECEC"/>
                </a:solidFill>
                <a:effectLst/>
                <a:latin typeface="Söhne"/>
              </a:rPr>
              <a:t> on </a:t>
            </a:r>
            <a:r>
              <a:rPr lang="fr-FR" sz="2400" b="0" i="0" dirty="0" err="1">
                <a:solidFill>
                  <a:srgbClr val="ECECEC"/>
                </a:solidFill>
                <a:effectLst/>
                <a:latin typeface="Söhne"/>
              </a:rPr>
              <a:t>requirements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Persistent </a:t>
            </a:r>
            <a:r>
              <a:rPr lang="fr-FR" sz="2400" b="0" i="0" dirty="0" err="1">
                <a:solidFill>
                  <a:srgbClr val="ECECEC"/>
                </a:solidFill>
                <a:effectLst/>
                <a:latin typeface="Söhne"/>
              </a:rPr>
              <a:t>disks</a:t>
            </a:r>
            <a:r>
              <a:rPr lang="fr-FR" sz="2400" b="0" i="0" dirty="0">
                <a:solidFill>
                  <a:srgbClr val="ECECEC"/>
                </a:solidFill>
                <a:effectLst/>
                <a:latin typeface="Söhne"/>
              </a:rPr>
              <a:t> are </a:t>
            </a:r>
            <a:r>
              <a:rPr lang="fr-FR" sz="2400" b="0" i="0" dirty="0" err="1">
                <a:solidFill>
                  <a:srgbClr val="ECECEC"/>
                </a:solidFill>
                <a:effectLst/>
                <a:latin typeface="Söhne"/>
              </a:rPr>
              <a:t>recommended</a:t>
            </a:r>
            <a:r>
              <a:rPr lang="fr-FR" sz="2400" b="0" i="0" dirty="0">
                <a:solidFill>
                  <a:srgbClr val="ECECEC"/>
                </a:solidFill>
                <a:effectLst/>
                <a:latin typeface="Söhne"/>
              </a:rPr>
              <a:t> for </a:t>
            </a:r>
            <a:r>
              <a:rPr lang="fr-FR" sz="2400" b="0" i="0" dirty="0" err="1">
                <a:solidFill>
                  <a:srgbClr val="ECECEC"/>
                </a:solidFill>
                <a:effectLst/>
                <a:latin typeface="Söhne"/>
              </a:rPr>
              <a:t>storage</a:t>
            </a:r>
            <a:r>
              <a:rPr lang="fr-FR" sz="2400" b="0" i="0" dirty="0">
                <a:solidFill>
                  <a:srgbClr val="ECECEC"/>
                </a:solidFill>
                <a:effectLst/>
                <a:latin typeface="Söhne"/>
              </a:rPr>
              <a:t> </a:t>
            </a:r>
            <a:r>
              <a:rPr lang="fr-FR" sz="2400" b="0" i="0" dirty="0" err="1">
                <a:solidFill>
                  <a:srgbClr val="ECECEC"/>
                </a:solidFill>
                <a:effectLst/>
                <a:latin typeface="Söhne"/>
              </a:rPr>
              <a:t>needs</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Overall</a:t>
            </a:r>
            <a:r>
              <a:rPr lang="fr-FR" sz="2400" b="0" i="0" dirty="0">
                <a:solidFill>
                  <a:srgbClr val="ECECEC"/>
                </a:solidFill>
                <a:effectLst/>
                <a:latin typeface="Söhne"/>
              </a:rPr>
              <a:t>, </a:t>
            </a:r>
            <a:r>
              <a:rPr lang="fr-FR" sz="2400" b="0" i="0" dirty="0" err="1">
                <a:solidFill>
                  <a:srgbClr val="ECECEC"/>
                </a:solidFill>
                <a:effectLst/>
                <a:latin typeface="Söhne"/>
              </a:rPr>
              <a:t>it</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flexible, high-</a:t>
            </a:r>
            <a:r>
              <a:rPr lang="fr-FR" sz="2400" b="0" i="0" dirty="0" err="1">
                <a:solidFill>
                  <a:srgbClr val="ECECEC"/>
                </a:solidFill>
                <a:effectLst/>
                <a:latin typeface="Söhne"/>
              </a:rPr>
              <a:t>performing</a:t>
            </a:r>
            <a:r>
              <a:rPr lang="fr-FR" sz="2400" b="0" i="0" dirty="0">
                <a:solidFill>
                  <a:srgbClr val="ECECEC"/>
                </a:solidFill>
                <a:effectLst/>
                <a:latin typeface="Söhne"/>
              </a:rPr>
              <a:t>, and </a:t>
            </a:r>
            <a:r>
              <a:rPr lang="fr-FR" sz="2400" b="0" i="0" dirty="0" err="1">
                <a:solidFill>
                  <a:srgbClr val="ECECEC"/>
                </a:solidFill>
                <a:effectLst/>
                <a:latin typeface="Söhne"/>
              </a:rPr>
              <a:t>billed</a:t>
            </a:r>
            <a:r>
              <a:rPr lang="fr-FR" sz="2400" b="0" i="0" dirty="0">
                <a:solidFill>
                  <a:srgbClr val="ECECEC"/>
                </a:solidFill>
                <a:effectLst/>
                <a:latin typeface="Söhne"/>
              </a:rPr>
              <a:t> </a:t>
            </a:r>
            <a:r>
              <a:rPr lang="fr-FR" sz="2400" b="0" i="0" dirty="0" err="1">
                <a:solidFill>
                  <a:srgbClr val="ECECEC"/>
                </a:solidFill>
                <a:effectLst/>
                <a:latin typeface="Söhne"/>
              </a:rPr>
              <a:t>based</a:t>
            </a:r>
            <a:r>
              <a:rPr lang="fr-FR" sz="2400" b="0" i="0" dirty="0">
                <a:solidFill>
                  <a:srgbClr val="ECECEC"/>
                </a:solidFill>
                <a:effectLst/>
                <a:latin typeface="Söhne"/>
              </a:rPr>
              <a:t> on </a:t>
            </a:r>
            <a:r>
              <a:rPr lang="fr-FR" sz="2400" b="0" i="0" dirty="0" err="1">
                <a:solidFill>
                  <a:srgbClr val="ECECEC"/>
                </a:solidFill>
                <a:effectLst/>
                <a:latin typeface="Söhne"/>
              </a:rPr>
              <a:t>actual</a:t>
            </a:r>
            <a:r>
              <a:rPr lang="fr-FR" sz="2400" b="0" i="0" dirty="0">
                <a:solidFill>
                  <a:srgbClr val="ECECEC"/>
                </a:solidFill>
                <a:effectLst/>
                <a:latin typeface="Söhne"/>
              </a:rPr>
              <a:t> usage.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1988153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marketplace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7"/>
            <a:ext cx="10351747" cy="4325413"/>
          </a:xfrm>
        </p:spPr>
        <p:txBody>
          <a:bodyPr>
            <a:noAutofit/>
          </a:bodyPr>
          <a:lstStyle/>
          <a:p>
            <a:pPr algn="l">
              <a:buFont typeface="Arial" panose="020B0604020202020204" pitchFamily="34" charset="0"/>
              <a:buChar char="•"/>
            </a:pPr>
            <a:r>
              <a:rPr lang="fr-FR" sz="1800" b="0" i="0" dirty="0">
                <a:solidFill>
                  <a:srgbClr val="ECECEC"/>
                </a:solidFill>
                <a:effectLst/>
                <a:latin typeface="Söhne"/>
              </a:rPr>
              <a:t>Google Cloud Marketplace </a:t>
            </a:r>
            <a:r>
              <a:rPr lang="fr-FR" sz="1800" b="0" i="0" dirty="0" err="1">
                <a:solidFill>
                  <a:srgbClr val="ECECEC"/>
                </a:solidFill>
                <a:effectLst/>
                <a:latin typeface="Söhne"/>
              </a:rPr>
              <a:t>is</a:t>
            </a:r>
            <a:r>
              <a:rPr lang="fr-FR" sz="1800" b="0" i="0" dirty="0">
                <a:solidFill>
                  <a:srgbClr val="ECECEC"/>
                </a:solidFill>
                <a:effectLst/>
                <a:latin typeface="Söhne"/>
              </a:rPr>
              <a:t> an online platform </a:t>
            </a:r>
            <a:r>
              <a:rPr lang="fr-FR" sz="1800" b="0" i="0" dirty="0" err="1">
                <a:solidFill>
                  <a:srgbClr val="ECECEC"/>
                </a:solidFill>
                <a:effectLst/>
                <a:latin typeface="Söhne"/>
              </a:rPr>
              <a:t>that</a:t>
            </a:r>
            <a:r>
              <a:rPr lang="fr-FR" sz="1800" b="0" i="0" dirty="0">
                <a:solidFill>
                  <a:srgbClr val="ECECEC"/>
                </a:solidFill>
                <a:effectLst/>
                <a:latin typeface="Söhne"/>
              </a:rPr>
              <a:t> </a:t>
            </a:r>
            <a:r>
              <a:rPr lang="fr-FR" sz="1800" b="0" i="0" dirty="0" err="1">
                <a:solidFill>
                  <a:srgbClr val="ECECEC"/>
                </a:solidFill>
                <a:effectLst/>
                <a:latin typeface="Söhne"/>
              </a:rPr>
              <a:t>allows</a:t>
            </a:r>
            <a:r>
              <a:rPr lang="fr-FR" sz="1800" b="0" i="0" dirty="0">
                <a:solidFill>
                  <a:srgbClr val="ECECEC"/>
                </a:solidFill>
                <a:effectLst/>
                <a:latin typeface="Söhne"/>
              </a:rPr>
              <a:t> </a:t>
            </a:r>
            <a:r>
              <a:rPr lang="fr-FR" sz="1800" b="0" i="0" dirty="0" err="1">
                <a:solidFill>
                  <a:srgbClr val="ECECEC"/>
                </a:solidFill>
                <a:effectLst/>
                <a:latin typeface="Söhne"/>
              </a:rPr>
              <a:t>users</a:t>
            </a:r>
            <a:r>
              <a:rPr lang="fr-FR" sz="1800" b="0" i="0" dirty="0">
                <a:solidFill>
                  <a:srgbClr val="ECECEC"/>
                </a:solidFill>
                <a:effectLst/>
                <a:latin typeface="Söhne"/>
              </a:rPr>
              <a:t> to </a:t>
            </a:r>
            <a:r>
              <a:rPr lang="fr-FR" sz="1800" b="0" i="0" dirty="0" err="1">
                <a:solidFill>
                  <a:srgbClr val="ECECEC"/>
                </a:solidFill>
                <a:effectLst/>
                <a:latin typeface="Söhne"/>
              </a:rPr>
              <a:t>discover</a:t>
            </a:r>
            <a:r>
              <a:rPr lang="fr-FR" sz="1800" b="0" i="0" dirty="0">
                <a:solidFill>
                  <a:srgbClr val="ECECEC"/>
                </a:solidFill>
                <a:effectLst/>
                <a:latin typeface="Söhne"/>
              </a:rPr>
              <a:t>, </a:t>
            </a:r>
            <a:r>
              <a:rPr lang="fr-FR" sz="1800" b="0" i="0" dirty="0" err="1">
                <a:solidFill>
                  <a:srgbClr val="ECECEC"/>
                </a:solidFill>
                <a:effectLst/>
                <a:latin typeface="Söhne"/>
              </a:rPr>
              <a:t>deploy</a:t>
            </a:r>
            <a:r>
              <a:rPr lang="fr-FR" sz="1800" b="0" i="0" dirty="0">
                <a:solidFill>
                  <a:srgbClr val="ECECEC"/>
                </a:solidFill>
                <a:effectLst/>
                <a:latin typeface="Söhne"/>
              </a:rPr>
              <a:t>, and manage </a:t>
            </a:r>
            <a:r>
              <a:rPr lang="fr-FR" sz="1800" b="0" i="0" dirty="0" err="1">
                <a:solidFill>
                  <a:srgbClr val="ECECEC"/>
                </a:solidFill>
                <a:effectLst/>
                <a:latin typeface="Söhne"/>
              </a:rPr>
              <a:t>pre-configured</a:t>
            </a:r>
            <a:r>
              <a:rPr lang="fr-FR" sz="1800" b="0" i="0" dirty="0">
                <a:solidFill>
                  <a:srgbClr val="ECECEC"/>
                </a:solidFill>
                <a:effectLst/>
                <a:latin typeface="Söhne"/>
              </a:rPr>
              <a:t> and </a:t>
            </a:r>
            <a:r>
              <a:rPr lang="fr-FR" sz="1800" b="0" i="0" dirty="0" err="1">
                <a:solidFill>
                  <a:srgbClr val="ECECEC"/>
                </a:solidFill>
                <a:effectLst/>
                <a:latin typeface="Söhne"/>
              </a:rPr>
              <a:t>certified</a:t>
            </a:r>
            <a:r>
              <a:rPr lang="fr-FR" sz="1800" b="0" i="0" dirty="0">
                <a:solidFill>
                  <a:srgbClr val="ECECEC"/>
                </a:solidFill>
                <a:effectLst/>
                <a:latin typeface="Söhne"/>
              </a:rPr>
              <a:t> </a:t>
            </a:r>
            <a:r>
              <a:rPr lang="fr-FR" sz="1800" b="0" i="0" dirty="0" err="1">
                <a:solidFill>
                  <a:srgbClr val="ECECEC"/>
                </a:solidFill>
                <a:effectLst/>
                <a:latin typeface="Söhne"/>
              </a:rPr>
              <a:t>third</a:t>
            </a:r>
            <a:r>
              <a:rPr lang="fr-FR" sz="1800" b="0" i="0" dirty="0">
                <a:solidFill>
                  <a:srgbClr val="ECECEC"/>
                </a:solidFill>
                <a:effectLst/>
                <a:latin typeface="Söhne"/>
              </a:rPr>
              <a:t>-party software on Google Cloud Platform (GCP).</a:t>
            </a:r>
          </a:p>
          <a:p>
            <a:pPr algn="l">
              <a:buFont typeface="Arial" panose="020B0604020202020204" pitchFamily="34" charset="0"/>
              <a:buChar char="•"/>
            </a:pPr>
            <a:r>
              <a:rPr lang="fr-FR" sz="1800" b="0" i="0" dirty="0" err="1">
                <a:solidFill>
                  <a:srgbClr val="ECECEC"/>
                </a:solidFill>
                <a:effectLst/>
                <a:latin typeface="Söhne"/>
              </a:rPr>
              <a:t>Users</a:t>
            </a:r>
            <a:r>
              <a:rPr lang="fr-FR" sz="1800" b="0" i="0" dirty="0">
                <a:solidFill>
                  <a:srgbClr val="ECECEC"/>
                </a:solidFill>
                <a:effectLst/>
                <a:latin typeface="Söhne"/>
              </a:rPr>
              <a:t> </a:t>
            </a:r>
            <a:r>
              <a:rPr lang="fr-FR" sz="1800" b="0" i="0" dirty="0" err="1">
                <a:solidFill>
                  <a:srgbClr val="ECECEC"/>
                </a:solidFill>
                <a:effectLst/>
                <a:latin typeface="Söhne"/>
              </a:rPr>
              <a:t>browse</a:t>
            </a:r>
            <a:r>
              <a:rPr lang="fr-FR" sz="1800" b="0" i="0" dirty="0">
                <a:solidFill>
                  <a:srgbClr val="ECECEC"/>
                </a:solidFill>
                <a:effectLst/>
                <a:latin typeface="Söhne"/>
              </a:rPr>
              <a:t> the software </a:t>
            </a:r>
            <a:r>
              <a:rPr lang="fr-FR" sz="1800" b="0" i="0" dirty="0" err="1">
                <a:solidFill>
                  <a:srgbClr val="ECECEC"/>
                </a:solidFill>
                <a:effectLst/>
                <a:latin typeface="Söhne"/>
              </a:rPr>
              <a:t>catalog</a:t>
            </a:r>
            <a:r>
              <a:rPr lang="fr-FR" sz="1800" b="0" i="0" dirty="0">
                <a:solidFill>
                  <a:srgbClr val="ECECEC"/>
                </a:solidFill>
                <a:effectLst/>
                <a:latin typeface="Söhne"/>
              </a:rPr>
              <a:t>, select solutions </a:t>
            </a:r>
            <a:r>
              <a:rPr lang="fr-FR" sz="1800" b="0" i="0" dirty="0" err="1">
                <a:solidFill>
                  <a:srgbClr val="ECECEC"/>
                </a:solidFill>
                <a:effectLst/>
                <a:latin typeface="Söhne"/>
              </a:rPr>
              <a:t>that</a:t>
            </a:r>
            <a:r>
              <a:rPr lang="fr-FR" sz="1800" b="0" i="0" dirty="0">
                <a:solidFill>
                  <a:srgbClr val="ECECEC"/>
                </a:solidFill>
                <a:effectLst/>
                <a:latin typeface="Söhne"/>
              </a:rPr>
              <a:t> </a:t>
            </a:r>
            <a:r>
              <a:rPr lang="fr-FR" sz="1800" b="0" i="0" dirty="0" err="1">
                <a:solidFill>
                  <a:srgbClr val="ECECEC"/>
                </a:solidFill>
                <a:effectLst/>
                <a:latin typeface="Söhne"/>
              </a:rPr>
              <a:t>meet</a:t>
            </a:r>
            <a:r>
              <a:rPr lang="fr-FR" sz="1800" b="0" i="0" dirty="0">
                <a:solidFill>
                  <a:srgbClr val="ECECEC"/>
                </a:solidFill>
                <a:effectLst/>
                <a:latin typeface="Söhne"/>
              </a:rPr>
              <a:t> </a:t>
            </a:r>
            <a:r>
              <a:rPr lang="fr-FR" sz="1800" b="0" i="0" dirty="0" err="1">
                <a:solidFill>
                  <a:srgbClr val="ECECEC"/>
                </a:solidFill>
                <a:effectLst/>
                <a:latin typeface="Söhne"/>
              </a:rPr>
              <a:t>their</a:t>
            </a:r>
            <a:r>
              <a:rPr lang="fr-FR" sz="1800" b="0" i="0" dirty="0">
                <a:solidFill>
                  <a:srgbClr val="ECECEC"/>
                </a:solidFill>
                <a:effectLst/>
                <a:latin typeface="Söhne"/>
              </a:rPr>
              <a:t> </a:t>
            </a:r>
            <a:r>
              <a:rPr lang="fr-FR" sz="1800" b="0" i="0" dirty="0" err="1">
                <a:solidFill>
                  <a:srgbClr val="ECECEC"/>
                </a:solidFill>
                <a:effectLst/>
                <a:latin typeface="Söhne"/>
              </a:rPr>
              <a:t>needs</a:t>
            </a:r>
            <a:r>
              <a:rPr lang="fr-FR" sz="1800" b="0" i="0" dirty="0">
                <a:solidFill>
                  <a:srgbClr val="ECECEC"/>
                </a:solidFill>
                <a:effectLst/>
                <a:latin typeface="Söhne"/>
              </a:rPr>
              <a:t>, and </a:t>
            </a:r>
            <a:r>
              <a:rPr lang="fr-FR" sz="1800" b="0" i="0" dirty="0" err="1">
                <a:solidFill>
                  <a:srgbClr val="ECECEC"/>
                </a:solidFill>
                <a:effectLst/>
                <a:latin typeface="Söhne"/>
              </a:rPr>
              <a:t>deploy</a:t>
            </a:r>
            <a:r>
              <a:rPr lang="fr-FR" sz="1800" b="0" i="0" dirty="0">
                <a:solidFill>
                  <a:srgbClr val="ECECEC"/>
                </a:solidFill>
                <a:effectLst/>
                <a:latin typeface="Söhne"/>
              </a:rPr>
              <a:t> </a:t>
            </a:r>
            <a:r>
              <a:rPr lang="fr-FR" sz="1800" b="0" i="0" dirty="0" err="1">
                <a:solidFill>
                  <a:srgbClr val="ECECEC"/>
                </a:solidFill>
                <a:effectLst/>
                <a:latin typeface="Söhne"/>
              </a:rPr>
              <a:t>them</a:t>
            </a:r>
            <a:r>
              <a:rPr lang="fr-FR" sz="1800" b="0" i="0" dirty="0">
                <a:solidFill>
                  <a:srgbClr val="ECECEC"/>
                </a:solidFill>
                <a:effectLst/>
                <a:latin typeface="Söhne"/>
              </a:rPr>
              <a:t> on </a:t>
            </a:r>
            <a:r>
              <a:rPr lang="fr-FR" sz="1800" b="0" i="0" dirty="0" err="1">
                <a:solidFill>
                  <a:srgbClr val="ECECEC"/>
                </a:solidFill>
                <a:effectLst/>
                <a:latin typeface="Söhne"/>
              </a:rPr>
              <a:t>their</a:t>
            </a:r>
            <a:r>
              <a:rPr lang="fr-FR" sz="1800" b="0" i="0" dirty="0">
                <a:solidFill>
                  <a:srgbClr val="ECECEC"/>
                </a:solidFill>
                <a:effectLst/>
                <a:latin typeface="Söhne"/>
              </a:rPr>
              <a:t> GCP infrastructure </a:t>
            </a:r>
            <a:r>
              <a:rPr lang="fr-FR" sz="1800" b="0" i="0" dirty="0" err="1">
                <a:solidFill>
                  <a:srgbClr val="ECECEC"/>
                </a:solidFill>
                <a:effectLst/>
                <a:latin typeface="Söhne"/>
              </a:rPr>
              <a:t>with</a:t>
            </a:r>
            <a:r>
              <a:rPr lang="fr-FR" sz="1800" b="0" i="0" dirty="0">
                <a:solidFill>
                  <a:srgbClr val="ECECEC"/>
                </a:solidFill>
                <a:effectLst/>
                <a:latin typeface="Söhne"/>
              </a:rPr>
              <a:t> a few clicks.</a:t>
            </a:r>
          </a:p>
          <a:p>
            <a:pPr algn="l">
              <a:buFont typeface="Arial" panose="020B0604020202020204" pitchFamily="34" charset="0"/>
              <a:buChar char="•"/>
            </a:pPr>
            <a:r>
              <a:rPr lang="fr-FR" sz="1800" b="0" i="0" dirty="0">
                <a:solidFill>
                  <a:srgbClr val="ECECEC"/>
                </a:solidFill>
                <a:effectLst/>
                <a:latin typeface="Söhne"/>
              </a:rPr>
              <a:t>It </a:t>
            </a:r>
            <a:r>
              <a:rPr lang="fr-FR" sz="1800" b="0" i="0" dirty="0" err="1">
                <a:solidFill>
                  <a:srgbClr val="ECECEC"/>
                </a:solidFill>
                <a:effectLst/>
                <a:latin typeface="Söhne"/>
              </a:rPr>
              <a:t>offers</a:t>
            </a:r>
            <a:r>
              <a:rPr lang="fr-FR" sz="1800" b="0" i="0" dirty="0">
                <a:solidFill>
                  <a:srgbClr val="ECECEC"/>
                </a:solidFill>
                <a:effectLst/>
                <a:latin typeface="Söhne"/>
              </a:rPr>
              <a:t> </a:t>
            </a:r>
            <a:r>
              <a:rPr lang="fr-FR" sz="1800" b="0" i="0" dirty="0" err="1">
                <a:solidFill>
                  <a:srgbClr val="ECECEC"/>
                </a:solidFill>
                <a:effectLst/>
                <a:latin typeface="Söhne"/>
              </a:rPr>
              <a:t>pre-configured</a:t>
            </a:r>
            <a:r>
              <a:rPr lang="fr-FR" sz="1800" b="0" i="0" dirty="0">
                <a:solidFill>
                  <a:srgbClr val="ECECEC"/>
                </a:solidFill>
                <a:effectLst/>
                <a:latin typeface="Söhne"/>
              </a:rPr>
              <a:t> services like </a:t>
            </a:r>
            <a:r>
              <a:rPr lang="fr-FR" sz="1800" b="0" i="0" dirty="0" err="1">
                <a:solidFill>
                  <a:srgbClr val="ECECEC"/>
                </a:solidFill>
                <a:effectLst/>
                <a:latin typeface="Söhne"/>
              </a:rPr>
              <a:t>databases</a:t>
            </a:r>
            <a:r>
              <a:rPr lang="fr-FR" sz="1800" b="0" i="0" dirty="0">
                <a:solidFill>
                  <a:srgbClr val="ECECEC"/>
                </a:solidFill>
                <a:effectLst/>
                <a:latin typeface="Söhne"/>
              </a:rPr>
              <a:t>, web services, etc., </a:t>
            </a:r>
            <a:r>
              <a:rPr lang="fr-FR" sz="1800" b="0" i="0" dirty="0" err="1">
                <a:solidFill>
                  <a:srgbClr val="ECECEC"/>
                </a:solidFill>
                <a:effectLst/>
                <a:latin typeface="Söhne"/>
              </a:rPr>
              <a:t>based</a:t>
            </a:r>
            <a:r>
              <a:rPr lang="fr-FR" sz="1800" b="0" i="0" dirty="0">
                <a:solidFill>
                  <a:srgbClr val="ECECEC"/>
                </a:solidFill>
                <a:effectLst/>
                <a:latin typeface="Söhne"/>
              </a:rPr>
              <a:t> on GCP services like </a:t>
            </a:r>
            <a:r>
              <a:rPr lang="fr-FR" sz="1800" b="0" i="0" dirty="0" err="1">
                <a:solidFill>
                  <a:srgbClr val="ECECEC"/>
                </a:solidFill>
                <a:effectLst/>
                <a:latin typeface="Söhne"/>
              </a:rPr>
              <a:t>Compute</a:t>
            </a:r>
            <a:r>
              <a:rPr lang="fr-FR" sz="1800" b="0" i="0" dirty="0">
                <a:solidFill>
                  <a:srgbClr val="ECECEC"/>
                </a:solidFill>
                <a:effectLst/>
                <a:latin typeface="Söhne"/>
              </a:rPr>
              <a:t> Engine (</a:t>
            </a:r>
            <a:r>
              <a:rPr lang="fr-FR" sz="1800" b="0" i="0" dirty="0" err="1">
                <a:solidFill>
                  <a:srgbClr val="ECECEC"/>
                </a:solidFill>
                <a:effectLst/>
                <a:latin typeface="Söhne"/>
              </a:rPr>
              <a:t>instead</a:t>
            </a:r>
            <a:r>
              <a:rPr lang="fr-FR" sz="1800" b="0" i="0" dirty="0">
                <a:solidFill>
                  <a:srgbClr val="ECECEC"/>
                </a:solidFill>
                <a:effectLst/>
                <a:latin typeface="Söhne"/>
              </a:rPr>
              <a:t> of </a:t>
            </a:r>
            <a:r>
              <a:rPr lang="fr-FR" sz="1800" b="0" i="0" dirty="0" err="1">
                <a:solidFill>
                  <a:srgbClr val="ECECEC"/>
                </a:solidFill>
                <a:effectLst/>
                <a:latin typeface="Söhne"/>
              </a:rPr>
              <a:t>initiating</a:t>
            </a:r>
            <a:r>
              <a:rPr lang="fr-FR" sz="1800" b="0" i="0" dirty="0">
                <a:solidFill>
                  <a:srgbClr val="ECECEC"/>
                </a:solidFill>
                <a:effectLst/>
                <a:latin typeface="Söhne"/>
              </a:rPr>
              <a:t> an </a:t>
            </a:r>
            <a:r>
              <a:rPr lang="fr-FR" sz="1800" b="0" i="0" dirty="0" err="1">
                <a:solidFill>
                  <a:srgbClr val="ECECEC"/>
                </a:solidFill>
                <a:effectLst/>
                <a:latin typeface="Söhne"/>
              </a:rPr>
              <a:t>empty</a:t>
            </a:r>
            <a:r>
              <a:rPr lang="fr-FR" sz="1800" b="0" i="0" dirty="0">
                <a:solidFill>
                  <a:srgbClr val="ECECEC"/>
                </a:solidFill>
                <a:effectLst/>
                <a:latin typeface="Söhne"/>
              </a:rPr>
              <a:t> VM and </a:t>
            </a:r>
            <a:r>
              <a:rPr lang="fr-FR" sz="1800" b="0" i="0" dirty="0" err="1">
                <a:solidFill>
                  <a:srgbClr val="ECECEC"/>
                </a:solidFill>
                <a:effectLst/>
                <a:latin typeface="Söhne"/>
              </a:rPr>
              <a:t>installing</a:t>
            </a:r>
            <a:r>
              <a:rPr lang="fr-FR" sz="1800" b="0" i="0" dirty="0">
                <a:solidFill>
                  <a:srgbClr val="ECECEC"/>
                </a:solidFill>
                <a:effectLst/>
                <a:latin typeface="Söhne"/>
              </a:rPr>
              <a:t> a </a:t>
            </a:r>
            <a:r>
              <a:rPr lang="fr-FR" sz="1800" b="0" i="0" dirty="0" err="1">
                <a:solidFill>
                  <a:srgbClr val="ECECEC"/>
                </a:solidFill>
                <a:effectLst/>
                <a:latin typeface="Söhne"/>
              </a:rPr>
              <a:t>database</a:t>
            </a:r>
            <a:r>
              <a:rPr lang="fr-FR" sz="1800" b="0" i="0" dirty="0">
                <a:solidFill>
                  <a:srgbClr val="ECECEC"/>
                </a:solidFill>
                <a:effectLst/>
                <a:latin typeface="Söhne"/>
              </a:rPr>
              <a:t>, etc.).</a:t>
            </a:r>
          </a:p>
          <a:p>
            <a:pPr algn="l">
              <a:buFont typeface="Arial" panose="020B0604020202020204" pitchFamily="34" charset="0"/>
              <a:buChar char="•"/>
            </a:pPr>
            <a:r>
              <a:rPr lang="fr-FR" sz="1800" b="0" i="0" dirty="0">
                <a:solidFill>
                  <a:srgbClr val="ECECEC"/>
                </a:solidFill>
                <a:effectLst/>
                <a:latin typeface="Söhne"/>
              </a:rPr>
              <a:t>The </a:t>
            </a:r>
            <a:r>
              <a:rPr lang="fr-FR" sz="1800" b="0" i="0" dirty="0" err="1">
                <a:solidFill>
                  <a:srgbClr val="ECECEC"/>
                </a:solidFill>
                <a:effectLst/>
                <a:latin typeface="Söhne"/>
              </a:rPr>
              <a:t>benefits</a:t>
            </a:r>
            <a:r>
              <a:rPr lang="fr-FR" sz="1800" b="0" i="0" dirty="0">
                <a:solidFill>
                  <a:srgbClr val="ECECEC"/>
                </a:solidFill>
                <a:effectLst/>
                <a:latin typeface="Söhne"/>
              </a:rPr>
              <a:t> of Google Cloud Marketplace are </a:t>
            </a:r>
            <a:r>
              <a:rPr lang="fr-FR" sz="1800" b="0" i="0" dirty="0" err="1">
                <a:solidFill>
                  <a:srgbClr val="ECECEC"/>
                </a:solidFill>
                <a:effectLst/>
                <a:latin typeface="Söhne"/>
              </a:rPr>
              <a:t>numerous</a:t>
            </a:r>
            <a:r>
              <a:rPr lang="fr-FR" sz="1800" b="0" i="0" dirty="0">
                <a:solidFill>
                  <a:srgbClr val="ECECEC"/>
                </a:solidFill>
                <a:effectLst/>
                <a:latin typeface="Söhne"/>
              </a:rPr>
              <a:t>. </a:t>
            </a:r>
            <a:r>
              <a:rPr lang="fr-FR" sz="1800" b="0" i="0" dirty="0" err="1">
                <a:solidFill>
                  <a:srgbClr val="ECECEC"/>
                </a:solidFill>
                <a:effectLst/>
                <a:latin typeface="Söhne"/>
              </a:rPr>
              <a:t>Firstly</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provides</a:t>
            </a:r>
            <a:r>
              <a:rPr lang="fr-FR" sz="1800" b="0" i="0" dirty="0">
                <a:solidFill>
                  <a:srgbClr val="ECECEC"/>
                </a:solidFill>
                <a:effectLst/>
                <a:latin typeface="Söhne"/>
              </a:rPr>
              <a:t> a </a:t>
            </a:r>
            <a:r>
              <a:rPr lang="fr-FR" sz="1800" b="0" i="0" dirty="0" err="1">
                <a:solidFill>
                  <a:srgbClr val="ECECEC"/>
                </a:solidFill>
                <a:effectLst/>
                <a:latin typeface="Söhne"/>
              </a:rPr>
              <a:t>wide</a:t>
            </a:r>
            <a:r>
              <a:rPr lang="fr-FR" sz="1800" b="0" i="0" dirty="0">
                <a:solidFill>
                  <a:srgbClr val="ECECEC"/>
                </a:solidFill>
                <a:effectLst/>
                <a:latin typeface="Söhne"/>
              </a:rPr>
              <a:t> </a:t>
            </a:r>
            <a:r>
              <a:rPr lang="fr-FR" sz="1800" b="0" i="0" dirty="0" err="1">
                <a:solidFill>
                  <a:srgbClr val="ECECEC"/>
                </a:solidFill>
                <a:effectLst/>
                <a:latin typeface="Söhne"/>
              </a:rPr>
              <a:t>variety</a:t>
            </a:r>
            <a:r>
              <a:rPr lang="fr-FR" sz="1800" b="0" i="0" dirty="0">
                <a:solidFill>
                  <a:srgbClr val="ECECEC"/>
                </a:solidFill>
                <a:effectLst/>
                <a:latin typeface="Söhne"/>
              </a:rPr>
              <a:t> of software and </a:t>
            </a:r>
            <a:r>
              <a:rPr lang="fr-FR" sz="1800" b="0" i="0" dirty="0" err="1">
                <a:solidFill>
                  <a:srgbClr val="ECECEC"/>
                </a:solidFill>
                <a:effectLst/>
                <a:latin typeface="Söhne"/>
              </a:rPr>
              <a:t>tools</a:t>
            </a:r>
            <a:r>
              <a:rPr lang="fr-FR" sz="1800" b="0" i="0" dirty="0">
                <a:solidFill>
                  <a:srgbClr val="ECECEC"/>
                </a:solidFill>
                <a:effectLst/>
                <a:latin typeface="Söhne"/>
              </a:rPr>
              <a:t>, </a:t>
            </a:r>
            <a:r>
              <a:rPr lang="fr-FR" sz="1800" b="0" i="0" dirty="0" err="1">
                <a:solidFill>
                  <a:srgbClr val="ECECEC"/>
                </a:solidFill>
                <a:effectLst/>
                <a:latin typeface="Söhne"/>
              </a:rPr>
              <a:t>enabling</a:t>
            </a:r>
            <a:r>
              <a:rPr lang="fr-FR" sz="1800" b="0" i="0" dirty="0">
                <a:solidFill>
                  <a:srgbClr val="ECECEC"/>
                </a:solidFill>
                <a:effectLst/>
                <a:latin typeface="Söhne"/>
              </a:rPr>
              <a:t> </a:t>
            </a:r>
            <a:r>
              <a:rPr lang="fr-FR" sz="1800" b="0" i="0" dirty="0" err="1">
                <a:solidFill>
                  <a:srgbClr val="ECECEC"/>
                </a:solidFill>
                <a:effectLst/>
                <a:latin typeface="Söhne"/>
              </a:rPr>
              <a:t>users</a:t>
            </a:r>
            <a:r>
              <a:rPr lang="fr-FR" sz="1800" b="0" i="0" dirty="0">
                <a:solidFill>
                  <a:srgbClr val="ECECEC"/>
                </a:solidFill>
                <a:effectLst/>
                <a:latin typeface="Söhne"/>
              </a:rPr>
              <a:t> to </a:t>
            </a:r>
            <a:r>
              <a:rPr lang="fr-FR" sz="1800" b="0" i="0" dirty="0" err="1">
                <a:solidFill>
                  <a:srgbClr val="ECECEC"/>
                </a:solidFill>
                <a:effectLst/>
                <a:latin typeface="Söhne"/>
              </a:rPr>
              <a:t>quickly</a:t>
            </a:r>
            <a:r>
              <a:rPr lang="fr-FR" sz="1800" b="0" i="0" dirty="0">
                <a:solidFill>
                  <a:srgbClr val="ECECEC"/>
                </a:solidFill>
                <a:effectLst/>
                <a:latin typeface="Söhne"/>
              </a:rPr>
              <a:t> </a:t>
            </a:r>
            <a:r>
              <a:rPr lang="fr-FR" sz="1800" b="0" i="0" dirty="0" err="1">
                <a:solidFill>
                  <a:srgbClr val="ECECEC"/>
                </a:solidFill>
                <a:effectLst/>
                <a:latin typeface="Söhne"/>
              </a:rPr>
              <a:t>find</a:t>
            </a:r>
            <a:r>
              <a:rPr lang="fr-FR" sz="1800" b="0" i="0" dirty="0">
                <a:solidFill>
                  <a:srgbClr val="ECECEC"/>
                </a:solidFill>
                <a:effectLst/>
                <a:latin typeface="Söhne"/>
              </a:rPr>
              <a:t> solutions for </a:t>
            </a:r>
            <a:r>
              <a:rPr lang="fr-FR" sz="1800" b="0" i="0" dirty="0" err="1">
                <a:solidFill>
                  <a:srgbClr val="ECECEC"/>
                </a:solidFill>
                <a:effectLst/>
                <a:latin typeface="Söhne"/>
              </a:rPr>
              <a:t>their</a:t>
            </a:r>
            <a:r>
              <a:rPr lang="fr-FR" sz="1800" b="0" i="0" dirty="0">
                <a:solidFill>
                  <a:srgbClr val="ECECEC"/>
                </a:solidFill>
                <a:effectLst/>
                <a:latin typeface="Söhne"/>
              </a:rPr>
              <a:t> </a:t>
            </a:r>
            <a:r>
              <a:rPr lang="fr-FR" sz="1800" b="0" i="0" dirty="0" err="1">
                <a:solidFill>
                  <a:srgbClr val="ECECEC"/>
                </a:solidFill>
                <a:effectLst/>
                <a:latin typeface="Söhne"/>
              </a:rPr>
              <a:t>specific</a:t>
            </a:r>
            <a:r>
              <a:rPr lang="fr-FR" sz="1800" b="0" i="0" dirty="0">
                <a:solidFill>
                  <a:srgbClr val="ECECEC"/>
                </a:solidFill>
                <a:effectLst/>
                <a:latin typeface="Söhne"/>
              </a:rPr>
              <a:t> </a:t>
            </a:r>
            <a:r>
              <a:rPr lang="fr-FR" sz="1800" b="0" i="0" dirty="0" err="1">
                <a:solidFill>
                  <a:srgbClr val="ECECEC"/>
                </a:solidFill>
                <a:effectLst/>
                <a:latin typeface="Söhne"/>
              </a:rPr>
              <a:t>needs</a:t>
            </a:r>
            <a:r>
              <a:rPr lang="fr-FR" sz="1800" b="0" i="0" dirty="0">
                <a:solidFill>
                  <a:srgbClr val="ECECEC"/>
                </a:solidFill>
                <a:effectLst/>
                <a:latin typeface="Söhne"/>
              </a:rPr>
              <a:t>. </a:t>
            </a:r>
            <a:r>
              <a:rPr lang="fr-FR" sz="1800" b="0" i="0" dirty="0" err="1">
                <a:solidFill>
                  <a:srgbClr val="ECECEC"/>
                </a:solidFill>
                <a:effectLst/>
                <a:latin typeface="Söhne"/>
              </a:rPr>
              <a:t>Additionally</a:t>
            </a:r>
            <a:r>
              <a:rPr lang="fr-FR" sz="1800" b="0" i="0" dirty="0">
                <a:solidFill>
                  <a:srgbClr val="ECECEC"/>
                </a:solidFill>
                <a:effectLst/>
                <a:latin typeface="Söhne"/>
              </a:rPr>
              <a:t>, Google Cloud Marketplace </a:t>
            </a:r>
            <a:r>
              <a:rPr lang="fr-FR" sz="1800" b="0" i="0" dirty="0" err="1">
                <a:solidFill>
                  <a:srgbClr val="ECECEC"/>
                </a:solidFill>
                <a:effectLst/>
                <a:latin typeface="Söhne"/>
              </a:rPr>
              <a:t>ensures</a:t>
            </a:r>
            <a:r>
              <a:rPr lang="fr-FR" sz="1800" b="0" i="0" dirty="0">
                <a:solidFill>
                  <a:srgbClr val="ECECEC"/>
                </a:solidFill>
                <a:effectLst/>
                <a:latin typeface="Söhne"/>
              </a:rPr>
              <a:t> compatibility and </a:t>
            </a:r>
            <a:r>
              <a:rPr lang="fr-FR" sz="1800" b="0" i="0" dirty="0" err="1">
                <a:solidFill>
                  <a:srgbClr val="ECECEC"/>
                </a:solidFill>
                <a:effectLst/>
                <a:latin typeface="Söhne"/>
              </a:rPr>
              <a:t>security</a:t>
            </a:r>
            <a:r>
              <a:rPr lang="fr-FR" sz="1800" b="0" i="0" dirty="0">
                <a:solidFill>
                  <a:srgbClr val="ECECEC"/>
                </a:solidFill>
                <a:effectLst/>
                <a:latin typeface="Söhne"/>
              </a:rPr>
              <a:t> of </a:t>
            </a:r>
            <a:r>
              <a:rPr lang="fr-FR" sz="1800" b="0" i="0" dirty="0" err="1">
                <a:solidFill>
                  <a:srgbClr val="ECECEC"/>
                </a:solidFill>
                <a:effectLst/>
                <a:latin typeface="Söhne"/>
              </a:rPr>
              <a:t>listed</a:t>
            </a:r>
            <a:r>
              <a:rPr lang="fr-FR" sz="1800" b="0" i="0" dirty="0">
                <a:solidFill>
                  <a:srgbClr val="ECECEC"/>
                </a:solidFill>
                <a:effectLst/>
                <a:latin typeface="Söhne"/>
              </a:rPr>
              <a:t> software, </a:t>
            </a:r>
            <a:r>
              <a:rPr lang="fr-FR" sz="1800" b="0" i="0" dirty="0" err="1">
                <a:solidFill>
                  <a:srgbClr val="ECECEC"/>
                </a:solidFill>
                <a:effectLst/>
                <a:latin typeface="Söhne"/>
              </a:rPr>
              <a:t>offering</a:t>
            </a:r>
            <a:r>
              <a:rPr lang="fr-FR" sz="1800" b="0" i="0" dirty="0">
                <a:solidFill>
                  <a:srgbClr val="ECECEC"/>
                </a:solidFill>
                <a:effectLst/>
                <a:latin typeface="Söhne"/>
              </a:rPr>
              <a:t> </a:t>
            </a:r>
            <a:r>
              <a:rPr lang="fr-FR" sz="1800" b="0" i="0" dirty="0" err="1">
                <a:solidFill>
                  <a:srgbClr val="ECECEC"/>
                </a:solidFill>
                <a:effectLst/>
                <a:latin typeface="Söhne"/>
              </a:rPr>
              <a:t>users</a:t>
            </a:r>
            <a:r>
              <a:rPr lang="fr-FR" sz="1800" b="0" i="0" dirty="0">
                <a:solidFill>
                  <a:srgbClr val="ECECEC"/>
                </a:solidFill>
                <a:effectLst/>
                <a:latin typeface="Söhne"/>
              </a:rPr>
              <a:t> </a:t>
            </a:r>
            <a:r>
              <a:rPr lang="fr-FR" sz="1800" b="0" i="0" dirty="0" err="1">
                <a:solidFill>
                  <a:srgbClr val="ECECEC"/>
                </a:solidFill>
                <a:effectLst/>
                <a:latin typeface="Söhne"/>
              </a:rPr>
              <a:t>peace</a:t>
            </a:r>
            <a:r>
              <a:rPr lang="fr-FR" sz="1800" b="0" i="0" dirty="0">
                <a:solidFill>
                  <a:srgbClr val="ECECEC"/>
                </a:solidFill>
                <a:effectLst/>
                <a:latin typeface="Söhne"/>
              </a:rPr>
              <a:t> of </a:t>
            </a:r>
            <a:r>
              <a:rPr lang="fr-FR" sz="1800" b="0" i="0" dirty="0" err="1">
                <a:solidFill>
                  <a:srgbClr val="ECECEC"/>
                </a:solidFill>
                <a:effectLst/>
                <a:latin typeface="Söhne"/>
              </a:rPr>
              <a:t>mind</a:t>
            </a:r>
            <a:r>
              <a:rPr lang="fr-FR" sz="1800" b="0" i="0" dirty="0">
                <a:solidFill>
                  <a:srgbClr val="ECECEC"/>
                </a:solidFill>
                <a:effectLst/>
                <a:latin typeface="Söhne"/>
              </a:rPr>
              <a:t> </a:t>
            </a:r>
            <a:r>
              <a:rPr lang="fr-FR" sz="1800" b="0" i="0" dirty="0" err="1">
                <a:solidFill>
                  <a:srgbClr val="ECECEC"/>
                </a:solidFill>
                <a:effectLst/>
                <a:latin typeface="Söhne"/>
              </a:rPr>
              <a:t>when</a:t>
            </a:r>
            <a:r>
              <a:rPr lang="fr-FR" sz="1800" b="0" i="0" dirty="0">
                <a:solidFill>
                  <a:srgbClr val="ECECEC"/>
                </a:solidFill>
                <a:effectLst/>
                <a:latin typeface="Söhne"/>
              </a:rPr>
              <a:t> </a:t>
            </a:r>
            <a:r>
              <a:rPr lang="fr-FR" sz="1800" b="0" i="0" dirty="0" err="1">
                <a:solidFill>
                  <a:srgbClr val="ECECEC"/>
                </a:solidFill>
                <a:effectLst/>
                <a:latin typeface="Söhne"/>
              </a:rPr>
              <a:t>deploying</a:t>
            </a:r>
            <a:r>
              <a:rPr lang="fr-FR" sz="1800" b="0" i="0" dirty="0">
                <a:solidFill>
                  <a:srgbClr val="ECECEC"/>
                </a:solidFill>
                <a:effectLst/>
                <a:latin typeface="Söhne"/>
              </a:rPr>
              <a:t> </a:t>
            </a:r>
            <a:r>
              <a:rPr lang="fr-FR" sz="1800" b="0" i="0" dirty="0" err="1">
                <a:solidFill>
                  <a:srgbClr val="ECECEC"/>
                </a:solidFill>
                <a:effectLst/>
                <a:latin typeface="Söhne"/>
              </a:rPr>
              <a:t>third</a:t>
            </a:r>
            <a:r>
              <a:rPr lang="fr-FR" sz="1800" b="0" i="0" dirty="0">
                <a:solidFill>
                  <a:srgbClr val="ECECEC"/>
                </a:solidFill>
                <a:effectLst/>
                <a:latin typeface="Söhne"/>
              </a:rPr>
              <a:t>-party solutions. </a:t>
            </a:r>
            <a:r>
              <a:rPr lang="fr-FR" sz="1800" b="0" i="0" dirty="0" err="1">
                <a:solidFill>
                  <a:srgbClr val="ECECEC"/>
                </a:solidFill>
                <a:effectLst/>
                <a:latin typeface="Söhne"/>
              </a:rPr>
              <a:t>Furthermore</a:t>
            </a:r>
            <a:r>
              <a:rPr lang="fr-FR" sz="1800" b="0" i="0" dirty="0">
                <a:solidFill>
                  <a:srgbClr val="ECECEC"/>
                </a:solidFill>
                <a:effectLst/>
                <a:latin typeface="Söhne"/>
              </a:rPr>
              <a:t>, Google Cloud Marketplace simplifies the </a:t>
            </a:r>
            <a:r>
              <a:rPr lang="fr-FR" sz="1800" b="0" i="0" dirty="0" err="1">
                <a:solidFill>
                  <a:srgbClr val="ECECEC"/>
                </a:solidFill>
                <a:effectLst/>
                <a:latin typeface="Söhne"/>
              </a:rPr>
              <a:t>purchasing</a:t>
            </a:r>
            <a:r>
              <a:rPr lang="fr-FR" sz="1800" b="0" i="0" dirty="0">
                <a:solidFill>
                  <a:srgbClr val="ECECEC"/>
                </a:solidFill>
                <a:effectLst/>
                <a:latin typeface="Söhne"/>
              </a:rPr>
              <a:t> and </a:t>
            </a:r>
            <a:r>
              <a:rPr lang="fr-FR" sz="1800" b="0" i="0" dirty="0" err="1">
                <a:solidFill>
                  <a:srgbClr val="ECECEC"/>
                </a:solidFill>
                <a:effectLst/>
                <a:latin typeface="Söhne"/>
              </a:rPr>
              <a:t>billing</a:t>
            </a:r>
            <a:r>
              <a:rPr lang="fr-FR" sz="1800" b="0" i="0" dirty="0">
                <a:solidFill>
                  <a:srgbClr val="ECECEC"/>
                </a:solidFill>
                <a:effectLst/>
                <a:latin typeface="Söhne"/>
              </a:rPr>
              <a:t> process, </a:t>
            </a:r>
            <a:r>
              <a:rPr lang="fr-FR" sz="1800" b="0" i="0" dirty="0" err="1">
                <a:solidFill>
                  <a:srgbClr val="ECECEC"/>
                </a:solidFill>
                <a:effectLst/>
                <a:latin typeface="Söhne"/>
              </a:rPr>
              <a:t>allowing</a:t>
            </a:r>
            <a:r>
              <a:rPr lang="fr-FR" sz="1800" b="0" i="0" dirty="0">
                <a:solidFill>
                  <a:srgbClr val="ECECEC"/>
                </a:solidFill>
                <a:effectLst/>
                <a:latin typeface="Söhne"/>
              </a:rPr>
              <a:t> businesses to </a:t>
            </a:r>
            <a:r>
              <a:rPr lang="fr-FR" sz="1800" b="0" i="0" dirty="0" err="1">
                <a:solidFill>
                  <a:srgbClr val="ECECEC"/>
                </a:solidFill>
                <a:effectLst/>
                <a:latin typeface="Söhne"/>
              </a:rPr>
              <a:t>easily</a:t>
            </a:r>
            <a:r>
              <a:rPr lang="fr-FR" sz="1800" b="0" i="0" dirty="0">
                <a:solidFill>
                  <a:srgbClr val="ECECEC"/>
                </a:solidFill>
                <a:effectLst/>
                <a:latin typeface="Söhne"/>
              </a:rPr>
              <a:t> manage </a:t>
            </a:r>
            <a:r>
              <a:rPr lang="fr-FR" sz="1800" b="0" i="0" dirty="0" err="1">
                <a:solidFill>
                  <a:srgbClr val="ECECEC"/>
                </a:solidFill>
                <a:effectLst/>
                <a:latin typeface="Söhne"/>
              </a:rPr>
              <a:t>their</a:t>
            </a:r>
            <a:r>
              <a:rPr lang="fr-FR" sz="1800" b="0" i="0" dirty="0">
                <a:solidFill>
                  <a:srgbClr val="ECECEC"/>
                </a:solidFill>
                <a:effectLst/>
                <a:latin typeface="Söhne"/>
              </a:rPr>
              <a:t> software </a:t>
            </a:r>
            <a:r>
              <a:rPr lang="fr-FR" sz="1800" b="0" i="0" dirty="0" err="1">
                <a:solidFill>
                  <a:srgbClr val="ECECEC"/>
                </a:solidFill>
                <a:effectLst/>
                <a:latin typeface="Söhne"/>
              </a:rPr>
              <a:t>expenses</a:t>
            </a:r>
            <a:r>
              <a:rPr lang="fr-FR" sz="1800" b="0" i="0" dirty="0">
                <a:solidFill>
                  <a:srgbClr val="ECECEC"/>
                </a:solidFill>
                <a:effectLst/>
                <a:latin typeface="Söhne"/>
              </a:rPr>
              <a:t>.</a:t>
            </a:r>
          </a:p>
          <a:p>
            <a:pPr algn="l">
              <a:buFont typeface="Arial" panose="020B0604020202020204" pitchFamily="34" charset="0"/>
              <a:buChar char="•"/>
            </a:pPr>
            <a:r>
              <a:rPr lang="fr-FR" sz="1800" b="0" i="0" dirty="0" err="1">
                <a:solidFill>
                  <a:srgbClr val="ECECEC"/>
                </a:solidFill>
                <a:effectLst/>
                <a:latin typeface="Söhne"/>
              </a:rPr>
              <a:t>However</a:t>
            </a:r>
            <a:r>
              <a:rPr lang="fr-FR" sz="1800" b="0" i="0" dirty="0">
                <a:solidFill>
                  <a:srgbClr val="ECECEC"/>
                </a:solidFill>
                <a:effectLst/>
                <a:latin typeface="Söhne"/>
              </a:rPr>
              <a:t>, </a:t>
            </a:r>
            <a:r>
              <a:rPr lang="fr-FR" sz="1800" b="0" i="0" dirty="0" err="1">
                <a:solidFill>
                  <a:srgbClr val="ECECEC"/>
                </a:solidFill>
                <a:effectLst/>
                <a:latin typeface="Söhne"/>
              </a:rPr>
              <a:t>there</a:t>
            </a:r>
            <a:r>
              <a:rPr lang="fr-FR" sz="1800" b="0" i="0" dirty="0">
                <a:solidFill>
                  <a:srgbClr val="ECECEC"/>
                </a:solidFill>
                <a:effectLst/>
                <a:latin typeface="Söhne"/>
              </a:rPr>
              <a:t> are a few drawbacks to </a:t>
            </a:r>
            <a:r>
              <a:rPr lang="fr-FR" sz="1800" b="0" i="0" dirty="0" err="1">
                <a:solidFill>
                  <a:srgbClr val="ECECEC"/>
                </a:solidFill>
                <a:effectLst/>
                <a:latin typeface="Söhne"/>
              </a:rPr>
              <a:t>consider</a:t>
            </a:r>
            <a:r>
              <a:rPr lang="fr-FR" sz="1800" b="0" i="0" dirty="0">
                <a:solidFill>
                  <a:srgbClr val="ECECEC"/>
                </a:solidFill>
                <a:effectLst/>
                <a:latin typeface="Söhne"/>
              </a:rPr>
              <a:t>. </a:t>
            </a:r>
            <a:r>
              <a:rPr lang="fr-FR" sz="1800" b="0" i="0" dirty="0" err="1">
                <a:solidFill>
                  <a:srgbClr val="ECECEC"/>
                </a:solidFill>
                <a:effectLst/>
                <a:latin typeface="Söhne"/>
              </a:rPr>
              <a:t>While</a:t>
            </a:r>
            <a:r>
              <a:rPr lang="fr-FR" sz="1800" b="0" i="0" dirty="0">
                <a:solidFill>
                  <a:srgbClr val="ECECEC"/>
                </a:solidFill>
                <a:effectLst/>
                <a:latin typeface="Söhne"/>
              </a:rPr>
              <a:t> Google Cloud Marketplace </a:t>
            </a:r>
            <a:r>
              <a:rPr lang="fr-FR" sz="1800" b="0" i="0" dirty="0" err="1">
                <a:solidFill>
                  <a:srgbClr val="ECECEC"/>
                </a:solidFill>
                <a:effectLst/>
                <a:latin typeface="Söhne"/>
              </a:rPr>
              <a:t>offers</a:t>
            </a:r>
            <a:r>
              <a:rPr lang="fr-FR" sz="1800" b="0" i="0" dirty="0">
                <a:solidFill>
                  <a:srgbClr val="ECECEC"/>
                </a:solidFill>
                <a:effectLst/>
                <a:latin typeface="Söhne"/>
              </a:rPr>
              <a:t> </a:t>
            </a:r>
            <a:r>
              <a:rPr lang="fr-FR" sz="1800" b="0" i="0" dirty="0" err="1">
                <a:solidFill>
                  <a:srgbClr val="ECECEC"/>
                </a:solidFill>
                <a:effectLst/>
                <a:latin typeface="Söhne"/>
              </a:rPr>
              <a:t>great</a:t>
            </a:r>
            <a:r>
              <a:rPr lang="fr-FR" sz="1800" b="0" i="0" dirty="0">
                <a:solidFill>
                  <a:srgbClr val="ECECEC"/>
                </a:solidFill>
                <a:effectLst/>
                <a:latin typeface="Söhne"/>
              </a:rPr>
              <a:t> </a:t>
            </a:r>
            <a:r>
              <a:rPr lang="fr-FR" sz="1800" b="0" i="0" dirty="0" err="1">
                <a:solidFill>
                  <a:srgbClr val="ECECEC"/>
                </a:solidFill>
                <a:effectLst/>
                <a:latin typeface="Söhne"/>
              </a:rPr>
              <a:t>convenience</a:t>
            </a:r>
            <a:r>
              <a:rPr lang="fr-FR" sz="1800" b="0" i="0" dirty="0">
                <a:solidFill>
                  <a:srgbClr val="ECECEC"/>
                </a:solidFill>
                <a:effectLst/>
                <a:latin typeface="Söhne"/>
              </a:rPr>
              <a:t>, </a:t>
            </a:r>
            <a:r>
              <a:rPr lang="fr-FR" sz="1800" b="0" i="0" dirty="0" err="1">
                <a:solidFill>
                  <a:srgbClr val="ECECEC"/>
                </a:solidFill>
                <a:effectLst/>
                <a:latin typeface="Söhne"/>
              </a:rPr>
              <a:t>some</a:t>
            </a:r>
            <a:r>
              <a:rPr lang="fr-FR" sz="1800" b="0" i="0" dirty="0">
                <a:solidFill>
                  <a:srgbClr val="ECECEC"/>
                </a:solidFill>
                <a:effectLst/>
                <a:latin typeface="Söhne"/>
              </a:rPr>
              <a:t> software </a:t>
            </a:r>
            <a:r>
              <a:rPr lang="fr-FR" sz="1800" b="0" i="0" dirty="0" err="1">
                <a:solidFill>
                  <a:srgbClr val="ECECEC"/>
                </a:solidFill>
                <a:effectLst/>
                <a:latin typeface="Söhne"/>
              </a:rPr>
              <a:t>may</a:t>
            </a:r>
            <a:r>
              <a:rPr lang="fr-FR" sz="1800" b="0" i="0" dirty="0">
                <a:solidFill>
                  <a:srgbClr val="ECECEC"/>
                </a:solidFill>
                <a:effectLst/>
                <a:latin typeface="Söhne"/>
              </a:rPr>
              <a:t> have </a:t>
            </a:r>
            <a:r>
              <a:rPr lang="fr-FR" sz="1800" b="0" i="0" dirty="0" err="1">
                <a:solidFill>
                  <a:srgbClr val="ECECEC"/>
                </a:solidFill>
                <a:effectLst/>
                <a:latin typeface="Söhne"/>
              </a:rPr>
              <a:t>additional</a:t>
            </a:r>
            <a:r>
              <a:rPr lang="fr-FR" sz="1800" b="0" i="0" dirty="0">
                <a:solidFill>
                  <a:srgbClr val="ECECEC"/>
                </a:solidFill>
                <a:effectLst/>
                <a:latin typeface="Söhne"/>
              </a:rPr>
              <a:t> </a:t>
            </a:r>
            <a:r>
              <a:rPr lang="fr-FR" sz="1800" b="0" i="0" dirty="0" err="1">
                <a:solidFill>
                  <a:srgbClr val="ECECEC"/>
                </a:solidFill>
                <a:effectLst/>
                <a:latin typeface="Söhne"/>
              </a:rPr>
              <a:t>costs</a:t>
            </a:r>
            <a:r>
              <a:rPr lang="fr-FR" sz="1800" b="0" i="0" dirty="0">
                <a:solidFill>
                  <a:srgbClr val="ECECEC"/>
                </a:solidFill>
                <a:effectLst/>
                <a:latin typeface="Söhne"/>
              </a:rPr>
              <a:t> </a:t>
            </a:r>
            <a:r>
              <a:rPr lang="fr-FR" sz="1800" b="0" i="0" dirty="0" err="1">
                <a:solidFill>
                  <a:srgbClr val="ECECEC"/>
                </a:solidFill>
                <a:effectLst/>
                <a:latin typeface="Söhne"/>
              </a:rPr>
              <a:t>associated</a:t>
            </a:r>
            <a:r>
              <a:rPr lang="fr-FR" sz="1800" b="0" i="0" dirty="0">
                <a:solidFill>
                  <a:srgbClr val="ECECEC"/>
                </a:solidFill>
                <a:effectLst/>
                <a:latin typeface="Söhne"/>
              </a:rPr>
              <a:t> </a:t>
            </a:r>
            <a:r>
              <a:rPr lang="fr-FR" sz="1800" b="0" i="0" dirty="0" err="1">
                <a:solidFill>
                  <a:srgbClr val="ECECEC"/>
                </a:solidFill>
                <a:effectLst/>
                <a:latin typeface="Söhne"/>
              </a:rPr>
              <a:t>with</a:t>
            </a:r>
            <a:r>
              <a:rPr lang="fr-FR" sz="1800" b="0" i="0" dirty="0">
                <a:solidFill>
                  <a:srgbClr val="ECECEC"/>
                </a:solidFill>
                <a:effectLst/>
                <a:latin typeface="Söhne"/>
              </a:rPr>
              <a:t> </a:t>
            </a:r>
            <a:r>
              <a:rPr lang="fr-FR" sz="1800" b="0" i="0" dirty="0" err="1">
                <a:solidFill>
                  <a:srgbClr val="ECECEC"/>
                </a:solidFill>
                <a:effectLst/>
                <a:latin typeface="Söhne"/>
              </a:rPr>
              <a:t>their</a:t>
            </a:r>
            <a:r>
              <a:rPr lang="fr-FR" sz="1800" b="0" i="0" dirty="0">
                <a:solidFill>
                  <a:srgbClr val="ECECEC"/>
                </a:solidFill>
                <a:effectLst/>
                <a:latin typeface="Söhne"/>
              </a:rPr>
              <a:t> use, </a:t>
            </a:r>
            <a:r>
              <a:rPr lang="fr-FR" sz="1800" b="0" i="0" dirty="0" err="1">
                <a:solidFill>
                  <a:srgbClr val="ECECEC"/>
                </a:solidFill>
                <a:effectLst/>
                <a:latin typeface="Söhne"/>
              </a:rPr>
              <a:t>which</a:t>
            </a:r>
            <a:r>
              <a:rPr lang="fr-FR" sz="1800" b="0" i="0" dirty="0">
                <a:solidFill>
                  <a:srgbClr val="ECECEC"/>
                </a:solidFill>
                <a:effectLst/>
                <a:latin typeface="Söhne"/>
              </a:rPr>
              <a:t> can </a:t>
            </a:r>
            <a:r>
              <a:rPr lang="fr-FR" sz="1800" b="0" i="0" dirty="0" err="1">
                <a:solidFill>
                  <a:srgbClr val="ECECEC"/>
                </a:solidFill>
                <a:effectLst/>
                <a:latin typeface="Söhne"/>
              </a:rPr>
              <a:t>increase</a:t>
            </a:r>
            <a:r>
              <a:rPr lang="fr-FR" sz="1800" b="0" i="0" dirty="0">
                <a:solidFill>
                  <a:srgbClr val="ECECEC"/>
                </a:solidFill>
                <a:effectLst/>
                <a:latin typeface="Söhne"/>
              </a:rPr>
              <a:t> </a:t>
            </a:r>
            <a:r>
              <a:rPr lang="fr-FR" sz="1800" b="0" i="0" dirty="0" err="1">
                <a:solidFill>
                  <a:srgbClr val="ECECEC"/>
                </a:solidFill>
                <a:effectLst/>
                <a:latin typeface="Söhne"/>
              </a:rPr>
              <a:t>overall</a:t>
            </a:r>
            <a:r>
              <a:rPr lang="fr-FR" sz="1800" b="0" i="0" dirty="0">
                <a:solidFill>
                  <a:srgbClr val="ECECEC"/>
                </a:solidFill>
                <a:effectLst/>
                <a:latin typeface="Söhne"/>
              </a:rPr>
              <a:t> </a:t>
            </a:r>
            <a:r>
              <a:rPr lang="fr-FR" sz="1800" b="0" i="0" dirty="0" err="1">
                <a:solidFill>
                  <a:srgbClr val="ECECEC"/>
                </a:solidFill>
                <a:effectLst/>
                <a:latin typeface="Söhne"/>
              </a:rPr>
              <a:t>company</a:t>
            </a:r>
            <a:r>
              <a:rPr lang="fr-FR" sz="1800" b="0" i="0" dirty="0">
                <a:solidFill>
                  <a:srgbClr val="ECECEC"/>
                </a:solidFill>
                <a:effectLst/>
                <a:latin typeface="Söhne"/>
              </a:rPr>
              <a:t> </a:t>
            </a:r>
            <a:r>
              <a:rPr lang="fr-FR" sz="1800" b="0" i="0" dirty="0" err="1">
                <a:solidFill>
                  <a:srgbClr val="ECECEC"/>
                </a:solidFill>
                <a:effectLst/>
                <a:latin typeface="Söhne"/>
              </a:rPr>
              <a:t>expenses</a:t>
            </a:r>
            <a:r>
              <a:rPr lang="fr-FR" sz="1800" b="0" i="0" dirty="0">
                <a:solidFill>
                  <a:srgbClr val="ECECEC"/>
                </a:solidFill>
                <a:effectLst/>
                <a:latin typeface="Söhne"/>
              </a:rPr>
              <a:t>. </a:t>
            </a:r>
            <a:r>
              <a:rPr lang="fr-FR" sz="1800" b="0" i="0" dirty="0" err="1">
                <a:solidFill>
                  <a:srgbClr val="ECECEC"/>
                </a:solidFill>
                <a:effectLst/>
                <a:latin typeface="Söhne"/>
              </a:rPr>
              <a:t>Additionally</a:t>
            </a:r>
            <a:r>
              <a:rPr lang="fr-FR" sz="1800" b="0" i="0" dirty="0">
                <a:solidFill>
                  <a:srgbClr val="ECECEC"/>
                </a:solidFill>
                <a:effectLst/>
                <a:latin typeface="Söhne"/>
              </a:rPr>
              <a:t>, </a:t>
            </a:r>
            <a:r>
              <a:rPr lang="fr-FR" sz="1800" b="0" i="0" dirty="0" err="1">
                <a:solidFill>
                  <a:srgbClr val="ECECEC"/>
                </a:solidFill>
                <a:effectLst/>
                <a:latin typeface="Söhne"/>
              </a:rPr>
              <a:t>users</a:t>
            </a:r>
            <a:r>
              <a:rPr lang="fr-FR" sz="1800" b="0" i="0" dirty="0">
                <a:solidFill>
                  <a:srgbClr val="ECECEC"/>
                </a:solidFill>
                <a:effectLst/>
                <a:latin typeface="Söhne"/>
              </a:rPr>
              <a:t> must </a:t>
            </a:r>
            <a:r>
              <a:rPr lang="fr-FR" sz="1800" b="0" i="0" dirty="0" err="1">
                <a:solidFill>
                  <a:srgbClr val="ECECEC"/>
                </a:solidFill>
                <a:effectLst/>
                <a:latin typeface="Söhne"/>
              </a:rPr>
              <a:t>exercise</a:t>
            </a:r>
            <a:r>
              <a:rPr lang="fr-FR" sz="1800" b="0" i="0" dirty="0">
                <a:solidFill>
                  <a:srgbClr val="ECECEC"/>
                </a:solidFill>
                <a:effectLst/>
                <a:latin typeface="Söhne"/>
              </a:rPr>
              <a:t> due diligence </a:t>
            </a:r>
            <a:r>
              <a:rPr lang="fr-FR" sz="1800" b="0" i="0" dirty="0" err="1">
                <a:solidFill>
                  <a:srgbClr val="ECECEC"/>
                </a:solidFill>
                <a:effectLst/>
                <a:latin typeface="Söhne"/>
              </a:rPr>
              <a:t>when</a:t>
            </a:r>
            <a:r>
              <a:rPr lang="fr-FR" sz="1800" b="0" i="0" dirty="0">
                <a:solidFill>
                  <a:srgbClr val="ECECEC"/>
                </a:solidFill>
                <a:effectLst/>
                <a:latin typeface="Söhne"/>
              </a:rPr>
              <a:t> </a:t>
            </a:r>
            <a:r>
              <a:rPr lang="fr-FR" sz="1800" b="0" i="0" dirty="0" err="1">
                <a:solidFill>
                  <a:srgbClr val="ECECEC"/>
                </a:solidFill>
                <a:effectLst/>
                <a:latin typeface="Söhne"/>
              </a:rPr>
              <a:t>selecting</a:t>
            </a:r>
            <a:r>
              <a:rPr lang="fr-FR" sz="1800" b="0" i="0" dirty="0">
                <a:solidFill>
                  <a:srgbClr val="ECECEC"/>
                </a:solidFill>
                <a:effectLst/>
                <a:latin typeface="Söhne"/>
              </a:rPr>
              <a:t> software solutions, </a:t>
            </a:r>
            <a:r>
              <a:rPr lang="fr-FR" sz="1800" b="0" i="0" dirty="0" err="1">
                <a:solidFill>
                  <a:srgbClr val="ECECEC"/>
                </a:solidFill>
                <a:effectLst/>
                <a:latin typeface="Söhne"/>
              </a:rPr>
              <a:t>ensuring</a:t>
            </a:r>
            <a:r>
              <a:rPr lang="fr-FR" sz="1800" b="0" i="0" dirty="0">
                <a:solidFill>
                  <a:srgbClr val="ECECEC"/>
                </a:solidFill>
                <a:effectLst/>
                <a:latin typeface="Söhne"/>
              </a:rPr>
              <a:t> </a:t>
            </a:r>
            <a:r>
              <a:rPr lang="fr-FR" sz="1800" b="0" i="0" dirty="0" err="1">
                <a:solidFill>
                  <a:srgbClr val="ECECEC"/>
                </a:solidFill>
                <a:effectLst/>
                <a:latin typeface="Söhne"/>
              </a:rPr>
              <a:t>they</a:t>
            </a:r>
            <a:r>
              <a:rPr lang="fr-FR" sz="1800" b="0" i="0" dirty="0">
                <a:solidFill>
                  <a:srgbClr val="ECECEC"/>
                </a:solidFill>
                <a:effectLst/>
                <a:latin typeface="Söhne"/>
              </a:rPr>
              <a:t> </a:t>
            </a:r>
            <a:r>
              <a:rPr lang="fr-FR" sz="1800" b="0" i="0" dirty="0" err="1">
                <a:solidFill>
                  <a:srgbClr val="ECECEC"/>
                </a:solidFill>
                <a:effectLst/>
                <a:latin typeface="Söhne"/>
              </a:rPr>
              <a:t>meet</a:t>
            </a:r>
            <a:r>
              <a:rPr lang="fr-FR" sz="1800" b="0" i="0" dirty="0">
                <a:solidFill>
                  <a:srgbClr val="ECECEC"/>
                </a:solidFill>
                <a:effectLst/>
                <a:latin typeface="Söhne"/>
              </a:rPr>
              <a:t> </a:t>
            </a:r>
            <a:r>
              <a:rPr lang="fr-FR" sz="1800" b="0" i="0" dirty="0" err="1">
                <a:solidFill>
                  <a:srgbClr val="ECECEC"/>
                </a:solidFill>
                <a:effectLst/>
                <a:latin typeface="Söhne"/>
              </a:rPr>
              <a:t>their</a:t>
            </a:r>
            <a:r>
              <a:rPr lang="fr-FR" sz="1800" b="0" i="0" dirty="0">
                <a:solidFill>
                  <a:srgbClr val="ECECEC"/>
                </a:solidFill>
                <a:effectLst/>
                <a:latin typeface="Söhne"/>
              </a:rPr>
              <a:t> </a:t>
            </a:r>
            <a:r>
              <a:rPr lang="fr-FR" sz="1800" b="0" i="0" dirty="0" err="1">
                <a:solidFill>
                  <a:srgbClr val="ECECEC"/>
                </a:solidFill>
                <a:effectLst/>
                <a:latin typeface="Söhne"/>
              </a:rPr>
              <a:t>requirements</a:t>
            </a:r>
            <a:r>
              <a:rPr lang="fr-FR" sz="1800" b="0" i="0" dirty="0">
                <a:solidFill>
                  <a:srgbClr val="ECECEC"/>
                </a:solidFill>
                <a:effectLst/>
                <a:latin typeface="Söhne"/>
              </a:rPr>
              <a:t> in </a:t>
            </a:r>
            <a:r>
              <a:rPr lang="fr-FR" sz="1800" b="0" i="0" dirty="0" err="1">
                <a:solidFill>
                  <a:srgbClr val="ECECEC"/>
                </a:solidFill>
                <a:effectLst/>
                <a:latin typeface="Söhne"/>
              </a:rPr>
              <a:t>terms</a:t>
            </a:r>
            <a:r>
              <a:rPr lang="fr-FR" sz="1800" b="0" i="0" dirty="0">
                <a:solidFill>
                  <a:srgbClr val="ECECEC"/>
                </a:solidFill>
                <a:effectLst/>
                <a:latin typeface="Söhne"/>
              </a:rPr>
              <a:t> of </a:t>
            </a:r>
            <a:r>
              <a:rPr lang="fr-FR" sz="1800" b="0" i="0" dirty="0" err="1">
                <a:solidFill>
                  <a:srgbClr val="ECECEC"/>
                </a:solidFill>
                <a:effectLst/>
                <a:latin typeface="Söhne"/>
              </a:rPr>
              <a:t>features</a:t>
            </a:r>
            <a:r>
              <a:rPr lang="fr-FR" sz="1800" b="0" i="0" dirty="0">
                <a:solidFill>
                  <a:srgbClr val="ECECEC"/>
                </a:solidFill>
                <a:effectLst/>
                <a:latin typeface="Söhne"/>
              </a:rPr>
              <a:t>, performance, and </a:t>
            </a:r>
            <a:r>
              <a:rPr lang="fr-FR" sz="1800" b="0" i="0" dirty="0" err="1">
                <a:solidFill>
                  <a:srgbClr val="ECECEC"/>
                </a:solidFill>
                <a:effectLst/>
                <a:latin typeface="Söhne"/>
              </a:rPr>
              <a:t>security</a:t>
            </a:r>
            <a:r>
              <a:rPr lang="fr-FR" sz="18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381029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281676"/>
            <a:ext cx="11530647" cy="1293028"/>
          </a:xfrm>
        </p:spPr>
        <p:txBody>
          <a:bodyPr>
            <a:normAutofit/>
          </a:bodyPr>
          <a:lstStyle/>
          <a:p>
            <a:pPr algn="l"/>
            <a:r>
              <a:rPr lang="fr-FR" sz="3200" dirty="0" err="1"/>
              <a:t>Load</a:t>
            </a:r>
            <a:r>
              <a:rPr lang="fr-FR" sz="3200" dirty="0"/>
              <a:t> balancer</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err="1">
                <a:solidFill>
                  <a:srgbClr val="ECECEC"/>
                </a:solidFill>
                <a:effectLst/>
                <a:latin typeface="Söhne"/>
              </a:rPr>
              <a:t>Load</a:t>
            </a:r>
            <a:r>
              <a:rPr lang="fr-FR" sz="2400" b="0" i="0" dirty="0">
                <a:solidFill>
                  <a:srgbClr val="ECECEC"/>
                </a:solidFill>
                <a:effectLst/>
                <a:latin typeface="Söhne"/>
              </a:rPr>
              <a:t> balancer </a:t>
            </a:r>
            <a:r>
              <a:rPr lang="fr-FR" sz="2400" b="0" i="0" dirty="0" err="1">
                <a:solidFill>
                  <a:srgbClr val="ECECEC"/>
                </a:solidFill>
                <a:effectLst/>
                <a:latin typeface="Söhne"/>
              </a:rPr>
              <a:t>distributes</a:t>
            </a:r>
            <a:r>
              <a:rPr lang="fr-FR" sz="2400" b="0" i="0" dirty="0">
                <a:solidFill>
                  <a:srgbClr val="ECECEC"/>
                </a:solidFill>
                <a:effectLst/>
                <a:latin typeface="Söhne"/>
              </a:rPr>
              <a:t> user </a:t>
            </a:r>
            <a:r>
              <a:rPr lang="fr-FR" sz="2400" b="0" i="0" dirty="0" err="1">
                <a:solidFill>
                  <a:srgbClr val="ECECEC"/>
                </a:solidFill>
                <a:effectLst/>
                <a:latin typeface="Söhne"/>
              </a:rPr>
              <a:t>traffic</a:t>
            </a:r>
            <a:r>
              <a:rPr lang="fr-FR" sz="2400" b="0" i="0" dirty="0">
                <a:solidFill>
                  <a:srgbClr val="ECECEC"/>
                </a:solidFill>
                <a:effectLst/>
                <a:latin typeface="Söhne"/>
              </a:rPr>
              <a:t> </a:t>
            </a:r>
            <a:r>
              <a:rPr lang="fr-FR" sz="2400" b="0" i="0" dirty="0" err="1">
                <a:solidFill>
                  <a:srgbClr val="ECECEC"/>
                </a:solidFill>
                <a:effectLst/>
                <a:latin typeface="Söhne"/>
              </a:rPr>
              <a:t>across</a:t>
            </a:r>
            <a:r>
              <a:rPr lang="fr-FR" sz="2400" b="0" i="0" dirty="0">
                <a:solidFill>
                  <a:srgbClr val="ECECEC"/>
                </a:solidFill>
                <a:effectLst/>
                <a:latin typeface="Söhne"/>
              </a:rPr>
              <a:t> multiple instances of an application, </a:t>
            </a:r>
            <a:r>
              <a:rPr lang="fr-FR" sz="2400" b="0" i="0" dirty="0" err="1">
                <a:solidFill>
                  <a:srgbClr val="ECECEC"/>
                </a:solidFill>
                <a:effectLst/>
                <a:latin typeface="Söhne"/>
              </a:rPr>
              <a:t>reducing</a:t>
            </a:r>
            <a:r>
              <a:rPr lang="fr-FR" sz="2400" b="0" i="0" dirty="0">
                <a:solidFill>
                  <a:srgbClr val="ECECEC"/>
                </a:solidFill>
                <a:effectLst/>
                <a:latin typeface="Söhne"/>
              </a:rPr>
              <a:t> the </a:t>
            </a:r>
            <a:r>
              <a:rPr lang="fr-FR" sz="2400" b="0" i="0" dirty="0" err="1">
                <a:solidFill>
                  <a:srgbClr val="ECECEC"/>
                </a:solidFill>
                <a:effectLst/>
                <a:latin typeface="Söhne"/>
              </a:rPr>
              <a:t>risk</a:t>
            </a:r>
            <a:r>
              <a:rPr lang="fr-FR" sz="2400" b="0" i="0" dirty="0">
                <a:solidFill>
                  <a:srgbClr val="ECECEC"/>
                </a:solidFill>
                <a:effectLst/>
                <a:latin typeface="Söhne"/>
              </a:rPr>
              <a:t> of performance issues.</a:t>
            </a:r>
          </a:p>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Load</a:t>
            </a:r>
            <a:r>
              <a:rPr lang="fr-FR" sz="2400" b="0" i="0" dirty="0">
                <a:solidFill>
                  <a:srgbClr val="ECECEC"/>
                </a:solidFill>
                <a:effectLst/>
                <a:latin typeface="Söhne"/>
              </a:rPr>
              <a:t> Balancing </a:t>
            </a:r>
            <a:r>
              <a:rPr lang="fr-FR" sz="2400" b="0" i="0" dirty="0" err="1">
                <a:solidFill>
                  <a:srgbClr val="ECECEC"/>
                </a:solidFill>
                <a:effectLst/>
                <a:latin typeface="Söhne"/>
              </a:rPr>
              <a:t>is</a:t>
            </a:r>
            <a:r>
              <a:rPr lang="fr-FR" sz="2400" b="0" i="0" dirty="0">
                <a:solidFill>
                  <a:srgbClr val="ECECEC"/>
                </a:solidFill>
                <a:effectLst/>
                <a:latin typeface="Söhne"/>
              </a:rPr>
              <a:t> a </a:t>
            </a:r>
            <a:r>
              <a:rPr lang="fr-FR" sz="2400" b="0" i="0" dirty="0" err="1">
                <a:solidFill>
                  <a:srgbClr val="ECECEC"/>
                </a:solidFill>
                <a:effectLst/>
                <a:latin typeface="Söhne"/>
              </a:rPr>
              <a:t>fully</a:t>
            </a:r>
            <a:r>
              <a:rPr lang="fr-FR" sz="2400" b="0" i="0" dirty="0">
                <a:solidFill>
                  <a:srgbClr val="ECECEC"/>
                </a:solidFill>
                <a:effectLst/>
                <a:latin typeface="Söhne"/>
              </a:rPr>
              <a:t> </a:t>
            </a:r>
            <a:r>
              <a:rPr lang="fr-FR" sz="2400" b="0" i="0" dirty="0" err="1">
                <a:solidFill>
                  <a:srgbClr val="ECECEC"/>
                </a:solidFill>
                <a:effectLst/>
                <a:latin typeface="Söhne"/>
              </a:rPr>
              <a:t>distributed</a:t>
            </a:r>
            <a:r>
              <a:rPr lang="fr-FR" sz="2400" b="0" i="0" dirty="0">
                <a:solidFill>
                  <a:srgbClr val="ECECEC"/>
                </a:solidFill>
                <a:effectLst/>
                <a:latin typeface="Söhne"/>
              </a:rPr>
              <a:t> and software-</a:t>
            </a:r>
            <a:r>
              <a:rPr lang="fr-FR" sz="2400" b="0" i="0" dirty="0" err="1">
                <a:solidFill>
                  <a:srgbClr val="ECECEC"/>
                </a:solidFill>
                <a:effectLst/>
                <a:latin typeface="Söhne"/>
              </a:rPr>
              <a:t>defined</a:t>
            </a:r>
            <a:r>
              <a:rPr lang="fr-FR" sz="2400" b="0" i="0" dirty="0">
                <a:solidFill>
                  <a:srgbClr val="ECECEC"/>
                </a:solidFill>
                <a:effectLst/>
                <a:latin typeface="Söhne"/>
              </a:rPr>
              <a:t> </a:t>
            </a:r>
            <a:r>
              <a:rPr lang="fr-FR" sz="2400" b="0" i="0" dirty="0" err="1">
                <a:solidFill>
                  <a:srgbClr val="ECECEC"/>
                </a:solidFill>
                <a:effectLst/>
                <a:latin typeface="Söhne"/>
              </a:rPr>
              <a:t>managed</a:t>
            </a:r>
            <a:r>
              <a:rPr lang="fr-FR" sz="2400" b="0" i="0" dirty="0">
                <a:solidFill>
                  <a:srgbClr val="ECECEC"/>
                </a:solidFill>
                <a:effectLst/>
                <a:latin typeface="Söhne"/>
              </a:rPr>
              <a:t> service for all </a:t>
            </a:r>
            <a:r>
              <a:rPr lang="fr-FR" sz="2400" b="0" i="0" dirty="0" err="1">
                <a:solidFill>
                  <a:srgbClr val="ECECEC"/>
                </a:solidFill>
                <a:effectLst/>
                <a:latin typeface="Söhne"/>
              </a:rPr>
              <a:t>your</a:t>
            </a:r>
            <a:r>
              <a:rPr lang="fr-FR" sz="2400" b="0" i="0" dirty="0">
                <a:solidFill>
                  <a:srgbClr val="ECECEC"/>
                </a:solidFill>
                <a:effectLst/>
                <a:latin typeface="Söhne"/>
              </a:rPr>
              <a:t> </a:t>
            </a:r>
            <a:r>
              <a:rPr lang="fr-FR" sz="2400" b="0" i="0" dirty="0" err="1">
                <a:solidFill>
                  <a:srgbClr val="ECECEC"/>
                </a:solidFill>
                <a:effectLst/>
                <a:latin typeface="Söhne"/>
              </a:rPr>
              <a:t>traffic</a:t>
            </a:r>
            <a:r>
              <a:rPr lang="fr-FR" sz="2400" b="0" i="0" dirty="0">
                <a:solidFill>
                  <a:srgbClr val="ECECEC"/>
                </a:solidFill>
                <a:effectLst/>
                <a:latin typeface="Söhne"/>
              </a:rPr>
              <a:t>, </a:t>
            </a:r>
            <a:r>
              <a:rPr lang="fr-FR" sz="2400" b="0" i="0" dirty="0" err="1">
                <a:solidFill>
                  <a:srgbClr val="ECECEC"/>
                </a:solidFill>
                <a:effectLst/>
                <a:latin typeface="Söhne"/>
              </a:rPr>
              <a:t>offering</a:t>
            </a:r>
            <a:r>
              <a:rPr lang="fr-FR" sz="2400" b="0" i="0" dirty="0">
                <a:solidFill>
                  <a:srgbClr val="ECECEC"/>
                </a:solidFill>
                <a:effectLst/>
                <a:latin typeface="Söhne"/>
              </a:rPr>
              <a:t> </a:t>
            </a:r>
            <a:r>
              <a:rPr lang="fr-FR" sz="2400" b="0" i="0" dirty="0" err="1">
                <a:solidFill>
                  <a:srgbClr val="ECECEC"/>
                </a:solidFill>
                <a:effectLst/>
                <a:latin typeface="Söhne"/>
              </a:rPr>
              <a:t>simplified</a:t>
            </a:r>
            <a:r>
              <a:rPr lang="fr-FR" sz="2400" b="0" i="0" dirty="0">
                <a:solidFill>
                  <a:srgbClr val="ECECEC"/>
                </a:solidFill>
                <a:effectLst/>
                <a:latin typeface="Söhne"/>
              </a:rPr>
              <a:t> management </a:t>
            </a:r>
            <a:r>
              <a:rPr lang="fr-FR" sz="2400" b="0" i="0" dirty="0" err="1">
                <a:solidFill>
                  <a:srgbClr val="ECECEC"/>
                </a:solidFill>
                <a:effectLst/>
                <a:latin typeface="Söhne"/>
              </a:rPr>
              <a:t>without</a:t>
            </a:r>
            <a:r>
              <a:rPr lang="fr-FR" sz="2400" b="0" i="0" dirty="0">
                <a:solidFill>
                  <a:srgbClr val="ECECEC"/>
                </a:solidFill>
                <a:effectLst/>
                <a:latin typeface="Söhne"/>
              </a:rPr>
              <a:t> the </a:t>
            </a:r>
            <a:r>
              <a:rPr lang="fr-FR" sz="2400" b="0" i="0" dirty="0" err="1">
                <a:solidFill>
                  <a:srgbClr val="ECECEC"/>
                </a:solidFill>
                <a:effectLst/>
                <a:latin typeface="Söhne"/>
              </a:rPr>
              <a:t>need</a:t>
            </a:r>
            <a:r>
              <a:rPr lang="fr-FR" sz="2400" b="0" i="0" dirty="0">
                <a:solidFill>
                  <a:srgbClr val="ECECEC"/>
                </a:solidFill>
                <a:effectLst/>
                <a:latin typeface="Söhne"/>
              </a:rPr>
              <a:t> to manage or </a:t>
            </a:r>
            <a:r>
              <a:rPr lang="fr-FR" sz="2400" b="0" i="0" dirty="0" err="1">
                <a:solidFill>
                  <a:srgbClr val="ECECEC"/>
                </a:solidFill>
                <a:effectLst/>
                <a:latin typeface="Söhne"/>
              </a:rPr>
              <a:t>scale</a:t>
            </a:r>
            <a:r>
              <a:rPr lang="fr-FR" sz="2400" b="0" i="0" dirty="0">
                <a:solidFill>
                  <a:srgbClr val="ECECEC"/>
                </a:solidFill>
                <a:effectLst/>
                <a:latin typeface="Söhne"/>
              </a:rPr>
              <a:t> </a:t>
            </a:r>
            <a:r>
              <a:rPr lang="fr-FR" sz="2400" b="0" i="0" dirty="0" err="1">
                <a:solidFill>
                  <a:srgbClr val="ECECEC"/>
                </a:solidFill>
                <a:effectLst/>
                <a:latin typeface="Söhne"/>
              </a:rPr>
              <a:t>virtual</a:t>
            </a:r>
            <a:r>
              <a:rPr lang="fr-FR" sz="2400" b="0" i="0" dirty="0">
                <a:solidFill>
                  <a:srgbClr val="ECECEC"/>
                </a:solidFill>
                <a:effectLst/>
                <a:latin typeface="Söhne"/>
              </a:rPr>
              <a:t> machines.</a:t>
            </a:r>
          </a:p>
          <a:p>
            <a:pPr algn="l">
              <a:buFont typeface="Arial" panose="020B0604020202020204" pitchFamily="34" charset="0"/>
              <a:buChar char="•"/>
            </a:pPr>
            <a:r>
              <a:rPr lang="fr-FR" sz="2400" b="0" i="0" dirty="0">
                <a:solidFill>
                  <a:srgbClr val="ECECEC"/>
                </a:solidFill>
                <a:effectLst/>
                <a:latin typeface="Söhne"/>
              </a:rPr>
              <a:t>It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used</a:t>
            </a:r>
            <a:r>
              <a:rPr lang="fr-FR" sz="2400" b="0" i="0" dirty="0">
                <a:solidFill>
                  <a:srgbClr val="ECECEC"/>
                </a:solidFill>
                <a:effectLst/>
                <a:latin typeface="Söhne"/>
              </a:rPr>
              <a:t> for </a:t>
            </a:r>
            <a:r>
              <a:rPr lang="fr-FR" sz="2400" b="0" i="0" dirty="0" err="1">
                <a:solidFill>
                  <a:srgbClr val="ECECEC"/>
                </a:solidFill>
                <a:effectLst/>
                <a:latin typeface="Söhne"/>
              </a:rPr>
              <a:t>various</a:t>
            </a:r>
            <a:r>
              <a:rPr lang="fr-FR" sz="2400" b="0" i="0" dirty="0">
                <a:solidFill>
                  <a:srgbClr val="ECECEC"/>
                </a:solidFill>
                <a:effectLst/>
                <a:latin typeface="Söhne"/>
              </a:rPr>
              <a:t> types of </a:t>
            </a:r>
            <a:r>
              <a:rPr lang="fr-FR" sz="2400" b="0" i="0" dirty="0" err="1">
                <a:solidFill>
                  <a:srgbClr val="ECECEC"/>
                </a:solidFill>
                <a:effectLst/>
                <a:latin typeface="Söhne"/>
              </a:rPr>
              <a:t>traffic</a:t>
            </a:r>
            <a:r>
              <a:rPr lang="fr-FR" sz="2400" b="0" i="0" dirty="0">
                <a:solidFill>
                  <a:srgbClr val="ECECEC"/>
                </a:solidFill>
                <a:effectLst/>
                <a:latin typeface="Söhne"/>
              </a:rPr>
              <a:t>, </a:t>
            </a:r>
            <a:r>
              <a:rPr lang="fr-FR" sz="2400" b="0" i="0" dirty="0" err="1">
                <a:solidFill>
                  <a:srgbClr val="ECECEC"/>
                </a:solidFill>
                <a:effectLst/>
                <a:latin typeface="Söhne"/>
              </a:rPr>
              <a:t>including</a:t>
            </a:r>
            <a:r>
              <a:rPr lang="fr-FR" sz="2400" b="0" i="0" dirty="0">
                <a:solidFill>
                  <a:srgbClr val="ECECEC"/>
                </a:solidFill>
                <a:effectLst/>
                <a:latin typeface="Söhne"/>
              </a:rPr>
              <a:t> HTTP(S), TCP, SSL, and UDP.</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provides</a:t>
            </a:r>
            <a:r>
              <a:rPr lang="fr-FR" sz="2400" b="0" i="0" dirty="0">
                <a:solidFill>
                  <a:srgbClr val="ECECEC"/>
                </a:solidFill>
                <a:effectLst/>
                <a:latin typeface="Söhne"/>
              </a:rPr>
              <a:t> </a:t>
            </a:r>
            <a:r>
              <a:rPr lang="fr-FR" sz="2400" b="0" i="0" dirty="0" err="1">
                <a:solidFill>
                  <a:srgbClr val="ECECEC"/>
                </a:solidFill>
                <a:effectLst/>
                <a:latin typeface="Söhne"/>
              </a:rPr>
              <a:t>load</a:t>
            </a:r>
            <a:r>
              <a:rPr lang="fr-FR" sz="2400" b="0" i="0" dirty="0">
                <a:solidFill>
                  <a:srgbClr val="ECECEC"/>
                </a:solidFill>
                <a:effectLst/>
                <a:latin typeface="Söhne"/>
              </a:rPr>
              <a:t> balancing </a:t>
            </a:r>
            <a:r>
              <a:rPr lang="fr-FR" sz="2400" b="0" i="0" dirty="0" err="1">
                <a:solidFill>
                  <a:srgbClr val="ECECEC"/>
                </a:solidFill>
                <a:effectLst/>
                <a:latin typeface="Söhne"/>
              </a:rPr>
              <a:t>across</a:t>
            </a:r>
            <a:r>
              <a:rPr lang="fr-FR" sz="2400" b="0" i="0" dirty="0">
                <a:solidFill>
                  <a:srgbClr val="ECECEC"/>
                </a:solidFill>
                <a:effectLst/>
                <a:latin typeface="Söhne"/>
              </a:rPr>
              <a:t> </a:t>
            </a:r>
            <a:r>
              <a:rPr lang="fr-FR" sz="2400" b="0" i="0" dirty="0" err="1">
                <a:solidFill>
                  <a:srgbClr val="ECECEC"/>
                </a:solidFill>
                <a:effectLst/>
                <a:latin typeface="Söhne"/>
              </a:rPr>
              <a:t>regions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automatic</a:t>
            </a:r>
            <a:r>
              <a:rPr lang="fr-FR" sz="2400" b="0" i="0" dirty="0">
                <a:solidFill>
                  <a:srgbClr val="ECECEC"/>
                </a:solidFill>
                <a:effectLst/>
                <a:latin typeface="Söhne"/>
              </a:rPr>
              <a:t> failover </a:t>
            </a:r>
            <a:r>
              <a:rPr lang="fr-FR" sz="2400" b="0" i="0" dirty="0" err="1">
                <a:solidFill>
                  <a:srgbClr val="ECECEC"/>
                </a:solidFill>
                <a:effectLst/>
                <a:latin typeface="Söhne"/>
              </a:rPr>
              <a:t>between</a:t>
            </a:r>
            <a:r>
              <a:rPr lang="fr-FR" sz="2400" b="0" i="0" dirty="0">
                <a:solidFill>
                  <a:srgbClr val="ECECEC"/>
                </a:solidFill>
                <a:effectLst/>
                <a:latin typeface="Söhne"/>
              </a:rPr>
              <a:t> </a:t>
            </a:r>
            <a:r>
              <a:rPr lang="fr-FR" sz="2400" b="0" i="0" dirty="0" err="1">
                <a:solidFill>
                  <a:srgbClr val="ECECEC"/>
                </a:solidFill>
                <a:effectLst/>
                <a:latin typeface="Söhne"/>
              </a:rPr>
              <a:t>regions</a:t>
            </a:r>
            <a:r>
              <a:rPr lang="fr-FR" sz="2400" b="0" i="0" dirty="0">
                <a:solidFill>
                  <a:srgbClr val="ECECEC"/>
                </a:solidFill>
                <a:effectLst/>
                <a:latin typeface="Söhne"/>
              </a:rPr>
              <a:t> in case of </a:t>
            </a:r>
            <a:r>
              <a:rPr lang="fr-FR" sz="2400" b="0" i="0" dirty="0" err="1">
                <a:solidFill>
                  <a:srgbClr val="ECECEC"/>
                </a:solidFill>
                <a:effectLst/>
                <a:latin typeface="Söhne"/>
              </a:rPr>
              <a:t>failure</a:t>
            </a:r>
            <a:r>
              <a:rPr lang="fr-FR" sz="2400" b="0" i="0" dirty="0">
                <a:solidFill>
                  <a:srgbClr val="ECECEC"/>
                </a:solidFill>
                <a:effectLst/>
                <a:latin typeface="Söhne"/>
              </a:rPr>
              <a:t>, </a:t>
            </a:r>
            <a:r>
              <a:rPr lang="fr-FR" sz="2400" b="0" i="0" dirty="0" err="1">
                <a:solidFill>
                  <a:srgbClr val="ECECEC"/>
                </a:solidFill>
                <a:effectLst/>
                <a:latin typeface="Söhne"/>
              </a:rPr>
              <a:t>while</a:t>
            </a:r>
            <a:r>
              <a:rPr lang="fr-FR" sz="2400" b="0" i="0" dirty="0">
                <a:solidFill>
                  <a:srgbClr val="ECECEC"/>
                </a:solidFill>
                <a:effectLst/>
                <a:latin typeface="Söhne"/>
              </a:rPr>
              <a:t> </a:t>
            </a:r>
            <a:r>
              <a:rPr lang="fr-FR" sz="2400" b="0" i="0" dirty="0" err="1">
                <a:solidFill>
                  <a:srgbClr val="ECECEC"/>
                </a:solidFill>
                <a:effectLst/>
                <a:latin typeface="Söhne"/>
              </a:rPr>
              <a:t>reacting</a:t>
            </a:r>
            <a:r>
              <a:rPr lang="fr-FR" sz="2400" b="0" i="0" dirty="0">
                <a:solidFill>
                  <a:srgbClr val="ECECEC"/>
                </a:solidFill>
                <a:effectLst/>
                <a:latin typeface="Söhne"/>
              </a:rPr>
              <a:t> </a:t>
            </a:r>
            <a:r>
              <a:rPr lang="fr-FR" sz="2400" b="0" i="0" dirty="0" err="1">
                <a:solidFill>
                  <a:srgbClr val="ECECEC"/>
                </a:solidFill>
                <a:effectLst/>
                <a:latin typeface="Söhne"/>
              </a:rPr>
              <a:t>quickly</a:t>
            </a:r>
            <a:r>
              <a:rPr lang="fr-FR" sz="2400" b="0" i="0" dirty="0">
                <a:solidFill>
                  <a:srgbClr val="ECECEC"/>
                </a:solidFill>
                <a:effectLst/>
                <a:latin typeface="Söhne"/>
              </a:rPr>
              <a:t> to changes in </a:t>
            </a:r>
            <a:r>
              <a:rPr lang="fr-FR" sz="2400" b="0" i="0" dirty="0" err="1">
                <a:solidFill>
                  <a:srgbClr val="ECECEC"/>
                </a:solidFill>
                <a:effectLst/>
                <a:latin typeface="Söhne"/>
              </a:rPr>
              <a:t>traffic</a:t>
            </a:r>
            <a:r>
              <a:rPr lang="fr-FR" sz="2400" b="0" i="0" dirty="0">
                <a:solidFill>
                  <a:srgbClr val="ECECEC"/>
                </a:solidFill>
                <a:effectLst/>
                <a:latin typeface="Söhne"/>
              </a:rPr>
              <a:t>, instance </a:t>
            </a:r>
            <a:r>
              <a:rPr lang="fr-FR" sz="2400" b="0" i="0" dirty="0" err="1">
                <a:solidFill>
                  <a:srgbClr val="ECECEC"/>
                </a:solidFill>
                <a:effectLst/>
                <a:latin typeface="Söhne"/>
              </a:rPr>
              <a:t>health</a:t>
            </a:r>
            <a:r>
              <a:rPr lang="fr-FR" sz="2400" b="0" i="0" dirty="0">
                <a:solidFill>
                  <a:srgbClr val="ECECEC"/>
                </a:solidFill>
                <a:effectLst/>
                <a:latin typeface="Söhne"/>
              </a:rPr>
              <a:t>, and </a:t>
            </a:r>
            <a:r>
              <a:rPr lang="fr-FR" sz="2400" b="0" i="0" dirty="0" err="1">
                <a:solidFill>
                  <a:srgbClr val="ECECEC"/>
                </a:solidFill>
                <a:effectLst/>
                <a:latin typeface="Söhne"/>
              </a:rPr>
              <a:t>other</a:t>
            </a:r>
            <a:r>
              <a:rPr lang="fr-FR" sz="2400" b="0" i="0" dirty="0">
                <a:solidFill>
                  <a:srgbClr val="ECECEC"/>
                </a:solidFill>
                <a:effectLst/>
                <a:latin typeface="Söhne"/>
              </a:rPr>
              <a:t> </a:t>
            </a:r>
            <a:r>
              <a:rPr lang="fr-FR" sz="2400" b="0" i="0" dirty="0" err="1">
                <a:solidFill>
                  <a:srgbClr val="ECECEC"/>
                </a:solidFill>
                <a:effectLst/>
                <a:latin typeface="Söhne"/>
              </a:rPr>
              <a:t>related</a:t>
            </a:r>
            <a:r>
              <a:rPr lang="fr-FR" sz="2400" b="0" i="0" dirty="0">
                <a:solidFill>
                  <a:srgbClr val="ECECEC"/>
                </a:solidFill>
                <a:effectLst/>
                <a:latin typeface="Söhne"/>
              </a:rPr>
              <a:t> conditions.</a:t>
            </a:r>
          </a:p>
          <a:p>
            <a:pPr algn="l">
              <a:buFont typeface="Arial" panose="020B0604020202020204" pitchFamily="34" charset="0"/>
              <a:buChar char="•"/>
            </a:pPr>
            <a:r>
              <a:rPr lang="fr-FR" sz="2400" b="0" i="0" dirty="0">
                <a:solidFill>
                  <a:srgbClr val="ECECEC"/>
                </a:solidFill>
                <a:effectLst/>
                <a:latin typeface="Söhne"/>
              </a:rPr>
              <a:t>No </a:t>
            </a:r>
            <a:r>
              <a:rPr lang="fr-FR" sz="2400" b="0" i="0" dirty="0" err="1">
                <a:solidFill>
                  <a:srgbClr val="ECECEC"/>
                </a:solidFill>
                <a:effectLst/>
                <a:latin typeface="Söhne"/>
              </a:rPr>
              <a:t>pre-warming</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required</a:t>
            </a:r>
            <a:r>
              <a:rPr lang="fr-FR" sz="2400" b="0" i="0" dirty="0">
                <a:solidFill>
                  <a:srgbClr val="ECECEC"/>
                </a:solidFill>
                <a:effectLst/>
                <a:latin typeface="Söhne"/>
              </a:rPr>
              <a:t> </a:t>
            </a:r>
            <a:r>
              <a:rPr lang="fr-FR" sz="2400" b="0" i="0" dirty="0" err="1">
                <a:solidFill>
                  <a:srgbClr val="ECECEC"/>
                </a:solidFill>
                <a:effectLst/>
                <a:latin typeface="Söhne"/>
              </a:rPr>
              <a:t>even</a:t>
            </a:r>
            <a:r>
              <a:rPr lang="fr-FR" sz="2400" b="0" i="0" dirty="0">
                <a:solidFill>
                  <a:srgbClr val="ECECEC"/>
                </a:solidFill>
                <a:effectLst/>
                <a:latin typeface="Söhne"/>
              </a:rPr>
              <a:t> in the </a:t>
            </a:r>
            <a:r>
              <a:rPr lang="fr-FR" sz="2400" b="0" i="0" dirty="0" err="1">
                <a:solidFill>
                  <a:srgbClr val="ECECEC"/>
                </a:solidFill>
                <a:effectLst/>
                <a:latin typeface="Söhne"/>
              </a:rPr>
              <a:t>event</a:t>
            </a:r>
            <a:r>
              <a:rPr lang="fr-FR" sz="2400" b="0" i="0" dirty="0">
                <a:solidFill>
                  <a:srgbClr val="ECECEC"/>
                </a:solidFill>
                <a:effectLst/>
                <a:latin typeface="Söhne"/>
              </a:rPr>
              <a:t> of </a:t>
            </a:r>
            <a:r>
              <a:rPr lang="fr-FR" sz="2400" b="0" i="0" dirty="0" err="1">
                <a:solidFill>
                  <a:srgbClr val="ECECEC"/>
                </a:solidFill>
                <a:effectLst/>
                <a:latin typeface="Söhne"/>
              </a:rPr>
              <a:t>anticipated</a:t>
            </a:r>
            <a:r>
              <a:rPr lang="fr-FR" sz="2400" b="0" i="0" dirty="0">
                <a:solidFill>
                  <a:srgbClr val="ECECEC"/>
                </a:solidFill>
                <a:effectLst/>
                <a:latin typeface="Söhne"/>
              </a:rPr>
              <a:t> </a:t>
            </a:r>
            <a:r>
              <a:rPr lang="fr-FR" sz="2400" b="0" i="0" dirty="0" err="1">
                <a:solidFill>
                  <a:srgbClr val="ECECEC"/>
                </a:solidFill>
                <a:effectLst/>
                <a:latin typeface="Söhne"/>
              </a:rPr>
              <a:t>demand</a:t>
            </a:r>
            <a:r>
              <a:rPr lang="fr-FR" sz="2400" b="0" i="0" dirty="0">
                <a:solidFill>
                  <a:srgbClr val="ECECEC"/>
                </a:solidFill>
                <a:effectLst/>
                <a:latin typeface="Söhne"/>
              </a:rPr>
              <a:t> spikes, </a:t>
            </a:r>
            <a:r>
              <a:rPr lang="fr-FR" sz="2400" b="0" i="0" dirty="0" err="1">
                <a:solidFill>
                  <a:srgbClr val="ECECEC"/>
                </a:solidFill>
                <a:effectLst/>
                <a:latin typeface="Söhne"/>
              </a:rPr>
              <a:t>meaning</a:t>
            </a:r>
            <a:r>
              <a:rPr lang="fr-FR" sz="2400" b="0" i="0" dirty="0">
                <a:solidFill>
                  <a:srgbClr val="ECECEC"/>
                </a:solidFill>
                <a:effectLst/>
                <a:latin typeface="Söhne"/>
              </a:rPr>
              <a:t> no support ticket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needed</a:t>
            </a:r>
            <a:r>
              <a:rPr lang="fr-FR" sz="2400" b="0" i="0" dirty="0">
                <a:solidFill>
                  <a:srgbClr val="ECECEC"/>
                </a:solidFill>
                <a:effectLst/>
                <a:latin typeface="Söhne"/>
              </a:rPr>
              <a:t> to </a:t>
            </a:r>
            <a:r>
              <a:rPr lang="fr-FR" sz="2400" b="0" i="0" dirty="0" err="1">
                <a:solidFill>
                  <a:srgbClr val="ECECEC"/>
                </a:solidFill>
                <a:effectLst/>
                <a:latin typeface="Söhne"/>
              </a:rPr>
              <a:t>inform</a:t>
            </a:r>
            <a:r>
              <a:rPr lang="fr-FR" sz="2400" b="0" i="0" dirty="0">
                <a:solidFill>
                  <a:srgbClr val="ECECEC"/>
                </a:solidFill>
                <a:effectLst/>
                <a:latin typeface="Söhne"/>
              </a:rPr>
              <a:t> Google of the </a:t>
            </a:r>
            <a:r>
              <a:rPr lang="fr-FR" sz="2400" b="0" i="0" dirty="0" err="1">
                <a:solidFill>
                  <a:srgbClr val="ECECEC"/>
                </a:solidFill>
                <a:effectLst/>
                <a:latin typeface="Söhne"/>
              </a:rPr>
              <a:t>expected</a:t>
            </a:r>
            <a:r>
              <a:rPr lang="fr-FR" sz="2400" b="0" i="0" dirty="0">
                <a:solidFill>
                  <a:srgbClr val="ECECEC"/>
                </a:solidFill>
                <a:effectLst/>
                <a:latin typeface="Söhne"/>
              </a:rPr>
              <a:t> </a:t>
            </a:r>
            <a:r>
              <a:rPr lang="fr-FR" sz="2400" b="0" i="0" dirty="0" err="1">
                <a:solidFill>
                  <a:srgbClr val="ECECEC"/>
                </a:solidFill>
                <a:effectLst/>
                <a:latin typeface="Söhne"/>
              </a:rPr>
              <a:t>increase</a:t>
            </a:r>
            <a:r>
              <a:rPr lang="fr-FR" sz="2400" b="0" i="0" dirty="0">
                <a:solidFill>
                  <a:srgbClr val="ECECEC"/>
                </a:solidFill>
                <a:effectLst/>
                <a:latin typeface="Söhne"/>
              </a:rPr>
              <a:t> in </a:t>
            </a:r>
            <a:r>
              <a:rPr lang="fr-FR" sz="2400" b="0" i="0" dirty="0" err="1">
                <a:solidFill>
                  <a:srgbClr val="ECECEC"/>
                </a:solidFill>
                <a:effectLst/>
                <a:latin typeface="Söhne"/>
              </a:rPr>
              <a:t>load</a:t>
            </a:r>
            <a:r>
              <a:rPr lang="fr-FR" sz="24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41880416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err="1"/>
              <a:t>Load</a:t>
            </a:r>
            <a:r>
              <a:rPr lang="fr-FR" sz="3200" dirty="0"/>
              <a:t> balancer</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40C12112-EEBB-9599-A1EA-CD219A49FDA9}"/>
              </a:ext>
            </a:extLst>
          </p:cNvPr>
          <p:cNvPicPr>
            <a:picLocks noChangeAspect="1"/>
          </p:cNvPicPr>
          <p:nvPr/>
        </p:nvPicPr>
        <p:blipFill>
          <a:blip r:embed="rId2"/>
          <a:stretch>
            <a:fillRect/>
          </a:stretch>
        </p:blipFill>
        <p:spPr>
          <a:xfrm>
            <a:off x="2209800" y="1932343"/>
            <a:ext cx="7772400" cy="3817539"/>
          </a:xfrm>
          <a:prstGeom prst="rect">
            <a:avLst/>
          </a:prstGeom>
        </p:spPr>
      </p:pic>
    </p:spTree>
    <p:extLst>
      <p:ext uri="{BB962C8B-B14F-4D97-AF65-F5344CB8AC3E}">
        <p14:creationId xmlns:p14="http://schemas.microsoft.com/office/powerpoint/2010/main" val="16268899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17215" y="119547"/>
            <a:ext cx="11530647" cy="1293028"/>
          </a:xfrm>
        </p:spPr>
        <p:txBody>
          <a:bodyPr>
            <a:normAutofit/>
          </a:bodyPr>
          <a:lstStyle/>
          <a:p>
            <a:pPr algn="l"/>
            <a:r>
              <a:rPr lang="fr-FR" sz="3200" dirty="0"/>
              <a:t>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142533"/>
          </a:xfrm>
        </p:spPr>
        <p:txBody>
          <a:bodyPr>
            <a:normAutofit/>
          </a:bodyPr>
          <a:lstStyle/>
          <a:p>
            <a:pPr marL="0" indent="0">
              <a:buNone/>
            </a:pPr>
            <a:r>
              <a:rPr lang="fr-FR" sz="1800" dirty="0">
                <a:effectLst/>
                <a:latin typeface="Roboto" panose="02000000000000000000" pitchFamily="2" charset="0"/>
              </a:rPr>
              <a:t>Google Cloud </a:t>
            </a:r>
            <a:r>
              <a:rPr lang="fr-FR" sz="1800" dirty="0" err="1">
                <a:effectLst/>
                <a:latin typeface="Roboto" panose="02000000000000000000" pitchFamily="2" charset="0"/>
              </a:rPr>
              <a:t>VPCs</a:t>
            </a:r>
            <a:r>
              <a:rPr lang="fr-FR" sz="1800" dirty="0">
                <a:effectLst/>
                <a:latin typeface="Roboto" panose="02000000000000000000" pitchFamily="2" charset="0"/>
              </a:rPr>
              <a:t>, </a:t>
            </a:r>
            <a:r>
              <a:rPr lang="fr-FR" sz="1800" dirty="0" err="1">
                <a:effectLst/>
                <a:latin typeface="Roboto" panose="02000000000000000000" pitchFamily="2" charset="0"/>
              </a:rPr>
              <a:t>what</a:t>
            </a:r>
            <a:r>
              <a:rPr lang="fr-FR" sz="1800" dirty="0">
                <a:effectLst/>
                <a:latin typeface="Roboto" panose="02000000000000000000" pitchFamily="2" charset="0"/>
              </a:rPr>
              <a:t> scope do </a:t>
            </a:r>
            <a:r>
              <a:rPr lang="fr-FR" sz="1800" dirty="0" err="1">
                <a:effectLst/>
                <a:latin typeface="Roboto" panose="02000000000000000000" pitchFamily="2" charset="0"/>
              </a:rPr>
              <a:t>subnets</a:t>
            </a:r>
            <a:r>
              <a:rPr lang="fr-FR" sz="1800" dirty="0">
                <a:effectLst/>
                <a:latin typeface="Roboto" panose="02000000000000000000" pitchFamily="2" charset="0"/>
              </a:rPr>
              <a:t> have? </a:t>
            </a:r>
            <a:endParaRPr lang="fr-FR" sz="1400" dirty="0"/>
          </a:p>
          <a:p>
            <a:pPr lvl="1"/>
            <a:r>
              <a:rPr lang="fr-FR" sz="1600" dirty="0">
                <a:effectLst/>
                <a:latin typeface="Roboto" panose="02000000000000000000" pitchFamily="2" charset="0"/>
              </a:rPr>
              <a:t>A: Zonal</a:t>
            </a:r>
          </a:p>
          <a:p>
            <a:pPr lvl="1"/>
            <a:r>
              <a:rPr lang="fr-FR" sz="1600" b="1" dirty="0">
                <a:effectLst/>
                <a:latin typeface="Roboto" panose="02000000000000000000" pitchFamily="2" charset="0"/>
              </a:rPr>
              <a:t>B: </a:t>
            </a:r>
            <a:r>
              <a:rPr lang="fr-FR" sz="1600" b="1" dirty="0" err="1">
                <a:effectLst/>
                <a:latin typeface="Roboto" panose="02000000000000000000" pitchFamily="2" charset="0"/>
              </a:rPr>
              <a:t>Regional</a:t>
            </a:r>
            <a:r>
              <a:rPr lang="fr-FR" sz="1600" b="1" dirty="0">
                <a:effectLst/>
                <a:latin typeface="Roboto" panose="02000000000000000000" pitchFamily="2" charset="0"/>
              </a:rPr>
              <a:t> </a:t>
            </a:r>
            <a:endParaRPr lang="fr-FR" sz="1200" dirty="0"/>
          </a:p>
          <a:p>
            <a:pPr lvl="2"/>
            <a:r>
              <a:rPr lang="fr-FR" sz="1400" dirty="0">
                <a:effectLst/>
                <a:latin typeface="Roboto" panose="02000000000000000000" pitchFamily="2" charset="0"/>
              </a:rPr>
              <a:t>VPC </a:t>
            </a:r>
            <a:r>
              <a:rPr lang="fr-FR" sz="1400" dirty="0" err="1">
                <a:effectLst/>
                <a:latin typeface="Roboto" panose="02000000000000000000" pitchFamily="2" charset="0"/>
              </a:rPr>
              <a:t>subnets</a:t>
            </a:r>
            <a:r>
              <a:rPr lang="fr-FR" sz="1400" dirty="0">
                <a:effectLst/>
                <a:latin typeface="Roboto" panose="02000000000000000000" pitchFamily="2" charset="0"/>
              </a:rPr>
              <a:t> can </a:t>
            </a:r>
            <a:r>
              <a:rPr lang="fr-FR" sz="1400" dirty="0" err="1">
                <a:effectLst/>
                <a:latin typeface="Roboto" panose="02000000000000000000" pitchFamily="2" charset="0"/>
              </a:rPr>
              <a:t>span</a:t>
            </a:r>
            <a:r>
              <a:rPr lang="fr-FR" sz="1400" dirty="0">
                <a:effectLst/>
                <a:latin typeface="Roboto" panose="02000000000000000000" pitchFamily="2" charset="0"/>
              </a:rPr>
              <a:t> the zones </a:t>
            </a:r>
            <a:r>
              <a:rPr lang="fr-FR" sz="1400" dirty="0" err="1">
                <a:effectLst/>
                <a:latin typeface="Roboto" panose="02000000000000000000" pitchFamily="2" charset="0"/>
              </a:rPr>
              <a:t>that</a:t>
            </a:r>
            <a:r>
              <a:rPr lang="fr-FR" sz="1400" dirty="0">
                <a:effectLst/>
                <a:latin typeface="Roboto" panose="02000000000000000000" pitchFamily="2" charset="0"/>
              </a:rPr>
              <a:t> </a:t>
            </a:r>
            <a:r>
              <a:rPr lang="fr-FR" sz="1400" dirty="0" err="1">
                <a:effectLst/>
                <a:latin typeface="Roboto" panose="02000000000000000000" pitchFamily="2" charset="0"/>
              </a:rPr>
              <a:t>make</a:t>
            </a:r>
            <a:r>
              <a:rPr lang="fr-FR" sz="1400" dirty="0">
                <a:effectLst/>
                <a:latin typeface="Roboto" panose="02000000000000000000" pitchFamily="2" charset="0"/>
              </a:rPr>
              <a:t> up a </a:t>
            </a:r>
            <a:r>
              <a:rPr lang="fr-FR" sz="1400" dirty="0" err="1">
                <a:effectLst/>
                <a:latin typeface="Roboto" panose="02000000000000000000" pitchFamily="2" charset="0"/>
              </a:rPr>
              <a:t>region</a:t>
            </a:r>
            <a:r>
              <a:rPr lang="fr-FR" sz="1400" dirty="0">
                <a:effectLst/>
                <a:latin typeface="Roboto" panose="02000000000000000000" pitchFamily="2" charset="0"/>
              </a:rPr>
              <a:t>. This </a:t>
            </a:r>
            <a:r>
              <a:rPr lang="fr-FR" sz="1400" dirty="0" err="1">
                <a:effectLst/>
                <a:latin typeface="Roboto" panose="02000000000000000000" pitchFamily="2" charset="0"/>
              </a:rPr>
              <a:t>is</a:t>
            </a:r>
            <a:r>
              <a:rPr lang="fr-FR" sz="1400" dirty="0">
                <a:effectLst/>
                <a:latin typeface="Roboto" panose="02000000000000000000" pitchFamily="2" charset="0"/>
              </a:rPr>
              <a:t> </a:t>
            </a:r>
            <a:r>
              <a:rPr lang="fr-FR" sz="1400" dirty="0" err="1">
                <a:effectLst/>
                <a:latin typeface="Roboto" panose="02000000000000000000" pitchFamily="2" charset="0"/>
              </a:rPr>
              <a:t>beneficial</a:t>
            </a:r>
            <a:r>
              <a:rPr lang="fr-FR" sz="1400" dirty="0">
                <a:effectLst/>
                <a:latin typeface="Roboto" panose="02000000000000000000" pitchFamily="2" charset="0"/>
              </a:rPr>
              <a:t> </a:t>
            </a:r>
            <a:r>
              <a:rPr lang="fr-FR" sz="1400" dirty="0" err="1">
                <a:effectLst/>
                <a:latin typeface="Roboto" panose="02000000000000000000" pitchFamily="2" charset="0"/>
              </a:rPr>
              <a:t>because</a:t>
            </a:r>
            <a:r>
              <a:rPr lang="fr-FR" sz="1400" dirty="0">
                <a:effectLst/>
                <a:latin typeface="Roboto" panose="02000000000000000000" pitchFamily="2" charset="0"/>
              </a:rPr>
              <a:t> </a:t>
            </a:r>
            <a:r>
              <a:rPr lang="fr-FR" sz="1400" dirty="0" err="1">
                <a:effectLst/>
                <a:latin typeface="Roboto" panose="02000000000000000000" pitchFamily="2" charset="0"/>
              </a:rPr>
              <a:t>your</a:t>
            </a:r>
            <a:r>
              <a:rPr lang="fr-FR" sz="1400" dirty="0">
                <a:effectLst/>
                <a:latin typeface="Roboto" panose="02000000000000000000" pitchFamily="2" charset="0"/>
              </a:rPr>
              <a:t> solutions can </a:t>
            </a:r>
            <a:r>
              <a:rPr lang="fr-FR" sz="1400" dirty="0" err="1">
                <a:effectLst/>
                <a:latin typeface="Roboto" panose="02000000000000000000" pitchFamily="2" charset="0"/>
              </a:rPr>
              <a:t>incorporate</a:t>
            </a:r>
            <a:r>
              <a:rPr lang="fr-FR" sz="1400" dirty="0">
                <a:effectLst/>
                <a:latin typeface="Roboto" panose="02000000000000000000" pitchFamily="2" charset="0"/>
              </a:rPr>
              <a:t> </a:t>
            </a:r>
            <a:r>
              <a:rPr lang="fr-FR" sz="1400" dirty="0" err="1">
                <a:effectLst/>
                <a:latin typeface="Roboto" panose="02000000000000000000" pitchFamily="2" charset="0"/>
              </a:rPr>
              <a:t>fault</a:t>
            </a:r>
            <a:r>
              <a:rPr lang="fr-FR" sz="1400" dirty="0">
                <a:effectLst/>
                <a:latin typeface="Roboto" panose="02000000000000000000" pitchFamily="2" charset="0"/>
              </a:rPr>
              <a:t> </a:t>
            </a:r>
            <a:r>
              <a:rPr lang="fr-FR" sz="1400" dirty="0" err="1">
                <a:effectLst/>
                <a:latin typeface="Roboto" panose="02000000000000000000" pitchFamily="2" charset="0"/>
              </a:rPr>
              <a:t>tolerance</a:t>
            </a:r>
            <a:r>
              <a:rPr lang="fr-FR" sz="1400" dirty="0">
                <a:effectLst/>
                <a:latin typeface="Roboto" panose="02000000000000000000" pitchFamily="2" charset="0"/>
              </a:rPr>
              <a:t> </a:t>
            </a:r>
            <a:r>
              <a:rPr lang="fr-FR" sz="1400" dirty="0" err="1">
                <a:effectLst/>
                <a:latin typeface="Roboto" panose="02000000000000000000" pitchFamily="2" charset="0"/>
              </a:rPr>
              <a:t>without</a:t>
            </a:r>
            <a:r>
              <a:rPr lang="fr-FR" sz="1400" dirty="0">
                <a:effectLst/>
                <a:latin typeface="Roboto" panose="02000000000000000000" pitchFamily="2" charset="0"/>
              </a:rPr>
              <a:t> </a:t>
            </a:r>
            <a:r>
              <a:rPr lang="fr-FR" sz="1400" dirty="0" err="1">
                <a:effectLst/>
                <a:latin typeface="Roboto" panose="02000000000000000000" pitchFamily="2" charset="0"/>
              </a:rPr>
              <a:t>complicating</a:t>
            </a:r>
            <a:r>
              <a:rPr lang="fr-FR" sz="1400" dirty="0">
                <a:effectLst/>
                <a:latin typeface="Roboto" panose="02000000000000000000" pitchFamily="2" charset="0"/>
              </a:rPr>
              <a:t> </a:t>
            </a:r>
            <a:r>
              <a:rPr lang="fr-FR" sz="1400" dirty="0" err="1">
                <a:effectLst/>
                <a:latin typeface="Roboto" panose="02000000000000000000" pitchFamily="2" charset="0"/>
              </a:rPr>
              <a:t>your</a:t>
            </a:r>
            <a:r>
              <a:rPr lang="fr-FR" sz="1400" dirty="0">
                <a:effectLst/>
                <a:latin typeface="Roboto" panose="02000000000000000000" pitchFamily="2" charset="0"/>
              </a:rPr>
              <a:t> network </a:t>
            </a:r>
            <a:r>
              <a:rPr lang="fr-FR" sz="1400" dirty="0" err="1">
                <a:effectLst/>
                <a:latin typeface="Roboto" panose="02000000000000000000" pitchFamily="2" charset="0"/>
              </a:rPr>
              <a:t>topology</a:t>
            </a:r>
            <a:r>
              <a:rPr lang="fr-FR" sz="1400" dirty="0">
                <a:effectLst/>
                <a:latin typeface="Roboto" panose="02000000000000000000" pitchFamily="2" charset="0"/>
              </a:rPr>
              <a:t>. </a:t>
            </a:r>
            <a:endParaRPr lang="fr-FR" sz="1000" dirty="0"/>
          </a:p>
          <a:p>
            <a:pPr lvl="1"/>
            <a:r>
              <a:rPr lang="fr-FR" sz="1600" dirty="0">
                <a:effectLst/>
                <a:latin typeface="Roboto" panose="02000000000000000000" pitchFamily="2" charset="0"/>
              </a:rPr>
              <a:t>C: Global</a:t>
            </a:r>
            <a:br>
              <a:rPr lang="fr-FR" sz="1600" dirty="0">
                <a:effectLst/>
                <a:latin typeface="Roboto" panose="02000000000000000000" pitchFamily="2" charset="0"/>
              </a:rPr>
            </a:br>
            <a:r>
              <a:rPr lang="fr-FR" sz="1600" dirty="0">
                <a:effectLst/>
                <a:latin typeface="Roboto" panose="02000000000000000000" pitchFamily="2" charset="0"/>
              </a:rPr>
              <a:t>D: </a:t>
            </a:r>
            <a:r>
              <a:rPr lang="fr-FR" sz="1600" dirty="0" err="1">
                <a:effectLst/>
                <a:latin typeface="Roboto" panose="02000000000000000000" pitchFamily="2" charset="0"/>
              </a:rPr>
              <a:t>Multi-regional</a:t>
            </a:r>
            <a:br>
              <a:rPr lang="fr-FR" sz="1600" dirty="0">
                <a:effectLst/>
                <a:latin typeface="Roboto" panose="02000000000000000000" pitchFamily="2" charset="0"/>
              </a:rPr>
            </a:br>
            <a:endParaRPr lang="fr-FR" sz="1600" dirty="0">
              <a:effectLst/>
              <a:latin typeface="Roboto" panose="02000000000000000000" pitchFamily="2" charset="0"/>
            </a:endParaRPr>
          </a:p>
          <a:p>
            <a:pPr marL="0" indent="0">
              <a:buNone/>
            </a:pPr>
            <a:r>
              <a:rPr lang="fr-FR" sz="2000" dirty="0" err="1">
                <a:effectLst/>
                <a:latin typeface="Roboto" panose="02000000000000000000" pitchFamily="2" charset="0"/>
              </a:rPr>
              <a:t>What</a:t>
            </a:r>
            <a:r>
              <a:rPr lang="fr-FR" sz="2000" dirty="0">
                <a:effectLst/>
                <a:latin typeface="Roboto" panose="02000000000000000000" pitchFamily="2" charset="0"/>
              </a:rPr>
              <a:t> </a:t>
            </a:r>
            <a:r>
              <a:rPr lang="fr-FR" sz="2000" dirty="0" err="1">
                <a:effectLst/>
                <a:latin typeface="Roboto" panose="02000000000000000000" pitchFamily="2" charset="0"/>
              </a:rPr>
              <a:t>is</a:t>
            </a:r>
            <a:r>
              <a:rPr lang="fr-FR" sz="2000" dirty="0">
                <a:effectLst/>
                <a:latin typeface="Roboto" panose="02000000000000000000" pitchFamily="2" charset="0"/>
              </a:rPr>
              <a:t> the main </a:t>
            </a:r>
            <a:r>
              <a:rPr lang="fr-FR" sz="2000" dirty="0" err="1">
                <a:effectLst/>
                <a:latin typeface="Roboto" panose="02000000000000000000" pitchFamily="2" charset="0"/>
              </a:rPr>
              <a:t>reason</a:t>
            </a:r>
            <a:r>
              <a:rPr lang="fr-FR" sz="2000" dirty="0">
                <a:effectLst/>
                <a:latin typeface="Roboto" panose="02000000000000000000" pitchFamily="2" charset="0"/>
              </a:rPr>
              <a:t> </a:t>
            </a:r>
            <a:r>
              <a:rPr lang="fr-FR" sz="2000" dirty="0" err="1">
                <a:effectLst/>
                <a:latin typeface="Roboto" panose="02000000000000000000" pitchFamily="2" charset="0"/>
              </a:rPr>
              <a:t>customers</a:t>
            </a:r>
            <a:r>
              <a:rPr lang="fr-FR" sz="2000" dirty="0">
                <a:effectLst/>
                <a:latin typeface="Roboto" panose="02000000000000000000" pitchFamily="2" charset="0"/>
              </a:rPr>
              <a:t> </a:t>
            </a:r>
            <a:r>
              <a:rPr lang="fr-FR" sz="2000" dirty="0" err="1">
                <a:effectLst/>
                <a:latin typeface="Roboto" panose="02000000000000000000" pitchFamily="2" charset="0"/>
              </a:rPr>
              <a:t>choose</a:t>
            </a:r>
            <a:r>
              <a:rPr lang="fr-FR" sz="2000" dirty="0">
                <a:effectLst/>
                <a:latin typeface="Roboto" panose="02000000000000000000" pitchFamily="2" charset="0"/>
              </a:rPr>
              <a:t> </a:t>
            </a:r>
            <a:r>
              <a:rPr lang="fr-FR" sz="2000" dirty="0" err="1">
                <a:effectLst/>
                <a:latin typeface="Roboto" panose="02000000000000000000" pitchFamily="2" charset="0"/>
              </a:rPr>
              <a:t>Preemptible</a:t>
            </a:r>
            <a:r>
              <a:rPr lang="fr-FR" sz="2000" dirty="0">
                <a:effectLst/>
                <a:latin typeface="Roboto" panose="02000000000000000000" pitchFamily="2" charset="0"/>
              </a:rPr>
              <a:t> </a:t>
            </a:r>
            <a:r>
              <a:rPr lang="fr-FR" sz="2000" dirty="0" err="1">
                <a:effectLst/>
                <a:latin typeface="Roboto" panose="02000000000000000000" pitchFamily="2" charset="0"/>
              </a:rPr>
              <a:t>VMs</a:t>
            </a:r>
            <a:r>
              <a:rPr lang="fr-FR" sz="2000" dirty="0">
                <a:effectLst/>
                <a:latin typeface="Roboto" panose="02000000000000000000" pitchFamily="2" charset="0"/>
              </a:rPr>
              <a:t>? </a:t>
            </a:r>
          </a:p>
          <a:p>
            <a:pPr lvl="1"/>
            <a:r>
              <a:rPr lang="fr-FR" sz="1600" dirty="0">
                <a:effectLst/>
                <a:latin typeface="Roboto" panose="02000000000000000000" pitchFamily="2" charset="0"/>
              </a:rPr>
              <a:t>A: To </a:t>
            </a:r>
            <a:r>
              <a:rPr lang="fr-FR" sz="1600" dirty="0" err="1">
                <a:effectLst/>
                <a:latin typeface="Roboto" panose="02000000000000000000" pitchFamily="2" charset="0"/>
              </a:rPr>
              <a:t>improve</a:t>
            </a:r>
            <a:r>
              <a:rPr lang="fr-FR" sz="1600" dirty="0">
                <a:effectLst/>
                <a:latin typeface="Roboto" panose="02000000000000000000" pitchFamily="2" charset="0"/>
              </a:rPr>
              <a:t> performance.</a:t>
            </a:r>
          </a:p>
          <a:p>
            <a:pPr lvl="1"/>
            <a:r>
              <a:rPr lang="fr-FR" sz="1600" b="1" dirty="0">
                <a:effectLst/>
                <a:latin typeface="Roboto" panose="02000000000000000000" pitchFamily="2" charset="0"/>
              </a:rPr>
              <a:t>B: To </a:t>
            </a:r>
            <a:r>
              <a:rPr lang="fr-FR" sz="1600" b="1" dirty="0" err="1">
                <a:effectLst/>
                <a:latin typeface="Roboto" panose="02000000000000000000" pitchFamily="2" charset="0"/>
              </a:rPr>
              <a:t>reduce</a:t>
            </a:r>
            <a:r>
              <a:rPr lang="fr-FR" sz="1600" b="1" dirty="0">
                <a:effectLst/>
                <a:latin typeface="Roboto" panose="02000000000000000000" pitchFamily="2" charset="0"/>
              </a:rPr>
              <a:t> </a:t>
            </a:r>
            <a:r>
              <a:rPr lang="fr-FR" sz="1600" b="1" dirty="0" err="1">
                <a:effectLst/>
                <a:latin typeface="Roboto" panose="02000000000000000000" pitchFamily="2" charset="0"/>
              </a:rPr>
              <a:t>cost</a:t>
            </a:r>
            <a:r>
              <a:rPr lang="fr-FR" sz="1600" b="1" dirty="0">
                <a:effectLst/>
                <a:latin typeface="Roboto" panose="02000000000000000000" pitchFamily="2" charset="0"/>
              </a:rPr>
              <a:t>. </a:t>
            </a:r>
            <a:endParaRPr lang="fr-FR" sz="1200" dirty="0"/>
          </a:p>
          <a:p>
            <a:pPr lvl="2"/>
            <a:r>
              <a:rPr lang="fr-FR" sz="1400" dirty="0" err="1">
                <a:effectLst/>
                <a:latin typeface="Roboto" panose="02000000000000000000" pitchFamily="2" charset="0"/>
              </a:rPr>
              <a:t>That's</a:t>
            </a:r>
            <a:r>
              <a:rPr lang="fr-FR" sz="1400" dirty="0">
                <a:effectLst/>
                <a:latin typeface="Roboto" panose="02000000000000000000" pitchFamily="2" charset="0"/>
              </a:rPr>
              <a:t> correct! The per-</a:t>
            </a:r>
            <a:r>
              <a:rPr lang="fr-FR" sz="1400" dirty="0" err="1">
                <a:effectLst/>
                <a:latin typeface="Roboto" panose="02000000000000000000" pitchFamily="2" charset="0"/>
              </a:rPr>
              <a:t>hour</a:t>
            </a:r>
            <a:r>
              <a:rPr lang="fr-FR" sz="1400" dirty="0">
                <a:effectLst/>
                <a:latin typeface="Roboto" panose="02000000000000000000" pitchFamily="2" charset="0"/>
              </a:rPr>
              <a:t> </a:t>
            </a:r>
            <a:r>
              <a:rPr lang="fr-FR" sz="1400" dirty="0" err="1">
                <a:effectLst/>
                <a:latin typeface="Roboto" panose="02000000000000000000" pitchFamily="2" charset="0"/>
              </a:rPr>
              <a:t>price</a:t>
            </a:r>
            <a:r>
              <a:rPr lang="fr-FR" sz="1400" dirty="0">
                <a:effectLst/>
                <a:latin typeface="Roboto" panose="02000000000000000000" pitchFamily="2" charset="0"/>
              </a:rPr>
              <a:t> of </a:t>
            </a:r>
            <a:r>
              <a:rPr lang="fr-FR" sz="1400" dirty="0" err="1">
                <a:effectLst/>
                <a:latin typeface="Roboto" panose="02000000000000000000" pitchFamily="2" charset="0"/>
              </a:rPr>
              <a:t>preemptible</a:t>
            </a:r>
            <a:r>
              <a:rPr lang="fr-FR" sz="1400" dirty="0">
                <a:effectLst/>
                <a:latin typeface="Roboto" panose="02000000000000000000" pitchFamily="2" charset="0"/>
              </a:rPr>
              <a:t> and spot </a:t>
            </a:r>
            <a:r>
              <a:rPr lang="fr-FR" sz="1400" dirty="0" err="1">
                <a:effectLst/>
                <a:latin typeface="Roboto" panose="02000000000000000000" pitchFamily="2" charset="0"/>
              </a:rPr>
              <a:t>VMs</a:t>
            </a:r>
            <a:r>
              <a:rPr lang="fr-FR" sz="1400" dirty="0">
                <a:effectLst/>
                <a:latin typeface="Roboto" panose="02000000000000000000" pitchFamily="2" charset="0"/>
              </a:rPr>
              <a:t> </a:t>
            </a:r>
            <a:r>
              <a:rPr lang="fr-FR" sz="1400" dirty="0" err="1">
                <a:effectLst/>
                <a:latin typeface="Roboto" panose="02000000000000000000" pitchFamily="2" charset="0"/>
              </a:rPr>
              <a:t>incorporates</a:t>
            </a:r>
            <a:r>
              <a:rPr lang="fr-FR" sz="1400" dirty="0">
                <a:effectLst/>
                <a:latin typeface="Roboto" panose="02000000000000000000" pitchFamily="2" charset="0"/>
              </a:rPr>
              <a:t> a </a:t>
            </a:r>
            <a:r>
              <a:rPr lang="fr-FR" sz="1400" dirty="0" err="1">
                <a:effectLst/>
                <a:latin typeface="Roboto" panose="02000000000000000000" pitchFamily="2" charset="0"/>
              </a:rPr>
              <a:t>substantial</a:t>
            </a:r>
            <a:r>
              <a:rPr lang="fr-FR" sz="1400" dirty="0">
                <a:effectLst/>
                <a:latin typeface="Roboto" panose="02000000000000000000" pitchFamily="2" charset="0"/>
              </a:rPr>
              <a:t> discount. </a:t>
            </a:r>
            <a:endParaRPr lang="fr-FR" sz="1000" dirty="0"/>
          </a:p>
          <a:p>
            <a:pPr lvl="1"/>
            <a:r>
              <a:rPr lang="fr-FR" sz="1600" dirty="0">
                <a:effectLst/>
                <a:latin typeface="Roboto" panose="02000000000000000000" pitchFamily="2" charset="0"/>
              </a:rPr>
              <a:t>C: To use custom machine types</a:t>
            </a:r>
          </a:p>
          <a:p>
            <a:pPr lvl="1"/>
            <a:r>
              <a:rPr lang="fr-FR" sz="1600" dirty="0">
                <a:effectLst/>
                <a:latin typeface="Roboto" panose="02000000000000000000" pitchFamily="2" charset="0"/>
              </a:rPr>
              <a:t>D: To </a:t>
            </a:r>
            <a:r>
              <a:rPr lang="fr-FR" sz="1600" dirty="0" err="1">
                <a:effectLst/>
                <a:latin typeface="Roboto" panose="02000000000000000000" pitchFamily="2" charset="0"/>
              </a:rPr>
              <a:t>reduce</a:t>
            </a:r>
            <a:r>
              <a:rPr lang="fr-FR" sz="1600" dirty="0">
                <a:effectLst/>
                <a:latin typeface="Roboto" panose="02000000000000000000" pitchFamily="2" charset="0"/>
              </a:rPr>
              <a:t> </a:t>
            </a:r>
            <a:r>
              <a:rPr lang="fr-FR" sz="1600" dirty="0" err="1">
                <a:effectLst/>
                <a:latin typeface="Roboto" panose="02000000000000000000" pitchFamily="2" charset="0"/>
              </a:rPr>
              <a:t>cost</a:t>
            </a:r>
            <a:r>
              <a:rPr lang="fr-FR" sz="1600" dirty="0">
                <a:effectLst/>
                <a:latin typeface="Roboto" panose="02000000000000000000" pitchFamily="2" charset="0"/>
              </a:rPr>
              <a:t> on premium operating </a:t>
            </a:r>
            <a:r>
              <a:rPr lang="fr-FR" sz="1600" dirty="0" err="1">
                <a:effectLst/>
                <a:latin typeface="Roboto" panose="02000000000000000000" pitchFamily="2" charset="0"/>
              </a:rPr>
              <a:t>systems</a:t>
            </a:r>
            <a:r>
              <a:rPr lang="fr-FR" sz="1600" dirty="0">
                <a:effectLst/>
                <a:latin typeface="Roboto" panose="02000000000000000000" pitchFamily="2" charset="0"/>
              </a:rPr>
              <a:t>.</a:t>
            </a:r>
            <a:endParaRPr lang="fr-FR" sz="1800" dirty="0">
              <a:effectLst/>
              <a:latin typeface="Roboto" panose="02000000000000000000" pitchFamily="2" charset="0"/>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1034152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221304"/>
            <a:ext cx="11530647" cy="1293028"/>
          </a:xfrm>
        </p:spPr>
        <p:txBody>
          <a:bodyPr>
            <a:normAutofit/>
          </a:bodyPr>
          <a:lstStyle/>
          <a:p>
            <a:pPr algn="l"/>
            <a:r>
              <a:rPr lang="fr-FR" sz="3200" dirty="0"/>
              <a:t>Google cloud </a:t>
            </a:r>
            <a:r>
              <a:rPr lang="fr-FR" sz="3200" dirty="0" err="1"/>
              <a:t>storage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Object </a:t>
            </a:r>
            <a:r>
              <a:rPr lang="fr-FR" sz="2400" b="0" i="0" dirty="0" err="1">
                <a:solidFill>
                  <a:srgbClr val="ECECEC"/>
                </a:solidFill>
                <a:effectLst/>
                <a:latin typeface="Söhne"/>
              </a:rPr>
              <a:t>storage</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 data </a:t>
            </a:r>
            <a:r>
              <a:rPr lang="fr-FR" sz="2400" b="0" i="0" dirty="0" err="1">
                <a:solidFill>
                  <a:srgbClr val="ECECEC"/>
                </a:solidFill>
                <a:effectLst/>
                <a:latin typeface="Söhne"/>
              </a:rPr>
              <a:t>storage</a:t>
            </a:r>
            <a:r>
              <a:rPr lang="fr-FR" sz="2400" b="0" i="0" dirty="0">
                <a:solidFill>
                  <a:srgbClr val="ECECEC"/>
                </a:solidFill>
                <a:effectLst/>
                <a:latin typeface="Söhne"/>
              </a:rPr>
              <a:t> architecture </a:t>
            </a:r>
            <a:r>
              <a:rPr lang="fr-FR" sz="2400" b="0" i="0" dirty="0" err="1">
                <a:solidFill>
                  <a:srgbClr val="ECECEC"/>
                </a:solidFill>
                <a:effectLst/>
                <a:latin typeface="Söhne"/>
              </a:rPr>
              <a:t>that</a:t>
            </a:r>
            <a:r>
              <a:rPr lang="fr-FR" sz="2400" b="0" i="0" dirty="0">
                <a:solidFill>
                  <a:srgbClr val="ECECEC"/>
                </a:solidFill>
                <a:effectLst/>
                <a:latin typeface="Söhne"/>
              </a:rPr>
              <a:t> manages data as "</a:t>
            </a:r>
            <a:r>
              <a:rPr lang="fr-FR" sz="2400" b="0" i="0" dirty="0" err="1">
                <a:solidFill>
                  <a:srgbClr val="ECECEC"/>
                </a:solidFill>
                <a:effectLst/>
                <a:latin typeface="Söhne"/>
              </a:rPr>
              <a:t>objects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metadata</a:t>
            </a:r>
            <a:r>
              <a:rPr lang="fr-FR" sz="2400" b="0" i="0" dirty="0">
                <a:solidFill>
                  <a:srgbClr val="ECECEC"/>
                </a:solidFill>
                <a:effectLst/>
                <a:latin typeface="Söhne"/>
              </a:rPr>
              <a:t> and a unique global identifier.</a:t>
            </a:r>
          </a:p>
          <a:p>
            <a:pPr algn="l">
              <a:buFont typeface="Arial" panose="020B0604020202020204" pitchFamily="34" charset="0"/>
              <a:buChar char="•"/>
            </a:pPr>
            <a:r>
              <a:rPr lang="fr-FR" sz="2400" b="0" i="0" dirty="0">
                <a:solidFill>
                  <a:srgbClr val="ECECEC"/>
                </a:solidFill>
                <a:effectLst/>
                <a:latin typeface="Söhne"/>
              </a:rPr>
              <a:t>Google Cloud Storage </a:t>
            </a:r>
            <a:r>
              <a:rPr lang="fr-FR" sz="2400" b="0" i="0" dirty="0" err="1">
                <a:solidFill>
                  <a:srgbClr val="ECECEC"/>
                </a:solidFill>
                <a:effectLst/>
                <a:latin typeface="Söhne"/>
              </a:rPr>
              <a:t>offers</a:t>
            </a:r>
            <a:r>
              <a:rPr lang="fr-FR" sz="2400" b="0" i="0" dirty="0">
                <a:solidFill>
                  <a:srgbClr val="ECECEC"/>
                </a:solidFill>
                <a:effectLst/>
                <a:latin typeface="Söhne"/>
              </a:rPr>
              <a:t> </a:t>
            </a:r>
            <a:r>
              <a:rPr lang="fr-FR" sz="2400" b="0" i="0" dirty="0" err="1">
                <a:solidFill>
                  <a:srgbClr val="ECECEC"/>
                </a:solidFill>
                <a:effectLst/>
                <a:latin typeface="Söhne"/>
              </a:rPr>
              <a:t>fully</a:t>
            </a:r>
            <a:r>
              <a:rPr lang="fr-FR" sz="2400" b="0" i="0" dirty="0">
                <a:solidFill>
                  <a:srgbClr val="ECECEC"/>
                </a:solidFill>
                <a:effectLst/>
                <a:latin typeface="Söhne"/>
              </a:rPr>
              <a:t> </a:t>
            </a:r>
            <a:r>
              <a:rPr lang="fr-FR" sz="2400" b="0" i="0" dirty="0" err="1">
                <a:solidFill>
                  <a:srgbClr val="ECECEC"/>
                </a:solidFill>
                <a:effectLst/>
                <a:latin typeface="Söhne"/>
              </a:rPr>
              <a:t>managed</a:t>
            </a:r>
            <a:r>
              <a:rPr lang="fr-FR" sz="2400" b="0" i="0" dirty="0">
                <a:solidFill>
                  <a:srgbClr val="ECECEC"/>
                </a:solidFill>
                <a:effectLst/>
                <a:latin typeface="Söhne"/>
              </a:rPr>
              <a:t> and scalable </a:t>
            </a:r>
            <a:r>
              <a:rPr lang="fr-FR" sz="2400" b="0" i="0" dirty="0" err="1">
                <a:solidFill>
                  <a:srgbClr val="ECECEC"/>
                </a:solidFill>
                <a:effectLst/>
                <a:latin typeface="Söhne"/>
              </a:rPr>
              <a:t>object</a:t>
            </a:r>
            <a:r>
              <a:rPr lang="fr-FR" sz="2400" b="0" i="0" dirty="0">
                <a:solidFill>
                  <a:srgbClr val="ECECEC"/>
                </a:solidFill>
                <a:effectLst/>
                <a:latin typeface="Söhne"/>
              </a:rPr>
              <a:t> </a:t>
            </a:r>
            <a:r>
              <a:rPr lang="fr-FR" sz="2400" b="0" i="0" dirty="0" err="1">
                <a:solidFill>
                  <a:srgbClr val="ECECEC"/>
                </a:solidFill>
                <a:effectLst/>
                <a:latin typeface="Söhne"/>
              </a:rPr>
              <a:t>storage</a:t>
            </a:r>
            <a:r>
              <a:rPr lang="fr-FR" sz="2400" b="0" i="0" dirty="0">
                <a:solidFill>
                  <a:srgbClr val="ECECEC"/>
                </a:solidFill>
                <a:effectLst/>
                <a:latin typeface="Söhne"/>
              </a:rPr>
              <a:t> </a:t>
            </a:r>
            <a:r>
              <a:rPr lang="fr-FR" sz="2400" b="0" i="0" dirty="0" err="1">
                <a:solidFill>
                  <a:srgbClr val="ECECEC"/>
                </a:solidFill>
                <a:effectLst/>
                <a:latin typeface="Söhne"/>
              </a:rPr>
              <a:t>suitable</a:t>
            </a:r>
            <a:r>
              <a:rPr lang="fr-FR" sz="2400" b="0" i="0" dirty="0">
                <a:solidFill>
                  <a:srgbClr val="ECECEC"/>
                </a:solidFill>
                <a:effectLst/>
                <a:latin typeface="Söhne"/>
              </a:rPr>
              <a:t> for </a:t>
            </a:r>
            <a:r>
              <a:rPr lang="fr-FR" sz="2400" b="0" i="0" dirty="0" err="1">
                <a:solidFill>
                  <a:srgbClr val="ECECEC"/>
                </a:solidFill>
                <a:effectLst/>
                <a:latin typeface="Söhne"/>
              </a:rPr>
              <a:t>various</a:t>
            </a:r>
            <a:r>
              <a:rPr lang="fr-FR" sz="2400" b="0" i="0" dirty="0">
                <a:solidFill>
                  <a:srgbClr val="ECECEC"/>
                </a:solidFill>
                <a:effectLst/>
                <a:latin typeface="Söhne"/>
              </a:rPr>
              <a:t> use cases </a:t>
            </a:r>
            <a:r>
              <a:rPr lang="fr-FR" sz="2400" b="0" i="0" dirty="0" err="1">
                <a:solidFill>
                  <a:srgbClr val="ECECEC"/>
                </a:solidFill>
                <a:effectLst/>
                <a:latin typeface="Söhne"/>
              </a:rPr>
              <a:t>such</a:t>
            </a:r>
            <a:r>
              <a:rPr lang="fr-FR" sz="2400" b="0" i="0" dirty="0">
                <a:solidFill>
                  <a:srgbClr val="ECECEC"/>
                </a:solidFill>
                <a:effectLst/>
                <a:latin typeface="Söhne"/>
              </a:rPr>
              <a:t> as data </a:t>
            </a:r>
            <a:r>
              <a:rPr lang="fr-FR" sz="2400" b="0" i="0" dirty="0" err="1">
                <a:solidFill>
                  <a:srgbClr val="ECECEC"/>
                </a:solidFill>
                <a:effectLst/>
                <a:latin typeface="Söhne"/>
              </a:rPr>
              <a:t>storage</a:t>
            </a:r>
            <a:r>
              <a:rPr lang="fr-FR" sz="2400" b="0" i="0" dirty="0">
                <a:solidFill>
                  <a:srgbClr val="ECECEC"/>
                </a:solidFill>
                <a:effectLst/>
                <a:latin typeface="Söhne"/>
              </a:rPr>
              <a:t> for </a:t>
            </a:r>
            <a:r>
              <a:rPr lang="fr-FR" sz="2400" b="0" i="0" dirty="0" err="1">
                <a:solidFill>
                  <a:srgbClr val="ECECEC"/>
                </a:solidFill>
                <a:effectLst/>
                <a:latin typeface="Söhne"/>
              </a:rPr>
              <a:t>archiving</a:t>
            </a:r>
            <a:r>
              <a:rPr lang="fr-FR" sz="2400" b="0" i="0" dirty="0">
                <a:solidFill>
                  <a:srgbClr val="ECECEC"/>
                </a:solidFill>
                <a:effectLst/>
                <a:latin typeface="Söhne"/>
              </a:rPr>
              <a:t>, web content </a:t>
            </a:r>
            <a:r>
              <a:rPr lang="fr-FR" sz="2400" b="0" i="0" dirty="0" err="1">
                <a:solidFill>
                  <a:srgbClr val="ECECEC"/>
                </a:solidFill>
                <a:effectLst/>
                <a:latin typeface="Söhne"/>
              </a:rPr>
              <a:t>delivery</a:t>
            </a:r>
            <a:r>
              <a:rPr lang="fr-FR" sz="2400" b="0" i="0" dirty="0">
                <a:solidFill>
                  <a:srgbClr val="ECECEC"/>
                </a:solidFill>
                <a:effectLst/>
                <a:latin typeface="Söhne"/>
              </a:rPr>
              <a:t>, and distribution of large </a:t>
            </a:r>
            <a:r>
              <a:rPr lang="fr-FR" sz="2400" b="0" i="0" dirty="0" err="1">
                <a:solidFill>
                  <a:srgbClr val="ECECEC"/>
                </a:solidFill>
                <a:effectLst/>
                <a:latin typeface="Söhne"/>
              </a:rPr>
              <a:t>objects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Files are </a:t>
            </a:r>
            <a:r>
              <a:rPr lang="fr-FR" sz="2400" b="0" i="0" dirty="0" err="1">
                <a:solidFill>
                  <a:srgbClr val="ECECEC"/>
                </a:solidFill>
                <a:effectLst/>
                <a:latin typeface="Söhne"/>
              </a:rPr>
              <a:t>organized</a:t>
            </a:r>
            <a:r>
              <a:rPr lang="fr-FR" sz="2400" b="0" i="0" dirty="0">
                <a:solidFill>
                  <a:srgbClr val="ECECEC"/>
                </a:solidFill>
                <a:effectLst/>
                <a:latin typeface="Söhne"/>
              </a:rPr>
              <a:t> </a:t>
            </a:r>
            <a:r>
              <a:rPr lang="fr-FR" sz="2400" b="0" i="0" dirty="0" err="1">
                <a:solidFill>
                  <a:srgbClr val="ECECEC"/>
                </a:solidFill>
                <a:effectLst/>
                <a:latin typeface="Söhne"/>
              </a:rPr>
              <a:t>into</a:t>
            </a:r>
            <a:r>
              <a:rPr lang="fr-FR" sz="2400" b="0" i="0" dirty="0">
                <a:solidFill>
                  <a:srgbClr val="ECECEC"/>
                </a:solidFill>
                <a:effectLst/>
                <a:latin typeface="Söhne"/>
              </a:rPr>
              <a:t> "</a:t>
            </a:r>
            <a:r>
              <a:rPr lang="fr-FR" sz="2400" b="0" i="0" dirty="0" err="1">
                <a:solidFill>
                  <a:srgbClr val="ECECEC"/>
                </a:solidFill>
                <a:effectLst/>
                <a:latin typeface="Söhne"/>
              </a:rPr>
              <a:t>buckets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unique </a:t>
            </a:r>
            <a:r>
              <a:rPr lang="fr-FR" sz="2400" b="0" i="0" dirty="0" err="1">
                <a:solidFill>
                  <a:srgbClr val="ECECEC"/>
                </a:solidFill>
                <a:effectLst/>
                <a:latin typeface="Söhne"/>
              </a:rPr>
              <a:t>names</a:t>
            </a:r>
            <a:r>
              <a:rPr lang="fr-FR" sz="2400" b="0" i="0" dirty="0">
                <a:solidFill>
                  <a:srgbClr val="ECECEC"/>
                </a:solidFill>
                <a:effectLst/>
                <a:latin typeface="Söhne"/>
              </a:rPr>
              <a:t> and </a:t>
            </a:r>
            <a:r>
              <a:rPr lang="fr-FR" sz="2400" b="0" i="0" dirty="0" err="1">
                <a:solidFill>
                  <a:srgbClr val="ECECEC"/>
                </a:solidFill>
                <a:effectLst/>
                <a:latin typeface="Söhne"/>
              </a:rPr>
              <a:t>specific</a:t>
            </a:r>
            <a:r>
              <a:rPr lang="fr-FR" sz="2400" b="0" i="0" dirty="0">
                <a:solidFill>
                  <a:srgbClr val="ECECEC"/>
                </a:solidFill>
                <a:effectLst/>
                <a:latin typeface="Söhne"/>
              </a:rPr>
              <a:t> </a:t>
            </a:r>
            <a:r>
              <a:rPr lang="fr-FR" sz="2400" b="0" i="0" dirty="0" err="1">
                <a:solidFill>
                  <a:srgbClr val="ECECEC"/>
                </a:solidFill>
                <a:effectLst/>
                <a:latin typeface="Söhne"/>
              </a:rPr>
              <a:t>geographic</a:t>
            </a:r>
            <a:r>
              <a:rPr lang="fr-FR" sz="2400" b="0" i="0" dirty="0">
                <a:solidFill>
                  <a:srgbClr val="ECECEC"/>
                </a:solidFill>
                <a:effectLst/>
                <a:latin typeface="Söhne"/>
              </a:rPr>
              <a:t> locations to </a:t>
            </a:r>
            <a:r>
              <a:rPr lang="fr-FR" sz="2400" b="0" i="0" dirty="0" err="1">
                <a:solidFill>
                  <a:srgbClr val="ECECEC"/>
                </a:solidFill>
                <a:effectLst/>
                <a:latin typeface="Söhne"/>
              </a:rPr>
              <a:t>minimize</a:t>
            </a:r>
            <a:r>
              <a:rPr lang="fr-FR" sz="2400" b="0" i="0" dirty="0">
                <a:solidFill>
                  <a:srgbClr val="ECECEC"/>
                </a:solidFill>
                <a:effectLst/>
                <a:latin typeface="Söhne"/>
              </a:rPr>
              <a:t> </a:t>
            </a:r>
            <a:r>
              <a:rPr lang="fr-FR" sz="2400" b="0" i="0" dirty="0" err="1">
                <a:solidFill>
                  <a:srgbClr val="ECECEC"/>
                </a:solidFill>
                <a:effectLst/>
                <a:latin typeface="Söhne"/>
              </a:rPr>
              <a:t>latency</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Although</a:t>
            </a:r>
            <a:r>
              <a:rPr lang="fr-FR" sz="2400" b="0" i="0" dirty="0">
                <a:solidFill>
                  <a:srgbClr val="ECECEC"/>
                </a:solidFill>
                <a:effectLst/>
                <a:latin typeface="Söhne"/>
              </a:rPr>
              <a:t> </a:t>
            </a:r>
            <a:r>
              <a:rPr lang="fr-FR" sz="2400" b="0" i="0" dirty="0" err="1">
                <a:solidFill>
                  <a:srgbClr val="ECECEC"/>
                </a:solidFill>
                <a:effectLst/>
                <a:latin typeface="Söhne"/>
              </a:rPr>
              <a:t>it</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not a file system, Cloud Storage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used</a:t>
            </a:r>
            <a:r>
              <a:rPr lang="fr-FR" sz="2400" b="0" i="0" dirty="0">
                <a:solidFill>
                  <a:srgbClr val="ECECEC"/>
                </a:solidFill>
                <a:effectLst/>
                <a:latin typeface="Söhne"/>
              </a:rPr>
              <a:t> as one </a:t>
            </a:r>
            <a:r>
              <a:rPr lang="fr-FR" sz="2400" b="0" i="0" dirty="0" err="1">
                <a:solidFill>
                  <a:srgbClr val="ECECEC"/>
                </a:solidFill>
                <a:effectLst/>
                <a:latin typeface="Söhne"/>
              </a:rPr>
              <a:t>through</a:t>
            </a:r>
            <a:r>
              <a:rPr lang="fr-FR" sz="2400" b="0" i="0" dirty="0">
                <a:solidFill>
                  <a:srgbClr val="ECECEC"/>
                </a:solidFill>
                <a:effectLst/>
                <a:latin typeface="Söhne"/>
              </a:rPr>
              <a:t> </a:t>
            </a:r>
            <a:r>
              <a:rPr lang="fr-FR" sz="2400" b="0" i="0" dirty="0" err="1">
                <a:solidFill>
                  <a:srgbClr val="ECECEC"/>
                </a:solidFill>
                <a:effectLst/>
                <a:latin typeface="Söhne"/>
              </a:rPr>
              <a:t>third</a:t>
            </a:r>
            <a:r>
              <a:rPr lang="fr-FR" sz="2400" b="0" i="0" dirty="0">
                <a:solidFill>
                  <a:srgbClr val="ECECEC"/>
                </a:solidFill>
                <a:effectLst/>
                <a:latin typeface="Söhne"/>
              </a:rPr>
              <a:t>-party </a:t>
            </a:r>
            <a:r>
              <a:rPr lang="fr-FR" sz="2400" b="0" i="0" dirty="0" err="1">
                <a:solidFill>
                  <a:srgbClr val="ECECEC"/>
                </a:solidFill>
                <a:effectLst/>
                <a:latin typeface="Söhne"/>
              </a:rPr>
              <a:t>tools</a:t>
            </a:r>
            <a:r>
              <a:rPr lang="fr-FR" sz="2400" b="0" i="0" dirty="0">
                <a:solidFill>
                  <a:srgbClr val="ECECEC"/>
                </a:solidFill>
                <a:effectLst/>
                <a:latin typeface="Söhne"/>
              </a:rPr>
              <a:t> </a:t>
            </a:r>
            <a:r>
              <a:rPr lang="fr-FR" sz="2400" b="0" i="0" dirty="0" err="1">
                <a:solidFill>
                  <a:srgbClr val="ECECEC"/>
                </a:solidFill>
                <a:effectLst/>
                <a:latin typeface="Söhne"/>
              </a:rPr>
              <a:t>that</a:t>
            </a:r>
            <a:r>
              <a:rPr lang="fr-FR" sz="2400" b="0" i="0" dirty="0">
                <a:solidFill>
                  <a:srgbClr val="ECECEC"/>
                </a:solidFill>
                <a:effectLst/>
                <a:latin typeface="Söhne"/>
              </a:rPr>
              <a:t> </a:t>
            </a:r>
            <a:r>
              <a:rPr lang="fr-FR" sz="2400" b="0" i="0" dirty="0" err="1">
                <a:solidFill>
                  <a:srgbClr val="ECECEC"/>
                </a:solidFill>
                <a:effectLst/>
                <a:latin typeface="Söhne"/>
              </a:rPr>
              <a:t>allow</a:t>
            </a:r>
            <a:r>
              <a:rPr lang="fr-FR" sz="2400" b="0" i="0" dirty="0">
                <a:solidFill>
                  <a:srgbClr val="ECECEC"/>
                </a:solidFill>
                <a:effectLst/>
                <a:latin typeface="Söhne"/>
              </a:rPr>
              <a:t> the </a:t>
            </a:r>
            <a:r>
              <a:rPr lang="fr-FR" sz="2400" b="0" i="0" dirty="0" err="1">
                <a:solidFill>
                  <a:srgbClr val="ECECEC"/>
                </a:solidFill>
                <a:effectLst/>
                <a:latin typeface="Söhne"/>
              </a:rPr>
              <a:t>bucket</a:t>
            </a:r>
            <a:r>
              <a:rPr lang="fr-FR" sz="2400" b="0" i="0" dirty="0">
                <a:solidFill>
                  <a:srgbClr val="ECECEC"/>
                </a:solidFill>
                <a:effectLst/>
                <a:latin typeface="Söhne"/>
              </a:rPr>
              <a:t> to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mounted</a:t>
            </a:r>
            <a:r>
              <a:rPr lang="fr-FR" sz="2400" b="0" i="0" dirty="0">
                <a:solidFill>
                  <a:srgbClr val="ECECEC"/>
                </a:solidFill>
                <a:effectLst/>
                <a:latin typeface="Söhne"/>
              </a:rPr>
              <a:t>" as a directory on Linux or </a:t>
            </a:r>
            <a:r>
              <a:rPr lang="fr-FR" sz="2400" b="0" i="0" dirty="0" err="1">
                <a:solidFill>
                  <a:srgbClr val="ECECEC"/>
                </a:solidFill>
                <a:effectLst/>
                <a:latin typeface="Söhne"/>
              </a:rPr>
              <a:t>MacOS</a:t>
            </a:r>
            <a:r>
              <a:rPr lang="fr-FR" sz="24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6579336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52049" y="299093"/>
            <a:ext cx="11530647" cy="1293028"/>
          </a:xfrm>
        </p:spPr>
        <p:txBody>
          <a:bodyPr>
            <a:normAutofit/>
          </a:bodyPr>
          <a:lstStyle/>
          <a:p>
            <a:pPr algn="l"/>
            <a:r>
              <a:rPr lang="fr-FR" sz="3200" dirty="0"/>
              <a:t>Google cloud </a:t>
            </a:r>
            <a:r>
              <a:rPr lang="fr-FR" sz="3200" dirty="0" err="1"/>
              <a:t>storage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83501"/>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Cloud Storage </a:t>
            </a:r>
            <a:r>
              <a:rPr lang="fr-FR" sz="2000" b="0" i="0" dirty="0" err="1">
                <a:solidFill>
                  <a:srgbClr val="ECECEC"/>
                </a:solidFill>
                <a:effectLst/>
                <a:latin typeface="Söhne"/>
              </a:rPr>
              <a:t>offers</a:t>
            </a:r>
            <a:r>
              <a:rPr lang="fr-FR" sz="2000" b="0" i="0" dirty="0">
                <a:solidFill>
                  <a:srgbClr val="ECECEC"/>
                </a:solidFill>
                <a:effectLst/>
                <a:latin typeface="Söhne"/>
              </a:rPr>
              <a:t> four main </a:t>
            </a:r>
            <a:r>
              <a:rPr lang="fr-FR" sz="2000" b="0" i="0" dirty="0" err="1">
                <a:solidFill>
                  <a:srgbClr val="ECECEC"/>
                </a:solidFill>
                <a:effectLst/>
                <a:latin typeface="Söhne"/>
              </a:rPr>
              <a:t>storage</a:t>
            </a:r>
            <a:r>
              <a:rPr lang="fr-FR" sz="2000" b="0" i="0" dirty="0">
                <a:solidFill>
                  <a:srgbClr val="ECECEC"/>
                </a:solidFill>
                <a:effectLst/>
                <a:latin typeface="Söhne"/>
              </a:rPr>
              <a:t> classes, and </a:t>
            </a:r>
            <a:r>
              <a:rPr lang="fr-FR" sz="2000" b="0" i="0" dirty="0" err="1">
                <a:solidFill>
                  <a:srgbClr val="ECECEC"/>
                </a:solidFill>
                <a:effectLst/>
                <a:latin typeface="Söhne"/>
              </a:rPr>
              <a:t>stored</a:t>
            </a:r>
            <a:r>
              <a:rPr lang="fr-FR" sz="2000" b="0" i="0" dirty="0">
                <a:solidFill>
                  <a:srgbClr val="ECECEC"/>
                </a:solidFill>
                <a:effectLst/>
                <a:latin typeface="Söhne"/>
              </a:rPr>
              <a:t> data </a:t>
            </a:r>
            <a:r>
              <a:rPr lang="fr-FR" sz="2000" b="0" i="0" dirty="0" err="1">
                <a:solidFill>
                  <a:srgbClr val="ECECEC"/>
                </a:solidFill>
                <a:effectLst/>
                <a:latin typeface="Söhne"/>
              </a:rPr>
              <a:t>is</a:t>
            </a:r>
            <a:r>
              <a:rPr lang="fr-FR" sz="2000" b="0" i="0" dirty="0">
                <a:solidFill>
                  <a:srgbClr val="ECECEC"/>
                </a:solidFill>
                <a:effectLst/>
                <a:latin typeface="Söhne"/>
              </a:rPr>
              <a:t> </a:t>
            </a:r>
            <a:r>
              <a:rPr lang="fr-FR" sz="2000" b="0" i="0" dirty="0" err="1">
                <a:solidFill>
                  <a:srgbClr val="ECECEC"/>
                </a:solidFill>
                <a:effectLst/>
                <a:latin typeface="Söhne"/>
              </a:rPr>
              <a:t>managed</a:t>
            </a:r>
            <a:r>
              <a:rPr lang="fr-FR" sz="2000" b="0" i="0" dirty="0">
                <a:solidFill>
                  <a:srgbClr val="ECECEC"/>
                </a:solidFill>
                <a:effectLst/>
                <a:latin typeface="Söhne"/>
              </a:rPr>
              <a:t> and </a:t>
            </a:r>
            <a:r>
              <a:rPr lang="fr-FR" sz="2000" b="0" i="0" dirty="0" err="1">
                <a:solidFill>
                  <a:srgbClr val="ECECEC"/>
                </a:solidFill>
                <a:effectLst/>
                <a:latin typeface="Söhne"/>
              </a:rPr>
              <a:t>billed</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the "class" to </a:t>
            </a:r>
            <a:r>
              <a:rPr lang="fr-FR" sz="2000" b="0" i="0" dirty="0" err="1">
                <a:solidFill>
                  <a:srgbClr val="ECECEC"/>
                </a:solidFill>
                <a:effectLst/>
                <a:latin typeface="Söhne"/>
              </a:rPr>
              <a:t>which</a:t>
            </a:r>
            <a:r>
              <a:rPr lang="fr-FR" sz="2000" b="0" i="0" dirty="0">
                <a:solidFill>
                  <a:srgbClr val="ECECEC"/>
                </a:solidFill>
                <a:effectLst/>
                <a:latin typeface="Söhne"/>
              </a:rPr>
              <a:t> </a:t>
            </a:r>
            <a:r>
              <a:rPr lang="fr-FR" sz="2000" b="0" i="0" dirty="0" err="1">
                <a:solidFill>
                  <a:srgbClr val="ECECEC"/>
                </a:solidFill>
                <a:effectLst/>
                <a:latin typeface="Söhne"/>
              </a:rPr>
              <a:t>they</a:t>
            </a:r>
            <a:r>
              <a:rPr lang="fr-FR" sz="2000" b="0" i="0" dirty="0">
                <a:solidFill>
                  <a:srgbClr val="ECECEC"/>
                </a:solidFill>
                <a:effectLst/>
                <a:latin typeface="Söhne"/>
              </a:rPr>
              <a:t> </a:t>
            </a:r>
            <a:r>
              <a:rPr lang="fr-FR" sz="2000" b="0" i="0" dirty="0" err="1">
                <a:solidFill>
                  <a:srgbClr val="ECECEC"/>
                </a:solidFill>
                <a:effectLst/>
                <a:latin typeface="Söhne"/>
              </a:rPr>
              <a:t>belong</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first class </a:t>
            </a:r>
            <a:r>
              <a:rPr lang="fr-FR" sz="2000" b="0" i="0" dirty="0" err="1">
                <a:solidFill>
                  <a:srgbClr val="ECECEC"/>
                </a:solidFill>
                <a:effectLst/>
                <a:latin typeface="Söhne"/>
              </a:rPr>
              <a:t>is</a:t>
            </a:r>
            <a:r>
              <a:rPr lang="fr-FR" sz="2000" b="0" i="0" dirty="0">
                <a:solidFill>
                  <a:srgbClr val="ECECEC"/>
                </a:solidFill>
                <a:effectLst/>
                <a:latin typeface="Söhne"/>
              </a:rPr>
              <a:t> Standard Storage, </a:t>
            </a:r>
            <a:r>
              <a:rPr lang="fr-FR" sz="2000" b="0" i="0" dirty="0" err="1">
                <a:solidFill>
                  <a:srgbClr val="ECECEC"/>
                </a:solidFill>
                <a:effectLst/>
                <a:latin typeface="Söhne"/>
              </a:rPr>
              <a:t>ideal</a:t>
            </a:r>
            <a:r>
              <a:rPr lang="fr-FR" sz="2000" b="0" i="0" dirty="0">
                <a:solidFill>
                  <a:srgbClr val="ECECEC"/>
                </a:solidFill>
                <a:effectLst/>
                <a:latin typeface="Söhne"/>
              </a:rPr>
              <a:t> for </a:t>
            </a:r>
            <a:r>
              <a:rPr lang="fr-FR" sz="2000" b="0" i="0" dirty="0" err="1">
                <a:solidFill>
                  <a:srgbClr val="ECECEC"/>
                </a:solidFill>
                <a:effectLst/>
                <a:latin typeface="Söhne"/>
              </a:rPr>
              <a:t>frequently</a:t>
            </a:r>
            <a:r>
              <a:rPr lang="fr-FR" sz="2000" b="0" i="0" dirty="0">
                <a:solidFill>
                  <a:srgbClr val="ECECEC"/>
                </a:solidFill>
                <a:effectLst/>
                <a:latin typeface="Söhne"/>
              </a:rPr>
              <a:t> </a:t>
            </a:r>
            <a:r>
              <a:rPr lang="fr-FR" sz="2000" b="0" i="0" dirty="0" err="1">
                <a:solidFill>
                  <a:srgbClr val="ECECEC"/>
                </a:solidFill>
                <a:effectLst/>
                <a:latin typeface="Söhne"/>
              </a:rPr>
              <a:t>accessed</a:t>
            </a:r>
            <a:r>
              <a:rPr lang="fr-FR" sz="2000" b="0" i="0" dirty="0">
                <a:solidFill>
                  <a:srgbClr val="ECECEC"/>
                </a:solidFill>
                <a:effectLst/>
                <a:latin typeface="Söhne"/>
              </a:rPr>
              <a:t> or "hot" data, as </a:t>
            </a:r>
            <a:r>
              <a:rPr lang="fr-FR" sz="2000" b="0" i="0" dirty="0" err="1">
                <a:solidFill>
                  <a:srgbClr val="ECECEC"/>
                </a:solidFill>
                <a:effectLst/>
                <a:latin typeface="Söhne"/>
              </a:rPr>
              <a:t>well</a:t>
            </a:r>
            <a:r>
              <a:rPr lang="fr-FR" sz="2000" b="0" i="0" dirty="0">
                <a:solidFill>
                  <a:srgbClr val="ECECEC"/>
                </a:solidFill>
                <a:effectLst/>
                <a:latin typeface="Söhne"/>
              </a:rPr>
              <a:t> as data </a:t>
            </a:r>
            <a:r>
              <a:rPr lang="fr-FR" sz="2000" b="0" i="0" dirty="0" err="1">
                <a:solidFill>
                  <a:srgbClr val="ECECEC"/>
                </a:solidFill>
                <a:effectLst/>
                <a:latin typeface="Söhne"/>
              </a:rPr>
              <a:t>stored</a:t>
            </a:r>
            <a:r>
              <a:rPr lang="fr-FR" sz="2000" b="0" i="0" dirty="0">
                <a:solidFill>
                  <a:srgbClr val="ECECEC"/>
                </a:solidFill>
                <a:effectLst/>
                <a:latin typeface="Söhne"/>
              </a:rPr>
              <a:t> for short </a:t>
            </a:r>
            <a:r>
              <a:rPr lang="fr-FR" sz="2000" b="0" i="0" dirty="0" err="1">
                <a:solidFill>
                  <a:srgbClr val="ECECEC"/>
                </a:solidFill>
                <a:effectLst/>
                <a:latin typeface="Söhne"/>
              </a:rPr>
              <a:t>periods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second class </a:t>
            </a:r>
            <a:r>
              <a:rPr lang="fr-FR" sz="2000" b="0" i="0" dirty="0" err="1">
                <a:solidFill>
                  <a:srgbClr val="ECECEC"/>
                </a:solidFill>
                <a:effectLst/>
                <a:latin typeface="Söhne"/>
              </a:rPr>
              <a:t>is</a:t>
            </a:r>
            <a:r>
              <a:rPr lang="fr-FR" sz="2000" b="0" i="0" dirty="0">
                <a:solidFill>
                  <a:srgbClr val="ECECEC"/>
                </a:solidFill>
                <a:effectLst/>
                <a:latin typeface="Söhne"/>
              </a:rPr>
              <a:t> </a:t>
            </a:r>
            <a:r>
              <a:rPr lang="fr-FR" sz="2000" b="0" i="0" dirty="0" err="1">
                <a:solidFill>
                  <a:srgbClr val="ECECEC"/>
                </a:solidFill>
                <a:effectLst/>
                <a:latin typeface="Söhne"/>
              </a:rPr>
              <a:t>Nearline</a:t>
            </a:r>
            <a:r>
              <a:rPr lang="fr-FR" sz="2000" b="0" i="0" dirty="0">
                <a:solidFill>
                  <a:srgbClr val="ECECEC"/>
                </a:solidFill>
                <a:effectLst/>
                <a:latin typeface="Söhne"/>
              </a:rPr>
              <a:t> Storage, </a:t>
            </a:r>
            <a:r>
              <a:rPr lang="fr-FR" sz="2000" b="0" i="0" dirty="0" err="1">
                <a:solidFill>
                  <a:srgbClr val="ECECEC"/>
                </a:solidFill>
                <a:effectLst/>
                <a:latin typeface="Söhne"/>
              </a:rPr>
              <a:t>intended</a:t>
            </a:r>
            <a:r>
              <a:rPr lang="fr-FR" sz="2000" b="0" i="0" dirty="0">
                <a:solidFill>
                  <a:srgbClr val="ECECEC"/>
                </a:solidFill>
                <a:effectLst/>
                <a:latin typeface="Söhne"/>
              </a:rPr>
              <a:t> for </a:t>
            </a:r>
            <a:r>
              <a:rPr lang="fr-FR" sz="2000" b="0" i="0" dirty="0" err="1">
                <a:solidFill>
                  <a:srgbClr val="ECECEC"/>
                </a:solidFill>
                <a:effectLst/>
                <a:latin typeface="Söhne"/>
              </a:rPr>
              <a:t>infrequently</a:t>
            </a:r>
            <a:r>
              <a:rPr lang="fr-FR" sz="2000" b="0" i="0" dirty="0">
                <a:solidFill>
                  <a:srgbClr val="ECECEC"/>
                </a:solidFill>
                <a:effectLst/>
                <a:latin typeface="Söhne"/>
              </a:rPr>
              <a:t> </a:t>
            </a:r>
            <a:r>
              <a:rPr lang="fr-FR" sz="2000" b="0" i="0" dirty="0" err="1">
                <a:solidFill>
                  <a:srgbClr val="ECECEC"/>
                </a:solidFill>
                <a:effectLst/>
                <a:latin typeface="Söhne"/>
              </a:rPr>
              <a:t>accessed</a:t>
            </a:r>
            <a:r>
              <a:rPr lang="fr-FR" sz="2000" b="0" i="0" dirty="0">
                <a:solidFill>
                  <a:srgbClr val="ECECEC"/>
                </a:solidFill>
                <a:effectLst/>
                <a:latin typeface="Söhne"/>
              </a:rPr>
              <a:t> data, </a:t>
            </a:r>
            <a:r>
              <a:rPr lang="fr-FR" sz="2000" b="0" i="0" dirty="0" err="1">
                <a:solidFill>
                  <a:srgbClr val="ECECEC"/>
                </a:solidFill>
                <a:effectLst/>
                <a:latin typeface="Söhne"/>
              </a:rPr>
              <a:t>such</a:t>
            </a:r>
            <a:r>
              <a:rPr lang="fr-FR" sz="2000" b="0" i="0" dirty="0">
                <a:solidFill>
                  <a:srgbClr val="ECECEC"/>
                </a:solidFill>
                <a:effectLst/>
                <a:latin typeface="Söhne"/>
              </a:rPr>
              <a:t> as data backups, long-</a:t>
            </a:r>
            <a:r>
              <a:rPr lang="fr-FR" sz="2000" b="0" i="0" dirty="0" err="1">
                <a:solidFill>
                  <a:srgbClr val="ECECEC"/>
                </a:solidFill>
                <a:effectLst/>
                <a:latin typeface="Söhne"/>
              </a:rPr>
              <a:t>term</a:t>
            </a:r>
            <a:r>
              <a:rPr lang="fr-FR" sz="2000" b="0" i="0" dirty="0">
                <a:solidFill>
                  <a:srgbClr val="ECECEC"/>
                </a:solidFill>
                <a:effectLst/>
                <a:latin typeface="Söhne"/>
              </a:rPr>
              <a:t> </a:t>
            </a:r>
            <a:r>
              <a:rPr lang="fr-FR" sz="2000" b="0" i="0" dirty="0" err="1">
                <a:solidFill>
                  <a:srgbClr val="ECECEC"/>
                </a:solidFill>
                <a:effectLst/>
                <a:latin typeface="Söhne"/>
              </a:rPr>
              <a:t>multimedia</a:t>
            </a:r>
            <a:r>
              <a:rPr lang="fr-FR" sz="2000" b="0" i="0" dirty="0">
                <a:solidFill>
                  <a:srgbClr val="ECECEC"/>
                </a:solidFill>
                <a:effectLst/>
                <a:latin typeface="Söhne"/>
              </a:rPr>
              <a:t> content, or data </a:t>
            </a:r>
            <a:r>
              <a:rPr lang="fr-FR" sz="2000" b="0" i="0" dirty="0" err="1">
                <a:solidFill>
                  <a:srgbClr val="ECECEC"/>
                </a:solidFill>
                <a:effectLst/>
                <a:latin typeface="Söhne"/>
              </a:rPr>
              <a:t>archiving</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third</a:t>
            </a:r>
            <a:r>
              <a:rPr lang="fr-FR" sz="2000" b="0" i="0" dirty="0">
                <a:solidFill>
                  <a:srgbClr val="ECECEC"/>
                </a:solidFill>
                <a:effectLst/>
                <a:latin typeface="Söhne"/>
              </a:rPr>
              <a:t> class </a:t>
            </a:r>
            <a:r>
              <a:rPr lang="fr-FR" sz="2000" b="0" i="0" dirty="0" err="1">
                <a:solidFill>
                  <a:srgbClr val="ECECEC"/>
                </a:solidFill>
                <a:effectLst/>
                <a:latin typeface="Söhne"/>
              </a:rPr>
              <a:t>is</a:t>
            </a:r>
            <a:r>
              <a:rPr lang="fr-FR" sz="2000" b="0" i="0" dirty="0">
                <a:solidFill>
                  <a:srgbClr val="ECECEC"/>
                </a:solidFill>
                <a:effectLst/>
                <a:latin typeface="Söhne"/>
              </a:rPr>
              <a:t> </a:t>
            </a:r>
            <a:r>
              <a:rPr lang="fr-FR" sz="2000" b="0" i="0" dirty="0" err="1">
                <a:solidFill>
                  <a:srgbClr val="ECECEC"/>
                </a:solidFill>
                <a:effectLst/>
                <a:latin typeface="Söhne"/>
              </a:rPr>
              <a:t>Coldline</a:t>
            </a:r>
            <a:r>
              <a:rPr lang="fr-FR" sz="2000" b="0" i="0" dirty="0">
                <a:solidFill>
                  <a:srgbClr val="ECECEC"/>
                </a:solidFill>
                <a:effectLst/>
                <a:latin typeface="Söhne"/>
              </a:rPr>
              <a:t> Storage, </a:t>
            </a:r>
            <a:r>
              <a:rPr lang="fr-FR" sz="2000" b="0" i="0" dirty="0" err="1">
                <a:solidFill>
                  <a:srgbClr val="ECECEC"/>
                </a:solidFill>
                <a:effectLst/>
                <a:latin typeface="Söhne"/>
              </a:rPr>
              <a:t>similar</a:t>
            </a:r>
            <a:r>
              <a:rPr lang="fr-FR" sz="2000" b="0" i="0" dirty="0">
                <a:solidFill>
                  <a:srgbClr val="ECECEC"/>
                </a:solidFill>
                <a:effectLst/>
                <a:latin typeface="Söhne"/>
              </a:rPr>
              <a:t> to </a:t>
            </a:r>
            <a:r>
              <a:rPr lang="fr-FR" sz="2000" b="0" i="0" dirty="0" err="1">
                <a:solidFill>
                  <a:srgbClr val="ECECEC"/>
                </a:solidFill>
                <a:effectLst/>
                <a:latin typeface="Söhne"/>
              </a:rPr>
              <a:t>Nearline</a:t>
            </a:r>
            <a:r>
              <a:rPr lang="fr-FR" sz="2000" b="0" i="0" dirty="0">
                <a:solidFill>
                  <a:srgbClr val="ECECEC"/>
                </a:solidFill>
                <a:effectLst/>
                <a:latin typeface="Söhne"/>
              </a:rPr>
              <a:t> Storage but </a:t>
            </a:r>
            <a:r>
              <a:rPr lang="fr-FR" sz="2000" b="0" i="0" dirty="0" err="1">
                <a:solidFill>
                  <a:srgbClr val="ECECEC"/>
                </a:solidFill>
                <a:effectLst/>
                <a:latin typeface="Söhne"/>
              </a:rPr>
              <a:t>designed</a:t>
            </a:r>
            <a:r>
              <a:rPr lang="fr-FR" sz="2000" b="0" i="0" dirty="0">
                <a:solidFill>
                  <a:srgbClr val="ECECEC"/>
                </a:solidFill>
                <a:effectLst/>
                <a:latin typeface="Söhne"/>
              </a:rPr>
              <a:t> for </a:t>
            </a:r>
            <a:r>
              <a:rPr lang="fr-FR" sz="2000" b="0" i="0" dirty="0" err="1">
                <a:solidFill>
                  <a:srgbClr val="ECECEC"/>
                </a:solidFill>
                <a:effectLst/>
                <a:latin typeface="Söhne"/>
              </a:rPr>
              <a:t>even</a:t>
            </a:r>
            <a:r>
              <a:rPr lang="fr-FR" sz="2000" b="0" i="0" dirty="0">
                <a:solidFill>
                  <a:srgbClr val="ECECEC"/>
                </a:solidFill>
                <a:effectLst/>
                <a:latin typeface="Söhne"/>
              </a:rPr>
              <a:t> </a:t>
            </a:r>
            <a:r>
              <a:rPr lang="fr-FR" sz="2000" b="0" i="0" dirty="0" err="1">
                <a:solidFill>
                  <a:srgbClr val="ECECEC"/>
                </a:solidFill>
                <a:effectLst/>
                <a:latin typeface="Söhne"/>
              </a:rPr>
              <a:t>less</a:t>
            </a:r>
            <a:r>
              <a:rPr lang="fr-FR" sz="2000" b="0" i="0" dirty="0">
                <a:solidFill>
                  <a:srgbClr val="ECECEC"/>
                </a:solidFill>
                <a:effectLst/>
                <a:latin typeface="Söhne"/>
              </a:rPr>
              <a:t> </a:t>
            </a:r>
            <a:r>
              <a:rPr lang="fr-FR" sz="2000" b="0" i="0" dirty="0" err="1">
                <a:solidFill>
                  <a:srgbClr val="ECECEC"/>
                </a:solidFill>
                <a:effectLst/>
                <a:latin typeface="Söhne"/>
              </a:rPr>
              <a:t>frequent</a:t>
            </a:r>
            <a:r>
              <a:rPr lang="fr-FR" sz="2000" b="0" i="0" dirty="0">
                <a:solidFill>
                  <a:srgbClr val="ECECEC"/>
                </a:solidFill>
                <a:effectLst/>
                <a:latin typeface="Söhne"/>
              </a:rPr>
              <a:t> data </a:t>
            </a:r>
            <a:r>
              <a:rPr lang="fr-FR" sz="2000" b="0" i="0" dirty="0" err="1">
                <a:solidFill>
                  <a:srgbClr val="ECECEC"/>
                </a:solidFill>
                <a:effectLst/>
                <a:latin typeface="Söhne"/>
              </a:rPr>
              <a:t>access</a:t>
            </a:r>
            <a:r>
              <a:rPr lang="fr-FR" sz="2000" b="0" i="0" dirty="0">
                <a:solidFill>
                  <a:srgbClr val="ECECEC"/>
                </a:solidFill>
                <a:effectLst/>
                <a:latin typeface="Söhne"/>
              </a:rPr>
              <a:t> or modifications, at </a:t>
            </a:r>
            <a:r>
              <a:rPr lang="fr-FR" sz="2000" b="0" i="0" dirty="0" err="1">
                <a:solidFill>
                  <a:srgbClr val="ECECEC"/>
                </a:solidFill>
                <a:effectLst/>
                <a:latin typeface="Söhne"/>
              </a:rPr>
              <a:t>most</a:t>
            </a:r>
            <a:r>
              <a:rPr lang="fr-FR" sz="2000" b="0" i="0" dirty="0">
                <a:solidFill>
                  <a:srgbClr val="ECECEC"/>
                </a:solidFill>
                <a:effectLst/>
                <a:latin typeface="Söhne"/>
              </a:rPr>
              <a:t> once </a:t>
            </a:r>
            <a:r>
              <a:rPr lang="fr-FR" sz="2000" b="0" i="0" dirty="0" err="1">
                <a:solidFill>
                  <a:srgbClr val="ECECEC"/>
                </a:solidFill>
                <a:effectLst/>
                <a:latin typeface="Söhne"/>
              </a:rPr>
              <a:t>every</a:t>
            </a:r>
            <a:r>
              <a:rPr lang="fr-FR" sz="2000" b="0" i="0" dirty="0">
                <a:solidFill>
                  <a:srgbClr val="ECECEC"/>
                </a:solidFill>
                <a:effectLst/>
                <a:latin typeface="Söhne"/>
              </a:rPr>
              <a:t> 90 </a:t>
            </a:r>
            <a:r>
              <a:rPr lang="fr-FR" sz="2000" b="0" i="0" dirty="0" err="1">
                <a:solidFill>
                  <a:srgbClr val="ECECEC"/>
                </a:solidFill>
                <a:effectLst/>
                <a:latin typeface="Söhne"/>
              </a:rPr>
              <a:t>days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fourth</a:t>
            </a:r>
            <a:r>
              <a:rPr lang="fr-FR" sz="2000" b="0" i="0" dirty="0">
                <a:solidFill>
                  <a:srgbClr val="ECECEC"/>
                </a:solidFill>
                <a:effectLst/>
                <a:latin typeface="Söhne"/>
              </a:rPr>
              <a:t> class </a:t>
            </a:r>
            <a:r>
              <a:rPr lang="fr-FR" sz="2000" b="0" i="0" dirty="0" err="1">
                <a:solidFill>
                  <a:srgbClr val="ECECEC"/>
                </a:solidFill>
                <a:effectLst/>
                <a:latin typeface="Söhne"/>
              </a:rPr>
              <a:t>is</a:t>
            </a:r>
            <a:r>
              <a:rPr lang="fr-FR" sz="2000" b="0" i="0" dirty="0">
                <a:solidFill>
                  <a:srgbClr val="ECECEC"/>
                </a:solidFill>
                <a:effectLst/>
                <a:latin typeface="Söhne"/>
              </a:rPr>
              <a:t> Archive Storage, the least </a:t>
            </a:r>
            <a:r>
              <a:rPr lang="fr-FR" sz="2000" b="0" i="0" dirty="0" err="1">
                <a:solidFill>
                  <a:srgbClr val="ECECEC"/>
                </a:solidFill>
                <a:effectLst/>
                <a:latin typeface="Söhne"/>
              </a:rPr>
              <a:t>expensive</a:t>
            </a:r>
            <a:r>
              <a:rPr lang="fr-FR" sz="2000" b="0" i="0" dirty="0">
                <a:solidFill>
                  <a:srgbClr val="ECECEC"/>
                </a:solidFill>
                <a:effectLst/>
                <a:latin typeface="Söhne"/>
              </a:rPr>
              <a:t>, </a:t>
            </a:r>
            <a:r>
              <a:rPr lang="fr-FR" sz="2000" b="0" i="0" dirty="0" err="1">
                <a:solidFill>
                  <a:srgbClr val="ECECEC"/>
                </a:solidFill>
                <a:effectLst/>
                <a:latin typeface="Söhne"/>
              </a:rPr>
              <a:t>suitable</a:t>
            </a:r>
            <a:r>
              <a:rPr lang="fr-FR" sz="2000" b="0" i="0" dirty="0">
                <a:solidFill>
                  <a:srgbClr val="ECECEC"/>
                </a:solidFill>
                <a:effectLst/>
                <a:latin typeface="Söhne"/>
              </a:rPr>
              <a:t> for data </a:t>
            </a:r>
            <a:r>
              <a:rPr lang="fr-FR" sz="2000" b="0" i="0" dirty="0" err="1">
                <a:solidFill>
                  <a:srgbClr val="ECECEC"/>
                </a:solidFill>
                <a:effectLst/>
                <a:latin typeface="Söhne"/>
              </a:rPr>
              <a:t>archiving</a:t>
            </a:r>
            <a:r>
              <a:rPr lang="fr-FR" sz="2000" b="0" i="0" dirty="0">
                <a:solidFill>
                  <a:srgbClr val="ECECEC"/>
                </a:solidFill>
                <a:effectLst/>
                <a:latin typeface="Söhne"/>
              </a:rPr>
              <a:t>, online backups, and </a:t>
            </a:r>
            <a:r>
              <a:rPr lang="fr-FR" sz="2000" b="0" i="0" dirty="0" err="1">
                <a:solidFill>
                  <a:srgbClr val="ECECEC"/>
                </a:solidFill>
                <a:effectLst/>
                <a:latin typeface="Söhne"/>
              </a:rPr>
              <a:t>disaster</a:t>
            </a:r>
            <a:r>
              <a:rPr lang="fr-FR" sz="2000" b="0" i="0" dirty="0">
                <a:solidFill>
                  <a:srgbClr val="ECECEC"/>
                </a:solidFill>
                <a:effectLst/>
                <a:latin typeface="Söhne"/>
              </a:rPr>
              <a:t> </a:t>
            </a:r>
            <a:r>
              <a:rPr lang="fr-FR" sz="2000" b="0" i="0" dirty="0" err="1">
                <a:solidFill>
                  <a:srgbClr val="ECECEC"/>
                </a:solidFill>
                <a:effectLst/>
                <a:latin typeface="Söhne"/>
              </a:rPr>
              <a:t>recovery</a:t>
            </a:r>
            <a:r>
              <a:rPr lang="fr-FR" sz="2000" b="0" i="0" dirty="0">
                <a:solidFill>
                  <a:srgbClr val="ECECEC"/>
                </a:solidFill>
                <a:effectLst/>
                <a:latin typeface="Söhne"/>
              </a:rPr>
              <a:t>, but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higher</a:t>
            </a:r>
            <a:r>
              <a:rPr lang="fr-FR" sz="2000" b="0" i="0" dirty="0">
                <a:solidFill>
                  <a:srgbClr val="ECECEC"/>
                </a:solidFill>
                <a:effectLst/>
                <a:latin typeface="Söhne"/>
              </a:rPr>
              <a:t> </a:t>
            </a:r>
            <a:r>
              <a:rPr lang="fr-FR" sz="2000" b="0" i="0" dirty="0" err="1">
                <a:solidFill>
                  <a:srgbClr val="ECECEC"/>
                </a:solidFill>
                <a:effectLst/>
                <a:latin typeface="Söhne"/>
              </a:rPr>
              <a:t>access</a:t>
            </a:r>
            <a:r>
              <a:rPr lang="fr-FR" sz="2000" b="0" i="0" dirty="0">
                <a:solidFill>
                  <a:srgbClr val="ECECEC"/>
                </a:solidFill>
                <a:effectLst/>
                <a:latin typeface="Söhne"/>
              </a:rPr>
              <a:t> and </a:t>
            </a:r>
            <a:r>
              <a:rPr lang="fr-FR" sz="2000" b="0" i="0" dirty="0" err="1">
                <a:solidFill>
                  <a:srgbClr val="ECECEC"/>
                </a:solidFill>
                <a:effectLst/>
                <a:latin typeface="Söhne"/>
              </a:rPr>
              <a:t>operation</a:t>
            </a:r>
            <a:r>
              <a:rPr lang="fr-FR" sz="2000" b="0" i="0" dirty="0">
                <a:solidFill>
                  <a:srgbClr val="ECECEC"/>
                </a:solidFill>
                <a:effectLst/>
                <a:latin typeface="Söhne"/>
              </a:rPr>
              <a:t> </a:t>
            </a:r>
            <a:r>
              <a:rPr lang="fr-FR" sz="2000" b="0" i="0" dirty="0" err="1">
                <a:solidFill>
                  <a:srgbClr val="ECECEC"/>
                </a:solidFill>
                <a:effectLst/>
                <a:latin typeface="Söhne"/>
              </a:rPr>
              <a:t>costs</a:t>
            </a:r>
            <a:r>
              <a:rPr lang="fr-FR" sz="2000" b="0" i="0" dirty="0">
                <a:solidFill>
                  <a:srgbClr val="ECECEC"/>
                </a:solidFill>
                <a:effectLst/>
                <a:latin typeface="Söhne"/>
              </a:rPr>
              <a:t> and a minimum </a:t>
            </a:r>
            <a:r>
              <a:rPr lang="fr-FR" sz="2000" b="0" i="0" dirty="0" err="1">
                <a:solidFill>
                  <a:srgbClr val="ECECEC"/>
                </a:solidFill>
                <a:effectLst/>
                <a:latin typeface="Söhne"/>
              </a:rPr>
              <a:t>storage</a:t>
            </a:r>
            <a:r>
              <a:rPr lang="fr-FR" sz="2000" b="0" i="0" dirty="0">
                <a:solidFill>
                  <a:srgbClr val="ECECEC"/>
                </a:solidFill>
                <a:effectLst/>
                <a:latin typeface="Söhne"/>
              </a:rPr>
              <a:t> duration of 365 </a:t>
            </a:r>
            <a:r>
              <a:rPr lang="fr-FR" sz="2000" b="0" i="0" dirty="0" err="1">
                <a:solidFill>
                  <a:srgbClr val="ECECEC"/>
                </a:solidFill>
                <a:effectLst/>
                <a:latin typeface="Söhne"/>
              </a:rPr>
              <a:t>days</a:t>
            </a:r>
            <a:r>
              <a:rPr lang="fr-FR" sz="20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9307294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350518"/>
            <a:ext cx="11530647" cy="1293028"/>
          </a:xfrm>
        </p:spPr>
        <p:txBody>
          <a:bodyPr>
            <a:normAutofit/>
          </a:bodyPr>
          <a:lstStyle/>
          <a:p>
            <a:pPr algn="l"/>
            <a:r>
              <a:rPr lang="fr-FR" sz="3200" dirty="0"/>
              <a:t>Google cloud </a:t>
            </a:r>
            <a:r>
              <a:rPr lang="fr-FR" sz="3200" dirty="0" err="1"/>
              <a:t>sql</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fontScale="92500" lnSpcReduction="10000"/>
          </a:bodyPr>
          <a:lstStyle/>
          <a:p>
            <a:pPr algn="l">
              <a:buFont typeface="Arial" panose="020B0604020202020204" pitchFamily="34" charset="0"/>
              <a:buChar char="•"/>
            </a:pPr>
            <a:r>
              <a:rPr lang="fr-FR" sz="2400" b="0" i="0" dirty="0">
                <a:solidFill>
                  <a:srgbClr val="ECECEC"/>
                </a:solidFill>
                <a:effectLst/>
                <a:latin typeface="Söhne"/>
              </a:rPr>
              <a:t>Cloud SQL </a:t>
            </a:r>
            <a:r>
              <a:rPr lang="fr-FR" sz="2400" b="0" i="0" dirty="0" err="1">
                <a:solidFill>
                  <a:srgbClr val="ECECEC"/>
                </a:solidFill>
                <a:effectLst/>
                <a:latin typeface="Söhne"/>
              </a:rPr>
              <a:t>offers</a:t>
            </a:r>
            <a:r>
              <a:rPr lang="fr-FR" sz="2400" b="0" i="0" dirty="0">
                <a:solidFill>
                  <a:srgbClr val="ECECEC"/>
                </a:solidFill>
                <a:effectLst/>
                <a:latin typeface="Söhne"/>
              </a:rPr>
              <a:t> </a:t>
            </a:r>
            <a:r>
              <a:rPr lang="fr-FR" sz="2400" b="0" i="0" dirty="0" err="1">
                <a:solidFill>
                  <a:srgbClr val="ECECEC"/>
                </a:solidFill>
                <a:effectLst/>
                <a:latin typeface="Söhne"/>
              </a:rPr>
              <a:t>fully</a:t>
            </a:r>
            <a:r>
              <a:rPr lang="fr-FR" sz="2400" b="0" i="0" dirty="0">
                <a:solidFill>
                  <a:srgbClr val="ECECEC"/>
                </a:solidFill>
                <a:effectLst/>
                <a:latin typeface="Söhne"/>
              </a:rPr>
              <a:t> </a:t>
            </a:r>
            <a:r>
              <a:rPr lang="fr-FR" sz="2400" b="0" i="0" dirty="0" err="1">
                <a:solidFill>
                  <a:srgbClr val="ECECEC"/>
                </a:solidFill>
                <a:effectLst/>
                <a:latin typeface="Söhne"/>
              </a:rPr>
              <a:t>managed</a:t>
            </a:r>
            <a:r>
              <a:rPr lang="fr-FR" sz="2400" b="0" i="0" dirty="0">
                <a:solidFill>
                  <a:srgbClr val="ECECEC"/>
                </a:solidFill>
                <a:effectLst/>
                <a:latin typeface="Söhne"/>
              </a:rPr>
              <a:t> </a:t>
            </a:r>
            <a:r>
              <a:rPr lang="fr-FR" sz="2400" b="0" i="0" dirty="0" err="1">
                <a:solidFill>
                  <a:srgbClr val="ECECEC"/>
                </a:solidFill>
                <a:effectLst/>
                <a:latin typeface="Söhne"/>
              </a:rPr>
              <a:t>relational</a:t>
            </a:r>
            <a:r>
              <a:rPr lang="fr-FR" sz="2400" b="0" i="0" dirty="0">
                <a:solidFill>
                  <a:srgbClr val="ECECEC"/>
                </a:solidFill>
                <a:effectLst/>
                <a:latin typeface="Söhne"/>
              </a:rPr>
              <a:t> </a:t>
            </a:r>
            <a:r>
              <a:rPr lang="fr-FR" sz="2400" b="0" i="0" dirty="0" err="1">
                <a:solidFill>
                  <a:srgbClr val="ECECEC"/>
                </a:solidFill>
                <a:effectLst/>
                <a:latin typeface="Söhne"/>
              </a:rPr>
              <a:t>databases</a:t>
            </a:r>
            <a:r>
              <a:rPr lang="fr-FR" sz="2400" b="0" i="0" dirty="0">
                <a:solidFill>
                  <a:srgbClr val="ECECEC"/>
                </a:solidFill>
                <a:effectLst/>
                <a:latin typeface="Söhne"/>
              </a:rPr>
              <a:t> (MySQL, PostgreSQL, SQL Server) as a service, </a:t>
            </a:r>
            <a:r>
              <a:rPr lang="fr-FR" sz="2400" b="0" i="0" dirty="0" err="1">
                <a:solidFill>
                  <a:srgbClr val="ECECEC"/>
                </a:solidFill>
                <a:effectLst/>
                <a:latin typeface="Söhne"/>
              </a:rPr>
              <a:t>freeing</a:t>
            </a:r>
            <a:r>
              <a:rPr lang="fr-FR" sz="2400" b="0" i="0" dirty="0">
                <a:solidFill>
                  <a:srgbClr val="ECECEC"/>
                </a:solidFill>
                <a:effectLst/>
                <a:latin typeface="Söhne"/>
              </a:rPr>
              <a:t> </a:t>
            </a:r>
            <a:r>
              <a:rPr lang="fr-FR" sz="2400" b="0" i="0" dirty="0" err="1">
                <a:solidFill>
                  <a:srgbClr val="ECECEC"/>
                </a:solidFill>
                <a:effectLst/>
                <a:latin typeface="Söhne"/>
              </a:rPr>
              <a:t>users</a:t>
            </a:r>
            <a:r>
              <a:rPr lang="fr-FR" sz="2400" b="0" i="0" dirty="0">
                <a:solidFill>
                  <a:srgbClr val="ECECEC"/>
                </a:solidFill>
                <a:effectLst/>
                <a:latin typeface="Söhne"/>
              </a:rPr>
              <a:t> </a:t>
            </a:r>
            <a:r>
              <a:rPr lang="fr-FR" sz="2400" b="0" i="0" dirty="0" err="1">
                <a:solidFill>
                  <a:srgbClr val="ECECEC"/>
                </a:solidFill>
                <a:effectLst/>
                <a:latin typeface="Söhne"/>
              </a:rPr>
              <a:t>from</a:t>
            </a:r>
            <a:r>
              <a:rPr lang="fr-FR" sz="2400" b="0" i="0" dirty="0">
                <a:solidFill>
                  <a:srgbClr val="ECECEC"/>
                </a:solidFill>
                <a:effectLst/>
                <a:latin typeface="Söhne"/>
              </a:rPr>
              <a:t> </a:t>
            </a:r>
            <a:r>
              <a:rPr lang="fr-FR" sz="2400" b="0" i="0" dirty="0" err="1">
                <a:solidFill>
                  <a:srgbClr val="ECECEC"/>
                </a:solidFill>
                <a:effectLst/>
                <a:latin typeface="Söhne"/>
              </a:rPr>
              <a:t>tedious</a:t>
            </a:r>
            <a:r>
              <a:rPr lang="fr-FR" sz="2400" b="0" i="0" dirty="0">
                <a:solidFill>
                  <a:srgbClr val="ECECEC"/>
                </a:solidFill>
                <a:effectLst/>
                <a:latin typeface="Söhne"/>
              </a:rPr>
              <a:t> maintenance </a:t>
            </a:r>
            <a:r>
              <a:rPr lang="fr-FR" sz="2400" b="0" i="0" dirty="0" err="1">
                <a:solidFill>
                  <a:srgbClr val="ECECEC"/>
                </a:solidFill>
                <a:effectLst/>
                <a:latin typeface="Söhne"/>
              </a:rPr>
              <a:t>tasks</a:t>
            </a:r>
            <a:r>
              <a:rPr lang="fr-FR" sz="2400" b="0" i="0" dirty="0">
                <a:solidFill>
                  <a:srgbClr val="ECECEC"/>
                </a:solidFill>
                <a:effectLst/>
                <a:latin typeface="Söhne"/>
              </a:rPr>
              <a:t> </a:t>
            </a:r>
            <a:r>
              <a:rPr lang="fr-FR" sz="2400" b="0" i="0" dirty="0" err="1">
                <a:solidFill>
                  <a:srgbClr val="ECECEC"/>
                </a:solidFill>
                <a:effectLst/>
                <a:latin typeface="Söhne"/>
              </a:rPr>
              <a:t>such</a:t>
            </a:r>
            <a:r>
              <a:rPr lang="fr-FR" sz="2400" b="0" i="0" dirty="0">
                <a:solidFill>
                  <a:srgbClr val="ECECEC"/>
                </a:solidFill>
                <a:effectLst/>
                <a:latin typeface="Söhne"/>
              </a:rPr>
              <a:t> as updates and backups.</a:t>
            </a:r>
          </a:p>
          <a:p>
            <a:pPr algn="l">
              <a:buFont typeface="Arial" panose="020B0604020202020204" pitchFamily="34" charset="0"/>
              <a:buChar char="•"/>
            </a:pPr>
            <a:r>
              <a:rPr lang="fr-FR" sz="2400" b="0" i="0" dirty="0">
                <a:solidFill>
                  <a:srgbClr val="ECECEC"/>
                </a:solidFill>
                <a:effectLst/>
                <a:latin typeface="Söhne"/>
              </a:rPr>
              <a:t>No software installation or maintenance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required</a:t>
            </a:r>
            <a:r>
              <a:rPr lang="fr-FR" sz="2400" b="0" i="0" dirty="0">
                <a:solidFill>
                  <a:srgbClr val="ECECEC"/>
                </a:solidFill>
                <a:effectLst/>
                <a:latin typeface="Söhne"/>
              </a:rPr>
              <a:t>, </a:t>
            </a:r>
            <a:r>
              <a:rPr lang="fr-FR" sz="2400" b="0" i="0" dirty="0" err="1">
                <a:solidFill>
                  <a:srgbClr val="ECECEC"/>
                </a:solidFill>
                <a:effectLst/>
                <a:latin typeface="Söhne"/>
              </a:rPr>
              <a:t>providing</a:t>
            </a:r>
            <a:r>
              <a:rPr lang="fr-FR" sz="2400" b="0" i="0" dirty="0">
                <a:solidFill>
                  <a:srgbClr val="ECECEC"/>
                </a:solidFill>
                <a:effectLst/>
                <a:latin typeface="Söhne"/>
              </a:rPr>
              <a:t> an </a:t>
            </a:r>
            <a:r>
              <a:rPr lang="fr-FR" sz="2400" b="0" i="0" dirty="0" err="1">
                <a:solidFill>
                  <a:srgbClr val="ECECEC"/>
                </a:solidFill>
                <a:effectLst/>
                <a:latin typeface="Söhne"/>
              </a:rPr>
              <a:t>easy</a:t>
            </a:r>
            <a:r>
              <a:rPr lang="fr-FR" sz="2400" b="0" i="0" dirty="0">
                <a:solidFill>
                  <a:srgbClr val="ECECEC"/>
                </a:solidFill>
                <a:effectLst/>
                <a:latin typeface="Söhne"/>
              </a:rPr>
              <a:t>-to-</a:t>
            </a:r>
            <a:r>
              <a:rPr lang="fr-FR" sz="2400" b="0" i="0" dirty="0" err="1">
                <a:solidFill>
                  <a:srgbClr val="ECECEC"/>
                </a:solidFill>
                <a:effectLst/>
                <a:latin typeface="Söhne"/>
              </a:rPr>
              <a:t>deploy</a:t>
            </a:r>
            <a:r>
              <a:rPr lang="fr-FR" sz="2400" b="0" i="0" dirty="0">
                <a:solidFill>
                  <a:srgbClr val="ECECEC"/>
                </a:solidFill>
                <a:effectLst/>
                <a:latin typeface="Söhne"/>
              </a:rPr>
              <a:t> solution.</a:t>
            </a:r>
          </a:p>
          <a:p>
            <a:pPr algn="l">
              <a:buFont typeface="Arial" panose="020B0604020202020204" pitchFamily="34" charset="0"/>
              <a:buChar char="•"/>
            </a:pPr>
            <a:r>
              <a:rPr lang="fr-FR" sz="2400" b="0" i="0" dirty="0" err="1">
                <a:solidFill>
                  <a:srgbClr val="ECECEC"/>
                </a:solidFill>
                <a:effectLst/>
                <a:latin typeface="Söhne"/>
              </a:rPr>
              <a:t>Scalability</a:t>
            </a:r>
            <a:r>
              <a:rPr lang="fr-FR" sz="2400" b="0" i="0" dirty="0">
                <a:solidFill>
                  <a:srgbClr val="ECECEC"/>
                </a:solidFill>
                <a:effectLst/>
                <a:latin typeface="Söhne"/>
              </a:rPr>
              <a:t> </a:t>
            </a:r>
            <a:r>
              <a:rPr lang="fr-FR" sz="2400" b="0" i="0" dirty="0" err="1">
                <a:solidFill>
                  <a:srgbClr val="ECECEC"/>
                </a:solidFill>
                <a:effectLst/>
                <a:latin typeface="Söhne"/>
              </a:rPr>
              <a:t>capabilities</a:t>
            </a:r>
            <a:r>
              <a:rPr lang="fr-FR" sz="2400" b="0" i="0" dirty="0">
                <a:solidFill>
                  <a:srgbClr val="ECECEC"/>
                </a:solidFill>
                <a:effectLst/>
                <a:latin typeface="Söhne"/>
              </a:rPr>
              <a:t> </a:t>
            </a:r>
            <a:r>
              <a:rPr lang="fr-FR" sz="2400" b="0" i="0" dirty="0" err="1">
                <a:solidFill>
                  <a:srgbClr val="ECECEC"/>
                </a:solidFill>
                <a:effectLst/>
                <a:latin typeface="Söhne"/>
              </a:rPr>
              <a:t>include</a:t>
            </a:r>
            <a:r>
              <a:rPr lang="fr-FR" sz="2400" b="0" i="0" dirty="0">
                <a:solidFill>
                  <a:srgbClr val="ECECEC"/>
                </a:solidFill>
                <a:effectLst/>
                <a:latin typeface="Söhne"/>
              </a:rPr>
              <a:t> up to 64 processor </a:t>
            </a:r>
            <a:r>
              <a:rPr lang="fr-FR" sz="2400" b="0" i="0" dirty="0" err="1">
                <a:solidFill>
                  <a:srgbClr val="ECECEC"/>
                </a:solidFill>
                <a:effectLst/>
                <a:latin typeface="Söhne"/>
              </a:rPr>
              <a:t>cores</a:t>
            </a:r>
            <a:r>
              <a:rPr lang="fr-FR" sz="2400" b="0" i="0" dirty="0">
                <a:solidFill>
                  <a:srgbClr val="ECECEC"/>
                </a:solidFill>
                <a:effectLst/>
                <a:latin typeface="Söhne"/>
              </a:rPr>
              <a:t>, over 400 GB of RAM, and 64 TB of </a:t>
            </a:r>
            <a:r>
              <a:rPr lang="fr-FR" sz="2400" b="0" i="0" dirty="0" err="1">
                <a:solidFill>
                  <a:srgbClr val="ECECEC"/>
                </a:solidFill>
                <a:effectLst/>
                <a:latin typeface="Söhne"/>
              </a:rPr>
              <a:t>storage</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Automatic</a:t>
            </a:r>
            <a:r>
              <a:rPr lang="fr-FR" sz="2400" b="0" i="0" dirty="0">
                <a:solidFill>
                  <a:srgbClr val="ECECEC"/>
                </a:solidFill>
                <a:effectLst/>
                <a:latin typeface="Söhne"/>
              </a:rPr>
              <a:t> </a:t>
            </a:r>
            <a:r>
              <a:rPr lang="fr-FR" sz="2400" b="0" i="0" dirty="0" err="1">
                <a:solidFill>
                  <a:srgbClr val="ECECEC"/>
                </a:solidFill>
                <a:effectLst/>
                <a:latin typeface="Söhne"/>
              </a:rPr>
              <a:t>replication</a:t>
            </a:r>
            <a:r>
              <a:rPr lang="fr-FR" sz="2400" b="0" i="0" dirty="0">
                <a:solidFill>
                  <a:srgbClr val="ECECEC"/>
                </a:solidFill>
                <a:effectLst/>
                <a:latin typeface="Söhne"/>
              </a:rPr>
              <a:t> support and </a:t>
            </a:r>
            <a:r>
              <a:rPr lang="fr-FR" sz="2400" b="0" i="0" dirty="0" err="1">
                <a:solidFill>
                  <a:srgbClr val="ECECEC"/>
                </a:solidFill>
                <a:effectLst/>
                <a:latin typeface="Söhne"/>
              </a:rPr>
              <a:t>managed</a:t>
            </a:r>
            <a:r>
              <a:rPr lang="fr-FR" sz="2400" b="0" i="0" dirty="0">
                <a:solidFill>
                  <a:srgbClr val="ECECEC"/>
                </a:solidFill>
                <a:effectLst/>
                <a:latin typeface="Söhne"/>
              </a:rPr>
              <a:t> backups </a:t>
            </a:r>
            <a:r>
              <a:rPr lang="fr-FR" sz="2400" b="0" i="0" dirty="0" err="1">
                <a:solidFill>
                  <a:srgbClr val="ECECEC"/>
                </a:solidFill>
                <a:effectLst/>
                <a:latin typeface="Söhne"/>
              </a:rPr>
              <a:t>ensure</a:t>
            </a:r>
            <a:r>
              <a:rPr lang="fr-FR" sz="2400" b="0" i="0" dirty="0">
                <a:solidFill>
                  <a:srgbClr val="ECECEC"/>
                </a:solidFill>
                <a:effectLst/>
                <a:latin typeface="Söhne"/>
              </a:rPr>
              <a:t> data </a:t>
            </a:r>
            <a:r>
              <a:rPr lang="fr-FR" sz="2400" b="0" i="0" dirty="0" err="1">
                <a:solidFill>
                  <a:srgbClr val="ECECEC"/>
                </a:solidFill>
                <a:effectLst/>
                <a:latin typeface="Söhne"/>
              </a:rPr>
              <a:t>availability</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Security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enhanced</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data </a:t>
            </a:r>
            <a:r>
              <a:rPr lang="fr-FR" sz="2400" b="0" i="0" dirty="0" err="1">
                <a:solidFill>
                  <a:srgbClr val="ECECEC"/>
                </a:solidFill>
                <a:effectLst/>
                <a:latin typeface="Söhne"/>
              </a:rPr>
              <a:t>encryption</a:t>
            </a:r>
            <a:r>
              <a:rPr lang="fr-FR" sz="2400" b="0" i="0" dirty="0">
                <a:solidFill>
                  <a:srgbClr val="ECECEC"/>
                </a:solidFill>
                <a:effectLst/>
                <a:latin typeface="Söhne"/>
              </a:rPr>
              <a:t> and </a:t>
            </a:r>
            <a:r>
              <a:rPr lang="fr-FR" sz="2400" b="0" i="0" dirty="0" err="1">
                <a:solidFill>
                  <a:srgbClr val="ECECEC"/>
                </a:solidFill>
                <a:effectLst/>
                <a:latin typeface="Söhne"/>
              </a:rPr>
              <a:t>built-in</a:t>
            </a:r>
            <a:r>
              <a:rPr lang="fr-FR" sz="2400" b="0" i="0" dirty="0">
                <a:solidFill>
                  <a:srgbClr val="ECECEC"/>
                </a:solidFill>
                <a:effectLst/>
                <a:latin typeface="Söhne"/>
              </a:rPr>
              <a:t> network firewall.</a:t>
            </a:r>
          </a:p>
          <a:p>
            <a:pPr algn="l">
              <a:buFont typeface="Arial" panose="020B0604020202020204" pitchFamily="34" charset="0"/>
              <a:buChar char="•"/>
            </a:pPr>
            <a:r>
              <a:rPr lang="fr-FR" sz="2400" b="0" i="0" dirty="0" err="1">
                <a:solidFill>
                  <a:srgbClr val="ECECEC"/>
                </a:solidFill>
                <a:effectLst/>
                <a:latin typeface="Söhne"/>
              </a:rPr>
              <a:t>Compute</a:t>
            </a:r>
            <a:r>
              <a:rPr lang="fr-FR" sz="2400" b="0" i="0" dirty="0">
                <a:solidFill>
                  <a:srgbClr val="ECECEC"/>
                </a:solidFill>
                <a:effectLst/>
                <a:latin typeface="Söhne"/>
              </a:rPr>
              <a:t> Engine instances can </a:t>
            </a:r>
            <a:r>
              <a:rPr lang="fr-FR" sz="2400" b="0" i="0" dirty="0" err="1">
                <a:solidFill>
                  <a:srgbClr val="ECECEC"/>
                </a:solidFill>
                <a:effectLst/>
                <a:latin typeface="Söhne"/>
              </a:rPr>
              <a:t>access</a:t>
            </a:r>
            <a:r>
              <a:rPr lang="fr-FR" sz="2400" b="0" i="0" dirty="0">
                <a:solidFill>
                  <a:srgbClr val="ECECEC"/>
                </a:solidFill>
                <a:effectLst/>
                <a:latin typeface="Söhne"/>
              </a:rPr>
              <a:t> Cloud SQL instances, </a:t>
            </a:r>
            <a:r>
              <a:rPr lang="fr-FR" sz="2400" b="0" i="0" dirty="0" err="1">
                <a:solidFill>
                  <a:srgbClr val="ECECEC"/>
                </a:solidFill>
                <a:effectLst/>
                <a:latin typeface="Söhne"/>
              </a:rPr>
              <a:t>facilitating</a:t>
            </a:r>
            <a:r>
              <a:rPr lang="fr-FR" sz="2400" b="0" i="0" dirty="0">
                <a:solidFill>
                  <a:srgbClr val="ECECEC"/>
                </a:solidFill>
                <a:effectLst/>
                <a:latin typeface="Söhne"/>
              </a:rPr>
              <a:t> </a:t>
            </a:r>
            <a:r>
              <a:rPr lang="fr-FR" sz="2400" b="0" i="0" dirty="0" err="1">
                <a:solidFill>
                  <a:srgbClr val="ECECEC"/>
                </a:solidFill>
                <a:effectLst/>
                <a:latin typeface="Söhne"/>
              </a:rPr>
              <a:t>integration</a:t>
            </a:r>
            <a:r>
              <a:rPr lang="fr-FR" sz="2400" b="0" i="0" dirty="0">
                <a:solidFill>
                  <a:srgbClr val="ECECEC"/>
                </a:solidFill>
                <a:effectLst/>
                <a:latin typeface="Söhne"/>
              </a:rPr>
              <a:t> </a:t>
            </a:r>
            <a:r>
              <a:rPr lang="fr-FR" sz="2400" b="0" i="0" dirty="0" err="1">
                <a:solidFill>
                  <a:srgbClr val="ECECEC"/>
                </a:solidFill>
                <a:effectLst/>
                <a:latin typeface="Söhne"/>
              </a:rPr>
              <a:t>into</a:t>
            </a:r>
            <a:r>
              <a:rPr lang="fr-FR" sz="2400" b="0" i="0" dirty="0">
                <a:solidFill>
                  <a:srgbClr val="ECECEC"/>
                </a:solidFill>
                <a:effectLst/>
                <a:latin typeface="Söhne"/>
              </a:rPr>
              <a:t> </a:t>
            </a:r>
            <a:r>
              <a:rPr lang="fr-FR" sz="2400" b="0" i="0" dirty="0" err="1">
                <a:solidFill>
                  <a:srgbClr val="ECECEC"/>
                </a:solidFill>
                <a:effectLst/>
                <a:latin typeface="Söhne"/>
              </a:rPr>
              <a:t>complex</a:t>
            </a:r>
            <a:r>
              <a:rPr lang="fr-FR" sz="2400" b="0" i="0" dirty="0">
                <a:solidFill>
                  <a:srgbClr val="ECECEC"/>
                </a:solidFill>
                <a:effectLst/>
                <a:latin typeface="Söhne"/>
              </a:rPr>
              <a:t> </a:t>
            </a:r>
            <a:r>
              <a:rPr lang="fr-FR" sz="2400" b="0" i="0" dirty="0" err="1">
                <a:solidFill>
                  <a:srgbClr val="ECECEC"/>
                </a:solidFill>
                <a:effectLst/>
                <a:latin typeface="Söhne"/>
              </a:rPr>
              <a:t>environments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Compatible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various</a:t>
            </a:r>
            <a:r>
              <a:rPr lang="fr-FR" sz="2400" b="0" i="0" dirty="0">
                <a:solidFill>
                  <a:srgbClr val="ECECEC"/>
                </a:solidFill>
                <a:effectLst/>
                <a:latin typeface="Söhne"/>
              </a:rPr>
              <a:t> </a:t>
            </a:r>
            <a:r>
              <a:rPr lang="fr-FR" sz="2400" b="0" i="0" dirty="0" err="1">
                <a:solidFill>
                  <a:srgbClr val="ECECEC"/>
                </a:solidFill>
                <a:effectLst/>
                <a:latin typeface="Söhne"/>
              </a:rPr>
              <a:t>external</a:t>
            </a:r>
            <a:r>
              <a:rPr lang="fr-FR" sz="2400" b="0" i="0" dirty="0">
                <a:solidFill>
                  <a:srgbClr val="ECECEC"/>
                </a:solidFill>
                <a:effectLst/>
                <a:latin typeface="Söhne"/>
              </a:rPr>
              <a:t> </a:t>
            </a:r>
            <a:r>
              <a:rPr lang="fr-FR" sz="2400" b="0" i="0" dirty="0" err="1">
                <a:solidFill>
                  <a:srgbClr val="ECECEC"/>
                </a:solidFill>
                <a:effectLst/>
                <a:latin typeface="Söhne"/>
              </a:rPr>
              <a:t>tools</a:t>
            </a:r>
            <a:r>
              <a:rPr lang="fr-FR" sz="2400" b="0" i="0" dirty="0">
                <a:solidFill>
                  <a:srgbClr val="ECECEC"/>
                </a:solidFill>
                <a:effectLst/>
                <a:latin typeface="Söhne"/>
              </a:rPr>
              <a:t> and applications, </a:t>
            </a:r>
            <a:r>
              <a:rPr lang="fr-FR" sz="2400" b="0" i="0" dirty="0" err="1">
                <a:solidFill>
                  <a:srgbClr val="ECECEC"/>
                </a:solidFill>
                <a:effectLst/>
                <a:latin typeface="Söhne"/>
              </a:rPr>
              <a:t>providing</a:t>
            </a:r>
            <a:r>
              <a:rPr lang="fr-FR" sz="2400" b="0" i="0" dirty="0">
                <a:solidFill>
                  <a:srgbClr val="ECECEC"/>
                </a:solidFill>
                <a:effectLst/>
                <a:latin typeface="Söhne"/>
              </a:rPr>
              <a:t> </a:t>
            </a:r>
            <a:r>
              <a:rPr lang="fr-FR" sz="2400" b="0" i="0" dirty="0" err="1">
                <a:solidFill>
                  <a:srgbClr val="ECECEC"/>
                </a:solidFill>
                <a:effectLst/>
                <a:latin typeface="Söhne"/>
              </a:rPr>
              <a:t>increased</a:t>
            </a:r>
            <a:r>
              <a:rPr lang="fr-FR" sz="2400" b="0" i="0" dirty="0">
                <a:solidFill>
                  <a:srgbClr val="ECECEC"/>
                </a:solidFill>
                <a:effectLst/>
                <a:latin typeface="Söhne"/>
              </a:rPr>
              <a:t> </a:t>
            </a:r>
            <a:r>
              <a:rPr lang="fr-FR" sz="2400" b="0" i="0" dirty="0" err="1">
                <a:solidFill>
                  <a:srgbClr val="ECECEC"/>
                </a:solidFill>
                <a:effectLst/>
                <a:latin typeface="Söhne"/>
              </a:rPr>
              <a:t>flexibility</a:t>
            </a:r>
            <a:r>
              <a:rPr lang="fr-FR" sz="2400" b="0" i="0" dirty="0">
                <a:solidFill>
                  <a:srgbClr val="ECECEC"/>
                </a:solidFill>
                <a:effectLst/>
                <a:latin typeface="Söhne"/>
              </a:rPr>
              <a:t> of use.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9972757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sql</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AA67F56A-6984-9097-3AD2-503ECDB80C84}"/>
              </a:ext>
            </a:extLst>
          </p:cNvPr>
          <p:cNvPicPr>
            <a:picLocks noChangeAspect="1"/>
          </p:cNvPicPr>
          <p:nvPr/>
        </p:nvPicPr>
        <p:blipFill>
          <a:blip r:embed="rId2"/>
          <a:stretch>
            <a:fillRect/>
          </a:stretch>
        </p:blipFill>
        <p:spPr>
          <a:xfrm>
            <a:off x="2157298" y="1932343"/>
            <a:ext cx="7772400" cy="3814564"/>
          </a:xfrm>
          <a:prstGeom prst="rect">
            <a:avLst/>
          </a:prstGeom>
        </p:spPr>
      </p:pic>
    </p:spTree>
    <p:extLst>
      <p:ext uri="{BB962C8B-B14F-4D97-AF65-F5344CB8AC3E}">
        <p14:creationId xmlns:p14="http://schemas.microsoft.com/office/powerpoint/2010/main" val="30189636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08506" y="325572"/>
            <a:ext cx="11530647" cy="1293028"/>
          </a:xfrm>
        </p:spPr>
        <p:txBody>
          <a:bodyPr>
            <a:normAutofit/>
          </a:bodyPr>
          <a:lstStyle/>
          <a:p>
            <a:pPr algn="l"/>
            <a:r>
              <a:rPr lang="fr-FR" sz="3200" dirty="0"/>
              <a:t>Google cloud </a:t>
            </a:r>
            <a:r>
              <a:rPr lang="fr-FR" sz="3200" dirty="0" err="1"/>
              <a:t>spanner</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r>
              <a:rPr lang="fr-FR" sz="2400" b="0" i="0" dirty="0">
                <a:solidFill>
                  <a:srgbClr val="ECECEC"/>
                </a:solidFill>
                <a:effectLst/>
                <a:latin typeface="Söhne"/>
              </a:rPr>
              <a:t>Cloud </a:t>
            </a:r>
            <a:r>
              <a:rPr lang="fr-FR" sz="2400" b="0" i="0" dirty="0" err="1">
                <a:solidFill>
                  <a:srgbClr val="ECECEC"/>
                </a:solidFill>
                <a:effectLst/>
                <a:latin typeface="Söhne"/>
              </a:rPr>
              <a:t>Spanner</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 </a:t>
            </a:r>
            <a:r>
              <a:rPr lang="fr-FR" sz="2400" b="0" i="0" dirty="0" err="1">
                <a:solidFill>
                  <a:srgbClr val="ECECEC"/>
                </a:solidFill>
                <a:effectLst/>
                <a:latin typeface="Söhne"/>
              </a:rPr>
              <a:t>fully</a:t>
            </a:r>
            <a:r>
              <a:rPr lang="fr-FR" sz="2400" b="0" i="0" dirty="0">
                <a:solidFill>
                  <a:srgbClr val="ECECEC"/>
                </a:solidFill>
                <a:effectLst/>
                <a:latin typeface="Söhne"/>
              </a:rPr>
              <a:t> </a:t>
            </a:r>
            <a:r>
              <a:rPr lang="fr-FR" sz="2400" b="0" i="0" dirty="0" err="1">
                <a:solidFill>
                  <a:srgbClr val="ECECEC"/>
                </a:solidFill>
                <a:effectLst/>
                <a:latin typeface="Söhne"/>
              </a:rPr>
              <a:t>managed</a:t>
            </a:r>
            <a:r>
              <a:rPr lang="fr-FR" sz="2400" b="0" i="0" dirty="0">
                <a:solidFill>
                  <a:srgbClr val="ECECEC"/>
                </a:solidFill>
                <a:effectLst/>
                <a:latin typeface="Söhne"/>
              </a:rPr>
              <a:t>, </a:t>
            </a:r>
            <a:r>
              <a:rPr lang="fr-FR" sz="2400" b="0" i="0" dirty="0" err="1">
                <a:solidFill>
                  <a:srgbClr val="ECECEC"/>
                </a:solidFill>
                <a:effectLst/>
                <a:latin typeface="Söhne"/>
              </a:rPr>
              <a:t>horizontally</a:t>
            </a:r>
            <a:r>
              <a:rPr lang="fr-FR" sz="2400" b="0" i="0" dirty="0">
                <a:solidFill>
                  <a:srgbClr val="ECECEC"/>
                </a:solidFill>
                <a:effectLst/>
                <a:latin typeface="Söhne"/>
              </a:rPr>
              <a:t> scalable </a:t>
            </a:r>
            <a:r>
              <a:rPr lang="fr-FR" sz="2400" b="0" i="0" dirty="0" err="1">
                <a:solidFill>
                  <a:srgbClr val="ECECEC"/>
                </a:solidFill>
                <a:effectLst/>
                <a:latin typeface="Söhne"/>
              </a:rPr>
              <a:t>relational</a:t>
            </a:r>
            <a:r>
              <a:rPr lang="fr-FR" sz="2400" b="0" i="0" dirty="0">
                <a:solidFill>
                  <a:srgbClr val="ECECEC"/>
                </a:solidFill>
                <a:effectLst/>
                <a:latin typeface="Söhne"/>
              </a:rPr>
              <a:t> </a:t>
            </a:r>
            <a:r>
              <a:rPr lang="fr-FR" sz="2400" b="0" i="0" dirty="0" err="1">
                <a:solidFill>
                  <a:srgbClr val="ECECEC"/>
                </a:solidFill>
                <a:effectLst/>
                <a:latin typeface="Söhne"/>
              </a:rPr>
              <a:t>database</a:t>
            </a:r>
            <a:r>
              <a:rPr lang="fr-FR" sz="2400" b="0" i="0" dirty="0">
                <a:solidFill>
                  <a:srgbClr val="ECECEC"/>
                </a:solidFill>
                <a:effectLst/>
                <a:latin typeface="Söhne"/>
              </a:rPr>
              <a:t> service </a:t>
            </a:r>
            <a:r>
              <a:rPr lang="fr-FR" sz="2400" b="0" i="0" dirty="0" err="1">
                <a:solidFill>
                  <a:srgbClr val="ECECEC"/>
                </a:solidFill>
                <a:effectLst/>
                <a:latin typeface="Söhne"/>
              </a:rPr>
              <a:t>that</a:t>
            </a:r>
            <a:r>
              <a:rPr lang="fr-FR" sz="2400" b="0" i="0" dirty="0">
                <a:solidFill>
                  <a:srgbClr val="ECECEC"/>
                </a:solidFill>
                <a:effectLst/>
                <a:latin typeface="Söhne"/>
              </a:rPr>
              <a:t> supports SQL </a:t>
            </a:r>
            <a:r>
              <a:rPr lang="fr-FR" sz="2400" b="0" i="0" dirty="0" err="1">
                <a:solidFill>
                  <a:srgbClr val="ECECEC"/>
                </a:solidFill>
                <a:effectLst/>
                <a:latin typeface="Söhne"/>
              </a:rPr>
              <a:t>language</a:t>
            </a:r>
            <a:r>
              <a:rPr lang="fr-FR" sz="2400" b="0" i="0" dirty="0">
                <a:solidFill>
                  <a:srgbClr val="ECECEC"/>
                </a:solidFill>
                <a:effectLst/>
                <a:latin typeface="Söhne"/>
              </a:rPr>
              <a:t> and </a:t>
            </a:r>
            <a:r>
              <a:rPr lang="fr-FR" sz="2400" b="0" i="0" dirty="0" err="1">
                <a:solidFill>
                  <a:srgbClr val="ECECEC"/>
                </a:solidFill>
                <a:effectLst/>
                <a:latin typeface="Söhne"/>
              </a:rPr>
              <a:t>provides</a:t>
            </a:r>
            <a:r>
              <a:rPr lang="fr-FR" sz="2400" b="0" i="0" dirty="0">
                <a:solidFill>
                  <a:srgbClr val="ECECEC"/>
                </a:solidFill>
                <a:effectLst/>
                <a:latin typeface="Söhne"/>
              </a:rPr>
              <a:t> </a:t>
            </a:r>
            <a:r>
              <a:rPr lang="fr-FR" sz="2400" b="0" i="0" dirty="0" err="1">
                <a:solidFill>
                  <a:srgbClr val="ECECEC"/>
                </a:solidFill>
                <a:effectLst/>
                <a:latin typeface="Söhne"/>
              </a:rPr>
              <a:t>strong</a:t>
            </a:r>
            <a:r>
              <a:rPr lang="fr-FR" sz="2400" b="0" i="0" dirty="0">
                <a:solidFill>
                  <a:srgbClr val="ECECEC"/>
                </a:solidFill>
                <a:effectLst/>
                <a:latin typeface="Söhne"/>
              </a:rPr>
              <a:t> </a:t>
            </a:r>
            <a:r>
              <a:rPr lang="fr-FR" sz="2400" b="0" i="0" dirty="0" err="1">
                <a:solidFill>
                  <a:srgbClr val="ECECEC"/>
                </a:solidFill>
                <a:effectLst/>
                <a:latin typeface="Söhne"/>
              </a:rPr>
              <a:t>consistency</a:t>
            </a:r>
            <a:r>
              <a:rPr lang="fr-FR" sz="2400" b="0" i="0" dirty="0">
                <a:solidFill>
                  <a:srgbClr val="ECECEC"/>
                </a:solidFill>
                <a:effectLst/>
                <a:latin typeface="Söhne"/>
              </a:rPr>
              <a:t>.</a:t>
            </a:r>
          </a:p>
          <a:p>
            <a:pPr algn="l"/>
            <a:r>
              <a:rPr lang="fr-FR" sz="2400" b="0" i="0" dirty="0" err="1">
                <a:solidFill>
                  <a:srgbClr val="ECECEC"/>
                </a:solidFill>
                <a:effectLst/>
                <a:latin typeface="Söhne"/>
              </a:rPr>
              <a:t>Proven</a:t>
            </a:r>
            <a:r>
              <a:rPr lang="fr-FR" sz="2400" b="0" i="0" dirty="0">
                <a:solidFill>
                  <a:srgbClr val="ECECEC"/>
                </a:solidFill>
                <a:effectLst/>
                <a:latin typeface="Söhne"/>
              </a:rPr>
              <a:t> in </a:t>
            </a:r>
            <a:r>
              <a:rPr lang="fr-FR" sz="2400" b="0" i="0" dirty="0" err="1">
                <a:solidFill>
                  <a:srgbClr val="ECECEC"/>
                </a:solidFill>
                <a:effectLst/>
                <a:latin typeface="Söhne"/>
              </a:rPr>
              <a:t>Google's</a:t>
            </a:r>
            <a:r>
              <a:rPr lang="fr-FR" sz="2400" b="0" i="0" dirty="0">
                <a:solidFill>
                  <a:srgbClr val="ECECEC"/>
                </a:solidFill>
                <a:effectLst/>
                <a:latin typeface="Söhne"/>
              </a:rPr>
              <a:t> </a:t>
            </a:r>
            <a:r>
              <a:rPr lang="fr-FR" sz="2400" b="0" i="0" dirty="0" err="1">
                <a:solidFill>
                  <a:srgbClr val="ECECEC"/>
                </a:solidFill>
                <a:effectLst/>
                <a:latin typeface="Söhne"/>
              </a:rPr>
              <a:t>critical</a:t>
            </a:r>
            <a:r>
              <a:rPr lang="fr-FR" sz="2400" b="0" i="0" dirty="0">
                <a:solidFill>
                  <a:srgbClr val="ECECEC"/>
                </a:solidFill>
                <a:effectLst/>
                <a:latin typeface="Söhne"/>
              </a:rPr>
              <a:t> applications and services, </a:t>
            </a:r>
            <a:r>
              <a:rPr lang="fr-FR" sz="2400" b="0" i="0" dirty="0" err="1">
                <a:solidFill>
                  <a:srgbClr val="ECECEC"/>
                </a:solidFill>
                <a:effectLst/>
                <a:latin typeface="Söhne"/>
              </a:rPr>
              <a:t>Spanner</a:t>
            </a:r>
            <a:r>
              <a:rPr lang="fr-FR" sz="2400" b="0" i="0" dirty="0">
                <a:solidFill>
                  <a:srgbClr val="ECECEC"/>
                </a:solidFill>
                <a:effectLst/>
                <a:latin typeface="Söhne"/>
              </a:rPr>
              <a:t> </a:t>
            </a:r>
            <a:r>
              <a:rPr lang="fr-FR" sz="2400" b="0" i="0" dirty="0" err="1">
                <a:solidFill>
                  <a:srgbClr val="ECECEC"/>
                </a:solidFill>
                <a:effectLst/>
                <a:latin typeface="Söhne"/>
              </a:rPr>
              <a:t>powers</a:t>
            </a:r>
            <a:r>
              <a:rPr lang="fr-FR" sz="2400" b="0" i="0" dirty="0">
                <a:solidFill>
                  <a:srgbClr val="ECECEC"/>
                </a:solidFill>
                <a:effectLst/>
                <a:latin typeface="Söhne"/>
              </a:rPr>
              <a:t> </a:t>
            </a:r>
            <a:r>
              <a:rPr lang="fr-FR" sz="2400" b="0" i="0" dirty="0" err="1">
                <a:solidFill>
                  <a:srgbClr val="ECECEC"/>
                </a:solidFill>
                <a:effectLst/>
                <a:latin typeface="Söhne"/>
              </a:rPr>
              <a:t>Google's</a:t>
            </a:r>
            <a:r>
              <a:rPr lang="fr-FR" sz="2400" b="0" i="0" dirty="0">
                <a:solidFill>
                  <a:srgbClr val="ECECEC"/>
                </a:solidFill>
                <a:effectLst/>
                <a:latin typeface="Söhne"/>
              </a:rPr>
              <a:t> $80 billion business.</a:t>
            </a:r>
          </a:p>
          <a:p>
            <a:pPr algn="l"/>
            <a:r>
              <a:rPr lang="fr-FR" sz="2400" b="0" i="0" dirty="0">
                <a:solidFill>
                  <a:srgbClr val="ECECEC"/>
                </a:solidFill>
                <a:effectLst/>
                <a:latin typeface="Söhne"/>
              </a:rPr>
              <a:t>Cloud </a:t>
            </a:r>
            <a:r>
              <a:rPr lang="fr-FR" sz="2400" b="0" i="0" dirty="0" err="1">
                <a:solidFill>
                  <a:srgbClr val="ECECEC"/>
                </a:solidFill>
                <a:effectLst/>
                <a:latin typeface="Söhne"/>
              </a:rPr>
              <a:t>Spanner</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particularly</a:t>
            </a:r>
            <a:r>
              <a:rPr lang="fr-FR" sz="2400" b="0" i="0" dirty="0">
                <a:solidFill>
                  <a:srgbClr val="ECECEC"/>
                </a:solidFill>
                <a:effectLst/>
                <a:latin typeface="Söhne"/>
              </a:rPr>
              <a:t> </a:t>
            </a:r>
            <a:r>
              <a:rPr lang="fr-FR" sz="2400" b="0" i="0" dirty="0" err="1">
                <a:solidFill>
                  <a:srgbClr val="ECECEC"/>
                </a:solidFill>
                <a:effectLst/>
                <a:latin typeface="Söhne"/>
              </a:rPr>
              <a:t>suitable</a:t>
            </a:r>
            <a:r>
              <a:rPr lang="fr-FR" sz="2400" b="0" i="0" dirty="0">
                <a:solidFill>
                  <a:srgbClr val="ECECEC"/>
                </a:solidFill>
                <a:effectLst/>
                <a:latin typeface="Söhne"/>
              </a:rPr>
              <a:t> for applications </a:t>
            </a:r>
            <a:r>
              <a:rPr lang="fr-FR" sz="2400" b="0" i="0" dirty="0" err="1">
                <a:solidFill>
                  <a:srgbClr val="ECECEC"/>
                </a:solidFill>
                <a:effectLst/>
                <a:latin typeface="Söhne"/>
              </a:rPr>
              <a:t>that</a:t>
            </a:r>
            <a:r>
              <a:rPr lang="fr-FR" sz="2400" b="0" i="0" dirty="0">
                <a:solidFill>
                  <a:srgbClr val="ECECEC"/>
                </a:solidFill>
                <a:effectLst/>
                <a:latin typeface="Söhne"/>
              </a:rPr>
              <a:t> </a:t>
            </a:r>
            <a:r>
              <a:rPr lang="fr-FR" sz="2400" b="0" i="0" dirty="0" err="1">
                <a:solidFill>
                  <a:srgbClr val="ECECEC"/>
                </a:solidFill>
                <a:effectLst/>
                <a:latin typeface="Söhne"/>
              </a:rPr>
              <a:t>require</a:t>
            </a:r>
            <a:r>
              <a:rPr lang="fr-FR" sz="2400" b="0" i="0" dirty="0">
                <a:solidFill>
                  <a:srgbClr val="ECECEC"/>
                </a:solidFill>
                <a:effectLst/>
                <a:latin typeface="Söhne"/>
              </a:rPr>
              <a:t>:</a:t>
            </a:r>
          </a:p>
          <a:p>
            <a:pPr lvl="1"/>
            <a:r>
              <a:rPr lang="fr-FR" b="0" i="0" dirty="0">
                <a:solidFill>
                  <a:srgbClr val="ECECEC"/>
                </a:solidFill>
                <a:effectLst/>
                <a:latin typeface="Söhne"/>
              </a:rPr>
              <a:t>A SQL </a:t>
            </a:r>
            <a:r>
              <a:rPr lang="fr-FR" b="0" i="0" dirty="0" err="1">
                <a:solidFill>
                  <a:srgbClr val="ECECEC"/>
                </a:solidFill>
                <a:effectLst/>
                <a:latin typeface="Söhne"/>
              </a:rPr>
              <a:t>relational</a:t>
            </a:r>
            <a:r>
              <a:rPr lang="fr-FR" b="0" i="0" dirty="0">
                <a:solidFill>
                  <a:srgbClr val="ECECEC"/>
                </a:solidFill>
                <a:effectLst/>
                <a:latin typeface="Söhne"/>
              </a:rPr>
              <a:t> </a:t>
            </a:r>
            <a:r>
              <a:rPr lang="fr-FR" b="0" i="0" dirty="0" err="1">
                <a:solidFill>
                  <a:srgbClr val="ECECEC"/>
                </a:solidFill>
                <a:effectLst/>
                <a:latin typeface="Söhne"/>
              </a:rPr>
              <a:t>database</a:t>
            </a:r>
            <a:r>
              <a:rPr lang="fr-FR" b="0" i="0" dirty="0">
                <a:solidFill>
                  <a:srgbClr val="ECECEC"/>
                </a:solidFill>
                <a:effectLst/>
                <a:latin typeface="Söhne"/>
              </a:rPr>
              <a:t> management system </a:t>
            </a:r>
            <a:r>
              <a:rPr lang="fr-FR" b="0" i="0" dirty="0" err="1">
                <a:solidFill>
                  <a:srgbClr val="ECECEC"/>
                </a:solidFill>
                <a:effectLst/>
                <a:latin typeface="Söhne"/>
              </a:rPr>
              <a:t>with</a:t>
            </a:r>
            <a:r>
              <a:rPr lang="fr-FR" b="0" i="0" dirty="0">
                <a:solidFill>
                  <a:srgbClr val="ECECEC"/>
                </a:solidFill>
                <a:effectLst/>
                <a:latin typeface="Söhne"/>
              </a:rPr>
              <a:t> joins and </a:t>
            </a:r>
            <a:r>
              <a:rPr lang="fr-FR" b="0" i="0" dirty="0" err="1">
                <a:solidFill>
                  <a:srgbClr val="ECECEC"/>
                </a:solidFill>
                <a:effectLst/>
                <a:latin typeface="Söhne"/>
              </a:rPr>
              <a:t>secondary</a:t>
            </a:r>
            <a:r>
              <a:rPr lang="fr-FR" b="0" i="0" dirty="0">
                <a:solidFill>
                  <a:srgbClr val="ECECEC"/>
                </a:solidFill>
                <a:effectLst/>
                <a:latin typeface="Söhne"/>
              </a:rPr>
              <a:t> indexes.</a:t>
            </a:r>
          </a:p>
          <a:p>
            <a:pPr lvl="1"/>
            <a:r>
              <a:rPr lang="fr-FR" b="0" i="0" dirty="0" err="1">
                <a:solidFill>
                  <a:srgbClr val="ECECEC"/>
                </a:solidFill>
                <a:effectLst/>
                <a:latin typeface="Söhne"/>
              </a:rPr>
              <a:t>Built-in</a:t>
            </a:r>
            <a:r>
              <a:rPr lang="fr-FR" b="0" i="0" dirty="0">
                <a:solidFill>
                  <a:srgbClr val="ECECEC"/>
                </a:solidFill>
                <a:effectLst/>
                <a:latin typeface="Söhne"/>
              </a:rPr>
              <a:t> high </a:t>
            </a:r>
            <a:r>
              <a:rPr lang="fr-FR" b="0" i="0" dirty="0" err="1">
                <a:solidFill>
                  <a:srgbClr val="ECECEC"/>
                </a:solidFill>
                <a:effectLst/>
                <a:latin typeface="Söhne"/>
              </a:rPr>
              <a:t>availability</a:t>
            </a:r>
            <a:r>
              <a:rPr lang="fr-FR" b="0" i="0" dirty="0">
                <a:solidFill>
                  <a:srgbClr val="ECECEC"/>
                </a:solidFill>
                <a:effectLst/>
                <a:latin typeface="Söhne"/>
              </a:rPr>
              <a:t>.</a:t>
            </a:r>
          </a:p>
          <a:p>
            <a:pPr lvl="1"/>
            <a:r>
              <a:rPr lang="fr-FR" b="0" i="0" dirty="0">
                <a:solidFill>
                  <a:srgbClr val="ECECEC"/>
                </a:solidFill>
                <a:effectLst/>
                <a:latin typeface="Söhne"/>
              </a:rPr>
              <a:t>Strong global </a:t>
            </a:r>
            <a:r>
              <a:rPr lang="fr-FR" b="0" i="0" dirty="0" err="1">
                <a:solidFill>
                  <a:srgbClr val="ECECEC"/>
                </a:solidFill>
                <a:effectLst/>
                <a:latin typeface="Söhne"/>
              </a:rPr>
              <a:t>consistency</a:t>
            </a:r>
            <a:r>
              <a:rPr lang="fr-FR" b="0" i="0" dirty="0">
                <a:solidFill>
                  <a:srgbClr val="ECECEC"/>
                </a:solidFill>
                <a:effectLst/>
                <a:latin typeface="Söhne"/>
              </a:rPr>
              <a:t>.</a:t>
            </a:r>
          </a:p>
          <a:p>
            <a:pPr lvl="1"/>
            <a:r>
              <a:rPr lang="fr-FR" b="0" i="0" dirty="0">
                <a:solidFill>
                  <a:srgbClr val="ECECEC"/>
                </a:solidFill>
                <a:effectLst/>
                <a:latin typeface="Söhne"/>
              </a:rPr>
              <a:t>A large </a:t>
            </a:r>
            <a:r>
              <a:rPr lang="fr-FR" b="0" i="0" dirty="0" err="1">
                <a:solidFill>
                  <a:srgbClr val="ECECEC"/>
                </a:solidFill>
                <a:effectLst/>
                <a:latin typeface="Söhne"/>
              </a:rPr>
              <a:t>number</a:t>
            </a:r>
            <a:r>
              <a:rPr lang="fr-FR" b="0" i="0" dirty="0">
                <a:solidFill>
                  <a:srgbClr val="ECECEC"/>
                </a:solidFill>
                <a:effectLst/>
                <a:latin typeface="Söhne"/>
              </a:rPr>
              <a:t> of input/output </a:t>
            </a:r>
            <a:r>
              <a:rPr lang="fr-FR" b="0" i="0" dirty="0" err="1">
                <a:solidFill>
                  <a:srgbClr val="ECECEC"/>
                </a:solidFill>
                <a:effectLst/>
                <a:latin typeface="Söhne"/>
              </a:rPr>
              <a:t>operations</a:t>
            </a:r>
            <a:r>
              <a:rPr lang="fr-FR" b="0" i="0" dirty="0">
                <a:solidFill>
                  <a:srgbClr val="ECECEC"/>
                </a:solidFill>
                <a:effectLst/>
                <a:latin typeface="Söhne"/>
              </a:rPr>
              <a:t> per second, </a:t>
            </a:r>
            <a:r>
              <a:rPr lang="fr-FR" b="0" i="0" dirty="0" err="1">
                <a:solidFill>
                  <a:srgbClr val="ECECEC"/>
                </a:solidFill>
                <a:effectLst/>
                <a:latin typeface="Söhne"/>
              </a:rPr>
              <a:t>ranging</a:t>
            </a:r>
            <a:r>
              <a:rPr lang="fr-FR" b="0" i="0" dirty="0">
                <a:solidFill>
                  <a:srgbClr val="ECECEC"/>
                </a:solidFill>
                <a:effectLst/>
                <a:latin typeface="Söhne"/>
              </a:rPr>
              <a:t> up to </a:t>
            </a:r>
            <a:r>
              <a:rPr lang="fr-FR" b="0" i="0" dirty="0" err="1">
                <a:solidFill>
                  <a:srgbClr val="ECECEC"/>
                </a:solidFill>
                <a:effectLst/>
                <a:latin typeface="Söhne"/>
              </a:rPr>
              <a:t>tens</a:t>
            </a:r>
            <a:r>
              <a:rPr lang="fr-FR" b="0" i="0" dirty="0">
                <a:solidFill>
                  <a:srgbClr val="ECECEC"/>
                </a:solidFill>
                <a:effectLst/>
                <a:latin typeface="Söhne"/>
              </a:rPr>
              <a:t> of </a:t>
            </a:r>
            <a:r>
              <a:rPr lang="fr-FR" b="0" i="0" dirty="0" err="1">
                <a:solidFill>
                  <a:srgbClr val="ECECEC"/>
                </a:solidFill>
                <a:effectLst/>
                <a:latin typeface="Söhne"/>
              </a:rPr>
              <a:t>thousands</a:t>
            </a:r>
            <a:r>
              <a:rPr lang="fr-FR" b="0" i="0" dirty="0">
                <a:solidFill>
                  <a:srgbClr val="ECECEC"/>
                </a:solidFill>
                <a:effectLst/>
                <a:latin typeface="Söhne"/>
              </a:rPr>
              <a:t> of </a:t>
            </a:r>
            <a:r>
              <a:rPr lang="fr-FR" b="0" i="0" dirty="0" err="1">
                <a:solidFill>
                  <a:srgbClr val="ECECEC"/>
                </a:solidFill>
                <a:effectLst/>
                <a:latin typeface="Söhne"/>
              </a:rPr>
              <a:t>reads</a:t>
            </a:r>
            <a:r>
              <a:rPr lang="fr-FR" b="0" i="0" dirty="0">
                <a:solidFill>
                  <a:srgbClr val="ECECEC"/>
                </a:solidFill>
                <a:effectLst/>
                <a:latin typeface="Söhne"/>
              </a:rPr>
              <a:t>/</a:t>
            </a:r>
            <a:r>
              <a:rPr lang="fr-FR" b="0" i="0" dirty="0" err="1">
                <a:solidFill>
                  <a:srgbClr val="ECECEC"/>
                </a:solidFill>
                <a:effectLst/>
                <a:latin typeface="Söhne"/>
              </a:rPr>
              <a:t>writes</a:t>
            </a:r>
            <a:r>
              <a:rPr lang="fr-FR" b="0" i="0" dirty="0">
                <a:solidFill>
                  <a:srgbClr val="ECECEC"/>
                </a:solidFill>
                <a:effectLst/>
                <a:latin typeface="Söhne"/>
              </a:rPr>
              <a:t> per second or more.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5372045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9466" y="346930"/>
            <a:ext cx="11530647" cy="1293028"/>
          </a:xfrm>
        </p:spPr>
        <p:txBody>
          <a:bodyPr>
            <a:normAutofit/>
          </a:bodyPr>
          <a:lstStyle/>
          <a:p>
            <a:pPr algn="l"/>
            <a:r>
              <a:rPr lang="fr-FR" sz="3200" dirty="0"/>
              <a:t>Google cloud </a:t>
            </a:r>
            <a:r>
              <a:rPr lang="fr-FR" sz="3200" dirty="0" err="1"/>
              <a:t>firestore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66085"/>
            <a:ext cx="10351747" cy="4578728"/>
          </a:xfrm>
        </p:spPr>
        <p:txBody>
          <a:bodyPr>
            <a:normAutofit lnSpcReduction="10000"/>
          </a:bodyPr>
          <a:lstStyle/>
          <a:p>
            <a:pPr algn="l">
              <a:buFont typeface="Arial" panose="020B0604020202020204" pitchFamily="34" charset="0"/>
              <a:buChar char="•"/>
            </a:pPr>
            <a:r>
              <a:rPr lang="fr-FR" sz="2400" b="0" i="0" dirty="0" err="1">
                <a:solidFill>
                  <a:srgbClr val="ECECEC"/>
                </a:solidFill>
                <a:effectLst/>
                <a:latin typeface="Söhne"/>
              </a:rPr>
              <a:t>Firestore</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 flexible and scalable cloud NoSQL </a:t>
            </a:r>
            <a:r>
              <a:rPr lang="fr-FR" sz="2400" b="0" i="0" dirty="0" err="1">
                <a:solidFill>
                  <a:srgbClr val="ECECEC"/>
                </a:solidFill>
                <a:effectLst/>
                <a:latin typeface="Söhne"/>
              </a:rPr>
              <a:t>database</a:t>
            </a:r>
            <a:r>
              <a:rPr lang="fr-FR" sz="2400" b="0" i="0" dirty="0">
                <a:solidFill>
                  <a:srgbClr val="ECECEC"/>
                </a:solidFill>
                <a:effectLst/>
                <a:latin typeface="Söhne"/>
              </a:rPr>
              <a:t> for mobile, web, and server </a:t>
            </a:r>
            <a:r>
              <a:rPr lang="fr-FR" sz="2400" b="0" i="0" dirty="0" err="1">
                <a:solidFill>
                  <a:srgbClr val="ECECEC"/>
                </a:solidFill>
                <a:effectLst/>
                <a:latin typeface="Söhne"/>
              </a:rPr>
              <a:t>development</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Data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organized</a:t>
            </a:r>
            <a:r>
              <a:rPr lang="fr-FR" sz="2400" b="0" i="0" dirty="0">
                <a:solidFill>
                  <a:srgbClr val="ECECEC"/>
                </a:solidFill>
                <a:effectLst/>
                <a:latin typeface="Söhne"/>
              </a:rPr>
              <a:t> </a:t>
            </a:r>
            <a:r>
              <a:rPr lang="fr-FR" sz="2400" b="0" i="0" dirty="0" err="1">
                <a:solidFill>
                  <a:srgbClr val="ECECEC"/>
                </a:solidFill>
                <a:effectLst/>
                <a:latin typeface="Söhne"/>
              </a:rPr>
              <a:t>into</a:t>
            </a:r>
            <a:r>
              <a:rPr lang="fr-FR" sz="2400" b="0" i="0" dirty="0">
                <a:solidFill>
                  <a:srgbClr val="ECECEC"/>
                </a:solidFill>
                <a:effectLst/>
                <a:latin typeface="Söhne"/>
              </a:rPr>
              <a:t> documents </a:t>
            </a:r>
            <a:r>
              <a:rPr lang="fr-FR" sz="2400" b="0" i="0" dirty="0" err="1">
                <a:solidFill>
                  <a:srgbClr val="ECECEC"/>
                </a:solidFill>
                <a:effectLst/>
                <a:latin typeface="Söhne"/>
              </a:rPr>
              <a:t>within</a:t>
            </a:r>
            <a:r>
              <a:rPr lang="fr-FR" sz="2400" b="0" i="0" dirty="0">
                <a:solidFill>
                  <a:srgbClr val="ECECEC"/>
                </a:solidFill>
                <a:effectLst/>
                <a:latin typeface="Söhne"/>
              </a:rPr>
              <a:t> collections, </a:t>
            </a:r>
            <a:r>
              <a:rPr lang="fr-FR" sz="2400" b="0" i="0" dirty="0" err="1">
                <a:solidFill>
                  <a:srgbClr val="ECECEC"/>
                </a:solidFill>
                <a:effectLst/>
                <a:latin typeface="Söhne"/>
              </a:rPr>
              <a:t>allowing</a:t>
            </a:r>
            <a:r>
              <a:rPr lang="fr-FR" sz="2400" b="0" i="0" dirty="0">
                <a:solidFill>
                  <a:srgbClr val="ECECEC"/>
                </a:solidFill>
                <a:effectLst/>
                <a:latin typeface="Söhne"/>
              </a:rPr>
              <a:t> efficient </a:t>
            </a:r>
            <a:r>
              <a:rPr lang="fr-FR" sz="2400" b="0" i="0" dirty="0" err="1">
                <a:solidFill>
                  <a:srgbClr val="ECECEC"/>
                </a:solidFill>
                <a:effectLst/>
                <a:latin typeface="Söhne"/>
              </a:rPr>
              <a:t>queries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filters</a:t>
            </a:r>
            <a:r>
              <a:rPr lang="fr-FR" sz="2400" b="0" i="0" dirty="0">
                <a:solidFill>
                  <a:srgbClr val="ECECEC"/>
                </a:solidFill>
                <a:effectLst/>
                <a:latin typeface="Söhne"/>
              </a:rPr>
              <a:t> and </a:t>
            </a:r>
            <a:r>
              <a:rPr lang="fr-FR" sz="2400" b="0" i="0" dirty="0" err="1">
                <a:solidFill>
                  <a:srgbClr val="ECECEC"/>
                </a:solidFill>
                <a:effectLst/>
                <a:latin typeface="Söhne"/>
              </a:rPr>
              <a:t>sorting</a:t>
            </a:r>
            <a:r>
              <a:rPr lang="fr-FR" sz="2400" b="0" i="0" dirty="0">
                <a:solidFill>
                  <a:srgbClr val="ECECEC"/>
                </a:solidFill>
                <a:effectLst/>
                <a:latin typeface="Söhne"/>
              </a:rPr>
              <a:t> options.</a:t>
            </a:r>
          </a:p>
          <a:p>
            <a:pPr algn="l">
              <a:buFont typeface="Arial" panose="020B0604020202020204" pitchFamily="34" charset="0"/>
              <a:buChar char="•"/>
            </a:pPr>
            <a:r>
              <a:rPr lang="fr-FR" sz="2400" b="0" i="0" dirty="0" err="1">
                <a:solidFill>
                  <a:srgbClr val="ECECEC"/>
                </a:solidFill>
                <a:effectLst/>
                <a:latin typeface="Söhne"/>
              </a:rPr>
              <a:t>Firestore</a:t>
            </a:r>
            <a:r>
              <a:rPr lang="fr-FR" sz="2400" b="0" i="0" dirty="0">
                <a:solidFill>
                  <a:srgbClr val="ECECEC"/>
                </a:solidFill>
                <a:effectLst/>
                <a:latin typeface="Söhne"/>
              </a:rPr>
              <a:t> </a:t>
            </a:r>
            <a:r>
              <a:rPr lang="fr-FR" sz="2400" b="0" i="0" dirty="0" err="1">
                <a:solidFill>
                  <a:srgbClr val="ECECEC"/>
                </a:solidFill>
                <a:effectLst/>
                <a:latin typeface="Söhne"/>
              </a:rPr>
              <a:t>ensures</a:t>
            </a:r>
            <a:r>
              <a:rPr lang="fr-FR" sz="2400" b="0" i="0" dirty="0">
                <a:solidFill>
                  <a:srgbClr val="ECECEC"/>
                </a:solidFill>
                <a:effectLst/>
                <a:latin typeface="Söhne"/>
              </a:rPr>
              <a:t> data </a:t>
            </a:r>
            <a:r>
              <a:rPr lang="fr-FR" sz="2400" b="0" i="0" dirty="0" err="1">
                <a:solidFill>
                  <a:srgbClr val="ECECEC"/>
                </a:solidFill>
                <a:effectLst/>
                <a:latin typeface="Söhne"/>
              </a:rPr>
              <a:t>synchronization</a:t>
            </a:r>
            <a:r>
              <a:rPr lang="fr-FR" sz="2400" b="0" i="0" dirty="0">
                <a:solidFill>
                  <a:srgbClr val="ECECEC"/>
                </a:solidFill>
                <a:effectLst/>
                <a:latin typeface="Söhne"/>
              </a:rPr>
              <a:t> </a:t>
            </a:r>
            <a:r>
              <a:rPr lang="fr-FR" sz="2400" b="0" i="0" dirty="0" err="1">
                <a:solidFill>
                  <a:srgbClr val="ECECEC"/>
                </a:solidFill>
                <a:effectLst/>
                <a:latin typeface="Söhne"/>
              </a:rPr>
              <a:t>across</a:t>
            </a:r>
            <a:r>
              <a:rPr lang="fr-FR" sz="2400" b="0" i="0" dirty="0">
                <a:solidFill>
                  <a:srgbClr val="ECECEC"/>
                </a:solidFill>
                <a:effectLst/>
                <a:latin typeface="Söhne"/>
              </a:rPr>
              <a:t> all </a:t>
            </a:r>
            <a:r>
              <a:rPr lang="fr-FR" sz="2400" b="0" i="0" dirty="0" err="1">
                <a:solidFill>
                  <a:srgbClr val="ECECEC"/>
                </a:solidFill>
                <a:effectLst/>
                <a:latin typeface="Söhne"/>
              </a:rPr>
              <a:t>connected</a:t>
            </a:r>
            <a:r>
              <a:rPr lang="fr-FR" sz="2400" b="0" i="0" dirty="0">
                <a:solidFill>
                  <a:srgbClr val="ECECEC"/>
                </a:solidFill>
                <a:effectLst/>
                <a:latin typeface="Söhne"/>
              </a:rPr>
              <a:t> </a:t>
            </a:r>
            <a:r>
              <a:rPr lang="fr-FR" sz="2400" b="0" i="0" dirty="0" err="1">
                <a:solidFill>
                  <a:srgbClr val="ECECEC"/>
                </a:solidFill>
                <a:effectLst/>
                <a:latin typeface="Söhne"/>
              </a:rPr>
              <a:t>devices</a:t>
            </a:r>
            <a:r>
              <a:rPr lang="fr-FR" sz="2400" b="0" i="0" dirty="0">
                <a:solidFill>
                  <a:srgbClr val="ECECEC"/>
                </a:solidFill>
                <a:effectLst/>
                <a:latin typeface="Söhne"/>
              </a:rPr>
              <a:t>, </a:t>
            </a:r>
            <a:r>
              <a:rPr lang="fr-FR" sz="2400" b="0" i="0" dirty="0" err="1">
                <a:solidFill>
                  <a:srgbClr val="ECECEC"/>
                </a:solidFill>
                <a:effectLst/>
                <a:latin typeface="Söhne"/>
              </a:rPr>
              <a:t>even</a:t>
            </a:r>
            <a:r>
              <a:rPr lang="fr-FR" sz="2400" b="0" i="0" dirty="0">
                <a:solidFill>
                  <a:srgbClr val="ECECEC"/>
                </a:solidFill>
                <a:effectLst/>
                <a:latin typeface="Söhne"/>
              </a:rPr>
              <a:t> offline, </a:t>
            </a:r>
            <a:r>
              <a:rPr lang="fr-FR" sz="2400" b="0" i="0" dirty="0" err="1">
                <a:solidFill>
                  <a:srgbClr val="ECECEC"/>
                </a:solidFill>
                <a:effectLst/>
                <a:latin typeface="Söhne"/>
              </a:rPr>
              <a:t>through</a:t>
            </a:r>
            <a:r>
              <a:rPr lang="fr-FR" sz="2400" b="0" i="0" dirty="0">
                <a:solidFill>
                  <a:srgbClr val="ECECEC"/>
                </a:solidFill>
                <a:effectLst/>
                <a:latin typeface="Söhne"/>
              </a:rPr>
              <a:t> data </a:t>
            </a:r>
            <a:r>
              <a:rPr lang="fr-FR" sz="2400" b="0" i="0" dirty="0" err="1">
                <a:solidFill>
                  <a:srgbClr val="ECECEC"/>
                </a:solidFill>
                <a:effectLst/>
                <a:latin typeface="Söhne"/>
              </a:rPr>
              <a:t>caching</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leverages</a:t>
            </a:r>
            <a:r>
              <a:rPr lang="fr-FR" sz="2400" b="0" i="0" dirty="0">
                <a:solidFill>
                  <a:srgbClr val="ECECEC"/>
                </a:solidFill>
                <a:effectLst/>
                <a:latin typeface="Söhne"/>
              </a:rPr>
              <a:t> Google </a:t>
            </a:r>
            <a:r>
              <a:rPr lang="fr-FR" sz="2400" b="0" i="0" dirty="0" err="1">
                <a:solidFill>
                  <a:srgbClr val="ECECEC"/>
                </a:solidFill>
                <a:effectLst/>
                <a:latin typeface="Söhne"/>
              </a:rPr>
              <a:t>Cloud's</a:t>
            </a:r>
            <a:r>
              <a:rPr lang="fr-FR" sz="2400" b="0" i="0" dirty="0">
                <a:solidFill>
                  <a:srgbClr val="ECECEC"/>
                </a:solidFill>
                <a:effectLst/>
                <a:latin typeface="Söhne"/>
              </a:rPr>
              <a:t> </a:t>
            </a:r>
            <a:r>
              <a:rPr lang="fr-FR" sz="2400" b="0" i="0" dirty="0" err="1">
                <a:solidFill>
                  <a:srgbClr val="ECECEC"/>
                </a:solidFill>
                <a:effectLst/>
                <a:latin typeface="Söhne"/>
              </a:rPr>
              <a:t>robust</a:t>
            </a:r>
            <a:r>
              <a:rPr lang="fr-FR" sz="2400" b="0" i="0" dirty="0">
                <a:solidFill>
                  <a:srgbClr val="ECECEC"/>
                </a:solidFill>
                <a:effectLst/>
                <a:latin typeface="Söhne"/>
              </a:rPr>
              <a:t> infrastructure, </a:t>
            </a:r>
            <a:r>
              <a:rPr lang="fr-FR" sz="2400" b="0" i="0" dirty="0" err="1">
                <a:solidFill>
                  <a:srgbClr val="ECECEC"/>
                </a:solidFill>
                <a:effectLst/>
                <a:latin typeface="Söhne"/>
              </a:rPr>
              <a:t>providing</a:t>
            </a:r>
            <a:r>
              <a:rPr lang="fr-FR" sz="2400" b="0" i="0" dirty="0">
                <a:solidFill>
                  <a:srgbClr val="ECECEC"/>
                </a:solidFill>
                <a:effectLst/>
                <a:latin typeface="Söhne"/>
              </a:rPr>
              <a:t> </a:t>
            </a:r>
            <a:r>
              <a:rPr lang="fr-FR" sz="2400" b="0" i="0" dirty="0" err="1">
                <a:solidFill>
                  <a:srgbClr val="ECECEC"/>
                </a:solidFill>
                <a:effectLst/>
                <a:latin typeface="Söhne"/>
              </a:rPr>
              <a:t>automatic</a:t>
            </a:r>
            <a:r>
              <a:rPr lang="fr-FR" sz="2400" b="0" i="0" dirty="0">
                <a:solidFill>
                  <a:srgbClr val="ECECEC"/>
                </a:solidFill>
                <a:effectLst/>
                <a:latin typeface="Söhne"/>
              </a:rPr>
              <a:t> data </a:t>
            </a:r>
            <a:r>
              <a:rPr lang="fr-FR" sz="2400" b="0" i="0" dirty="0" err="1">
                <a:solidFill>
                  <a:srgbClr val="ECECEC"/>
                </a:solidFill>
                <a:effectLst/>
                <a:latin typeface="Söhne"/>
              </a:rPr>
              <a:t>replication</a:t>
            </a:r>
            <a:r>
              <a:rPr lang="fr-FR" sz="2400" b="0" i="0" dirty="0">
                <a:solidFill>
                  <a:srgbClr val="ECECEC"/>
                </a:solidFill>
                <a:effectLst/>
                <a:latin typeface="Söhne"/>
              </a:rPr>
              <a:t>, </a:t>
            </a:r>
            <a:r>
              <a:rPr lang="fr-FR" sz="2400" b="0" i="0" dirty="0" err="1">
                <a:solidFill>
                  <a:srgbClr val="ECECEC"/>
                </a:solidFill>
                <a:effectLst/>
                <a:latin typeface="Söhne"/>
              </a:rPr>
              <a:t>strong</a:t>
            </a:r>
            <a:r>
              <a:rPr lang="fr-FR" sz="2400" b="0" i="0" dirty="0">
                <a:solidFill>
                  <a:srgbClr val="ECECEC"/>
                </a:solidFill>
                <a:effectLst/>
                <a:latin typeface="Söhne"/>
              </a:rPr>
              <a:t> </a:t>
            </a:r>
            <a:r>
              <a:rPr lang="fr-FR" sz="2400" b="0" i="0" dirty="0" err="1">
                <a:solidFill>
                  <a:srgbClr val="ECECEC"/>
                </a:solidFill>
                <a:effectLst/>
                <a:latin typeface="Söhne"/>
              </a:rPr>
              <a:t>consistency</a:t>
            </a:r>
            <a:r>
              <a:rPr lang="fr-FR" sz="2400" b="0" i="0" dirty="0">
                <a:solidFill>
                  <a:srgbClr val="ECECEC"/>
                </a:solidFill>
                <a:effectLst/>
                <a:latin typeface="Söhne"/>
              </a:rPr>
              <a:t>, and </a:t>
            </a:r>
            <a:r>
              <a:rPr lang="fr-FR" sz="2400" b="0" i="0" dirty="0" err="1">
                <a:solidFill>
                  <a:srgbClr val="ECECEC"/>
                </a:solidFill>
                <a:effectLst/>
                <a:latin typeface="Söhne"/>
              </a:rPr>
              <a:t>transactional</a:t>
            </a:r>
            <a:r>
              <a:rPr lang="fr-FR" sz="2400" b="0" i="0" dirty="0">
                <a:solidFill>
                  <a:srgbClr val="ECECEC"/>
                </a:solidFill>
                <a:effectLst/>
                <a:latin typeface="Söhne"/>
              </a:rPr>
              <a:t> </a:t>
            </a:r>
            <a:r>
              <a:rPr lang="fr-FR" sz="2400" b="0" i="0" dirty="0" err="1">
                <a:solidFill>
                  <a:srgbClr val="ECECEC"/>
                </a:solidFill>
                <a:effectLst/>
                <a:latin typeface="Söhne"/>
              </a:rPr>
              <a:t>operations</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Billing</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based</a:t>
            </a:r>
            <a:r>
              <a:rPr lang="fr-FR" sz="2400" b="0" i="0" dirty="0">
                <a:solidFill>
                  <a:srgbClr val="ECECEC"/>
                </a:solidFill>
                <a:effectLst/>
                <a:latin typeface="Söhne"/>
              </a:rPr>
              <a:t> on document </a:t>
            </a:r>
            <a:r>
              <a:rPr lang="fr-FR" sz="2400" b="0" i="0" dirty="0" err="1">
                <a:solidFill>
                  <a:srgbClr val="ECECEC"/>
                </a:solidFill>
                <a:effectLst/>
                <a:latin typeface="Söhne"/>
              </a:rPr>
              <a:t>reads</a:t>
            </a:r>
            <a:r>
              <a:rPr lang="fr-FR" sz="2400" b="0" i="0" dirty="0">
                <a:solidFill>
                  <a:srgbClr val="ECECEC"/>
                </a:solidFill>
                <a:effectLst/>
                <a:latin typeface="Söhne"/>
              </a:rPr>
              <a:t>, </a:t>
            </a:r>
            <a:r>
              <a:rPr lang="fr-FR" sz="2400" b="0" i="0" dirty="0" err="1">
                <a:solidFill>
                  <a:srgbClr val="ECECEC"/>
                </a:solidFill>
                <a:effectLst/>
                <a:latin typeface="Söhne"/>
              </a:rPr>
              <a:t>writes</a:t>
            </a:r>
            <a:r>
              <a:rPr lang="fr-FR" sz="2400" b="0" i="0" dirty="0">
                <a:solidFill>
                  <a:srgbClr val="ECECEC"/>
                </a:solidFill>
                <a:effectLst/>
                <a:latin typeface="Söhne"/>
              </a:rPr>
              <a:t>, </a:t>
            </a:r>
            <a:r>
              <a:rPr lang="fr-FR" sz="2400" b="0" i="0" dirty="0" err="1">
                <a:solidFill>
                  <a:srgbClr val="ECECEC"/>
                </a:solidFill>
                <a:effectLst/>
                <a:latin typeface="Söhne"/>
              </a:rPr>
              <a:t>deletes</a:t>
            </a:r>
            <a:r>
              <a:rPr lang="fr-FR" sz="2400" b="0" i="0" dirty="0">
                <a:solidFill>
                  <a:srgbClr val="ECECEC"/>
                </a:solidFill>
                <a:effectLst/>
                <a:latin typeface="Söhne"/>
              </a:rPr>
              <a:t>, and </a:t>
            </a:r>
            <a:r>
              <a:rPr lang="fr-FR" sz="2400" b="0" i="0" dirty="0" err="1">
                <a:solidFill>
                  <a:srgbClr val="ECECEC"/>
                </a:solidFill>
                <a:effectLst/>
                <a:latin typeface="Söhne"/>
              </a:rPr>
              <a:t>storage</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 </a:t>
            </a:r>
            <a:r>
              <a:rPr lang="fr-FR" sz="2400" b="0" i="0" dirty="0" err="1">
                <a:solidFill>
                  <a:srgbClr val="ECECEC"/>
                </a:solidFill>
                <a:effectLst/>
                <a:latin typeface="Söhne"/>
              </a:rPr>
              <a:t>limited</a:t>
            </a:r>
            <a:r>
              <a:rPr lang="fr-FR" sz="2400" b="0" i="0" dirty="0">
                <a:solidFill>
                  <a:srgbClr val="ECECEC"/>
                </a:solidFill>
                <a:effectLst/>
                <a:latin typeface="Söhne"/>
              </a:rPr>
              <a:t> </a:t>
            </a:r>
            <a:r>
              <a:rPr lang="fr-FR" sz="2400" b="0" i="0" dirty="0" err="1">
                <a:solidFill>
                  <a:srgbClr val="ECECEC"/>
                </a:solidFill>
                <a:effectLst/>
                <a:latin typeface="Söhne"/>
              </a:rPr>
              <a:t>number</a:t>
            </a:r>
            <a:r>
              <a:rPr lang="fr-FR" sz="2400" b="0" i="0" dirty="0">
                <a:solidFill>
                  <a:srgbClr val="ECECEC"/>
                </a:solidFill>
                <a:effectLst/>
                <a:latin typeface="Söhne"/>
              </a:rPr>
              <a:t> of free </a:t>
            </a:r>
            <a:r>
              <a:rPr lang="fr-FR" sz="2400" b="0" i="0" dirty="0" err="1">
                <a:solidFill>
                  <a:srgbClr val="ECECEC"/>
                </a:solidFill>
                <a:effectLst/>
                <a:latin typeface="Söhne"/>
              </a:rPr>
              <a:t>operations</a:t>
            </a:r>
            <a:r>
              <a:rPr lang="fr-FR" sz="2400" b="0" i="0" dirty="0">
                <a:solidFill>
                  <a:srgbClr val="ECECEC"/>
                </a:solidFill>
                <a:effectLst/>
                <a:latin typeface="Söhne"/>
              </a:rPr>
              <a:t> per </a:t>
            </a:r>
            <a:r>
              <a:rPr lang="fr-FR" sz="2400" b="0" i="0" dirty="0" err="1">
                <a:solidFill>
                  <a:srgbClr val="ECECEC"/>
                </a:solidFill>
                <a:effectLst/>
                <a:latin typeface="Söhne"/>
              </a:rPr>
              <a:t>day</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offers</a:t>
            </a:r>
            <a:r>
              <a:rPr lang="fr-FR" sz="2400" b="0" i="0" dirty="0">
                <a:solidFill>
                  <a:srgbClr val="ECECEC"/>
                </a:solidFill>
                <a:effectLst/>
                <a:latin typeface="Söhne"/>
              </a:rPr>
              <a:t> a </a:t>
            </a:r>
            <a:r>
              <a:rPr lang="fr-FR" sz="2400" b="0" i="0" dirty="0" err="1">
                <a:solidFill>
                  <a:srgbClr val="ECECEC"/>
                </a:solidFill>
                <a:effectLst/>
                <a:latin typeface="Söhne"/>
              </a:rPr>
              <a:t>cost</a:t>
            </a:r>
            <a:r>
              <a:rPr lang="fr-FR" sz="2400" b="0" i="0" dirty="0">
                <a:solidFill>
                  <a:srgbClr val="ECECEC"/>
                </a:solidFill>
                <a:effectLst/>
                <a:latin typeface="Söhne"/>
              </a:rPr>
              <a:t>-effective or </a:t>
            </a:r>
            <a:r>
              <a:rPr lang="fr-FR" sz="2400" b="0" i="0" dirty="0" err="1">
                <a:solidFill>
                  <a:srgbClr val="ECECEC"/>
                </a:solidFill>
                <a:effectLst/>
                <a:latin typeface="Söhne"/>
              </a:rPr>
              <a:t>potentially</a:t>
            </a:r>
            <a:r>
              <a:rPr lang="fr-FR" sz="2400" b="0" i="0" dirty="0">
                <a:solidFill>
                  <a:srgbClr val="ECECEC"/>
                </a:solidFill>
                <a:effectLst/>
                <a:latin typeface="Söhne"/>
              </a:rPr>
              <a:t> free </a:t>
            </a:r>
            <a:r>
              <a:rPr lang="fr-FR" sz="2400" b="0" i="0" dirty="0" err="1">
                <a:solidFill>
                  <a:srgbClr val="ECECEC"/>
                </a:solidFill>
                <a:effectLst/>
                <a:latin typeface="Söhne"/>
              </a:rPr>
              <a:t>starting</a:t>
            </a:r>
            <a:r>
              <a:rPr lang="fr-FR" sz="2400" b="0" i="0" dirty="0">
                <a:solidFill>
                  <a:srgbClr val="ECECEC"/>
                </a:solidFill>
                <a:effectLst/>
                <a:latin typeface="Söhne"/>
              </a:rPr>
              <a:t> point for </a:t>
            </a:r>
            <a:r>
              <a:rPr lang="fr-FR" sz="2400" b="0" i="0" dirty="0" err="1">
                <a:solidFill>
                  <a:srgbClr val="ECECEC"/>
                </a:solidFill>
                <a:effectLst/>
                <a:latin typeface="Söhne"/>
              </a:rPr>
              <a:t>developers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daily</a:t>
            </a:r>
            <a:r>
              <a:rPr lang="fr-FR" sz="2400" b="0" i="0" dirty="0">
                <a:solidFill>
                  <a:srgbClr val="ECECEC"/>
                </a:solidFill>
                <a:effectLst/>
                <a:latin typeface="Söhne"/>
              </a:rPr>
              <a:t> free quotas.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526326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firestore</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3" name="Image 2">
            <a:extLst>
              <a:ext uri="{FF2B5EF4-FFF2-40B4-BE49-F238E27FC236}">
                <a16:creationId xmlns:a16="http://schemas.microsoft.com/office/drawing/2014/main" id="{38387BBC-C16B-0252-5CB1-67DF74732EE8}"/>
              </a:ext>
            </a:extLst>
          </p:cNvPr>
          <p:cNvPicPr>
            <a:picLocks noChangeAspect="1"/>
          </p:cNvPicPr>
          <p:nvPr/>
        </p:nvPicPr>
        <p:blipFill>
          <a:blip r:embed="rId2"/>
          <a:stretch>
            <a:fillRect/>
          </a:stretch>
        </p:blipFill>
        <p:spPr>
          <a:xfrm>
            <a:off x="2667832" y="1932343"/>
            <a:ext cx="6751331" cy="3351948"/>
          </a:xfrm>
          <a:prstGeom prst="rect">
            <a:avLst/>
          </a:prstGeom>
        </p:spPr>
      </p:pic>
    </p:spTree>
    <p:extLst>
      <p:ext uri="{BB962C8B-B14F-4D97-AF65-F5344CB8AC3E}">
        <p14:creationId xmlns:p14="http://schemas.microsoft.com/office/powerpoint/2010/main" val="33714600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52049" y="304213"/>
            <a:ext cx="11530647" cy="1293028"/>
          </a:xfrm>
        </p:spPr>
        <p:txBody>
          <a:bodyPr>
            <a:normAutofit/>
          </a:bodyPr>
          <a:lstStyle/>
          <a:p>
            <a:pPr algn="l"/>
            <a:r>
              <a:rPr lang="fr-FR" sz="3200" dirty="0"/>
              <a:t>Google cloud </a:t>
            </a:r>
            <a:r>
              <a:rPr lang="fr-FR" sz="3200" dirty="0" err="1"/>
              <a:t>bigtable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Bigtable</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Google's</a:t>
            </a:r>
            <a:r>
              <a:rPr lang="fr-FR" sz="2400" b="0" i="0" dirty="0">
                <a:solidFill>
                  <a:srgbClr val="ECECEC"/>
                </a:solidFill>
                <a:effectLst/>
                <a:latin typeface="Söhne"/>
              </a:rPr>
              <a:t> NoSQL </a:t>
            </a:r>
            <a:r>
              <a:rPr lang="fr-FR" sz="2400" b="0" i="0" dirty="0" err="1">
                <a:solidFill>
                  <a:srgbClr val="ECECEC"/>
                </a:solidFill>
                <a:effectLst/>
                <a:latin typeface="Söhne"/>
              </a:rPr>
              <a:t>database</a:t>
            </a:r>
            <a:r>
              <a:rPr lang="fr-FR" sz="2400" b="0" i="0" dirty="0">
                <a:solidFill>
                  <a:srgbClr val="ECECEC"/>
                </a:solidFill>
                <a:effectLst/>
                <a:latin typeface="Söhne"/>
              </a:rPr>
              <a:t> service, </a:t>
            </a:r>
            <a:r>
              <a:rPr lang="fr-FR" sz="2400" b="0" i="0" dirty="0" err="1">
                <a:solidFill>
                  <a:srgbClr val="ECECEC"/>
                </a:solidFill>
                <a:effectLst/>
                <a:latin typeface="Söhne"/>
              </a:rPr>
              <a:t>used</a:t>
            </a:r>
            <a:r>
              <a:rPr lang="fr-FR" sz="2400" b="0" i="0" dirty="0">
                <a:solidFill>
                  <a:srgbClr val="ECECEC"/>
                </a:solidFill>
                <a:effectLst/>
                <a:latin typeface="Söhne"/>
              </a:rPr>
              <a:t> by key services </a:t>
            </a:r>
            <a:r>
              <a:rPr lang="fr-FR" sz="2400" b="0" i="0" dirty="0" err="1">
                <a:solidFill>
                  <a:srgbClr val="ECECEC"/>
                </a:solidFill>
                <a:effectLst/>
                <a:latin typeface="Söhne"/>
              </a:rPr>
              <a:t>such</a:t>
            </a:r>
            <a:r>
              <a:rPr lang="fr-FR" sz="2400" b="0" i="0" dirty="0">
                <a:solidFill>
                  <a:srgbClr val="ECECEC"/>
                </a:solidFill>
                <a:effectLst/>
                <a:latin typeface="Söhne"/>
              </a:rPr>
              <a:t> as </a:t>
            </a:r>
            <a:r>
              <a:rPr lang="fr-FR" sz="2400" b="0" i="0" dirty="0" err="1">
                <a:solidFill>
                  <a:srgbClr val="ECECEC"/>
                </a:solidFill>
                <a:effectLst/>
                <a:latin typeface="Söhne"/>
              </a:rPr>
              <a:t>Search</a:t>
            </a:r>
            <a:r>
              <a:rPr lang="fr-FR" sz="2400" b="0" i="0" dirty="0">
                <a:solidFill>
                  <a:srgbClr val="ECECEC"/>
                </a:solidFill>
                <a:effectLst/>
                <a:latin typeface="Söhne"/>
              </a:rPr>
              <a:t>, Analytics, and Gmail.</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offers</a:t>
            </a:r>
            <a:r>
              <a:rPr lang="fr-FR" sz="2400" b="0" i="0" dirty="0">
                <a:solidFill>
                  <a:srgbClr val="ECECEC"/>
                </a:solidFill>
                <a:effectLst/>
                <a:latin typeface="Söhne"/>
              </a:rPr>
              <a:t> high performance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low</a:t>
            </a:r>
            <a:r>
              <a:rPr lang="fr-FR" sz="2400" b="0" i="0" dirty="0">
                <a:solidFill>
                  <a:srgbClr val="ECECEC"/>
                </a:solidFill>
                <a:effectLst/>
                <a:latin typeface="Söhne"/>
              </a:rPr>
              <a:t> </a:t>
            </a:r>
            <a:r>
              <a:rPr lang="fr-FR" sz="2400" b="0" i="0" dirty="0" err="1">
                <a:solidFill>
                  <a:srgbClr val="ECECEC"/>
                </a:solidFill>
                <a:effectLst/>
                <a:latin typeface="Söhne"/>
              </a:rPr>
              <a:t>latency</a:t>
            </a:r>
            <a:r>
              <a:rPr lang="fr-FR" sz="2400" b="0" i="0" dirty="0">
                <a:solidFill>
                  <a:srgbClr val="ECECEC"/>
                </a:solidFill>
                <a:effectLst/>
                <a:latin typeface="Söhne"/>
              </a:rPr>
              <a:t>, </a:t>
            </a:r>
            <a:r>
              <a:rPr lang="fr-FR" sz="2400" b="0" i="0" dirty="0" err="1">
                <a:solidFill>
                  <a:srgbClr val="ECECEC"/>
                </a:solidFill>
                <a:effectLst/>
                <a:latin typeface="Söhne"/>
              </a:rPr>
              <a:t>suitable</a:t>
            </a:r>
            <a:r>
              <a:rPr lang="fr-FR" sz="2400" b="0" i="0" dirty="0">
                <a:solidFill>
                  <a:srgbClr val="ECECEC"/>
                </a:solidFill>
                <a:effectLst/>
                <a:latin typeface="Söhne"/>
              </a:rPr>
              <a:t> for massive </a:t>
            </a:r>
            <a:r>
              <a:rPr lang="fr-FR" sz="2400" b="0" i="0" dirty="0" err="1">
                <a:solidFill>
                  <a:srgbClr val="ECECEC"/>
                </a:solidFill>
                <a:effectLst/>
                <a:latin typeface="Söhne"/>
              </a:rPr>
              <a:t>workloads</a:t>
            </a:r>
            <a:r>
              <a:rPr lang="fr-FR" sz="2400" b="0" i="0" dirty="0">
                <a:solidFill>
                  <a:srgbClr val="ECECEC"/>
                </a:solidFill>
                <a:effectLst/>
                <a:latin typeface="Söhne"/>
              </a:rPr>
              <a:t> and </a:t>
            </a:r>
            <a:r>
              <a:rPr lang="fr-FR" sz="2400" b="0" i="0" dirty="0" err="1">
                <a:solidFill>
                  <a:srgbClr val="ECECEC"/>
                </a:solidFill>
                <a:effectLst/>
                <a:latin typeface="Söhne"/>
              </a:rPr>
              <a:t>operational</a:t>
            </a:r>
            <a:r>
              <a:rPr lang="fr-FR" sz="2400" b="0" i="0" dirty="0">
                <a:solidFill>
                  <a:srgbClr val="ECECEC"/>
                </a:solidFill>
                <a:effectLst/>
                <a:latin typeface="Söhne"/>
              </a:rPr>
              <a:t> and </a:t>
            </a:r>
            <a:r>
              <a:rPr lang="fr-FR" sz="2400" b="0" i="0" dirty="0" err="1">
                <a:solidFill>
                  <a:srgbClr val="ECECEC"/>
                </a:solidFill>
                <a:effectLst/>
                <a:latin typeface="Söhne"/>
              </a:rPr>
              <a:t>analytical</a:t>
            </a:r>
            <a:r>
              <a:rPr lang="fr-FR" sz="2400" b="0" i="0" dirty="0">
                <a:solidFill>
                  <a:srgbClr val="ECECEC"/>
                </a:solidFill>
                <a:effectLst/>
                <a:latin typeface="Söhne"/>
              </a:rPr>
              <a:t> applications.</a:t>
            </a:r>
          </a:p>
          <a:p>
            <a:pPr algn="l">
              <a:buFont typeface="Arial" panose="020B0604020202020204" pitchFamily="34" charset="0"/>
              <a:buChar char="•"/>
            </a:pPr>
            <a:r>
              <a:rPr lang="fr-FR" sz="2400" b="0" i="0" dirty="0">
                <a:solidFill>
                  <a:srgbClr val="ECECEC"/>
                </a:solidFill>
                <a:effectLst/>
                <a:latin typeface="Söhne"/>
              </a:rPr>
              <a:t>Clients </a:t>
            </a:r>
            <a:r>
              <a:rPr lang="fr-FR" sz="2400" b="0" i="0" dirty="0" err="1">
                <a:solidFill>
                  <a:srgbClr val="ECECEC"/>
                </a:solidFill>
                <a:effectLst/>
                <a:latin typeface="Söhne"/>
              </a:rPr>
              <a:t>choose</a:t>
            </a:r>
            <a:r>
              <a:rPr lang="fr-FR" sz="2400" b="0" i="0" dirty="0">
                <a:solidFill>
                  <a:srgbClr val="ECECEC"/>
                </a:solidFill>
                <a:effectLst/>
                <a:latin typeface="Söhne"/>
              </a:rPr>
              <a:t> </a:t>
            </a:r>
            <a:r>
              <a:rPr lang="fr-FR" sz="2400" b="0" i="0" dirty="0" err="1">
                <a:solidFill>
                  <a:srgbClr val="ECECEC"/>
                </a:solidFill>
                <a:effectLst/>
                <a:latin typeface="Söhne"/>
              </a:rPr>
              <a:t>Bigtable</a:t>
            </a:r>
            <a:r>
              <a:rPr lang="fr-FR" sz="2400" b="0" i="0" dirty="0">
                <a:solidFill>
                  <a:srgbClr val="ECECEC"/>
                </a:solidFill>
                <a:effectLst/>
                <a:latin typeface="Söhne"/>
              </a:rPr>
              <a:t> for large data volumes, high </a:t>
            </a:r>
            <a:r>
              <a:rPr lang="fr-FR" sz="2400" b="0" i="0" dirty="0" err="1">
                <a:solidFill>
                  <a:srgbClr val="ECECEC"/>
                </a:solidFill>
                <a:effectLst/>
                <a:latin typeface="Söhne"/>
              </a:rPr>
              <a:t>throughput</a:t>
            </a:r>
            <a:r>
              <a:rPr lang="fr-FR" sz="2400" b="0" i="0" dirty="0">
                <a:solidFill>
                  <a:srgbClr val="ECECEC"/>
                </a:solidFill>
                <a:effectLst/>
                <a:latin typeface="Söhne"/>
              </a:rPr>
              <a:t>, NoSQL data, time-</a:t>
            </a:r>
            <a:r>
              <a:rPr lang="fr-FR" sz="2400" b="0" i="0" dirty="0" err="1">
                <a:solidFill>
                  <a:srgbClr val="ECECEC"/>
                </a:solidFill>
                <a:effectLst/>
                <a:latin typeface="Söhne"/>
              </a:rPr>
              <a:t>ordered</a:t>
            </a:r>
            <a:r>
              <a:rPr lang="fr-FR" sz="2400" b="0" i="0" dirty="0">
                <a:solidFill>
                  <a:srgbClr val="ECECEC"/>
                </a:solidFill>
                <a:effectLst/>
                <a:latin typeface="Söhne"/>
              </a:rPr>
              <a:t> data, or batch and real-time </a:t>
            </a:r>
            <a:r>
              <a:rPr lang="fr-FR" sz="2400" b="0" i="0" dirty="0" err="1">
                <a:solidFill>
                  <a:srgbClr val="ECECEC"/>
                </a:solidFill>
                <a:effectLst/>
                <a:latin typeface="Söhne"/>
              </a:rPr>
              <a:t>processing</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Bigtable</a:t>
            </a:r>
            <a:r>
              <a:rPr lang="fr-FR" sz="2400" b="0" i="0" dirty="0">
                <a:solidFill>
                  <a:srgbClr val="ECECEC"/>
                </a:solidFill>
                <a:effectLst/>
                <a:latin typeface="Söhne"/>
              </a:rPr>
              <a:t> </a:t>
            </a:r>
            <a:r>
              <a:rPr lang="fr-FR" sz="2400" b="0" i="0" dirty="0" err="1">
                <a:solidFill>
                  <a:srgbClr val="ECECEC"/>
                </a:solidFill>
                <a:effectLst/>
                <a:latin typeface="Söhne"/>
              </a:rPr>
              <a:t>is</a:t>
            </a:r>
            <a:r>
              <a:rPr lang="fr-FR" sz="2400" b="0" i="0" dirty="0">
                <a:solidFill>
                  <a:srgbClr val="ECECEC"/>
                </a:solidFill>
                <a:effectLst/>
                <a:latin typeface="Söhne"/>
              </a:rPr>
              <a:t> compatible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other</a:t>
            </a:r>
            <a:r>
              <a:rPr lang="fr-FR" sz="2400" b="0" i="0" dirty="0">
                <a:solidFill>
                  <a:srgbClr val="ECECEC"/>
                </a:solidFill>
                <a:effectLst/>
                <a:latin typeface="Söhne"/>
              </a:rPr>
              <a:t> Google Cloud services and </a:t>
            </a:r>
            <a:r>
              <a:rPr lang="fr-FR" sz="2400" b="0" i="0" dirty="0" err="1">
                <a:solidFill>
                  <a:srgbClr val="ECECEC"/>
                </a:solidFill>
                <a:effectLst/>
                <a:latin typeface="Söhne"/>
              </a:rPr>
              <a:t>third</a:t>
            </a:r>
            <a:r>
              <a:rPr lang="fr-FR" sz="2400" b="0" i="0" dirty="0">
                <a:solidFill>
                  <a:srgbClr val="ECECEC"/>
                </a:solidFill>
                <a:effectLst/>
                <a:latin typeface="Söhne"/>
              </a:rPr>
              <a:t>-party clients via APIs, </a:t>
            </a:r>
            <a:r>
              <a:rPr lang="fr-FR" sz="2400" b="0" i="0" dirty="0" err="1">
                <a:solidFill>
                  <a:srgbClr val="ECECEC"/>
                </a:solidFill>
                <a:effectLst/>
                <a:latin typeface="Söhne"/>
              </a:rPr>
              <a:t>allowing</a:t>
            </a:r>
            <a:r>
              <a:rPr lang="fr-FR" sz="2400" b="0" i="0" dirty="0">
                <a:solidFill>
                  <a:srgbClr val="ECECEC"/>
                </a:solidFill>
                <a:effectLst/>
                <a:latin typeface="Söhne"/>
              </a:rPr>
              <a:t> </a:t>
            </a:r>
            <a:r>
              <a:rPr lang="fr-FR" sz="2400" b="0" i="0" dirty="0" err="1">
                <a:solidFill>
                  <a:srgbClr val="ECECEC"/>
                </a:solidFill>
                <a:effectLst/>
                <a:latin typeface="Söhne"/>
              </a:rPr>
              <a:t>reading</a:t>
            </a:r>
            <a:r>
              <a:rPr lang="fr-FR" sz="2400" b="0" i="0" dirty="0">
                <a:solidFill>
                  <a:srgbClr val="ECECEC"/>
                </a:solidFill>
                <a:effectLst/>
                <a:latin typeface="Söhne"/>
              </a:rPr>
              <a:t> and </a:t>
            </a:r>
            <a:r>
              <a:rPr lang="fr-FR" sz="2400" b="0" i="0" dirty="0" err="1">
                <a:solidFill>
                  <a:srgbClr val="ECECEC"/>
                </a:solidFill>
                <a:effectLst/>
                <a:latin typeface="Söhne"/>
              </a:rPr>
              <a:t>writing</a:t>
            </a:r>
            <a:r>
              <a:rPr lang="fr-FR" sz="2400" b="0" i="0" dirty="0">
                <a:solidFill>
                  <a:srgbClr val="ECECEC"/>
                </a:solidFill>
                <a:effectLst/>
                <a:latin typeface="Söhne"/>
              </a:rPr>
              <a:t> data </a:t>
            </a:r>
            <a:r>
              <a:rPr lang="fr-FR" sz="2400" b="0" i="0" dirty="0" err="1">
                <a:solidFill>
                  <a:srgbClr val="ECECEC"/>
                </a:solidFill>
                <a:effectLst/>
                <a:latin typeface="Söhne"/>
              </a:rPr>
              <a:t>across</a:t>
            </a:r>
            <a:r>
              <a:rPr lang="fr-FR" sz="2400" b="0" i="0" dirty="0">
                <a:solidFill>
                  <a:srgbClr val="ECECEC"/>
                </a:solidFill>
                <a:effectLst/>
                <a:latin typeface="Söhne"/>
              </a:rPr>
              <a:t> </a:t>
            </a:r>
            <a:r>
              <a:rPr lang="fr-FR" sz="2400" b="0" i="0" dirty="0" err="1">
                <a:solidFill>
                  <a:srgbClr val="ECECEC"/>
                </a:solidFill>
                <a:effectLst/>
                <a:latin typeface="Söhne"/>
              </a:rPr>
              <a:t>various</a:t>
            </a:r>
            <a:r>
              <a:rPr lang="fr-FR" sz="2400" b="0" i="0" dirty="0">
                <a:solidFill>
                  <a:srgbClr val="ECECEC"/>
                </a:solidFill>
                <a:effectLst/>
                <a:latin typeface="Söhne"/>
              </a:rPr>
              <a:t> </a:t>
            </a:r>
            <a:r>
              <a:rPr lang="fr-FR" sz="2400" b="0" i="0" dirty="0" err="1">
                <a:solidFill>
                  <a:srgbClr val="ECECEC"/>
                </a:solidFill>
                <a:effectLst/>
                <a:latin typeface="Söhne"/>
              </a:rPr>
              <a:t>layers</a:t>
            </a:r>
            <a:r>
              <a:rPr lang="fr-FR" sz="2400" b="0" i="0" dirty="0">
                <a:solidFill>
                  <a:srgbClr val="ECECEC"/>
                </a:solidFill>
                <a:effectLst/>
                <a:latin typeface="Söhne"/>
              </a:rPr>
              <a:t> of </a:t>
            </a:r>
            <a:r>
              <a:rPr lang="fr-FR" sz="2400" b="0" i="0" dirty="0" err="1">
                <a:solidFill>
                  <a:srgbClr val="ECECEC"/>
                </a:solidFill>
                <a:effectLst/>
                <a:latin typeface="Söhne"/>
              </a:rPr>
              <a:t>stream</a:t>
            </a:r>
            <a:r>
              <a:rPr lang="fr-FR" sz="2400" b="0" i="0" dirty="0">
                <a:solidFill>
                  <a:srgbClr val="ECECEC"/>
                </a:solidFill>
                <a:effectLst/>
                <a:latin typeface="Söhne"/>
              </a:rPr>
              <a:t> or batch </a:t>
            </a:r>
            <a:r>
              <a:rPr lang="fr-FR" sz="2400" b="0" i="0" dirty="0" err="1">
                <a:solidFill>
                  <a:srgbClr val="ECECEC"/>
                </a:solidFill>
                <a:effectLst/>
                <a:latin typeface="Söhne"/>
              </a:rPr>
              <a:t>processing</a:t>
            </a:r>
            <a:r>
              <a:rPr lang="fr-FR" sz="2400" b="0" i="0" dirty="0">
                <a:solidFill>
                  <a:srgbClr val="ECECEC"/>
                </a:solidFill>
                <a:effectLst/>
                <a:latin typeface="Söhne"/>
              </a:rPr>
              <a:t> </a:t>
            </a:r>
            <a:r>
              <a:rPr lang="fr-FR" sz="2400" b="0" i="0" dirty="0" err="1">
                <a:solidFill>
                  <a:srgbClr val="ECECEC"/>
                </a:solidFill>
                <a:effectLst/>
                <a:latin typeface="Söhne"/>
              </a:rPr>
              <a:t>frameworks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is</a:t>
            </a:r>
            <a:r>
              <a:rPr lang="fr-FR" sz="2400" b="0" i="0" dirty="0">
                <a:solidFill>
                  <a:srgbClr val="ECECEC"/>
                </a:solidFill>
                <a:effectLst/>
                <a:latin typeface="Söhne"/>
              </a:rPr>
              <a:t> </a:t>
            </a:r>
            <a:r>
              <a:rPr lang="fr-FR" sz="2400" b="0" i="0" dirty="0" err="1">
                <a:solidFill>
                  <a:srgbClr val="ECECEC"/>
                </a:solidFill>
                <a:effectLst/>
                <a:latin typeface="Söhne"/>
              </a:rPr>
              <a:t>used</a:t>
            </a:r>
            <a:r>
              <a:rPr lang="fr-FR" sz="2400" b="0" i="0" dirty="0">
                <a:solidFill>
                  <a:srgbClr val="ECECEC"/>
                </a:solidFill>
                <a:effectLst/>
                <a:latin typeface="Söhne"/>
              </a:rPr>
              <a:t> to serve data to applications, </a:t>
            </a:r>
            <a:r>
              <a:rPr lang="fr-FR" sz="2400" b="0" i="0" dirty="0" err="1">
                <a:solidFill>
                  <a:srgbClr val="ECECEC"/>
                </a:solidFill>
                <a:effectLst/>
                <a:latin typeface="Söhne"/>
              </a:rPr>
              <a:t>dashboards</a:t>
            </a:r>
            <a:r>
              <a:rPr lang="fr-FR" sz="2400" b="0" i="0" dirty="0">
                <a:solidFill>
                  <a:srgbClr val="ECECEC"/>
                </a:solidFill>
                <a:effectLst/>
                <a:latin typeface="Söhne"/>
              </a:rPr>
              <a:t>, and data services, as </a:t>
            </a:r>
            <a:r>
              <a:rPr lang="fr-FR" sz="2400" b="0" i="0" dirty="0" err="1">
                <a:solidFill>
                  <a:srgbClr val="ECECEC"/>
                </a:solidFill>
                <a:effectLst/>
                <a:latin typeface="Söhne"/>
              </a:rPr>
              <a:t>well</a:t>
            </a:r>
            <a:r>
              <a:rPr lang="fr-FR" sz="2400" b="0" i="0" dirty="0">
                <a:solidFill>
                  <a:srgbClr val="ECECEC"/>
                </a:solidFill>
                <a:effectLst/>
                <a:latin typeface="Söhne"/>
              </a:rPr>
              <a:t> as for </a:t>
            </a:r>
            <a:r>
              <a:rPr lang="fr-FR" sz="2400" b="0" i="0" dirty="0" err="1">
                <a:solidFill>
                  <a:srgbClr val="ECECEC"/>
                </a:solidFill>
                <a:effectLst/>
                <a:latin typeface="Söhne"/>
              </a:rPr>
              <a:t>performing</a:t>
            </a:r>
            <a:r>
              <a:rPr lang="fr-FR" sz="2400" b="0" i="0" dirty="0">
                <a:solidFill>
                  <a:srgbClr val="ECECEC"/>
                </a:solidFill>
                <a:effectLst/>
                <a:latin typeface="Söhne"/>
              </a:rPr>
              <a:t> </a:t>
            </a:r>
            <a:r>
              <a:rPr lang="fr-FR" sz="2400" b="0" i="0" dirty="0" err="1">
                <a:solidFill>
                  <a:srgbClr val="ECECEC"/>
                </a:solidFill>
                <a:effectLst/>
                <a:latin typeface="Söhne"/>
              </a:rPr>
              <a:t>calculations</a:t>
            </a:r>
            <a:r>
              <a:rPr lang="fr-FR" sz="2400" b="0" i="0" dirty="0">
                <a:solidFill>
                  <a:srgbClr val="ECECEC"/>
                </a:solidFill>
                <a:effectLst/>
                <a:latin typeface="Söhne"/>
              </a:rPr>
              <a:t> and analyses on streaming or batch data.</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3368146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282260"/>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51683" y="1840255"/>
            <a:ext cx="10351747" cy="3654853"/>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Cloud Storage: Storage for immutable </a:t>
            </a:r>
            <a:r>
              <a:rPr lang="fr-FR" sz="2400" b="0" i="0" dirty="0" err="1">
                <a:solidFill>
                  <a:srgbClr val="ECECEC"/>
                </a:solidFill>
                <a:effectLst/>
                <a:latin typeface="Söhne"/>
              </a:rPr>
              <a:t>objects</a:t>
            </a:r>
            <a:r>
              <a:rPr lang="fr-FR" sz="2400" b="0" i="0" dirty="0">
                <a:solidFill>
                  <a:srgbClr val="ECECEC"/>
                </a:solidFill>
                <a:effectLst/>
                <a:latin typeface="Söhne"/>
              </a:rPr>
              <a:t> over 10 MB, up to 5 TB per </a:t>
            </a:r>
            <a:r>
              <a:rPr lang="fr-FR" sz="2400" b="0" i="0" dirty="0" err="1">
                <a:solidFill>
                  <a:srgbClr val="ECECEC"/>
                </a:solidFill>
                <a:effectLst/>
                <a:latin typeface="Söhne"/>
              </a:rPr>
              <a:t>object</a:t>
            </a:r>
            <a:r>
              <a:rPr lang="fr-FR" sz="2400" b="0" i="0" dirty="0">
                <a:solidFill>
                  <a:srgbClr val="ECECEC"/>
                </a:solidFill>
                <a:effectLst/>
                <a:latin typeface="Söhne"/>
              </a:rPr>
              <a:t>, </a:t>
            </a:r>
            <a:r>
              <a:rPr lang="fr-FR" sz="2400" b="0" i="0" dirty="0" err="1">
                <a:solidFill>
                  <a:srgbClr val="ECECEC"/>
                </a:solidFill>
                <a:effectLst/>
                <a:latin typeface="Söhne"/>
              </a:rPr>
              <a:t>suitable</a:t>
            </a:r>
            <a:r>
              <a:rPr lang="fr-FR" sz="2400" b="0" i="0" dirty="0">
                <a:solidFill>
                  <a:srgbClr val="ECECEC"/>
                </a:solidFill>
                <a:effectLst/>
                <a:latin typeface="Söhne"/>
              </a:rPr>
              <a:t> for images or </a:t>
            </a:r>
            <a:r>
              <a:rPr lang="fr-FR" sz="2400" b="0" i="0" dirty="0" err="1">
                <a:solidFill>
                  <a:srgbClr val="ECECEC"/>
                </a:solidFill>
                <a:effectLst/>
                <a:latin typeface="Söhne"/>
              </a:rPr>
              <a:t>movies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Cloud SQL / Cloud </a:t>
            </a:r>
            <a:r>
              <a:rPr lang="fr-FR" sz="2400" b="0" i="0" dirty="0" err="1">
                <a:solidFill>
                  <a:srgbClr val="ECECEC"/>
                </a:solidFill>
                <a:effectLst/>
                <a:latin typeface="Söhne"/>
              </a:rPr>
              <a:t>Spanner</a:t>
            </a:r>
            <a:r>
              <a:rPr lang="fr-FR" sz="2400" b="0" i="0" dirty="0">
                <a:solidFill>
                  <a:srgbClr val="ECECEC"/>
                </a:solidFill>
                <a:effectLst/>
                <a:latin typeface="Söhne"/>
              </a:rPr>
              <a:t>: Full SQL support, Cloud SQL up to 64 TB, Cloud </a:t>
            </a:r>
            <a:r>
              <a:rPr lang="fr-FR" sz="2400" b="0" i="0" dirty="0" err="1">
                <a:solidFill>
                  <a:srgbClr val="ECECEC"/>
                </a:solidFill>
                <a:effectLst/>
                <a:latin typeface="Söhne"/>
              </a:rPr>
              <a:t>Spanner</a:t>
            </a:r>
            <a:r>
              <a:rPr lang="fr-FR" sz="2400" b="0" i="0" dirty="0">
                <a:solidFill>
                  <a:srgbClr val="ECECEC"/>
                </a:solidFill>
                <a:effectLst/>
                <a:latin typeface="Söhne"/>
              </a:rPr>
              <a:t> for horizontal </a:t>
            </a:r>
            <a:r>
              <a:rPr lang="fr-FR" sz="2400" b="0" i="0" dirty="0" err="1">
                <a:solidFill>
                  <a:srgbClr val="ECECEC"/>
                </a:solidFill>
                <a:effectLst/>
                <a:latin typeface="Söhne"/>
              </a:rPr>
              <a:t>scalability</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Firestore</a:t>
            </a:r>
            <a:r>
              <a:rPr lang="fr-FR" sz="2400" b="0" i="0" dirty="0">
                <a:solidFill>
                  <a:srgbClr val="ECECEC"/>
                </a:solidFill>
                <a:effectLst/>
                <a:latin typeface="Söhne"/>
              </a:rPr>
              <a:t>: Massive </a:t>
            </a:r>
            <a:r>
              <a:rPr lang="fr-FR" sz="2400" b="0" i="0" dirty="0" err="1">
                <a:solidFill>
                  <a:srgbClr val="ECECEC"/>
                </a:solidFill>
                <a:effectLst/>
                <a:latin typeface="Söhne"/>
              </a:rPr>
              <a:t>scalability</a:t>
            </a:r>
            <a:r>
              <a:rPr lang="fr-FR" sz="2400" b="0" i="0" dirty="0">
                <a:solidFill>
                  <a:srgbClr val="ECECEC"/>
                </a:solidFill>
                <a:effectLst/>
                <a:latin typeface="Söhne"/>
              </a:rPr>
              <a:t>, real-time </a:t>
            </a:r>
            <a:r>
              <a:rPr lang="fr-FR" sz="2400" b="0" i="0" dirty="0" err="1">
                <a:solidFill>
                  <a:srgbClr val="ECECEC"/>
                </a:solidFill>
                <a:effectLst/>
                <a:latin typeface="Söhne"/>
              </a:rPr>
              <a:t>query</a:t>
            </a:r>
            <a:r>
              <a:rPr lang="fr-FR" sz="2400" b="0" i="0" dirty="0">
                <a:solidFill>
                  <a:srgbClr val="ECECEC"/>
                </a:solidFill>
                <a:effectLst/>
                <a:latin typeface="Söhne"/>
              </a:rPr>
              <a:t> </a:t>
            </a:r>
            <a:r>
              <a:rPr lang="fr-FR" sz="2400" b="0" i="0" dirty="0" err="1">
                <a:solidFill>
                  <a:srgbClr val="ECECEC"/>
                </a:solidFill>
                <a:effectLst/>
                <a:latin typeface="Söhne"/>
              </a:rPr>
              <a:t>results</a:t>
            </a:r>
            <a:r>
              <a:rPr lang="fr-FR" sz="2400" b="0" i="0" dirty="0">
                <a:solidFill>
                  <a:srgbClr val="ECECEC"/>
                </a:solidFill>
                <a:effectLst/>
                <a:latin typeface="Söhne"/>
              </a:rPr>
              <a:t>, </a:t>
            </a:r>
            <a:r>
              <a:rPr lang="fr-FR" sz="2400" b="0" i="0" dirty="0" err="1">
                <a:solidFill>
                  <a:srgbClr val="ECECEC"/>
                </a:solidFill>
                <a:effectLst/>
                <a:latin typeface="Söhne"/>
              </a:rPr>
              <a:t>terabytes</a:t>
            </a:r>
            <a:r>
              <a:rPr lang="fr-FR" sz="2400" b="0" i="0" dirty="0">
                <a:solidFill>
                  <a:srgbClr val="ECECEC"/>
                </a:solidFill>
                <a:effectLst/>
                <a:latin typeface="Söhne"/>
              </a:rPr>
              <a:t> of </a:t>
            </a:r>
            <a:r>
              <a:rPr lang="fr-FR" sz="2400" b="0" i="0" dirty="0" err="1">
                <a:solidFill>
                  <a:srgbClr val="ECECEC"/>
                </a:solidFill>
                <a:effectLst/>
                <a:latin typeface="Söhne"/>
              </a:rPr>
              <a:t>storage</a:t>
            </a:r>
            <a:r>
              <a:rPr lang="fr-FR" sz="2400" b="0" i="0" dirty="0">
                <a:solidFill>
                  <a:srgbClr val="ECECEC"/>
                </a:solidFill>
                <a:effectLst/>
                <a:latin typeface="Söhne"/>
              </a:rPr>
              <a:t> </a:t>
            </a:r>
            <a:r>
              <a:rPr lang="fr-FR" sz="2400" b="0" i="0" dirty="0" err="1">
                <a:solidFill>
                  <a:srgbClr val="ECECEC"/>
                </a:solidFill>
                <a:effectLst/>
                <a:latin typeface="Söhne"/>
              </a:rPr>
              <a:t>capacity</a:t>
            </a:r>
            <a:r>
              <a:rPr lang="fr-FR" sz="2400" b="0" i="0" dirty="0">
                <a:solidFill>
                  <a:srgbClr val="ECECEC"/>
                </a:solidFill>
                <a:effectLst/>
                <a:latin typeface="Söhne"/>
              </a:rPr>
              <a:t>, </a:t>
            </a:r>
            <a:r>
              <a:rPr lang="fr-FR" sz="2400" b="0" i="0" dirty="0" err="1">
                <a:solidFill>
                  <a:srgbClr val="ECECEC"/>
                </a:solidFill>
                <a:effectLst/>
                <a:latin typeface="Söhne"/>
              </a:rPr>
              <a:t>ideal</a:t>
            </a:r>
            <a:r>
              <a:rPr lang="fr-FR" sz="2400" b="0" i="0" dirty="0">
                <a:solidFill>
                  <a:srgbClr val="ECECEC"/>
                </a:solidFill>
                <a:effectLst/>
                <a:latin typeface="Söhne"/>
              </a:rPr>
              <a:t> for mobile and web data.</a:t>
            </a:r>
          </a:p>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Bigtable</a:t>
            </a:r>
            <a:r>
              <a:rPr lang="fr-FR" sz="2400" b="0" i="0" dirty="0">
                <a:solidFill>
                  <a:srgbClr val="ECECEC"/>
                </a:solidFill>
                <a:effectLst/>
                <a:latin typeface="Söhne"/>
              </a:rPr>
              <a:t>: Storage for a large </a:t>
            </a:r>
            <a:r>
              <a:rPr lang="fr-FR" sz="2400" b="0" i="0" dirty="0" err="1">
                <a:solidFill>
                  <a:srgbClr val="ECECEC"/>
                </a:solidFill>
                <a:effectLst/>
                <a:latin typeface="Söhne"/>
              </a:rPr>
              <a:t>number</a:t>
            </a:r>
            <a:r>
              <a:rPr lang="fr-FR" sz="2400" b="0" i="0" dirty="0">
                <a:solidFill>
                  <a:srgbClr val="ECECEC"/>
                </a:solidFill>
                <a:effectLst/>
                <a:latin typeface="Söhne"/>
              </a:rPr>
              <a:t> of </a:t>
            </a:r>
            <a:r>
              <a:rPr lang="fr-FR" sz="2400" b="0" i="0" dirty="0" err="1">
                <a:solidFill>
                  <a:srgbClr val="ECECEC"/>
                </a:solidFill>
                <a:effectLst/>
                <a:latin typeface="Söhne"/>
              </a:rPr>
              <a:t>structured</a:t>
            </a:r>
            <a:r>
              <a:rPr lang="fr-FR" sz="2400" b="0" i="0" dirty="0">
                <a:solidFill>
                  <a:srgbClr val="ECECEC"/>
                </a:solidFill>
                <a:effectLst/>
                <a:latin typeface="Söhne"/>
              </a:rPr>
              <a:t> </a:t>
            </a:r>
            <a:r>
              <a:rPr lang="fr-FR" sz="2400" b="0" i="0" dirty="0" err="1">
                <a:solidFill>
                  <a:srgbClr val="ECECEC"/>
                </a:solidFill>
                <a:effectLst/>
                <a:latin typeface="Söhne"/>
              </a:rPr>
              <a:t>objects</a:t>
            </a:r>
            <a:r>
              <a:rPr lang="fr-FR" sz="2400" b="0" i="0" dirty="0">
                <a:solidFill>
                  <a:srgbClr val="ECECEC"/>
                </a:solidFill>
                <a:effectLst/>
                <a:latin typeface="Söhne"/>
              </a:rPr>
              <a:t>, </a:t>
            </a:r>
            <a:r>
              <a:rPr lang="fr-FR" sz="2400" b="0" i="0" dirty="0" err="1">
                <a:solidFill>
                  <a:srgbClr val="ECECEC"/>
                </a:solidFill>
                <a:effectLst/>
                <a:latin typeface="Söhne"/>
              </a:rPr>
              <a:t>petabytes</a:t>
            </a:r>
            <a:r>
              <a:rPr lang="fr-FR" sz="2400" b="0" i="0" dirty="0">
                <a:solidFill>
                  <a:srgbClr val="ECECEC"/>
                </a:solidFill>
                <a:effectLst/>
                <a:latin typeface="Söhne"/>
              </a:rPr>
              <a:t> of </a:t>
            </a:r>
            <a:r>
              <a:rPr lang="fr-FR" sz="2400" b="0" i="0" dirty="0" err="1">
                <a:solidFill>
                  <a:srgbClr val="ECECEC"/>
                </a:solidFill>
                <a:effectLst/>
                <a:latin typeface="Söhne"/>
              </a:rPr>
              <a:t>capacity</a:t>
            </a:r>
            <a:r>
              <a:rPr lang="fr-FR" sz="2400" b="0" i="0" dirty="0">
                <a:solidFill>
                  <a:srgbClr val="ECECEC"/>
                </a:solidFill>
                <a:effectLst/>
                <a:latin typeface="Söhne"/>
              </a:rPr>
              <a:t>, </a:t>
            </a:r>
            <a:r>
              <a:rPr lang="fr-FR" sz="2400" b="0" i="0" dirty="0" err="1">
                <a:solidFill>
                  <a:srgbClr val="ECECEC"/>
                </a:solidFill>
                <a:effectLst/>
                <a:latin typeface="Söhne"/>
              </a:rPr>
              <a:t>recommended</a:t>
            </a:r>
            <a:r>
              <a:rPr lang="fr-FR" sz="2400" b="0" i="0" dirty="0">
                <a:solidFill>
                  <a:srgbClr val="ECECEC"/>
                </a:solidFill>
                <a:effectLst/>
                <a:latin typeface="Söhne"/>
              </a:rPr>
              <a:t> for </a:t>
            </a:r>
            <a:r>
              <a:rPr lang="fr-FR" sz="2400" b="0" i="0" dirty="0" err="1">
                <a:solidFill>
                  <a:srgbClr val="ECECEC"/>
                </a:solidFill>
                <a:effectLst/>
                <a:latin typeface="Söhne"/>
              </a:rPr>
              <a:t>analytical</a:t>
            </a:r>
            <a:r>
              <a:rPr lang="fr-FR" sz="2400" b="0" i="0" dirty="0">
                <a:solidFill>
                  <a:srgbClr val="ECECEC"/>
                </a:solidFill>
                <a:effectLst/>
                <a:latin typeface="Söhne"/>
              </a:rPr>
              <a:t> data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many</a:t>
            </a:r>
            <a:r>
              <a:rPr lang="fr-FR" sz="2400" b="0" i="0" dirty="0">
                <a:solidFill>
                  <a:srgbClr val="ECECEC"/>
                </a:solidFill>
                <a:effectLst/>
                <a:latin typeface="Söhne"/>
              </a:rPr>
              <a:t> </a:t>
            </a:r>
            <a:r>
              <a:rPr lang="fr-FR" sz="2400" b="0" i="0" dirty="0" err="1">
                <a:solidFill>
                  <a:srgbClr val="ECECEC"/>
                </a:solidFill>
                <a:effectLst/>
                <a:latin typeface="Söhne"/>
              </a:rPr>
              <a:t>read</a:t>
            </a:r>
            <a:r>
              <a:rPr lang="fr-FR" sz="2400" b="0" i="0" dirty="0">
                <a:solidFill>
                  <a:srgbClr val="ECECEC"/>
                </a:solidFill>
                <a:effectLst/>
                <a:latin typeface="Söhne"/>
              </a:rPr>
              <a:t> and </a:t>
            </a:r>
            <a:r>
              <a:rPr lang="fr-FR" sz="2400" b="0" i="0" dirty="0" err="1">
                <a:solidFill>
                  <a:srgbClr val="ECECEC"/>
                </a:solidFill>
                <a:effectLst/>
                <a:latin typeface="Söhne"/>
              </a:rPr>
              <a:t>write</a:t>
            </a:r>
            <a:r>
              <a:rPr lang="fr-FR" sz="2400" b="0" i="0" dirty="0">
                <a:solidFill>
                  <a:srgbClr val="ECECEC"/>
                </a:solidFill>
                <a:effectLst/>
                <a:latin typeface="Söhne"/>
              </a:rPr>
              <a:t> </a:t>
            </a:r>
            <a:r>
              <a:rPr lang="fr-FR" sz="2400" b="0" i="0" dirty="0" err="1">
                <a:solidFill>
                  <a:srgbClr val="ECECEC"/>
                </a:solidFill>
                <a:effectLst/>
                <a:latin typeface="Söhne"/>
              </a:rPr>
              <a:t>events</a:t>
            </a:r>
            <a:r>
              <a:rPr lang="fr-FR" sz="24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2400186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8" name="Image 7">
            <a:extLst>
              <a:ext uri="{FF2B5EF4-FFF2-40B4-BE49-F238E27FC236}">
                <a16:creationId xmlns:a16="http://schemas.microsoft.com/office/drawing/2014/main" id="{575939C9-52B6-2B07-5AE7-AE91333ACA93}"/>
              </a:ext>
            </a:extLst>
          </p:cNvPr>
          <p:cNvPicPr>
            <a:picLocks noChangeAspect="1"/>
          </p:cNvPicPr>
          <p:nvPr/>
        </p:nvPicPr>
        <p:blipFill>
          <a:blip r:embed="rId2"/>
          <a:stretch>
            <a:fillRect/>
          </a:stretch>
        </p:blipFill>
        <p:spPr>
          <a:xfrm>
            <a:off x="2175803" y="1932343"/>
            <a:ext cx="7735390" cy="3894996"/>
          </a:xfrm>
          <a:prstGeom prst="rect">
            <a:avLst/>
          </a:prstGeom>
        </p:spPr>
      </p:pic>
    </p:spTree>
    <p:extLst>
      <p:ext uri="{BB962C8B-B14F-4D97-AF65-F5344CB8AC3E}">
        <p14:creationId xmlns:p14="http://schemas.microsoft.com/office/powerpoint/2010/main" val="14714234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3" name="Image 2">
            <a:extLst>
              <a:ext uri="{FF2B5EF4-FFF2-40B4-BE49-F238E27FC236}">
                <a16:creationId xmlns:a16="http://schemas.microsoft.com/office/drawing/2014/main" id="{F0AC36FC-DB83-1319-B447-4EE8FC024F3C}"/>
              </a:ext>
            </a:extLst>
          </p:cNvPr>
          <p:cNvPicPr>
            <a:picLocks noChangeAspect="1"/>
          </p:cNvPicPr>
          <p:nvPr/>
        </p:nvPicPr>
        <p:blipFill>
          <a:blip r:embed="rId2"/>
          <a:stretch>
            <a:fillRect/>
          </a:stretch>
        </p:blipFill>
        <p:spPr>
          <a:xfrm>
            <a:off x="2209800" y="1932343"/>
            <a:ext cx="7772400" cy="4195374"/>
          </a:xfrm>
          <a:prstGeom prst="rect">
            <a:avLst/>
          </a:prstGeom>
        </p:spPr>
      </p:pic>
    </p:spTree>
    <p:extLst>
      <p:ext uri="{BB962C8B-B14F-4D97-AF65-F5344CB8AC3E}">
        <p14:creationId xmlns:p14="http://schemas.microsoft.com/office/powerpoint/2010/main" val="23664956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25923" y="290384"/>
            <a:ext cx="11530647" cy="1293028"/>
          </a:xfrm>
        </p:spPr>
        <p:txBody>
          <a:bodyPr>
            <a:normAutofit/>
          </a:bodyPr>
          <a:lstStyle/>
          <a:p>
            <a:pPr algn="l"/>
            <a:r>
              <a:rPr lang="fr-FR" sz="3200" dirty="0"/>
              <a:t>Google cloud </a:t>
            </a:r>
            <a:r>
              <a:rPr lang="fr-FR" sz="3200" dirty="0" err="1"/>
              <a:t>storage</a:t>
            </a:r>
            <a:r>
              <a:rPr lang="fr-FR" sz="3200" dirty="0"/>
              <a:t> options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r>
              <a:rPr lang="fr-FR" sz="1800" dirty="0" err="1">
                <a:effectLst/>
                <a:latin typeface="Roboto" panose="02000000000000000000" pitchFamily="2" charset="0"/>
              </a:rPr>
              <a:t>What</a:t>
            </a:r>
            <a:r>
              <a:rPr lang="fr-FR" sz="1800" dirty="0">
                <a:effectLst/>
                <a:latin typeface="Roboto" panose="02000000000000000000" pitchFamily="2" charset="0"/>
              </a:rPr>
              <a:t> </a:t>
            </a:r>
            <a:r>
              <a:rPr lang="fr-FR" sz="1800" dirty="0" err="1">
                <a:effectLst/>
                <a:latin typeface="Roboto" panose="02000000000000000000" pitchFamily="2" charset="0"/>
              </a:rPr>
              <a:t>is</a:t>
            </a:r>
            <a:r>
              <a:rPr lang="fr-FR" sz="1800" dirty="0">
                <a:effectLst/>
                <a:latin typeface="Roboto" panose="02000000000000000000" pitchFamily="2" charset="0"/>
              </a:rPr>
              <a:t> the correct use case for Cloud Storage? </a:t>
            </a:r>
            <a:endParaRPr lang="fr-FR" sz="1400" dirty="0"/>
          </a:p>
          <a:p>
            <a:pPr lvl="1"/>
            <a:r>
              <a:rPr lang="fr-FR" sz="1600" dirty="0" err="1">
                <a:effectLst/>
                <a:latin typeface="Roboto" panose="02000000000000000000" pitchFamily="2" charset="0"/>
              </a:rPr>
              <a:t>A:Cloud</a:t>
            </a:r>
            <a:r>
              <a:rPr lang="fr-FR" sz="1600" dirty="0">
                <a:effectLst/>
                <a:latin typeface="Roboto" panose="02000000000000000000" pitchFamily="2" charset="0"/>
              </a:rPr>
              <a:t>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the root file system of a Linux </a:t>
            </a:r>
            <a:r>
              <a:rPr lang="fr-FR" sz="1600" dirty="0" err="1">
                <a:effectLst/>
                <a:latin typeface="Roboto" panose="02000000000000000000" pitchFamily="2" charset="0"/>
              </a:rPr>
              <a:t>virtual</a:t>
            </a:r>
            <a:r>
              <a:rPr lang="fr-FR" sz="1600" dirty="0">
                <a:effectLst/>
                <a:latin typeface="Roboto" panose="02000000000000000000" pitchFamily="2" charset="0"/>
              </a:rPr>
              <a:t> machine.</a:t>
            </a:r>
            <a:endParaRPr lang="fr-FR" sz="1200" dirty="0"/>
          </a:p>
          <a:p>
            <a:pPr lvl="1"/>
            <a:r>
              <a:rPr lang="fr-FR" sz="1600" b="1" dirty="0">
                <a:effectLst/>
                <a:latin typeface="Roboto" panose="02000000000000000000" pitchFamily="2" charset="0"/>
              </a:rPr>
              <a:t>B: Cloud Storage </a:t>
            </a:r>
            <a:r>
              <a:rPr lang="fr-FR" sz="1600" b="1" dirty="0" err="1">
                <a:effectLst/>
                <a:latin typeface="Roboto" panose="02000000000000000000" pitchFamily="2" charset="0"/>
              </a:rPr>
              <a:t>is</a:t>
            </a:r>
            <a:r>
              <a:rPr lang="fr-FR" sz="1600" b="1" dirty="0">
                <a:effectLst/>
                <a:latin typeface="Roboto" panose="02000000000000000000" pitchFamily="2" charset="0"/>
              </a:rPr>
              <a:t> </a:t>
            </a:r>
            <a:r>
              <a:rPr lang="fr-FR" sz="1600" b="1" dirty="0" err="1">
                <a:effectLst/>
                <a:latin typeface="Roboto" panose="02000000000000000000" pitchFamily="2" charset="0"/>
              </a:rPr>
              <a:t>well</a:t>
            </a:r>
            <a:r>
              <a:rPr lang="fr-FR" sz="1600" b="1" dirty="0">
                <a:effectLst/>
                <a:latin typeface="Roboto" panose="02000000000000000000" pitchFamily="2" charset="0"/>
              </a:rPr>
              <a:t> </a:t>
            </a:r>
            <a:r>
              <a:rPr lang="fr-FR" sz="1600" b="1" dirty="0" err="1">
                <a:effectLst/>
                <a:latin typeface="Roboto" panose="02000000000000000000" pitchFamily="2" charset="0"/>
              </a:rPr>
              <a:t>suited</a:t>
            </a:r>
            <a:r>
              <a:rPr lang="fr-FR" sz="1600" b="1" dirty="0">
                <a:effectLst/>
                <a:latin typeface="Roboto" panose="02000000000000000000" pitchFamily="2" charset="0"/>
              </a:rPr>
              <a:t> to </a:t>
            </a:r>
            <a:r>
              <a:rPr lang="fr-FR" sz="1600" b="1" dirty="0" err="1">
                <a:effectLst/>
                <a:latin typeface="Roboto" panose="02000000000000000000" pitchFamily="2" charset="0"/>
              </a:rPr>
              <a:t>providing</a:t>
            </a:r>
            <a:r>
              <a:rPr lang="fr-FR" sz="1600" b="1" dirty="0">
                <a:effectLst/>
                <a:latin typeface="Roboto" panose="02000000000000000000" pitchFamily="2" charset="0"/>
              </a:rPr>
              <a:t> durable and </a:t>
            </a:r>
            <a:r>
              <a:rPr lang="fr-FR" sz="1600" b="1" dirty="0" err="1">
                <a:effectLst/>
                <a:latin typeface="Roboto" panose="02000000000000000000" pitchFamily="2" charset="0"/>
              </a:rPr>
              <a:t>highly</a:t>
            </a:r>
            <a:r>
              <a:rPr lang="fr-FR" sz="1600" b="1" dirty="0">
                <a:effectLst/>
                <a:latin typeface="Roboto" panose="02000000000000000000" pitchFamily="2" charset="0"/>
              </a:rPr>
              <a:t> </a:t>
            </a:r>
            <a:r>
              <a:rPr lang="fr-FR" sz="1600" b="1" dirty="0" err="1">
                <a:effectLst/>
                <a:latin typeface="Roboto" panose="02000000000000000000" pitchFamily="2" charset="0"/>
              </a:rPr>
              <a:t>available</a:t>
            </a:r>
            <a:r>
              <a:rPr lang="fr-FR" sz="1600" b="1" dirty="0">
                <a:effectLst/>
                <a:latin typeface="Roboto" panose="02000000000000000000" pitchFamily="2" charset="0"/>
              </a:rPr>
              <a:t> </a:t>
            </a:r>
            <a:r>
              <a:rPr lang="fr-FR" sz="1600" b="1" dirty="0" err="1">
                <a:effectLst/>
                <a:latin typeface="Roboto" panose="02000000000000000000" pitchFamily="2" charset="0"/>
              </a:rPr>
              <a:t>object</a:t>
            </a:r>
            <a:r>
              <a:rPr lang="fr-FR" sz="1600" b="1" dirty="0">
                <a:effectLst/>
                <a:latin typeface="Roboto" panose="02000000000000000000" pitchFamily="2" charset="0"/>
              </a:rPr>
              <a:t> </a:t>
            </a:r>
            <a:r>
              <a:rPr lang="fr-FR" sz="1600" b="1" dirty="0" err="1">
                <a:effectLst/>
                <a:latin typeface="Roboto" panose="02000000000000000000" pitchFamily="2" charset="0"/>
              </a:rPr>
              <a:t>storage</a:t>
            </a:r>
            <a:endParaRPr lang="fr-FR" sz="1600" b="1" dirty="0">
              <a:effectLst/>
              <a:latin typeface="Roboto" panose="02000000000000000000" pitchFamily="2" charset="0"/>
            </a:endParaRPr>
          </a:p>
          <a:p>
            <a:pPr lvl="1"/>
            <a:r>
              <a:rPr lang="fr-FR" sz="1600" dirty="0">
                <a:effectLst/>
                <a:latin typeface="Roboto" panose="02000000000000000000" pitchFamily="2" charset="0"/>
              </a:rPr>
              <a:t>C: Cloud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data </a:t>
            </a:r>
            <a:r>
              <a:rPr lang="fr-FR" sz="1600" dirty="0" err="1">
                <a:effectLst/>
                <a:latin typeface="Roboto" panose="02000000000000000000" pitchFamily="2" charset="0"/>
              </a:rPr>
              <a:t>warehousing</a:t>
            </a:r>
            <a:r>
              <a:rPr lang="fr-FR" sz="1600" dirty="0">
                <a:effectLst/>
                <a:latin typeface="Roboto" panose="02000000000000000000" pitchFamily="2" charset="0"/>
              </a:rPr>
              <a:t> services</a:t>
            </a:r>
          </a:p>
          <a:p>
            <a:pPr lvl="1"/>
            <a:r>
              <a:rPr lang="fr-FR" sz="1600" dirty="0" err="1">
                <a:effectLst/>
                <a:latin typeface="Roboto" panose="02000000000000000000" pitchFamily="2" charset="0"/>
              </a:rPr>
              <a:t>D:Cloud</a:t>
            </a:r>
            <a:r>
              <a:rPr lang="fr-FR" sz="1600" dirty="0">
                <a:effectLst/>
                <a:latin typeface="Roboto" panose="02000000000000000000" pitchFamily="2" charset="0"/>
              </a:rPr>
              <a:t>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RDBMS services.</a:t>
            </a:r>
            <a:br>
              <a:rPr lang="fr-FR" sz="1600" dirty="0">
                <a:effectLst/>
                <a:latin typeface="Roboto" panose="02000000000000000000" pitchFamily="2" charset="0"/>
              </a:rPr>
            </a:br>
            <a:endParaRPr lang="fr-FR" sz="1600" dirty="0">
              <a:latin typeface="Roboto" panose="02000000000000000000" pitchFamily="2" charset="0"/>
            </a:endParaRPr>
          </a:p>
          <a:p>
            <a:r>
              <a:rPr lang="fr-FR" sz="1800" dirty="0" err="1">
                <a:effectLst/>
                <a:latin typeface="Roboto" panose="02000000000000000000" pitchFamily="2" charset="0"/>
              </a:rPr>
              <a:t>Which</a:t>
            </a:r>
            <a:r>
              <a:rPr lang="fr-FR" sz="1800" dirty="0">
                <a:effectLst/>
                <a:latin typeface="Roboto" panose="02000000000000000000" pitchFamily="2" charset="0"/>
              </a:rPr>
              <a:t> SQL </a:t>
            </a:r>
            <a:r>
              <a:rPr lang="fr-FR" sz="1800" dirty="0" err="1">
                <a:effectLst/>
                <a:latin typeface="Roboto" panose="02000000000000000000" pitchFamily="2" charset="0"/>
              </a:rPr>
              <a:t>database</a:t>
            </a:r>
            <a:r>
              <a:rPr lang="fr-FR" sz="1800" dirty="0">
                <a:effectLst/>
                <a:latin typeface="Roboto" panose="02000000000000000000" pitchFamily="2" charset="0"/>
              </a:rPr>
              <a:t> service can </a:t>
            </a:r>
            <a:r>
              <a:rPr lang="fr-FR" sz="1800" dirty="0" err="1">
                <a:effectLst/>
                <a:latin typeface="Roboto" panose="02000000000000000000" pitchFamily="2" charset="0"/>
              </a:rPr>
              <a:t>scale</a:t>
            </a:r>
            <a:r>
              <a:rPr lang="fr-FR" sz="1800" dirty="0">
                <a:effectLst/>
                <a:latin typeface="Roboto" panose="02000000000000000000" pitchFamily="2" charset="0"/>
              </a:rPr>
              <a:t> to </a:t>
            </a:r>
            <a:r>
              <a:rPr lang="fr-FR" sz="1800" dirty="0" err="1">
                <a:effectLst/>
                <a:latin typeface="Roboto" panose="02000000000000000000" pitchFamily="2" charset="0"/>
              </a:rPr>
              <a:t>higher</a:t>
            </a:r>
            <a:r>
              <a:rPr lang="fr-FR" sz="1800" dirty="0">
                <a:effectLst/>
                <a:latin typeface="Roboto" panose="02000000000000000000" pitchFamily="2" charset="0"/>
              </a:rPr>
              <a:t> </a:t>
            </a:r>
            <a:r>
              <a:rPr lang="fr-FR" sz="1800" dirty="0" err="1">
                <a:effectLst/>
                <a:latin typeface="Roboto" panose="02000000000000000000" pitchFamily="2" charset="0"/>
              </a:rPr>
              <a:t>database</a:t>
            </a:r>
            <a:r>
              <a:rPr lang="fr-FR" sz="1800" dirty="0">
                <a:effectLst/>
                <a:latin typeface="Roboto" panose="02000000000000000000" pitchFamily="2" charset="0"/>
              </a:rPr>
              <a:t> sizes? </a:t>
            </a:r>
            <a:endParaRPr lang="fr-FR" sz="1100" dirty="0"/>
          </a:p>
          <a:p>
            <a:pPr lvl="1"/>
            <a:r>
              <a:rPr lang="fr-FR" sz="1600" b="1" dirty="0">
                <a:effectLst/>
                <a:latin typeface="Roboto" panose="02000000000000000000" pitchFamily="2" charset="0"/>
              </a:rPr>
              <a:t>A: Cloud </a:t>
            </a:r>
            <a:r>
              <a:rPr lang="fr-FR" sz="1600" b="1" dirty="0" err="1">
                <a:effectLst/>
                <a:latin typeface="Roboto" panose="02000000000000000000" pitchFamily="2" charset="0"/>
              </a:rPr>
              <a:t>Spanner</a:t>
            </a:r>
            <a:r>
              <a:rPr lang="fr-FR" sz="1600" b="1" dirty="0">
                <a:effectLst/>
                <a:latin typeface="Roboto" panose="02000000000000000000" pitchFamily="2" charset="0"/>
              </a:rPr>
              <a:t>. </a:t>
            </a:r>
            <a:endParaRPr lang="fr-FR" sz="1600" dirty="0">
              <a:effectLst/>
              <a:latin typeface="Roboto" panose="02000000000000000000" pitchFamily="2" charset="0"/>
            </a:endParaRPr>
          </a:p>
          <a:p>
            <a:pPr lvl="1"/>
            <a:r>
              <a:rPr lang="fr-FR" sz="1600" dirty="0">
                <a:effectLst/>
                <a:latin typeface="Roboto" panose="02000000000000000000" pitchFamily="2" charset="0"/>
              </a:rPr>
              <a:t>B: Cloud SQL.</a:t>
            </a:r>
          </a:p>
          <a:p>
            <a:pPr lvl="1"/>
            <a:r>
              <a:rPr lang="fr-FR" sz="1600" dirty="0">
                <a:effectLst/>
                <a:latin typeface="Roboto" panose="02000000000000000000" pitchFamily="2" charset="0"/>
              </a:rPr>
              <a:t>C: Cloud </a:t>
            </a:r>
            <a:r>
              <a:rPr lang="fr-FR" sz="1600" dirty="0" err="1">
                <a:effectLst/>
                <a:latin typeface="Roboto" panose="02000000000000000000" pitchFamily="2" charset="0"/>
              </a:rPr>
              <a:t>Bigtable</a:t>
            </a:r>
            <a:endParaRPr lang="fr-FR" sz="1600" dirty="0">
              <a:effectLst/>
              <a:latin typeface="Roboto" panose="02000000000000000000" pitchFamily="2" charset="0"/>
            </a:endParaRPr>
          </a:p>
          <a:p>
            <a:pPr lvl="1"/>
            <a:r>
              <a:rPr lang="fr-FR" sz="1600" dirty="0">
                <a:effectLst/>
                <a:latin typeface="Roboto" panose="02000000000000000000" pitchFamily="2" charset="0"/>
              </a:rPr>
              <a:t>D: </a:t>
            </a:r>
            <a:r>
              <a:rPr lang="fr-FR" sz="1600" dirty="0" err="1">
                <a:effectLst/>
                <a:latin typeface="Roboto" panose="02000000000000000000" pitchFamily="2" charset="0"/>
              </a:rPr>
              <a:t>Firestore</a:t>
            </a:r>
            <a:endParaRPr lang="fr-FR" sz="1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6964865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52049" y="197921"/>
            <a:ext cx="11530647" cy="604464"/>
          </a:xfrm>
        </p:spPr>
        <p:txBody>
          <a:bodyPr>
            <a:normAutofit/>
          </a:bodyPr>
          <a:lstStyle/>
          <a:p>
            <a:pPr algn="l"/>
            <a:r>
              <a:rPr lang="fr-FR" sz="3200" dirty="0"/>
              <a:t>Google cloud </a:t>
            </a:r>
            <a:r>
              <a:rPr lang="fr-FR" sz="3200" dirty="0" err="1"/>
              <a:t>bigquery</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55887" y="969397"/>
            <a:ext cx="10351747" cy="5383505"/>
          </a:xfrm>
        </p:spPr>
        <p:txBody>
          <a:bodyPr>
            <a:noAutofit/>
          </a:bodyPr>
          <a:lstStyle/>
          <a:p>
            <a:pPr algn="l">
              <a:buFont typeface="Arial" panose="020B0604020202020204" pitchFamily="34" charset="0"/>
              <a:buChar char="•"/>
            </a:pPr>
            <a:r>
              <a:rPr lang="fr-FR" sz="2000" b="0" i="0" dirty="0" err="1">
                <a:solidFill>
                  <a:srgbClr val="ECECEC"/>
                </a:solidFill>
                <a:effectLst/>
                <a:latin typeface="Söhne"/>
              </a:rPr>
              <a:t>BigQuery</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fully</a:t>
            </a:r>
            <a:r>
              <a:rPr lang="fr-FR" sz="2000" b="0" i="0" dirty="0">
                <a:solidFill>
                  <a:srgbClr val="ECECEC"/>
                </a:solidFill>
                <a:effectLst/>
                <a:latin typeface="Söhne"/>
              </a:rPr>
              <a:t> </a:t>
            </a:r>
            <a:r>
              <a:rPr lang="fr-FR" sz="2000" b="0" i="0" dirty="0" err="1">
                <a:solidFill>
                  <a:srgbClr val="ECECEC"/>
                </a:solidFill>
                <a:effectLst/>
                <a:latin typeface="Söhne"/>
              </a:rPr>
              <a:t>managed</a:t>
            </a:r>
            <a:r>
              <a:rPr lang="fr-FR" sz="2000" b="0" i="0" dirty="0">
                <a:solidFill>
                  <a:srgbClr val="ECECEC"/>
                </a:solidFill>
                <a:effectLst/>
                <a:latin typeface="Söhne"/>
              </a:rPr>
              <a:t>, </a:t>
            </a:r>
            <a:r>
              <a:rPr lang="fr-FR" sz="2000" b="0" i="0" dirty="0" err="1">
                <a:solidFill>
                  <a:srgbClr val="ECECEC"/>
                </a:solidFill>
                <a:effectLst/>
                <a:latin typeface="Söhne"/>
              </a:rPr>
              <a:t>highly</a:t>
            </a:r>
            <a:r>
              <a:rPr lang="fr-FR" sz="2000" b="0" i="0" dirty="0">
                <a:solidFill>
                  <a:srgbClr val="ECECEC"/>
                </a:solidFill>
                <a:effectLst/>
                <a:latin typeface="Söhne"/>
              </a:rPr>
              <a:t> scalable data </a:t>
            </a:r>
            <a:r>
              <a:rPr lang="fr-FR" sz="2000" b="0" i="0" dirty="0" err="1">
                <a:solidFill>
                  <a:srgbClr val="ECECEC"/>
                </a:solidFill>
                <a:effectLst/>
                <a:latin typeface="Söhne"/>
              </a:rPr>
              <a:t>warehouse</a:t>
            </a:r>
            <a:r>
              <a:rPr lang="fr-FR" sz="2000" b="0" i="0" dirty="0">
                <a:solidFill>
                  <a:srgbClr val="ECECEC"/>
                </a:solidFill>
                <a:effectLst/>
                <a:latin typeface="Söhne"/>
              </a:rPr>
              <a:t> service </a:t>
            </a:r>
            <a:r>
              <a:rPr lang="fr-FR" sz="2000" b="0" i="0" dirty="0" err="1">
                <a:solidFill>
                  <a:srgbClr val="ECECEC"/>
                </a:solidFill>
                <a:effectLst/>
                <a:latin typeface="Söhne"/>
              </a:rPr>
              <a:t>provided</a:t>
            </a:r>
            <a:r>
              <a:rPr lang="fr-FR" sz="2000" b="0" i="0" dirty="0">
                <a:solidFill>
                  <a:srgbClr val="ECECEC"/>
                </a:solidFill>
                <a:effectLst/>
                <a:latin typeface="Söhne"/>
              </a:rPr>
              <a:t> by Google Cloud Platform.</a:t>
            </a:r>
          </a:p>
          <a:p>
            <a:pPr algn="l">
              <a:buFont typeface="Arial" panose="020B0604020202020204" pitchFamily="34" charset="0"/>
              <a:buChar char="•"/>
            </a:pPr>
            <a:r>
              <a:rPr lang="fr-FR" sz="2000" b="0" i="0" dirty="0">
                <a:solidFill>
                  <a:srgbClr val="ECECEC"/>
                </a:solidFill>
                <a:effectLst/>
                <a:latin typeface="Söhne"/>
              </a:rPr>
              <a:t>It enables </a:t>
            </a:r>
            <a:r>
              <a:rPr lang="fr-FR" sz="2000" b="0" i="0" dirty="0" err="1">
                <a:solidFill>
                  <a:srgbClr val="ECECEC"/>
                </a:solidFill>
                <a:effectLst/>
                <a:latin typeface="Söhne"/>
              </a:rPr>
              <a:t>users</a:t>
            </a:r>
            <a:r>
              <a:rPr lang="fr-FR" sz="2000" b="0" i="0" dirty="0">
                <a:solidFill>
                  <a:srgbClr val="ECECEC"/>
                </a:solidFill>
                <a:effectLst/>
                <a:latin typeface="Söhne"/>
              </a:rPr>
              <a:t> to </a:t>
            </a:r>
            <a:r>
              <a:rPr lang="fr-FR" sz="2000" b="0" i="0" dirty="0" err="1">
                <a:solidFill>
                  <a:srgbClr val="ECECEC"/>
                </a:solidFill>
                <a:effectLst/>
                <a:latin typeface="Söhne"/>
              </a:rPr>
              <a:t>analyze</a:t>
            </a:r>
            <a:r>
              <a:rPr lang="fr-FR" sz="2000" b="0" i="0" dirty="0">
                <a:solidFill>
                  <a:srgbClr val="ECECEC"/>
                </a:solidFill>
                <a:effectLst/>
                <a:latin typeface="Söhne"/>
              </a:rPr>
              <a:t> </a:t>
            </a:r>
            <a:r>
              <a:rPr lang="fr-FR" sz="2000" b="0" i="0" dirty="0" err="1">
                <a:solidFill>
                  <a:srgbClr val="ECECEC"/>
                </a:solidFill>
                <a:effectLst/>
                <a:latin typeface="Söhne"/>
              </a:rPr>
              <a:t>vast</a:t>
            </a:r>
            <a:r>
              <a:rPr lang="fr-FR" sz="2000" b="0" i="0" dirty="0">
                <a:solidFill>
                  <a:srgbClr val="ECECEC"/>
                </a:solidFill>
                <a:effectLst/>
                <a:latin typeface="Söhne"/>
              </a:rPr>
              <a:t> </a:t>
            </a:r>
            <a:r>
              <a:rPr lang="fr-FR" sz="2000" b="0" i="0" dirty="0" err="1">
                <a:solidFill>
                  <a:srgbClr val="ECECEC"/>
                </a:solidFill>
                <a:effectLst/>
                <a:latin typeface="Söhne"/>
              </a:rPr>
              <a:t>amounts</a:t>
            </a:r>
            <a:r>
              <a:rPr lang="fr-FR" sz="2000" b="0" i="0" dirty="0">
                <a:solidFill>
                  <a:srgbClr val="ECECEC"/>
                </a:solidFill>
                <a:effectLst/>
                <a:latin typeface="Söhne"/>
              </a:rPr>
              <a:t> of data </a:t>
            </a:r>
            <a:r>
              <a:rPr lang="fr-FR" sz="2000" b="0" i="0" dirty="0" err="1">
                <a:solidFill>
                  <a:srgbClr val="ECECEC"/>
                </a:solidFill>
                <a:effectLst/>
                <a:latin typeface="Söhne"/>
              </a:rPr>
              <a:t>quickly</a:t>
            </a:r>
            <a:r>
              <a:rPr lang="fr-FR" sz="2000" b="0" i="0" dirty="0">
                <a:solidFill>
                  <a:srgbClr val="ECECEC"/>
                </a:solidFill>
                <a:effectLst/>
                <a:latin typeface="Söhne"/>
              </a:rPr>
              <a:t> and </a:t>
            </a:r>
            <a:r>
              <a:rPr lang="fr-FR" sz="2000" b="0" i="0" dirty="0" err="1">
                <a:solidFill>
                  <a:srgbClr val="ECECEC"/>
                </a:solidFill>
                <a:effectLst/>
                <a:latin typeface="Söhne"/>
              </a:rPr>
              <a:t>cost-effectively</a:t>
            </a:r>
            <a:r>
              <a:rPr lang="fr-FR" sz="2000" b="0" i="0" dirty="0">
                <a:solidFill>
                  <a:srgbClr val="ECECEC"/>
                </a:solidFill>
                <a:effectLst/>
                <a:latin typeface="Söhne"/>
              </a:rPr>
              <a:t>, </a:t>
            </a:r>
            <a:r>
              <a:rPr lang="fr-FR" sz="2000" b="0" i="0" dirty="0" err="1">
                <a:solidFill>
                  <a:srgbClr val="ECECEC"/>
                </a:solidFill>
                <a:effectLst/>
                <a:latin typeface="Söhne"/>
              </a:rPr>
              <a:t>without</a:t>
            </a:r>
            <a:r>
              <a:rPr lang="fr-FR" sz="2000" b="0" i="0" dirty="0">
                <a:solidFill>
                  <a:srgbClr val="ECECEC"/>
                </a:solidFill>
                <a:effectLst/>
                <a:latin typeface="Söhne"/>
              </a:rPr>
              <a:t> the </a:t>
            </a:r>
            <a:r>
              <a:rPr lang="fr-FR" sz="2000" b="0" i="0" dirty="0" err="1">
                <a:solidFill>
                  <a:srgbClr val="ECECEC"/>
                </a:solidFill>
                <a:effectLst/>
                <a:latin typeface="Söhne"/>
              </a:rPr>
              <a:t>need</a:t>
            </a:r>
            <a:r>
              <a:rPr lang="fr-FR" sz="2000" b="0" i="0" dirty="0">
                <a:solidFill>
                  <a:srgbClr val="ECECEC"/>
                </a:solidFill>
                <a:effectLst/>
                <a:latin typeface="Söhne"/>
              </a:rPr>
              <a:t> for infrastructure setup or maintenance.</a:t>
            </a:r>
          </a:p>
          <a:p>
            <a:pPr algn="l">
              <a:buFont typeface="Arial" panose="020B0604020202020204" pitchFamily="34" charset="0"/>
              <a:buChar char="•"/>
            </a:pPr>
            <a:r>
              <a:rPr lang="fr-FR" sz="2000" b="0" i="0" dirty="0" err="1">
                <a:solidFill>
                  <a:srgbClr val="ECECEC"/>
                </a:solidFill>
                <a:effectLst/>
                <a:latin typeface="Söhne"/>
              </a:rPr>
              <a:t>BigQuery</a:t>
            </a:r>
            <a:r>
              <a:rPr lang="fr-FR" sz="2000" b="0" i="0" dirty="0">
                <a:solidFill>
                  <a:srgbClr val="ECECEC"/>
                </a:solidFill>
                <a:effectLst/>
                <a:latin typeface="Söhne"/>
              </a:rPr>
              <a:t> </a:t>
            </a:r>
            <a:r>
              <a:rPr lang="fr-FR" sz="2000" b="0" i="0" dirty="0" err="1">
                <a:solidFill>
                  <a:srgbClr val="ECECEC"/>
                </a:solidFill>
                <a:effectLst/>
                <a:latin typeface="Söhne"/>
              </a:rPr>
              <a:t>operates</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a:t>
            </a:r>
            <a:r>
              <a:rPr lang="fr-FR" sz="2000" b="0" i="0" dirty="0" err="1">
                <a:solidFill>
                  <a:srgbClr val="ECECEC"/>
                </a:solidFill>
                <a:effectLst/>
                <a:latin typeface="Söhne"/>
              </a:rPr>
              <a:t>columnar</a:t>
            </a:r>
            <a:r>
              <a:rPr lang="fr-FR" sz="2000" b="0" i="0" dirty="0">
                <a:solidFill>
                  <a:srgbClr val="ECECEC"/>
                </a:solidFill>
                <a:effectLst/>
                <a:latin typeface="Söhne"/>
              </a:rPr>
              <a:t> </a:t>
            </a:r>
            <a:r>
              <a:rPr lang="fr-FR" sz="2000" b="0" i="0" dirty="0" err="1">
                <a:solidFill>
                  <a:srgbClr val="ECECEC"/>
                </a:solidFill>
                <a:effectLst/>
                <a:latin typeface="Söhne"/>
              </a:rPr>
              <a:t>storage</a:t>
            </a:r>
            <a:r>
              <a:rPr lang="fr-FR" sz="2000" b="0" i="0" dirty="0">
                <a:solidFill>
                  <a:srgbClr val="ECECEC"/>
                </a:solidFill>
                <a:effectLst/>
                <a:latin typeface="Söhne"/>
              </a:rPr>
              <a:t> and </a:t>
            </a:r>
            <a:r>
              <a:rPr lang="fr-FR" sz="2000" b="0" i="0" dirty="0" err="1">
                <a:solidFill>
                  <a:srgbClr val="ECECEC"/>
                </a:solidFill>
                <a:effectLst/>
                <a:latin typeface="Söhne"/>
              </a:rPr>
              <a:t>distributed</a:t>
            </a:r>
            <a:r>
              <a:rPr lang="fr-FR" sz="2000" b="0" i="0" dirty="0">
                <a:solidFill>
                  <a:srgbClr val="ECECEC"/>
                </a:solidFill>
                <a:effectLst/>
                <a:latin typeface="Söhne"/>
              </a:rPr>
              <a:t> </a:t>
            </a:r>
            <a:r>
              <a:rPr lang="fr-FR" sz="2000" b="0" i="0" dirty="0" err="1">
                <a:solidFill>
                  <a:srgbClr val="ECECEC"/>
                </a:solidFill>
                <a:effectLst/>
                <a:latin typeface="Söhne"/>
              </a:rPr>
              <a:t>query</a:t>
            </a:r>
            <a:r>
              <a:rPr lang="fr-FR" sz="2000" b="0" i="0" dirty="0">
                <a:solidFill>
                  <a:srgbClr val="ECECEC"/>
                </a:solidFill>
                <a:effectLst/>
                <a:latin typeface="Söhne"/>
              </a:rPr>
              <a:t> </a:t>
            </a:r>
            <a:r>
              <a:rPr lang="fr-FR" sz="2000" b="0" i="0" dirty="0" err="1">
                <a:solidFill>
                  <a:srgbClr val="ECECEC"/>
                </a:solidFill>
                <a:effectLst/>
                <a:latin typeface="Söhne"/>
              </a:rPr>
              <a:t>processing</a:t>
            </a:r>
            <a:r>
              <a:rPr lang="fr-FR" sz="2000" b="0" i="0" dirty="0">
                <a:solidFill>
                  <a:srgbClr val="ECECEC"/>
                </a:solidFill>
                <a:effectLst/>
                <a:latin typeface="Söhne"/>
              </a:rPr>
              <a:t>.</a:t>
            </a:r>
          </a:p>
          <a:p>
            <a:pPr algn="l">
              <a:buFont typeface="Arial" panose="020B0604020202020204" pitchFamily="34" charset="0"/>
              <a:buChar char="•"/>
            </a:pPr>
            <a:r>
              <a:rPr lang="fr-FR" sz="2000" b="0" i="0" dirty="0" err="1">
                <a:solidFill>
                  <a:srgbClr val="ECECEC"/>
                </a:solidFill>
                <a:effectLst/>
                <a:latin typeface="Söhne"/>
              </a:rPr>
              <a:t>Users</a:t>
            </a:r>
            <a:r>
              <a:rPr lang="fr-FR" sz="2000" b="0" i="0" dirty="0">
                <a:solidFill>
                  <a:srgbClr val="ECECEC"/>
                </a:solidFill>
                <a:effectLst/>
                <a:latin typeface="Söhne"/>
              </a:rPr>
              <a:t> </a:t>
            </a:r>
            <a:r>
              <a:rPr lang="fr-FR" sz="2000" b="0" i="0" dirty="0" err="1">
                <a:solidFill>
                  <a:srgbClr val="ECECEC"/>
                </a:solidFill>
                <a:effectLst/>
                <a:latin typeface="Söhne"/>
              </a:rPr>
              <a:t>upload</a:t>
            </a:r>
            <a:r>
              <a:rPr lang="fr-FR" sz="2000" b="0" i="0" dirty="0">
                <a:solidFill>
                  <a:srgbClr val="ECECEC"/>
                </a:solidFill>
                <a:effectLst/>
                <a:latin typeface="Söhne"/>
              </a:rPr>
              <a:t> </a:t>
            </a:r>
            <a:r>
              <a:rPr lang="fr-FR" sz="2000" b="0" i="0" dirty="0" err="1">
                <a:solidFill>
                  <a:srgbClr val="ECECEC"/>
                </a:solidFill>
                <a:effectLst/>
                <a:latin typeface="Söhne"/>
              </a:rPr>
              <a:t>their</a:t>
            </a:r>
            <a:r>
              <a:rPr lang="fr-FR" sz="2000" b="0" i="0" dirty="0">
                <a:solidFill>
                  <a:srgbClr val="ECECEC"/>
                </a:solidFill>
                <a:effectLst/>
                <a:latin typeface="Söhne"/>
              </a:rPr>
              <a:t> data </a:t>
            </a:r>
            <a:r>
              <a:rPr lang="fr-FR" sz="2000" b="0" i="0" dirty="0" err="1">
                <a:solidFill>
                  <a:srgbClr val="ECECEC"/>
                </a:solidFill>
                <a:effectLst/>
                <a:latin typeface="Söhne"/>
              </a:rPr>
              <a:t>into</a:t>
            </a:r>
            <a:r>
              <a:rPr lang="fr-FR" sz="2000" b="0" i="0" dirty="0">
                <a:solidFill>
                  <a:srgbClr val="ECECEC"/>
                </a:solidFill>
                <a:effectLst/>
                <a:latin typeface="Söhne"/>
              </a:rPr>
              <a:t> </a:t>
            </a:r>
            <a:r>
              <a:rPr lang="fr-FR" sz="2000" b="0" i="0" dirty="0" err="1">
                <a:solidFill>
                  <a:srgbClr val="ECECEC"/>
                </a:solidFill>
                <a:effectLst/>
                <a:latin typeface="Söhne"/>
              </a:rPr>
              <a:t>BigQuery</a:t>
            </a:r>
            <a:r>
              <a:rPr lang="fr-FR" sz="2000" b="0" i="0" dirty="0">
                <a:solidFill>
                  <a:srgbClr val="ECECEC"/>
                </a:solidFill>
                <a:effectLst/>
                <a:latin typeface="Söhne"/>
              </a:rPr>
              <a:t> tables and </a:t>
            </a:r>
            <a:r>
              <a:rPr lang="fr-FR" sz="2000" b="0" i="0" dirty="0" err="1">
                <a:solidFill>
                  <a:srgbClr val="ECECEC"/>
                </a:solidFill>
                <a:effectLst/>
                <a:latin typeface="Söhne"/>
              </a:rPr>
              <a:t>then</a:t>
            </a:r>
            <a:r>
              <a:rPr lang="fr-FR" sz="2000" b="0" i="0" dirty="0">
                <a:solidFill>
                  <a:srgbClr val="ECECEC"/>
                </a:solidFill>
                <a:effectLst/>
                <a:latin typeface="Söhne"/>
              </a:rPr>
              <a:t> </a:t>
            </a:r>
            <a:r>
              <a:rPr lang="fr-FR" sz="2000" b="0" i="0" dirty="0" err="1">
                <a:solidFill>
                  <a:srgbClr val="ECECEC"/>
                </a:solidFill>
                <a:effectLst/>
                <a:latin typeface="Söhne"/>
              </a:rPr>
              <a:t>execute</a:t>
            </a:r>
            <a:r>
              <a:rPr lang="fr-FR" sz="2000" b="0" i="0" dirty="0">
                <a:solidFill>
                  <a:srgbClr val="ECECEC"/>
                </a:solidFill>
                <a:effectLst/>
                <a:latin typeface="Söhne"/>
              </a:rPr>
              <a:t> SQL </a:t>
            </a:r>
            <a:r>
              <a:rPr lang="fr-FR" sz="2000" b="0" i="0" dirty="0" err="1">
                <a:solidFill>
                  <a:srgbClr val="ECECEC"/>
                </a:solidFill>
                <a:effectLst/>
                <a:latin typeface="Söhne"/>
              </a:rPr>
              <a:t>queries</a:t>
            </a:r>
            <a:r>
              <a:rPr lang="fr-FR" sz="2000" b="0" i="0" dirty="0">
                <a:solidFill>
                  <a:srgbClr val="ECECEC"/>
                </a:solidFill>
                <a:effectLst/>
                <a:latin typeface="Söhne"/>
              </a:rPr>
              <a:t> to </a:t>
            </a:r>
            <a:r>
              <a:rPr lang="fr-FR" sz="2000" b="0" i="0" dirty="0" err="1">
                <a:solidFill>
                  <a:srgbClr val="ECECEC"/>
                </a:solidFill>
                <a:effectLst/>
                <a:latin typeface="Söhne"/>
              </a:rPr>
              <a:t>analyze</a:t>
            </a:r>
            <a:r>
              <a:rPr lang="fr-FR" sz="2000" b="0" i="0" dirty="0">
                <a:solidFill>
                  <a:srgbClr val="ECECEC"/>
                </a:solidFill>
                <a:effectLst/>
                <a:latin typeface="Söhne"/>
              </a:rPr>
              <a:t> </a:t>
            </a:r>
            <a:r>
              <a:rPr lang="fr-FR" sz="2000" b="0" i="0" dirty="0" err="1">
                <a:solidFill>
                  <a:srgbClr val="ECECEC"/>
                </a:solidFill>
                <a:effectLst/>
                <a:latin typeface="Söhne"/>
              </a:rPr>
              <a:t>them</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benefits</a:t>
            </a:r>
            <a:r>
              <a:rPr lang="fr-FR" sz="2000" b="0" i="0" dirty="0">
                <a:solidFill>
                  <a:srgbClr val="ECECEC"/>
                </a:solidFill>
                <a:effectLst/>
                <a:latin typeface="Söhne"/>
              </a:rPr>
              <a:t> of </a:t>
            </a:r>
            <a:r>
              <a:rPr lang="fr-FR" sz="2000" b="0" i="0" dirty="0" err="1">
                <a:solidFill>
                  <a:srgbClr val="ECECEC"/>
                </a:solidFill>
                <a:effectLst/>
                <a:latin typeface="Söhne"/>
              </a:rPr>
              <a:t>BigQuery</a:t>
            </a:r>
            <a:r>
              <a:rPr lang="fr-FR" sz="2000" b="0" i="0" dirty="0">
                <a:solidFill>
                  <a:srgbClr val="ECECEC"/>
                </a:solidFill>
                <a:effectLst/>
                <a:latin typeface="Söhne"/>
              </a:rPr>
              <a:t> are </a:t>
            </a:r>
            <a:r>
              <a:rPr lang="fr-FR" sz="2000" b="0" i="0" dirty="0" err="1">
                <a:solidFill>
                  <a:srgbClr val="ECECEC"/>
                </a:solidFill>
                <a:effectLst/>
                <a:latin typeface="Söhne"/>
              </a:rPr>
              <a:t>significant</a:t>
            </a:r>
            <a:r>
              <a:rPr lang="fr-FR" sz="2000" b="0" i="0" dirty="0">
                <a:solidFill>
                  <a:srgbClr val="ECECEC"/>
                </a:solidFill>
                <a:effectLst/>
                <a:latin typeface="Söhne"/>
              </a:rPr>
              <a:t>:</a:t>
            </a:r>
          </a:p>
          <a:p>
            <a:pPr marL="742950" lvl="1" indent="-285750" algn="l">
              <a:buFont typeface="Arial" panose="020B0604020202020204" pitchFamily="34" charset="0"/>
              <a:buChar char="•"/>
            </a:pPr>
            <a:r>
              <a:rPr lang="fr-FR" sz="1800" b="0" i="0" dirty="0" err="1">
                <a:solidFill>
                  <a:srgbClr val="ECECEC"/>
                </a:solidFill>
                <a:effectLst/>
                <a:latin typeface="Söhne"/>
              </a:rPr>
              <a:t>Exceptional</a:t>
            </a:r>
            <a:r>
              <a:rPr lang="fr-FR" sz="1800" b="0" i="0" dirty="0">
                <a:solidFill>
                  <a:srgbClr val="ECECEC"/>
                </a:solidFill>
                <a:effectLst/>
                <a:latin typeface="Söhne"/>
              </a:rPr>
              <a:t> performance, </a:t>
            </a:r>
            <a:r>
              <a:rPr lang="fr-FR" sz="1800" b="0" i="0" dirty="0" err="1">
                <a:solidFill>
                  <a:srgbClr val="ECECEC"/>
                </a:solidFill>
                <a:effectLst/>
                <a:latin typeface="Söhne"/>
              </a:rPr>
              <a:t>allowing</a:t>
            </a:r>
            <a:r>
              <a:rPr lang="fr-FR" sz="1800" b="0" i="0" dirty="0">
                <a:solidFill>
                  <a:srgbClr val="ECECEC"/>
                </a:solidFill>
                <a:effectLst/>
                <a:latin typeface="Söhne"/>
              </a:rPr>
              <a:t> </a:t>
            </a:r>
            <a:r>
              <a:rPr lang="fr-FR" sz="1800" b="0" i="0" dirty="0" err="1">
                <a:solidFill>
                  <a:srgbClr val="ECECEC"/>
                </a:solidFill>
                <a:effectLst/>
                <a:latin typeface="Söhne"/>
              </a:rPr>
              <a:t>queries</a:t>
            </a:r>
            <a:r>
              <a:rPr lang="fr-FR" sz="1800" b="0" i="0" dirty="0">
                <a:solidFill>
                  <a:srgbClr val="ECECEC"/>
                </a:solidFill>
                <a:effectLst/>
                <a:latin typeface="Söhne"/>
              </a:rPr>
              <a:t> to </a:t>
            </a:r>
            <a:r>
              <a:rPr lang="fr-FR" sz="1800" b="0" i="0" dirty="0" err="1">
                <a:solidFill>
                  <a:srgbClr val="ECECEC"/>
                </a:solidFill>
                <a:effectLst/>
                <a:latin typeface="Söhne"/>
              </a:rPr>
              <a:t>be</a:t>
            </a:r>
            <a:r>
              <a:rPr lang="fr-FR" sz="1800" b="0" i="0" dirty="0">
                <a:solidFill>
                  <a:srgbClr val="ECECEC"/>
                </a:solidFill>
                <a:effectLst/>
                <a:latin typeface="Söhne"/>
              </a:rPr>
              <a:t> </a:t>
            </a:r>
            <a:r>
              <a:rPr lang="fr-FR" sz="1800" b="0" i="0" dirty="0" err="1">
                <a:solidFill>
                  <a:srgbClr val="ECECEC"/>
                </a:solidFill>
                <a:effectLst/>
                <a:latin typeface="Söhne"/>
              </a:rPr>
              <a:t>executed</a:t>
            </a:r>
            <a:r>
              <a:rPr lang="fr-FR" sz="1800" b="0" i="0" dirty="0">
                <a:solidFill>
                  <a:srgbClr val="ECECEC"/>
                </a:solidFill>
                <a:effectLst/>
                <a:latin typeface="Söhne"/>
              </a:rPr>
              <a:t> on </a:t>
            </a:r>
            <a:r>
              <a:rPr lang="fr-FR" sz="1800" b="0" i="0" dirty="0" err="1">
                <a:solidFill>
                  <a:srgbClr val="ECECEC"/>
                </a:solidFill>
                <a:effectLst/>
                <a:latin typeface="Söhne"/>
              </a:rPr>
              <a:t>petabytes</a:t>
            </a:r>
            <a:r>
              <a:rPr lang="fr-FR" sz="1800" b="0" i="0" dirty="0">
                <a:solidFill>
                  <a:srgbClr val="ECECEC"/>
                </a:solidFill>
                <a:effectLst/>
                <a:latin typeface="Söhne"/>
              </a:rPr>
              <a:t> of data in </a:t>
            </a:r>
            <a:r>
              <a:rPr lang="fr-FR" sz="1800" b="0" i="0" dirty="0" err="1">
                <a:solidFill>
                  <a:srgbClr val="ECECEC"/>
                </a:solidFill>
                <a:effectLst/>
                <a:latin typeface="Söhne"/>
              </a:rPr>
              <a:t>just</a:t>
            </a:r>
            <a:r>
              <a:rPr lang="fr-FR" sz="1800" b="0" i="0" dirty="0">
                <a:solidFill>
                  <a:srgbClr val="ECECEC"/>
                </a:solidFill>
                <a:effectLst/>
                <a:latin typeface="Söhne"/>
              </a:rPr>
              <a:t> seconds.</a:t>
            </a:r>
          </a:p>
          <a:p>
            <a:pPr marL="742950" lvl="1" indent="-285750" algn="l">
              <a:buFont typeface="Arial" panose="020B0604020202020204" pitchFamily="34" charset="0"/>
              <a:buChar char="•"/>
            </a:pPr>
            <a:r>
              <a:rPr lang="fr-FR" sz="1800" b="0" i="0" dirty="0" err="1">
                <a:solidFill>
                  <a:srgbClr val="ECECEC"/>
                </a:solidFill>
                <a:effectLst/>
                <a:latin typeface="Söhne"/>
              </a:rPr>
              <a:t>Fully</a:t>
            </a:r>
            <a:r>
              <a:rPr lang="fr-FR" sz="1800" b="0" i="0" dirty="0">
                <a:solidFill>
                  <a:srgbClr val="ECECEC"/>
                </a:solidFill>
                <a:effectLst/>
                <a:latin typeface="Söhne"/>
              </a:rPr>
              <a:t> </a:t>
            </a:r>
            <a:r>
              <a:rPr lang="fr-FR" sz="1800" b="0" i="0" dirty="0" err="1">
                <a:solidFill>
                  <a:srgbClr val="ECECEC"/>
                </a:solidFill>
                <a:effectLst/>
                <a:latin typeface="Söhne"/>
              </a:rPr>
              <a:t>managed</a:t>
            </a:r>
            <a:r>
              <a:rPr lang="fr-FR" sz="1800" b="0" i="0" dirty="0">
                <a:solidFill>
                  <a:srgbClr val="ECECEC"/>
                </a:solidFill>
                <a:effectLst/>
                <a:latin typeface="Söhne"/>
              </a:rPr>
              <a:t> service, </a:t>
            </a:r>
            <a:r>
              <a:rPr lang="fr-FR" sz="1800" b="0" i="0" dirty="0" err="1">
                <a:solidFill>
                  <a:srgbClr val="ECECEC"/>
                </a:solidFill>
                <a:effectLst/>
                <a:latin typeface="Söhne"/>
              </a:rPr>
              <a:t>with</a:t>
            </a:r>
            <a:r>
              <a:rPr lang="fr-FR" sz="1800" b="0" i="0" dirty="0">
                <a:solidFill>
                  <a:srgbClr val="ECECEC"/>
                </a:solidFill>
                <a:effectLst/>
                <a:latin typeface="Söhne"/>
              </a:rPr>
              <a:t> Google handling infrastructure maintenance, </a:t>
            </a:r>
            <a:r>
              <a:rPr lang="fr-FR" sz="1800" b="0" i="0" dirty="0" err="1">
                <a:solidFill>
                  <a:srgbClr val="ECECEC"/>
                </a:solidFill>
                <a:effectLst/>
                <a:latin typeface="Söhne"/>
              </a:rPr>
              <a:t>reducing</a:t>
            </a:r>
            <a:r>
              <a:rPr lang="fr-FR" sz="1800" b="0" i="0" dirty="0">
                <a:solidFill>
                  <a:srgbClr val="ECECEC"/>
                </a:solidFill>
                <a:effectLst/>
                <a:latin typeface="Söhne"/>
              </a:rPr>
              <a:t> </a:t>
            </a:r>
            <a:r>
              <a:rPr lang="fr-FR" sz="1800" b="0" i="0" dirty="0" err="1">
                <a:solidFill>
                  <a:srgbClr val="ECECEC"/>
                </a:solidFill>
                <a:effectLst/>
                <a:latin typeface="Söhne"/>
              </a:rPr>
              <a:t>operational</a:t>
            </a:r>
            <a:r>
              <a:rPr lang="fr-FR" sz="1800" b="0" i="0" dirty="0">
                <a:solidFill>
                  <a:srgbClr val="ECECEC"/>
                </a:solidFill>
                <a:effectLst/>
                <a:latin typeface="Söhne"/>
              </a:rPr>
              <a:t> </a:t>
            </a:r>
            <a:r>
              <a:rPr lang="fr-FR" sz="1800" b="0" i="0" dirty="0" err="1">
                <a:solidFill>
                  <a:srgbClr val="ECECEC"/>
                </a:solidFill>
                <a:effectLst/>
                <a:latin typeface="Söhne"/>
              </a:rPr>
              <a:t>burden</a:t>
            </a:r>
            <a:r>
              <a:rPr lang="fr-FR" sz="1800" b="0" i="0" dirty="0">
                <a:solidFill>
                  <a:srgbClr val="ECECEC"/>
                </a:solidFill>
                <a:effectLst/>
                <a:latin typeface="Söhne"/>
              </a:rPr>
              <a:t> for </a:t>
            </a:r>
            <a:r>
              <a:rPr lang="fr-FR" sz="1800" b="0" i="0" dirty="0" err="1">
                <a:solidFill>
                  <a:srgbClr val="ECECEC"/>
                </a:solidFill>
                <a:effectLst/>
                <a:latin typeface="Söhne"/>
              </a:rPr>
              <a:t>users</a:t>
            </a:r>
            <a:r>
              <a:rPr lang="fr-FR" sz="1800" b="0" i="0" dirty="0">
                <a:solidFill>
                  <a:srgbClr val="ECECEC"/>
                </a:solidFill>
                <a:effectLst/>
                <a:latin typeface="Söhne"/>
              </a:rPr>
              <a:t>.</a:t>
            </a:r>
          </a:p>
          <a:p>
            <a:pPr marL="742950" lvl="1" indent="-285750" algn="l">
              <a:buFont typeface="Arial" panose="020B0604020202020204" pitchFamily="34" charset="0"/>
              <a:buChar char="•"/>
            </a:pPr>
            <a:r>
              <a:rPr lang="fr-FR" sz="1800" b="0" i="0" dirty="0" err="1">
                <a:solidFill>
                  <a:srgbClr val="ECECEC"/>
                </a:solidFill>
                <a:effectLst/>
                <a:latin typeface="Söhne"/>
              </a:rPr>
              <a:t>Seamless</a:t>
            </a:r>
            <a:r>
              <a:rPr lang="fr-FR" sz="1800" b="0" i="0" dirty="0">
                <a:solidFill>
                  <a:srgbClr val="ECECEC"/>
                </a:solidFill>
                <a:effectLst/>
                <a:latin typeface="Söhne"/>
              </a:rPr>
              <a:t> </a:t>
            </a:r>
            <a:r>
              <a:rPr lang="fr-FR" sz="1800" b="0" i="0" dirty="0" err="1">
                <a:solidFill>
                  <a:srgbClr val="ECECEC"/>
                </a:solidFill>
                <a:effectLst/>
                <a:latin typeface="Söhne"/>
              </a:rPr>
              <a:t>integration</a:t>
            </a:r>
            <a:r>
              <a:rPr lang="fr-FR" sz="1800" b="0" i="0" dirty="0">
                <a:solidFill>
                  <a:srgbClr val="ECECEC"/>
                </a:solidFill>
                <a:effectLst/>
                <a:latin typeface="Söhne"/>
              </a:rPr>
              <a:t> </a:t>
            </a:r>
            <a:r>
              <a:rPr lang="fr-FR" sz="1800" b="0" i="0" dirty="0" err="1">
                <a:solidFill>
                  <a:srgbClr val="ECECEC"/>
                </a:solidFill>
                <a:effectLst/>
                <a:latin typeface="Söhne"/>
              </a:rPr>
              <a:t>with</a:t>
            </a:r>
            <a:r>
              <a:rPr lang="fr-FR" sz="1800" b="0" i="0" dirty="0">
                <a:solidFill>
                  <a:srgbClr val="ECECEC"/>
                </a:solidFill>
                <a:effectLst/>
                <a:latin typeface="Söhne"/>
              </a:rPr>
              <a:t> </a:t>
            </a:r>
            <a:r>
              <a:rPr lang="fr-FR" sz="1800" b="0" i="0" dirty="0" err="1">
                <a:solidFill>
                  <a:srgbClr val="ECECEC"/>
                </a:solidFill>
                <a:effectLst/>
                <a:latin typeface="Söhne"/>
              </a:rPr>
              <a:t>other</a:t>
            </a:r>
            <a:r>
              <a:rPr lang="fr-FR" sz="1800" b="0" i="0" dirty="0">
                <a:solidFill>
                  <a:srgbClr val="ECECEC"/>
                </a:solidFill>
                <a:effectLst/>
                <a:latin typeface="Söhne"/>
              </a:rPr>
              <a:t> GCP services </a:t>
            </a:r>
            <a:r>
              <a:rPr lang="fr-FR" sz="1800" b="0" i="0" dirty="0" err="1">
                <a:solidFill>
                  <a:srgbClr val="ECECEC"/>
                </a:solidFill>
                <a:effectLst/>
                <a:latin typeface="Söhne"/>
              </a:rPr>
              <a:t>such</a:t>
            </a:r>
            <a:r>
              <a:rPr lang="fr-FR" sz="1800" b="0" i="0" dirty="0">
                <a:solidFill>
                  <a:srgbClr val="ECECEC"/>
                </a:solidFill>
                <a:effectLst/>
                <a:latin typeface="Söhne"/>
              </a:rPr>
              <a:t> as </a:t>
            </a:r>
            <a:r>
              <a:rPr lang="fr-FR" sz="1800" b="0" i="0" dirty="0" err="1">
                <a:solidFill>
                  <a:srgbClr val="ECECEC"/>
                </a:solidFill>
                <a:effectLst/>
                <a:latin typeface="Söhne"/>
              </a:rPr>
              <a:t>DataFlow</a:t>
            </a:r>
            <a:r>
              <a:rPr lang="fr-FR" sz="1800" b="0" i="0" dirty="0">
                <a:solidFill>
                  <a:srgbClr val="ECECEC"/>
                </a:solidFill>
                <a:effectLst/>
                <a:latin typeface="Söhne"/>
              </a:rPr>
              <a:t> and Pub/</a:t>
            </a:r>
            <a:r>
              <a:rPr lang="fr-FR" sz="1800" b="0" i="0" dirty="0" err="1">
                <a:solidFill>
                  <a:srgbClr val="ECECEC"/>
                </a:solidFill>
                <a:effectLst/>
                <a:latin typeface="Söhne"/>
              </a:rPr>
              <a:t>Sub</a:t>
            </a:r>
            <a:r>
              <a:rPr lang="fr-FR" sz="1800" b="0" i="0" dirty="0">
                <a:solidFill>
                  <a:srgbClr val="ECECEC"/>
                </a:solidFill>
                <a:effectLst/>
                <a:latin typeface="Söhne"/>
              </a:rPr>
              <a:t>, </a:t>
            </a:r>
            <a:r>
              <a:rPr lang="fr-FR" sz="1800" b="0" i="0" dirty="0" err="1">
                <a:solidFill>
                  <a:srgbClr val="ECECEC"/>
                </a:solidFill>
                <a:effectLst/>
                <a:latin typeface="Söhne"/>
              </a:rPr>
              <a:t>facilitating</a:t>
            </a:r>
            <a:r>
              <a:rPr lang="fr-FR" sz="1800" b="0" i="0" dirty="0">
                <a:solidFill>
                  <a:srgbClr val="ECECEC"/>
                </a:solidFill>
                <a:effectLst/>
                <a:latin typeface="Söhne"/>
              </a:rPr>
              <a:t> the construction of </a:t>
            </a:r>
            <a:r>
              <a:rPr lang="fr-FR" sz="1800" b="0" i="0" dirty="0" err="1">
                <a:solidFill>
                  <a:srgbClr val="ECECEC"/>
                </a:solidFill>
                <a:effectLst/>
                <a:latin typeface="Söhne"/>
              </a:rPr>
              <a:t>comprehensive</a:t>
            </a:r>
            <a:r>
              <a:rPr lang="fr-FR" sz="1800" b="0" i="0" dirty="0">
                <a:solidFill>
                  <a:srgbClr val="ECECEC"/>
                </a:solidFill>
                <a:effectLst/>
                <a:latin typeface="Söhne"/>
              </a:rPr>
              <a:t> data pipelines.</a:t>
            </a:r>
          </a:p>
          <a:p>
            <a:pPr algn="l">
              <a:buFont typeface="Arial" panose="020B0604020202020204" pitchFamily="34" charset="0"/>
              <a:buChar char="•"/>
            </a:pPr>
            <a:r>
              <a:rPr lang="fr-FR" sz="2000" b="0" i="0" dirty="0" err="1">
                <a:solidFill>
                  <a:srgbClr val="ECECEC"/>
                </a:solidFill>
                <a:effectLst/>
                <a:latin typeface="Söhne"/>
              </a:rPr>
              <a:t>However</a:t>
            </a:r>
            <a:r>
              <a:rPr lang="fr-FR" sz="2000" b="0" i="0" dirty="0">
                <a:solidFill>
                  <a:srgbClr val="ECECEC"/>
                </a:solidFill>
                <a:effectLst/>
                <a:latin typeface="Söhne"/>
              </a:rPr>
              <a:t>, </a:t>
            </a:r>
            <a:r>
              <a:rPr lang="fr-FR" sz="2000" b="0" i="0" dirty="0" err="1">
                <a:solidFill>
                  <a:srgbClr val="ECECEC"/>
                </a:solidFill>
                <a:effectLst/>
                <a:latin typeface="Söhne"/>
              </a:rPr>
              <a:t>there</a:t>
            </a:r>
            <a:r>
              <a:rPr lang="fr-FR" sz="2000" b="0" i="0" dirty="0">
                <a:solidFill>
                  <a:srgbClr val="ECECEC"/>
                </a:solidFill>
                <a:effectLst/>
                <a:latin typeface="Söhne"/>
              </a:rPr>
              <a:t> are a few drawbacks:</a:t>
            </a:r>
          </a:p>
          <a:p>
            <a:pPr marL="742950" lvl="1" indent="-285750" algn="l">
              <a:buFont typeface="Arial" panose="020B0604020202020204" pitchFamily="34" charset="0"/>
              <a:buChar char="•"/>
            </a:pPr>
            <a:r>
              <a:rPr lang="fr-FR" sz="1800" b="0" i="0" dirty="0" err="1">
                <a:solidFill>
                  <a:srgbClr val="ECECEC"/>
                </a:solidFill>
                <a:effectLst/>
                <a:latin typeface="Söhne"/>
              </a:rPr>
              <a:t>BigQuery's</a:t>
            </a:r>
            <a:r>
              <a:rPr lang="fr-FR" sz="1800" b="0" i="0" dirty="0">
                <a:solidFill>
                  <a:srgbClr val="ECECEC"/>
                </a:solidFill>
                <a:effectLst/>
                <a:latin typeface="Söhne"/>
              </a:rPr>
              <a:t> </a:t>
            </a:r>
            <a:r>
              <a:rPr lang="fr-FR" sz="1800" b="0" i="0" dirty="0" err="1">
                <a:solidFill>
                  <a:srgbClr val="ECECEC"/>
                </a:solidFill>
                <a:effectLst/>
                <a:latin typeface="Söhne"/>
              </a:rPr>
              <a:t>pricing</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t>
            </a:r>
            <a:r>
              <a:rPr lang="fr-FR" sz="1800" b="0" i="0" dirty="0" err="1">
                <a:solidFill>
                  <a:srgbClr val="ECECEC"/>
                </a:solidFill>
                <a:effectLst/>
                <a:latin typeface="Söhne"/>
              </a:rPr>
              <a:t>based</a:t>
            </a:r>
            <a:r>
              <a:rPr lang="fr-FR" sz="1800" b="0" i="0" dirty="0">
                <a:solidFill>
                  <a:srgbClr val="ECECEC"/>
                </a:solidFill>
                <a:effectLst/>
                <a:latin typeface="Söhne"/>
              </a:rPr>
              <a:t> on </a:t>
            </a:r>
            <a:r>
              <a:rPr lang="fr-FR" sz="1800" b="0" i="0" dirty="0" err="1">
                <a:solidFill>
                  <a:srgbClr val="ECECEC"/>
                </a:solidFill>
                <a:effectLst/>
                <a:latin typeface="Söhne"/>
              </a:rPr>
              <a:t>query</a:t>
            </a:r>
            <a:r>
              <a:rPr lang="fr-FR" sz="1800" b="0" i="0" dirty="0">
                <a:solidFill>
                  <a:srgbClr val="ECECEC"/>
                </a:solidFill>
                <a:effectLst/>
                <a:latin typeface="Söhne"/>
              </a:rPr>
              <a:t> and </a:t>
            </a:r>
            <a:r>
              <a:rPr lang="fr-FR" sz="1800" b="0" i="0" dirty="0" err="1">
                <a:solidFill>
                  <a:srgbClr val="ECECEC"/>
                </a:solidFill>
                <a:effectLst/>
                <a:latin typeface="Söhne"/>
              </a:rPr>
              <a:t>storage</a:t>
            </a:r>
            <a:r>
              <a:rPr lang="fr-FR" sz="1800" b="0" i="0" dirty="0">
                <a:solidFill>
                  <a:srgbClr val="ECECEC"/>
                </a:solidFill>
                <a:effectLst/>
                <a:latin typeface="Söhne"/>
              </a:rPr>
              <a:t> usage, </a:t>
            </a:r>
            <a:r>
              <a:rPr lang="fr-FR" sz="1800" b="0" i="0" dirty="0" err="1">
                <a:solidFill>
                  <a:srgbClr val="ECECEC"/>
                </a:solidFill>
                <a:effectLst/>
                <a:latin typeface="Söhne"/>
              </a:rPr>
              <a:t>which</a:t>
            </a:r>
            <a:r>
              <a:rPr lang="fr-FR" sz="1800" b="0" i="0" dirty="0">
                <a:solidFill>
                  <a:srgbClr val="ECECEC"/>
                </a:solidFill>
                <a:effectLst/>
                <a:latin typeface="Söhne"/>
              </a:rPr>
              <a:t> can lead to </a:t>
            </a:r>
            <a:r>
              <a:rPr lang="fr-FR" sz="1800" b="0" i="0" dirty="0" err="1">
                <a:solidFill>
                  <a:srgbClr val="ECECEC"/>
                </a:solidFill>
                <a:effectLst/>
                <a:latin typeface="Söhne"/>
              </a:rPr>
              <a:t>unexpected</a:t>
            </a:r>
            <a:r>
              <a:rPr lang="fr-FR" sz="1800" b="0" i="0" dirty="0">
                <a:solidFill>
                  <a:srgbClr val="ECECEC"/>
                </a:solidFill>
                <a:effectLst/>
                <a:latin typeface="Söhne"/>
              </a:rPr>
              <a:t> </a:t>
            </a:r>
            <a:r>
              <a:rPr lang="fr-FR" sz="1800" b="0" i="0" dirty="0" err="1">
                <a:solidFill>
                  <a:srgbClr val="ECECEC"/>
                </a:solidFill>
                <a:effectLst/>
                <a:latin typeface="Söhne"/>
              </a:rPr>
              <a:t>costs</a:t>
            </a:r>
            <a:r>
              <a:rPr lang="fr-FR" sz="1800" b="0" i="0" dirty="0">
                <a:solidFill>
                  <a:srgbClr val="ECECEC"/>
                </a:solidFill>
                <a:effectLst/>
                <a:latin typeface="Söhne"/>
              </a:rPr>
              <a:t> if </a:t>
            </a:r>
            <a:r>
              <a:rPr lang="fr-FR" sz="1800" b="0" i="0" dirty="0" err="1">
                <a:solidFill>
                  <a:srgbClr val="ECECEC"/>
                </a:solidFill>
                <a:effectLst/>
                <a:latin typeface="Söhne"/>
              </a:rPr>
              <a:t>resources</a:t>
            </a:r>
            <a:r>
              <a:rPr lang="fr-FR" sz="1800" b="0" i="0" dirty="0">
                <a:solidFill>
                  <a:srgbClr val="ECECEC"/>
                </a:solidFill>
                <a:effectLst/>
                <a:latin typeface="Söhne"/>
              </a:rPr>
              <a:t> are not </a:t>
            </a:r>
            <a:r>
              <a:rPr lang="fr-FR" sz="1800" b="0" i="0" dirty="0" err="1">
                <a:solidFill>
                  <a:srgbClr val="ECECEC"/>
                </a:solidFill>
                <a:effectLst/>
                <a:latin typeface="Söhne"/>
              </a:rPr>
              <a:t>used</a:t>
            </a:r>
            <a:r>
              <a:rPr lang="fr-FR" sz="1800" b="0" i="0" dirty="0">
                <a:solidFill>
                  <a:srgbClr val="ECECEC"/>
                </a:solidFill>
                <a:effectLst/>
                <a:latin typeface="Söhne"/>
              </a:rPr>
              <a:t> </a:t>
            </a:r>
            <a:r>
              <a:rPr lang="fr-FR" sz="1800" b="0" i="0" dirty="0" err="1">
                <a:solidFill>
                  <a:srgbClr val="ECECEC"/>
                </a:solidFill>
                <a:effectLst/>
                <a:latin typeface="Söhne"/>
              </a:rPr>
              <a:t>efficiently</a:t>
            </a:r>
            <a:r>
              <a:rPr lang="fr-FR" sz="1800" b="0" i="0" dirty="0">
                <a:solidFill>
                  <a:srgbClr val="ECECEC"/>
                </a:solidFill>
                <a:effectLst/>
                <a:latin typeface="Söhne"/>
              </a:rPr>
              <a:t>.</a:t>
            </a:r>
          </a:p>
          <a:p>
            <a:pPr marL="742950" lvl="1" indent="-285750" algn="l">
              <a:buFont typeface="Arial" panose="020B0604020202020204" pitchFamily="34" charset="0"/>
              <a:buChar char="•"/>
            </a:pPr>
            <a:r>
              <a:rPr lang="fr-FR" sz="1800" b="0" i="0" dirty="0" err="1">
                <a:solidFill>
                  <a:srgbClr val="ECECEC"/>
                </a:solidFill>
                <a:effectLst/>
                <a:latin typeface="Söhne"/>
              </a:rPr>
              <a:t>While</a:t>
            </a:r>
            <a:r>
              <a:rPr lang="fr-FR" sz="1800" b="0" i="0" dirty="0">
                <a:solidFill>
                  <a:srgbClr val="ECECEC"/>
                </a:solidFill>
                <a:effectLst/>
                <a:latin typeface="Söhne"/>
              </a:rPr>
              <a:t> </a:t>
            </a:r>
            <a:r>
              <a:rPr lang="fr-FR" sz="1800" b="0" i="0" dirty="0" err="1">
                <a:solidFill>
                  <a:srgbClr val="ECECEC"/>
                </a:solidFill>
                <a:effectLst/>
                <a:latin typeface="Söhne"/>
              </a:rPr>
              <a:t>powerful</a:t>
            </a:r>
            <a:r>
              <a:rPr lang="fr-FR" sz="1800" b="0" i="0" dirty="0">
                <a:solidFill>
                  <a:srgbClr val="ECECEC"/>
                </a:solidFill>
                <a:effectLst/>
                <a:latin typeface="Söhne"/>
              </a:rPr>
              <a:t> for data </a:t>
            </a:r>
            <a:r>
              <a:rPr lang="fr-FR" sz="1800" b="0" i="0" dirty="0" err="1">
                <a:solidFill>
                  <a:srgbClr val="ECECEC"/>
                </a:solidFill>
                <a:effectLst/>
                <a:latin typeface="Söhne"/>
              </a:rPr>
              <a:t>analysis</a:t>
            </a:r>
            <a:r>
              <a:rPr lang="fr-FR" sz="1800" b="0" i="0" dirty="0">
                <a:solidFill>
                  <a:srgbClr val="ECECEC"/>
                </a:solidFill>
                <a:effectLst/>
                <a:latin typeface="Söhne"/>
              </a:rPr>
              <a:t>, </a:t>
            </a:r>
            <a:r>
              <a:rPr lang="fr-FR" sz="1800" b="0" i="0" dirty="0" err="1">
                <a:solidFill>
                  <a:srgbClr val="ECECEC"/>
                </a:solidFill>
                <a:effectLst/>
                <a:latin typeface="Söhne"/>
              </a:rPr>
              <a:t>BigQuery</a:t>
            </a:r>
            <a:r>
              <a:rPr lang="fr-FR" sz="1800" b="0" i="0" dirty="0">
                <a:solidFill>
                  <a:srgbClr val="ECECEC"/>
                </a:solidFill>
                <a:effectLst/>
                <a:latin typeface="Söhne"/>
              </a:rPr>
              <a:t> </a:t>
            </a:r>
            <a:r>
              <a:rPr lang="fr-FR" sz="1800" b="0" i="0" dirty="0" err="1">
                <a:solidFill>
                  <a:srgbClr val="ECECEC"/>
                </a:solidFill>
                <a:effectLst/>
                <a:latin typeface="Söhne"/>
              </a:rPr>
              <a:t>may</a:t>
            </a:r>
            <a:r>
              <a:rPr lang="fr-FR" sz="1800" b="0" i="0" dirty="0">
                <a:solidFill>
                  <a:srgbClr val="ECECEC"/>
                </a:solidFill>
                <a:effectLst/>
                <a:latin typeface="Söhne"/>
              </a:rPr>
              <a:t> not </a:t>
            </a:r>
            <a:r>
              <a:rPr lang="fr-FR" sz="1800" b="0" i="0" dirty="0" err="1">
                <a:solidFill>
                  <a:srgbClr val="ECECEC"/>
                </a:solidFill>
                <a:effectLst/>
                <a:latin typeface="Söhne"/>
              </a:rPr>
              <a:t>be</a:t>
            </a:r>
            <a:r>
              <a:rPr lang="fr-FR" sz="1800" b="0" i="0" dirty="0">
                <a:solidFill>
                  <a:srgbClr val="ECECEC"/>
                </a:solidFill>
                <a:effectLst/>
                <a:latin typeface="Söhne"/>
              </a:rPr>
              <a:t> </a:t>
            </a:r>
            <a:r>
              <a:rPr lang="fr-FR" sz="1800" b="0" i="0" dirty="0" err="1">
                <a:solidFill>
                  <a:srgbClr val="ECECEC"/>
                </a:solidFill>
                <a:effectLst/>
                <a:latin typeface="Söhne"/>
              </a:rPr>
              <a:t>suitable</a:t>
            </a:r>
            <a:r>
              <a:rPr lang="fr-FR" sz="1800" b="0" i="0" dirty="0">
                <a:solidFill>
                  <a:srgbClr val="ECECEC"/>
                </a:solidFill>
                <a:effectLst/>
                <a:latin typeface="Söhne"/>
              </a:rPr>
              <a:t> for all use cases, </a:t>
            </a:r>
            <a:r>
              <a:rPr lang="fr-FR" sz="1800" b="0" i="0" dirty="0" err="1">
                <a:solidFill>
                  <a:srgbClr val="ECECEC"/>
                </a:solidFill>
                <a:effectLst/>
                <a:latin typeface="Söhne"/>
              </a:rPr>
              <a:t>particularly</a:t>
            </a:r>
            <a:r>
              <a:rPr lang="fr-FR" sz="1800" b="0" i="0" dirty="0">
                <a:solidFill>
                  <a:srgbClr val="ECECEC"/>
                </a:solidFill>
                <a:effectLst/>
                <a:latin typeface="Söhne"/>
              </a:rPr>
              <a:t> </a:t>
            </a:r>
            <a:r>
              <a:rPr lang="fr-FR" sz="1800" b="0" i="0" dirty="0" err="1">
                <a:solidFill>
                  <a:srgbClr val="ECECEC"/>
                </a:solidFill>
                <a:effectLst/>
                <a:latin typeface="Söhne"/>
              </a:rPr>
              <a:t>those</a:t>
            </a:r>
            <a:r>
              <a:rPr lang="fr-FR" sz="1800" b="0" i="0" dirty="0">
                <a:solidFill>
                  <a:srgbClr val="ECECEC"/>
                </a:solidFill>
                <a:effectLst/>
                <a:latin typeface="Söhne"/>
              </a:rPr>
              <a:t> </a:t>
            </a:r>
            <a:r>
              <a:rPr lang="fr-FR" sz="1800" b="0" i="0" dirty="0" err="1">
                <a:solidFill>
                  <a:srgbClr val="ECECEC"/>
                </a:solidFill>
                <a:effectLst/>
                <a:latin typeface="Söhne"/>
              </a:rPr>
              <a:t>requiring</a:t>
            </a:r>
            <a:r>
              <a:rPr lang="fr-FR" sz="1800" b="0" i="0" dirty="0">
                <a:solidFill>
                  <a:srgbClr val="ECECEC"/>
                </a:solidFill>
                <a:effectLst/>
                <a:latin typeface="Söhne"/>
              </a:rPr>
              <a:t> real-time data updates.</a:t>
            </a:r>
            <a:br>
              <a:rPr lang="fr-FR" sz="2000" dirty="0"/>
            </a:br>
            <a:endParaRPr lang="fr-FR" sz="16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4674408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bigquery</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C153C564-9087-C45E-8CCB-A68AECC92066}"/>
              </a:ext>
            </a:extLst>
          </p:cNvPr>
          <p:cNvPicPr>
            <a:picLocks noChangeAspect="1"/>
          </p:cNvPicPr>
          <p:nvPr/>
        </p:nvPicPr>
        <p:blipFill>
          <a:blip r:embed="rId2"/>
          <a:stretch>
            <a:fillRect/>
          </a:stretch>
        </p:blipFill>
        <p:spPr>
          <a:xfrm>
            <a:off x="2484886" y="1932343"/>
            <a:ext cx="6886625" cy="3484388"/>
          </a:xfrm>
          <a:prstGeom prst="rect">
            <a:avLst/>
          </a:prstGeom>
        </p:spPr>
      </p:pic>
    </p:spTree>
    <p:extLst>
      <p:ext uri="{BB962C8B-B14F-4D97-AF65-F5344CB8AC3E}">
        <p14:creationId xmlns:p14="http://schemas.microsoft.com/office/powerpoint/2010/main" val="14798395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238719"/>
            <a:ext cx="11530647" cy="1293028"/>
          </a:xfrm>
        </p:spPr>
        <p:txBody>
          <a:bodyPr>
            <a:normAutofit/>
          </a:bodyPr>
          <a:lstStyle/>
          <a:p>
            <a:pPr algn="l"/>
            <a:r>
              <a:rPr lang="fr-FR" sz="3200" dirty="0"/>
              <a:t>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Containers are </a:t>
            </a:r>
            <a:r>
              <a:rPr lang="fr-FR" sz="2400" b="0" i="0" dirty="0" err="1">
                <a:solidFill>
                  <a:srgbClr val="ECECEC"/>
                </a:solidFill>
                <a:effectLst/>
                <a:latin typeface="Söhne"/>
              </a:rPr>
              <a:t>virtual</a:t>
            </a:r>
            <a:r>
              <a:rPr lang="fr-FR" sz="2400" b="0" i="0" dirty="0">
                <a:solidFill>
                  <a:srgbClr val="ECECEC"/>
                </a:solidFill>
                <a:effectLst/>
                <a:latin typeface="Söhne"/>
              </a:rPr>
              <a:t> boxes </a:t>
            </a:r>
            <a:r>
              <a:rPr lang="fr-FR" sz="2400" b="0" i="0" dirty="0" err="1">
                <a:solidFill>
                  <a:srgbClr val="ECECEC"/>
                </a:solidFill>
                <a:effectLst/>
                <a:latin typeface="Söhne"/>
              </a:rPr>
              <a:t>surrounding</a:t>
            </a:r>
            <a:r>
              <a:rPr lang="fr-FR" sz="2400" b="0" i="0" dirty="0">
                <a:solidFill>
                  <a:srgbClr val="ECECEC"/>
                </a:solidFill>
                <a:effectLst/>
                <a:latin typeface="Söhne"/>
              </a:rPr>
              <a:t> the code and </a:t>
            </a:r>
            <a:r>
              <a:rPr lang="fr-FR" sz="2400" b="0" i="0" dirty="0" err="1">
                <a:solidFill>
                  <a:srgbClr val="ECECEC"/>
                </a:solidFill>
                <a:effectLst/>
                <a:latin typeface="Söhne"/>
              </a:rPr>
              <a:t>its</a:t>
            </a:r>
            <a:r>
              <a:rPr lang="fr-FR" sz="2400" b="0" i="0" dirty="0">
                <a:solidFill>
                  <a:srgbClr val="ECECEC"/>
                </a:solidFill>
                <a:effectLst/>
                <a:latin typeface="Söhne"/>
              </a:rPr>
              <a:t> </a:t>
            </a:r>
            <a:r>
              <a:rPr lang="fr-FR" sz="2400" b="0" i="0" dirty="0" err="1">
                <a:solidFill>
                  <a:srgbClr val="ECECEC"/>
                </a:solidFill>
                <a:effectLst/>
                <a:latin typeface="Söhne"/>
              </a:rPr>
              <a:t>dependencies</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t>
            </a:r>
            <a:r>
              <a:rPr lang="fr-FR" sz="2400" b="0" i="0" dirty="0" err="1">
                <a:solidFill>
                  <a:srgbClr val="ECECEC"/>
                </a:solidFill>
                <a:effectLst/>
                <a:latin typeface="Söhne"/>
              </a:rPr>
              <a:t>limited</a:t>
            </a:r>
            <a:r>
              <a:rPr lang="fr-FR" sz="2400" b="0" i="0" dirty="0">
                <a:solidFill>
                  <a:srgbClr val="ECECEC"/>
                </a:solidFill>
                <a:effectLst/>
                <a:latin typeface="Söhne"/>
              </a:rPr>
              <a:t> </a:t>
            </a:r>
            <a:r>
              <a:rPr lang="fr-FR" sz="2400" b="0" i="0" dirty="0" err="1">
                <a:solidFill>
                  <a:srgbClr val="ECECEC"/>
                </a:solidFill>
                <a:effectLst/>
                <a:latin typeface="Söhne"/>
              </a:rPr>
              <a:t>access</a:t>
            </a:r>
            <a:r>
              <a:rPr lang="fr-FR" sz="2400" b="0" i="0" dirty="0">
                <a:solidFill>
                  <a:srgbClr val="ECECEC"/>
                </a:solidFill>
                <a:effectLst/>
                <a:latin typeface="Söhne"/>
              </a:rPr>
              <a:t> to the file system and hardware.</a:t>
            </a:r>
          </a:p>
          <a:p>
            <a:pPr algn="l">
              <a:buFont typeface="Arial" panose="020B0604020202020204" pitchFamily="34" charset="0"/>
              <a:buChar char="•"/>
            </a:pPr>
            <a:r>
              <a:rPr lang="fr-FR" sz="2400" b="0" i="0" dirty="0" err="1">
                <a:solidFill>
                  <a:srgbClr val="ECECEC"/>
                </a:solidFill>
                <a:effectLst/>
                <a:latin typeface="Söhne"/>
              </a:rPr>
              <a:t>They</a:t>
            </a:r>
            <a:r>
              <a:rPr lang="fr-FR" sz="2400" b="0" i="0" dirty="0">
                <a:solidFill>
                  <a:srgbClr val="ECECEC"/>
                </a:solidFill>
                <a:effectLst/>
                <a:latin typeface="Söhne"/>
              </a:rPr>
              <a:t> </a:t>
            </a:r>
            <a:r>
              <a:rPr lang="fr-FR" sz="2400" b="0" i="0" dirty="0" err="1">
                <a:solidFill>
                  <a:srgbClr val="ECECEC"/>
                </a:solidFill>
                <a:effectLst/>
                <a:latin typeface="Söhne"/>
              </a:rPr>
              <a:t>require</a:t>
            </a:r>
            <a:r>
              <a:rPr lang="fr-FR" sz="2400" b="0" i="0" dirty="0">
                <a:solidFill>
                  <a:srgbClr val="ECECEC"/>
                </a:solidFill>
                <a:effectLst/>
                <a:latin typeface="Söhne"/>
              </a:rPr>
              <a:t> minimal </a:t>
            </a:r>
            <a:r>
              <a:rPr lang="fr-FR" sz="2400" b="0" i="0" dirty="0" err="1">
                <a:solidFill>
                  <a:srgbClr val="ECECEC"/>
                </a:solidFill>
                <a:effectLst/>
                <a:latin typeface="Söhne"/>
              </a:rPr>
              <a:t>resources</a:t>
            </a:r>
            <a:r>
              <a:rPr lang="fr-FR" sz="2400" b="0" i="0" dirty="0">
                <a:solidFill>
                  <a:srgbClr val="ECECEC"/>
                </a:solidFill>
                <a:effectLst/>
                <a:latin typeface="Söhne"/>
              </a:rPr>
              <a:t> to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created</a:t>
            </a:r>
            <a:r>
              <a:rPr lang="fr-FR" sz="2400" b="0" i="0" dirty="0">
                <a:solidFill>
                  <a:srgbClr val="ECECEC"/>
                </a:solidFill>
                <a:effectLst/>
                <a:latin typeface="Söhne"/>
              </a:rPr>
              <a:t> and start </a:t>
            </a:r>
            <a:r>
              <a:rPr lang="fr-FR" sz="2400" b="0" i="0" dirty="0" err="1">
                <a:solidFill>
                  <a:srgbClr val="ECECEC"/>
                </a:solidFill>
                <a:effectLst/>
                <a:latin typeface="Söhne"/>
              </a:rPr>
              <a:t>quickly</a:t>
            </a:r>
            <a:r>
              <a:rPr lang="fr-FR" sz="2400" b="0" i="0" dirty="0">
                <a:solidFill>
                  <a:srgbClr val="ECECEC"/>
                </a:solidFill>
                <a:effectLst/>
                <a:latin typeface="Söhne"/>
              </a:rPr>
              <a:t>, like a simple process.</a:t>
            </a:r>
          </a:p>
          <a:p>
            <a:pPr algn="l">
              <a:buFont typeface="Arial" panose="020B0604020202020204" pitchFamily="34" charset="0"/>
              <a:buChar char="•"/>
            </a:pPr>
            <a:r>
              <a:rPr lang="fr-FR" sz="2400" b="0" i="0" dirty="0">
                <a:solidFill>
                  <a:srgbClr val="ECECEC"/>
                </a:solidFill>
                <a:effectLst/>
                <a:latin typeface="Söhne"/>
              </a:rPr>
              <a:t>Containers </a:t>
            </a:r>
            <a:r>
              <a:rPr lang="fr-FR" sz="2400" b="0" i="0" dirty="0" err="1">
                <a:solidFill>
                  <a:srgbClr val="ECECEC"/>
                </a:solidFill>
                <a:effectLst/>
                <a:latin typeface="Söhne"/>
              </a:rPr>
              <a:t>offer</a:t>
            </a:r>
            <a:r>
              <a:rPr lang="fr-FR" sz="2400" b="0" i="0" dirty="0">
                <a:solidFill>
                  <a:srgbClr val="ECECEC"/>
                </a:solidFill>
                <a:effectLst/>
                <a:latin typeface="Söhne"/>
              </a:rPr>
              <a:t> the </a:t>
            </a:r>
            <a:r>
              <a:rPr lang="fr-FR" sz="2400" b="0" i="0" dirty="0" err="1">
                <a:solidFill>
                  <a:srgbClr val="ECECEC"/>
                </a:solidFill>
                <a:effectLst/>
                <a:latin typeface="Söhne"/>
              </a:rPr>
              <a:t>flexibility</a:t>
            </a:r>
            <a:r>
              <a:rPr lang="fr-FR" sz="2400" b="0" i="0" dirty="0">
                <a:solidFill>
                  <a:srgbClr val="ECECEC"/>
                </a:solidFill>
                <a:effectLst/>
                <a:latin typeface="Söhne"/>
              </a:rPr>
              <a:t> of IaaS (Infrastructure as a Service) </a:t>
            </a:r>
            <a:r>
              <a:rPr lang="fr-FR" sz="2400" b="0" i="0" dirty="0" err="1">
                <a:solidFill>
                  <a:srgbClr val="ECECEC"/>
                </a:solidFill>
                <a:effectLst/>
                <a:latin typeface="Söhne"/>
              </a:rPr>
              <a:t>with</a:t>
            </a:r>
            <a:r>
              <a:rPr lang="fr-FR" sz="2400" b="0" i="0" dirty="0">
                <a:solidFill>
                  <a:srgbClr val="ECECEC"/>
                </a:solidFill>
                <a:effectLst/>
                <a:latin typeface="Söhne"/>
              </a:rPr>
              <a:t> the </a:t>
            </a:r>
            <a:r>
              <a:rPr lang="fr-FR" sz="2400" b="0" i="0" dirty="0" err="1">
                <a:solidFill>
                  <a:srgbClr val="ECECEC"/>
                </a:solidFill>
                <a:effectLst/>
                <a:latin typeface="Söhne"/>
              </a:rPr>
              <a:t>scalability</a:t>
            </a:r>
            <a:r>
              <a:rPr lang="fr-FR" sz="2400" b="0" i="0" dirty="0">
                <a:solidFill>
                  <a:srgbClr val="ECECEC"/>
                </a:solidFill>
                <a:effectLst/>
                <a:latin typeface="Söhne"/>
              </a:rPr>
              <a:t> of PaaS (Platform as a Service), </a:t>
            </a:r>
            <a:r>
              <a:rPr lang="fr-FR" sz="2400" b="0" i="0" dirty="0" err="1">
                <a:solidFill>
                  <a:srgbClr val="ECECEC"/>
                </a:solidFill>
                <a:effectLst/>
                <a:latin typeface="Söhne"/>
              </a:rPr>
              <a:t>making</a:t>
            </a:r>
            <a:r>
              <a:rPr lang="fr-FR" sz="2400" b="0" i="0" dirty="0">
                <a:solidFill>
                  <a:srgbClr val="ECECEC"/>
                </a:solidFill>
                <a:effectLst/>
                <a:latin typeface="Söhne"/>
              </a:rPr>
              <a:t> the code portable and </a:t>
            </a:r>
            <a:r>
              <a:rPr lang="fr-FR" sz="2400" b="0" i="0" dirty="0" err="1">
                <a:solidFill>
                  <a:srgbClr val="ECECEC"/>
                </a:solidFill>
                <a:effectLst/>
                <a:latin typeface="Söhne"/>
              </a:rPr>
              <a:t>enabling</a:t>
            </a:r>
            <a:r>
              <a:rPr lang="fr-FR" sz="2400" b="0" i="0" dirty="0">
                <a:solidFill>
                  <a:srgbClr val="ECECEC"/>
                </a:solidFill>
                <a:effectLst/>
                <a:latin typeface="Söhne"/>
              </a:rPr>
              <a:t> </a:t>
            </a:r>
            <a:r>
              <a:rPr lang="fr-FR" sz="2400" b="0" i="0" dirty="0" err="1">
                <a:solidFill>
                  <a:srgbClr val="ECECEC"/>
                </a:solidFill>
                <a:effectLst/>
                <a:latin typeface="Söhne"/>
              </a:rPr>
              <a:t>deployments</a:t>
            </a:r>
            <a:r>
              <a:rPr lang="fr-FR" sz="2400" b="0" i="0" dirty="0">
                <a:solidFill>
                  <a:srgbClr val="ECECEC"/>
                </a:solidFill>
                <a:effectLst/>
                <a:latin typeface="Söhne"/>
              </a:rPr>
              <a:t> </a:t>
            </a:r>
            <a:r>
              <a:rPr lang="fr-FR" sz="2400" b="0" i="0" dirty="0" err="1">
                <a:solidFill>
                  <a:srgbClr val="ECECEC"/>
                </a:solidFill>
                <a:effectLst/>
                <a:latin typeface="Söhne"/>
              </a:rPr>
              <a:t>without</a:t>
            </a:r>
            <a:r>
              <a:rPr lang="fr-FR" sz="2400" b="0" i="0" dirty="0">
                <a:solidFill>
                  <a:srgbClr val="ECECEC"/>
                </a:solidFill>
                <a:effectLst/>
                <a:latin typeface="Söhne"/>
              </a:rPr>
              <a:t> modification on </a:t>
            </a:r>
            <a:r>
              <a:rPr lang="fr-FR" sz="2400" b="0" i="0" dirty="0" err="1">
                <a:solidFill>
                  <a:srgbClr val="ECECEC"/>
                </a:solidFill>
                <a:effectLst/>
                <a:latin typeface="Söhne"/>
              </a:rPr>
              <a:t>different</a:t>
            </a:r>
            <a:r>
              <a:rPr lang="fr-FR" sz="2400" b="0" i="0" dirty="0">
                <a:solidFill>
                  <a:srgbClr val="ECECEC"/>
                </a:solidFill>
                <a:effectLst/>
                <a:latin typeface="Söhne"/>
              </a:rPr>
              <a:t> platforms.</a:t>
            </a:r>
          </a:p>
          <a:p>
            <a:pPr algn="l">
              <a:buFont typeface="Arial" panose="020B0604020202020204" pitchFamily="34" charset="0"/>
              <a:buChar char="•"/>
            </a:pPr>
            <a:r>
              <a:rPr lang="fr-FR" sz="2400" b="0" i="0" dirty="0" err="1">
                <a:solidFill>
                  <a:srgbClr val="ECECEC"/>
                </a:solidFill>
                <a:effectLst/>
                <a:latin typeface="Söhne"/>
              </a:rPr>
              <a:t>They</a:t>
            </a:r>
            <a:r>
              <a:rPr lang="fr-FR" sz="2400" b="0" i="0" dirty="0">
                <a:solidFill>
                  <a:srgbClr val="ECECEC"/>
                </a:solidFill>
                <a:effectLst/>
                <a:latin typeface="Söhne"/>
              </a:rPr>
              <a:t> </a:t>
            </a:r>
            <a:r>
              <a:rPr lang="fr-FR" sz="2400" b="0" i="0" dirty="0" err="1">
                <a:solidFill>
                  <a:srgbClr val="ECECEC"/>
                </a:solidFill>
                <a:effectLst/>
                <a:latin typeface="Söhne"/>
              </a:rPr>
              <a:t>allow</a:t>
            </a:r>
            <a:r>
              <a:rPr lang="fr-FR" sz="2400" b="0" i="0" dirty="0">
                <a:solidFill>
                  <a:srgbClr val="ECECEC"/>
                </a:solidFill>
                <a:effectLst/>
                <a:latin typeface="Söhne"/>
              </a:rPr>
              <a:t> for "code once, run </a:t>
            </a:r>
            <a:r>
              <a:rPr lang="fr-FR" sz="2400" b="0" i="0" dirty="0" err="1">
                <a:solidFill>
                  <a:srgbClr val="ECECEC"/>
                </a:solidFill>
                <a:effectLst/>
                <a:latin typeface="Söhne"/>
              </a:rPr>
              <a:t>anywhere</a:t>
            </a:r>
            <a:r>
              <a:rPr lang="fr-FR" sz="2400" b="0" i="0" dirty="0">
                <a:solidFill>
                  <a:srgbClr val="ECECEC"/>
                </a:solidFill>
                <a:effectLst/>
                <a:latin typeface="Söhne"/>
              </a:rPr>
              <a:t>" </a:t>
            </a:r>
            <a:r>
              <a:rPr lang="fr-FR" sz="2400" b="0" i="0" dirty="0" err="1">
                <a:solidFill>
                  <a:srgbClr val="ECECEC"/>
                </a:solidFill>
                <a:effectLst/>
                <a:latin typeface="Söhne"/>
              </a:rPr>
              <a:t>capability</a:t>
            </a:r>
            <a:r>
              <a:rPr lang="fr-FR" sz="2400" b="0" i="0" dirty="0">
                <a:solidFill>
                  <a:srgbClr val="ECECEC"/>
                </a:solidFill>
                <a:effectLst/>
                <a:latin typeface="Söhne"/>
              </a:rPr>
              <a:t>, </a:t>
            </a:r>
            <a:r>
              <a:rPr lang="fr-FR" sz="2400" b="0" i="0" dirty="0" err="1">
                <a:solidFill>
                  <a:srgbClr val="ECECEC"/>
                </a:solidFill>
                <a:effectLst/>
                <a:latin typeface="Söhne"/>
              </a:rPr>
              <a:t>facilitating</a:t>
            </a:r>
            <a:r>
              <a:rPr lang="fr-FR" sz="2400" b="0" i="0" dirty="0">
                <a:solidFill>
                  <a:srgbClr val="ECECEC"/>
                </a:solidFill>
                <a:effectLst/>
                <a:latin typeface="Söhne"/>
              </a:rPr>
              <a:t> </a:t>
            </a:r>
            <a:r>
              <a:rPr lang="fr-FR" sz="2400" b="0" i="0" dirty="0" err="1">
                <a:solidFill>
                  <a:srgbClr val="ECECEC"/>
                </a:solidFill>
                <a:effectLst/>
                <a:latin typeface="Söhne"/>
              </a:rPr>
              <a:t>deployment</a:t>
            </a:r>
            <a:r>
              <a:rPr lang="fr-FR" sz="2400" b="0" i="0" dirty="0">
                <a:solidFill>
                  <a:srgbClr val="ECECEC"/>
                </a:solidFill>
                <a:effectLst/>
                <a:latin typeface="Söhne"/>
              </a:rPr>
              <a:t> </a:t>
            </a:r>
            <a:r>
              <a:rPr lang="fr-FR" sz="2400" b="0" i="0" dirty="0" err="1">
                <a:solidFill>
                  <a:srgbClr val="ECECEC"/>
                </a:solidFill>
                <a:effectLst/>
                <a:latin typeface="Söhne"/>
              </a:rPr>
              <a:t>across</a:t>
            </a:r>
            <a:r>
              <a:rPr lang="fr-FR" sz="2400" b="0" i="0" dirty="0">
                <a:solidFill>
                  <a:srgbClr val="ECECEC"/>
                </a:solidFill>
                <a:effectLst/>
                <a:latin typeface="Söhne"/>
              </a:rPr>
              <a:t> </a:t>
            </a:r>
            <a:r>
              <a:rPr lang="fr-FR" sz="2400" b="0" i="0" dirty="0" err="1">
                <a:solidFill>
                  <a:srgbClr val="ECECEC"/>
                </a:solidFill>
                <a:effectLst/>
                <a:latin typeface="Söhne"/>
              </a:rPr>
              <a:t>different</a:t>
            </a:r>
            <a:r>
              <a:rPr lang="fr-FR" sz="2400" b="0" i="0" dirty="0">
                <a:solidFill>
                  <a:srgbClr val="ECECEC"/>
                </a:solidFill>
                <a:effectLst/>
                <a:latin typeface="Söhne"/>
              </a:rPr>
              <a:t> infrastructures.</a:t>
            </a:r>
          </a:p>
          <a:p>
            <a:pPr algn="l">
              <a:buFont typeface="Arial" panose="020B0604020202020204" pitchFamily="34" charset="0"/>
              <a:buChar char="•"/>
            </a:pPr>
            <a:r>
              <a:rPr lang="fr-FR" sz="2400" b="0" i="0" dirty="0">
                <a:solidFill>
                  <a:srgbClr val="ECECEC"/>
                </a:solidFill>
                <a:effectLst/>
                <a:latin typeface="Söhne"/>
              </a:rPr>
              <a:t>Containers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easily</a:t>
            </a:r>
            <a:r>
              <a:rPr lang="fr-FR" sz="2400" b="0" i="0" dirty="0">
                <a:solidFill>
                  <a:srgbClr val="ECECEC"/>
                </a:solidFill>
                <a:effectLst/>
                <a:latin typeface="Söhne"/>
              </a:rPr>
              <a:t> </a:t>
            </a:r>
            <a:r>
              <a:rPr lang="fr-FR" sz="2400" b="0" i="0" dirty="0" err="1">
                <a:solidFill>
                  <a:srgbClr val="ECECEC"/>
                </a:solidFill>
                <a:effectLst/>
                <a:latin typeface="Söhne"/>
              </a:rPr>
              <a:t>scaled</a:t>
            </a:r>
            <a:r>
              <a:rPr lang="fr-FR" sz="2400" b="0" i="0" dirty="0">
                <a:solidFill>
                  <a:srgbClr val="ECECEC"/>
                </a:solidFill>
                <a:effectLst/>
                <a:latin typeface="Söhne"/>
              </a:rPr>
              <a:t> to </a:t>
            </a:r>
            <a:r>
              <a:rPr lang="fr-FR" sz="2400" b="0" i="0" dirty="0" err="1">
                <a:solidFill>
                  <a:srgbClr val="ECECEC"/>
                </a:solidFill>
                <a:effectLst/>
                <a:latin typeface="Söhne"/>
              </a:rPr>
              <a:t>meet</a:t>
            </a:r>
            <a:r>
              <a:rPr lang="fr-FR" sz="2400" b="0" i="0" dirty="0">
                <a:solidFill>
                  <a:srgbClr val="ECECEC"/>
                </a:solidFill>
                <a:effectLst/>
                <a:latin typeface="Söhne"/>
              </a:rPr>
              <a:t> </a:t>
            </a:r>
            <a:r>
              <a:rPr lang="fr-FR" sz="2400" b="0" i="0" dirty="0" err="1">
                <a:solidFill>
                  <a:srgbClr val="ECECEC"/>
                </a:solidFill>
                <a:effectLst/>
                <a:latin typeface="Söhne"/>
              </a:rPr>
              <a:t>demand</a:t>
            </a:r>
            <a:r>
              <a:rPr lang="fr-FR" sz="2400" b="0" i="0" dirty="0">
                <a:solidFill>
                  <a:srgbClr val="ECECEC"/>
                </a:solidFill>
                <a:effectLst/>
                <a:latin typeface="Söhne"/>
              </a:rPr>
              <a:t>, </a:t>
            </a:r>
            <a:r>
              <a:rPr lang="fr-FR" sz="2400" b="0" i="0" dirty="0" err="1">
                <a:solidFill>
                  <a:srgbClr val="ECECEC"/>
                </a:solidFill>
                <a:effectLst/>
                <a:latin typeface="Söhne"/>
              </a:rPr>
              <a:t>enabling</a:t>
            </a:r>
            <a:r>
              <a:rPr lang="fr-FR" sz="2400" b="0" i="0" dirty="0">
                <a:solidFill>
                  <a:srgbClr val="ECECEC"/>
                </a:solidFill>
                <a:effectLst/>
                <a:latin typeface="Söhne"/>
              </a:rPr>
              <a:t> </a:t>
            </a:r>
            <a:r>
              <a:rPr lang="fr-FR" sz="2400" b="0" i="0" dirty="0" err="1">
                <a:solidFill>
                  <a:srgbClr val="ECECEC"/>
                </a:solidFill>
                <a:effectLst/>
                <a:latin typeface="Söhne"/>
              </a:rPr>
              <a:t>rapid</a:t>
            </a:r>
            <a:r>
              <a:rPr lang="fr-FR" sz="2400" b="0" i="0" dirty="0">
                <a:solidFill>
                  <a:srgbClr val="ECECEC"/>
                </a:solidFill>
                <a:effectLst/>
                <a:latin typeface="Söhne"/>
              </a:rPr>
              <a:t> and efficient application </a:t>
            </a:r>
            <a:r>
              <a:rPr lang="fr-FR" sz="2400" b="0" i="0" dirty="0" err="1">
                <a:solidFill>
                  <a:srgbClr val="ECECEC"/>
                </a:solidFill>
                <a:effectLst/>
                <a:latin typeface="Söhne"/>
              </a:rPr>
              <a:t>deployment</a:t>
            </a:r>
            <a:r>
              <a:rPr lang="fr-FR" sz="24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7456924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34632" y="281676"/>
            <a:ext cx="11530647" cy="1293028"/>
          </a:xfrm>
        </p:spPr>
        <p:txBody>
          <a:bodyPr>
            <a:normAutofit/>
          </a:bodyPr>
          <a:lstStyle/>
          <a:p>
            <a:pPr algn="l"/>
            <a:r>
              <a:rPr lang="fr-FR" sz="3200" dirty="0" err="1"/>
              <a:t>kubernetes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an open-source platform for </a:t>
            </a:r>
            <a:r>
              <a:rPr lang="fr-FR" sz="2000" b="0" i="0" dirty="0" err="1">
                <a:solidFill>
                  <a:srgbClr val="ECECEC"/>
                </a:solidFill>
                <a:effectLst/>
                <a:latin typeface="Söhne"/>
              </a:rPr>
              <a:t>managing</a:t>
            </a:r>
            <a:r>
              <a:rPr lang="fr-FR" sz="2000" b="0" i="0" dirty="0">
                <a:solidFill>
                  <a:srgbClr val="ECECEC"/>
                </a:solidFill>
                <a:effectLst/>
                <a:latin typeface="Söhne"/>
              </a:rPr>
              <a:t> </a:t>
            </a:r>
            <a:r>
              <a:rPr lang="fr-FR" sz="2000" b="0" i="0" dirty="0" err="1">
                <a:solidFill>
                  <a:srgbClr val="ECECEC"/>
                </a:solidFill>
                <a:effectLst/>
                <a:latin typeface="Söhne"/>
              </a:rPr>
              <a:t>containerized</a:t>
            </a:r>
            <a:r>
              <a:rPr lang="fr-FR" sz="2000" b="0" i="0" dirty="0">
                <a:solidFill>
                  <a:srgbClr val="ECECEC"/>
                </a:solidFill>
                <a:effectLst/>
                <a:latin typeface="Söhne"/>
              </a:rPr>
              <a:t> </a:t>
            </a:r>
            <a:r>
              <a:rPr lang="fr-FR" sz="2000" b="0" i="0" dirty="0" err="1">
                <a:solidFill>
                  <a:srgbClr val="ECECEC"/>
                </a:solidFill>
                <a:effectLst/>
                <a:latin typeface="Söhne"/>
              </a:rPr>
              <a:t>workloads</a:t>
            </a:r>
            <a:r>
              <a:rPr lang="fr-FR" sz="2000" b="0" i="0" dirty="0">
                <a:solidFill>
                  <a:srgbClr val="ECECEC"/>
                </a:solidFill>
                <a:effectLst/>
                <a:latin typeface="Söhne"/>
              </a:rPr>
              <a:t> and services.</a:t>
            </a:r>
          </a:p>
          <a:p>
            <a:pPr algn="l">
              <a:buFont typeface="Arial" panose="020B0604020202020204" pitchFamily="34" charset="0"/>
              <a:buChar char="•"/>
            </a:pPr>
            <a:r>
              <a:rPr lang="fr-FR" sz="2000" b="0" i="0" dirty="0">
                <a:solidFill>
                  <a:srgbClr val="ECECEC"/>
                </a:solidFill>
                <a:effectLst/>
                <a:latin typeface="Söhne"/>
              </a:rPr>
              <a:t>It </a:t>
            </a:r>
            <a:r>
              <a:rPr lang="fr-FR" sz="2000" b="0" i="0" dirty="0" err="1">
                <a:solidFill>
                  <a:srgbClr val="ECECEC"/>
                </a:solidFill>
                <a:effectLst/>
                <a:latin typeface="Söhne"/>
              </a:rPr>
              <a:t>allows</a:t>
            </a:r>
            <a:r>
              <a:rPr lang="fr-FR" sz="2000" b="0" i="0" dirty="0">
                <a:solidFill>
                  <a:srgbClr val="ECECEC"/>
                </a:solidFill>
                <a:effectLst/>
                <a:latin typeface="Söhne"/>
              </a:rPr>
              <a:t> for the orchestration of </a:t>
            </a:r>
            <a:r>
              <a:rPr lang="fr-FR" sz="2000" b="0" i="0" dirty="0" err="1">
                <a:solidFill>
                  <a:srgbClr val="ECECEC"/>
                </a:solidFill>
                <a:effectLst/>
                <a:latin typeface="Söhne"/>
              </a:rPr>
              <a:t>numerous</a:t>
            </a:r>
            <a:r>
              <a:rPr lang="fr-FR" sz="2000" b="0" i="0" dirty="0">
                <a:solidFill>
                  <a:srgbClr val="ECECEC"/>
                </a:solidFill>
                <a:effectLst/>
                <a:latin typeface="Söhne"/>
              </a:rPr>
              <a:t> containers </a:t>
            </a:r>
            <a:r>
              <a:rPr lang="fr-FR" sz="2000" b="0" i="0" dirty="0" err="1">
                <a:solidFill>
                  <a:srgbClr val="ECECEC"/>
                </a:solidFill>
                <a:effectLst/>
                <a:latin typeface="Söhne"/>
              </a:rPr>
              <a:t>across</a:t>
            </a:r>
            <a:r>
              <a:rPr lang="fr-FR" sz="2000" b="0" i="0" dirty="0">
                <a:solidFill>
                  <a:srgbClr val="ECECEC"/>
                </a:solidFill>
                <a:effectLst/>
                <a:latin typeface="Söhne"/>
              </a:rPr>
              <a:t> multiple hosts, </a:t>
            </a:r>
            <a:r>
              <a:rPr lang="fr-FR" sz="2000" b="0" i="0" dirty="0" err="1">
                <a:solidFill>
                  <a:srgbClr val="ECECEC"/>
                </a:solidFill>
                <a:effectLst/>
                <a:latin typeface="Söhne"/>
              </a:rPr>
              <a:t>scaling</a:t>
            </a:r>
            <a:r>
              <a:rPr lang="fr-FR" sz="2000" b="0" i="0" dirty="0">
                <a:solidFill>
                  <a:srgbClr val="ECECEC"/>
                </a:solidFill>
                <a:effectLst/>
                <a:latin typeface="Söhne"/>
              </a:rPr>
              <a:t> </a:t>
            </a:r>
            <a:r>
              <a:rPr lang="fr-FR" sz="2000" b="0" i="0" dirty="0" err="1">
                <a:solidFill>
                  <a:srgbClr val="ECECEC"/>
                </a:solidFill>
                <a:effectLst/>
                <a:latin typeface="Söhne"/>
              </a:rPr>
              <a:t>them</a:t>
            </a:r>
            <a:r>
              <a:rPr lang="fr-FR" sz="2000" b="0" i="0" dirty="0">
                <a:solidFill>
                  <a:srgbClr val="ECECEC"/>
                </a:solidFill>
                <a:effectLst/>
                <a:latin typeface="Söhne"/>
              </a:rPr>
              <a:t> </a:t>
            </a:r>
            <a:r>
              <a:rPr lang="fr-FR" sz="2000" b="0" i="0" dirty="0" err="1">
                <a:solidFill>
                  <a:srgbClr val="ECECEC"/>
                </a:solidFill>
                <a:effectLst/>
                <a:latin typeface="Söhne"/>
              </a:rPr>
              <a:t>into</a:t>
            </a:r>
            <a:r>
              <a:rPr lang="fr-FR" sz="2000" b="0" i="0" dirty="0">
                <a:solidFill>
                  <a:srgbClr val="ECECEC"/>
                </a:solidFill>
                <a:effectLst/>
                <a:latin typeface="Söhne"/>
              </a:rPr>
              <a:t> </a:t>
            </a:r>
            <a:r>
              <a:rPr lang="fr-FR" sz="2000" b="0" i="0" dirty="0" err="1">
                <a:solidFill>
                  <a:srgbClr val="ECECEC"/>
                </a:solidFill>
                <a:effectLst/>
                <a:latin typeface="Söhne"/>
              </a:rPr>
              <a:t>microservices</a:t>
            </a:r>
            <a:r>
              <a:rPr lang="fr-FR" sz="2000" b="0" i="0" dirty="0">
                <a:solidFill>
                  <a:srgbClr val="ECECEC"/>
                </a:solidFill>
                <a:effectLst/>
                <a:latin typeface="Söhne"/>
              </a:rPr>
              <a:t>, and </a:t>
            </a:r>
            <a:r>
              <a:rPr lang="fr-FR" sz="2000" b="0" i="0" dirty="0" err="1">
                <a:solidFill>
                  <a:srgbClr val="ECECEC"/>
                </a:solidFill>
                <a:effectLst/>
                <a:latin typeface="Söhne"/>
              </a:rPr>
              <a:t>deploying</a:t>
            </a:r>
            <a:r>
              <a:rPr lang="fr-FR" sz="2000" b="0" i="0" dirty="0">
                <a:solidFill>
                  <a:srgbClr val="ECECEC"/>
                </a:solidFill>
                <a:effectLst/>
                <a:latin typeface="Söhne"/>
              </a:rPr>
              <a:t> and </a:t>
            </a:r>
            <a:r>
              <a:rPr lang="fr-FR" sz="2000" b="0" i="0" dirty="0" err="1">
                <a:solidFill>
                  <a:srgbClr val="ECECEC"/>
                </a:solidFill>
                <a:effectLst/>
                <a:latin typeface="Söhne"/>
              </a:rPr>
              <a:t>rolling</a:t>
            </a:r>
            <a:r>
              <a:rPr lang="fr-FR" sz="2000" b="0" i="0" dirty="0">
                <a:solidFill>
                  <a:srgbClr val="ECECEC"/>
                </a:solidFill>
                <a:effectLst/>
                <a:latin typeface="Söhne"/>
              </a:rPr>
              <a:t> back updates.</a:t>
            </a:r>
          </a:p>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a:t>
            </a:r>
            <a:r>
              <a:rPr lang="fr-FR" sz="2000" b="0" i="0" dirty="0" err="1">
                <a:solidFill>
                  <a:srgbClr val="ECECEC"/>
                </a:solidFill>
                <a:effectLst/>
                <a:latin typeface="Söhne"/>
              </a:rPr>
              <a:t>consists</a:t>
            </a:r>
            <a:r>
              <a:rPr lang="fr-FR" sz="2000" b="0" i="0" dirty="0">
                <a:solidFill>
                  <a:srgbClr val="ECECEC"/>
                </a:solidFill>
                <a:effectLst/>
                <a:latin typeface="Söhne"/>
              </a:rPr>
              <a:t> of a set of APIs for </a:t>
            </a:r>
            <a:r>
              <a:rPr lang="fr-FR" sz="2000" b="0" i="0" dirty="0" err="1">
                <a:solidFill>
                  <a:srgbClr val="ECECEC"/>
                </a:solidFill>
                <a:effectLst/>
                <a:latin typeface="Söhne"/>
              </a:rPr>
              <a:t>deploying</a:t>
            </a:r>
            <a:r>
              <a:rPr lang="fr-FR" sz="2000" b="0" i="0" dirty="0">
                <a:solidFill>
                  <a:srgbClr val="ECECEC"/>
                </a:solidFill>
                <a:effectLst/>
                <a:latin typeface="Söhne"/>
              </a:rPr>
              <a:t> containers onto a cluster of </a:t>
            </a:r>
            <a:r>
              <a:rPr lang="fr-FR" sz="2000" b="0" i="0" dirty="0" err="1">
                <a:solidFill>
                  <a:srgbClr val="ECECEC"/>
                </a:solidFill>
                <a:effectLst/>
                <a:latin typeface="Söhne"/>
              </a:rPr>
              <a:t>nodes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nodes</a:t>
            </a:r>
            <a:r>
              <a:rPr lang="fr-FR" sz="2000" b="0" i="0" dirty="0">
                <a:solidFill>
                  <a:srgbClr val="ECECEC"/>
                </a:solidFill>
                <a:effectLst/>
                <a:latin typeface="Söhne"/>
              </a:rPr>
              <a:t> in the cluster run the containers, </a:t>
            </a:r>
            <a:r>
              <a:rPr lang="fr-FR" sz="2000" b="0" i="0" dirty="0" err="1">
                <a:solidFill>
                  <a:srgbClr val="ECECEC"/>
                </a:solidFill>
                <a:effectLst/>
                <a:latin typeface="Söhne"/>
              </a:rPr>
              <a:t>while</a:t>
            </a:r>
            <a:r>
              <a:rPr lang="fr-FR" sz="2000" b="0" i="0" dirty="0">
                <a:solidFill>
                  <a:srgbClr val="ECECEC"/>
                </a:solidFill>
                <a:effectLst/>
                <a:latin typeface="Söhne"/>
              </a:rPr>
              <a:t> the control plane manages </a:t>
            </a:r>
            <a:r>
              <a:rPr lang="fr-FR" sz="2000" b="0" i="0" dirty="0" err="1">
                <a:solidFill>
                  <a:srgbClr val="ECECEC"/>
                </a:solidFill>
                <a:effectLst/>
                <a:latin typeface="Söhne"/>
              </a:rPr>
              <a:t>their</a:t>
            </a:r>
            <a:r>
              <a:rPr lang="fr-FR" sz="2000" b="0" i="0" dirty="0">
                <a:solidFill>
                  <a:srgbClr val="ECECEC"/>
                </a:solidFill>
                <a:effectLst/>
                <a:latin typeface="Söhne"/>
              </a:rPr>
              <a:t> </a:t>
            </a:r>
            <a:r>
              <a:rPr lang="fr-FR" sz="2000" b="0" i="0" dirty="0" err="1">
                <a:solidFill>
                  <a:srgbClr val="ECECEC"/>
                </a:solidFill>
                <a:effectLst/>
                <a:latin typeface="Söhne"/>
              </a:rPr>
              <a:t>deployment</a:t>
            </a:r>
            <a:r>
              <a:rPr lang="fr-FR" sz="2000" b="0" i="0" dirty="0">
                <a:solidFill>
                  <a:srgbClr val="ECECEC"/>
                </a:solidFill>
                <a:effectLst/>
                <a:latin typeface="Söhne"/>
              </a:rPr>
              <a:t> and state.</a:t>
            </a:r>
          </a:p>
          <a:p>
            <a:pPr algn="l">
              <a:buFont typeface="Arial" panose="020B0604020202020204" pitchFamily="34" charset="0"/>
              <a:buChar char="•"/>
            </a:pPr>
            <a:r>
              <a:rPr lang="fr-FR" sz="2000" b="0" i="0" dirty="0" err="1">
                <a:solidFill>
                  <a:srgbClr val="ECECEC"/>
                </a:solidFill>
                <a:effectLst/>
                <a:latin typeface="Söhne"/>
              </a:rPr>
              <a:t>Pods</a:t>
            </a:r>
            <a:r>
              <a:rPr lang="fr-FR" sz="2000" b="0" i="0" dirty="0">
                <a:solidFill>
                  <a:srgbClr val="ECECEC"/>
                </a:solidFill>
                <a:effectLst/>
                <a:latin typeface="Söhne"/>
              </a:rPr>
              <a:t> are the basic </a:t>
            </a:r>
            <a:r>
              <a:rPr lang="fr-FR" sz="2000" b="0" i="0" dirty="0" err="1">
                <a:solidFill>
                  <a:srgbClr val="ECECEC"/>
                </a:solidFill>
                <a:effectLst/>
                <a:latin typeface="Söhne"/>
              </a:rPr>
              <a:t>units</a:t>
            </a:r>
            <a:r>
              <a:rPr lang="fr-FR" sz="2000" b="0" i="0" dirty="0">
                <a:solidFill>
                  <a:srgbClr val="ECECEC"/>
                </a:solidFill>
                <a:effectLst/>
                <a:latin typeface="Söhne"/>
              </a:rPr>
              <a:t> in </a:t>
            </a:r>
            <a:r>
              <a:rPr lang="fr-FR" sz="2000" b="0" i="0" dirty="0" err="1">
                <a:solidFill>
                  <a:srgbClr val="ECECEC"/>
                </a:solidFill>
                <a:effectLst/>
                <a:latin typeface="Söhne"/>
              </a:rPr>
              <a:t>Kubernetes</a:t>
            </a:r>
            <a:r>
              <a:rPr lang="fr-FR" sz="2000" b="0" i="0" dirty="0">
                <a:solidFill>
                  <a:srgbClr val="ECECEC"/>
                </a:solidFill>
                <a:effectLst/>
                <a:latin typeface="Söhne"/>
              </a:rPr>
              <a:t>, </a:t>
            </a:r>
            <a:r>
              <a:rPr lang="fr-FR" sz="2000" b="0" i="0" dirty="0" err="1">
                <a:solidFill>
                  <a:srgbClr val="ECECEC"/>
                </a:solidFill>
                <a:effectLst/>
                <a:latin typeface="Söhne"/>
              </a:rPr>
              <a:t>representing</a:t>
            </a:r>
            <a:r>
              <a:rPr lang="fr-FR" sz="2000" b="0" i="0" dirty="0">
                <a:solidFill>
                  <a:srgbClr val="ECECEC"/>
                </a:solidFill>
                <a:effectLst/>
                <a:latin typeface="Söhne"/>
              </a:rPr>
              <a:t> </a:t>
            </a:r>
            <a:r>
              <a:rPr lang="fr-FR" sz="2000" b="0" i="0" dirty="0" err="1">
                <a:solidFill>
                  <a:srgbClr val="ECECEC"/>
                </a:solidFill>
                <a:effectLst/>
                <a:latin typeface="Söhne"/>
              </a:rPr>
              <a:t>individual</a:t>
            </a:r>
            <a:r>
              <a:rPr lang="fr-FR" sz="2000" b="0" i="0" dirty="0">
                <a:solidFill>
                  <a:srgbClr val="ECECEC"/>
                </a:solidFill>
                <a:effectLst/>
                <a:latin typeface="Söhne"/>
              </a:rPr>
              <a:t> </a:t>
            </a:r>
            <a:r>
              <a:rPr lang="fr-FR" sz="2000" b="0" i="0" dirty="0" err="1">
                <a:solidFill>
                  <a:srgbClr val="ECECEC"/>
                </a:solidFill>
                <a:effectLst/>
                <a:latin typeface="Söhne"/>
              </a:rPr>
              <a:t>processes</a:t>
            </a:r>
            <a:r>
              <a:rPr lang="fr-FR" sz="2000" b="0" i="0" dirty="0">
                <a:solidFill>
                  <a:srgbClr val="ECECEC"/>
                </a:solidFill>
                <a:effectLst/>
                <a:latin typeface="Söhne"/>
              </a:rPr>
              <a:t> or </a:t>
            </a:r>
            <a:r>
              <a:rPr lang="fr-FR" sz="2000" b="0" i="0" dirty="0" err="1">
                <a:solidFill>
                  <a:srgbClr val="ECECEC"/>
                </a:solidFill>
                <a:effectLst/>
                <a:latin typeface="Söhne"/>
              </a:rPr>
              <a:t>entire</a:t>
            </a:r>
            <a:r>
              <a:rPr lang="fr-FR" sz="2000" b="0" i="0" dirty="0">
                <a:solidFill>
                  <a:srgbClr val="ECECEC"/>
                </a:solidFill>
                <a:effectLst/>
                <a:latin typeface="Söhne"/>
              </a:rPr>
              <a:t> applications.</a:t>
            </a:r>
          </a:p>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enables </a:t>
            </a:r>
            <a:r>
              <a:rPr lang="fr-FR" sz="2000" b="0" i="0" dirty="0" err="1">
                <a:solidFill>
                  <a:srgbClr val="ECECEC"/>
                </a:solidFill>
                <a:effectLst/>
                <a:latin typeface="Söhne"/>
              </a:rPr>
              <a:t>specifying</a:t>
            </a:r>
            <a:r>
              <a:rPr lang="fr-FR" sz="2000" b="0" i="0" dirty="0">
                <a:solidFill>
                  <a:srgbClr val="ECECEC"/>
                </a:solidFill>
                <a:effectLst/>
                <a:latin typeface="Söhne"/>
              </a:rPr>
              <a:t> how applications </a:t>
            </a:r>
            <a:r>
              <a:rPr lang="fr-FR" sz="2000" b="0" i="0" dirty="0" err="1">
                <a:solidFill>
                  <a:srgbClr val="ECECEC"/>
                </a:solidFill>
                <a:effectLst/>
                <a:latin typeface="Söhne"/>
              </a:rPr>
              <a:t>should</a:t>
            </a:r>
            <a:r>
              <a:rPr lang="fr-FR" sz="2000" b="0" i="0" dirty="0">
                <a:solidFill>
                  <a:srgbClr val="ECECEC"/>
                </a:solidFill>
                <a:effectLst/>
                <a:latin typeface="Söhne"/>
              </a:rPr>
              <a:t> </a:t>
            </a:r>
            <a:r>
              <a:rPr lang="fr-FR" sz="2000" b="0" i="0" dirty="0" err="1">
                <a:solidFill>
                  <a:srgbClr val="ECECEC"/>
                </a:solidFill>
                <a:effectLst/>
                <a:latin typeface="Söhne"/>
              </a:rPr>
              <a:t>interact</a:t>
            </a:r>
            <a:r>
              <a:rPr lang="fr-FR" sz="2000" b="0" i="0" dirty="0">
                <a:solidFill>
                  <a:srgbClr val="ECECEC"/>
                </a:solidFill>
                <a:effectLst/>
                <a:latin typeface="Söhne"/>
              </a:rPr>
              <a:t> and manages </a:t>
            </a:r>
            <a:r>
              <a:rPr lang="fr-FR" sz="2000" b="0" i="0" dirty="0" err="1">
                <a:solidFill>
                  <a:srgbClr val="ECECEC"/>
                </a:solidFill>
                <a:effectLst/>
                <a:latin typeface="Söhne"/>
              </a:rPr>
              <a:t>shared</a:t>
            </a:r>
            <a:r>
              <a:rPr lang="fr-FR" sz="2000" b="0" i="0" dirty="0">
                <a:solidFill>
                  <a:srgbClr val="ECECEC"/>
                </a:solidFill>
                <a:effectLst/>
                <a:latin typeface="Söhne"/>
              </a:rPr>
              <a:t> </a:t>
            </a:r>
            <a:r>
              <a:rPr lang="fr-FR" sz="2000" b="0" i="0" dirty="0" err="1">
                <a:solidFill>
                  <a:srgbClr val="ECECEC"/>
                </a:solidFill>
                <a:effectLst/>
                <a:latin typeface="Söhne"/>
              </a:rPr>
              <a:t>resources</a:t>
            </a:r>
            <a:r>
              <a:rPr lang="fr-FR" sz="2000" b="0" i="0" dirty="0">
                <a:solidFill>
                  <a:srgbClr val="ECECEC"/>
                </a:solidFill>
                <a:effectLst/>
                <a:latin typeface="Söhne"/>
              </a:rPr>
              <a:t> </a:t>
            </a:r>
            <a:r>
              <a:rPr lang="fr-FR" sz="2000" b="0" i="0" dirty="0" err="1">
                <a:solidFill>
                  <a:srgbClr val="ECECEC"/>
                </a:solidFill>
                <a:effectLst/>
                <a:latin typeface="Söhne"/>
              </a:rPr>
              <a:t>among</a:t>
            </a:r>
            <a:r>
              <a:rPr lang="fr-FR" sz="2000" b="0" i="0" dirty="0">
                <a:solidFill>
                  <a:srgbClr val="ECECEC"/>
                </a:solidFill>
                <a:effectLst/>
                <a:latin typeface="Söhne"/>
              </a:rPr>
              <a:t> containers.</a:t>
            </a:r>
          </a:p>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clusters can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created</a:t>
            </a:r>
            <a:r>
              <a:rPr lang="fr-FR" sz="2000" b="0" i="0" dirty="0">
                <a:solidFill>
                  <a:srgbClr val="ECECEC"/>
                </a:solidFill>
                <a:effectLst/>
                <a:latin typeface="Söhne"/>
              </a:rPr>
              <a:t> and </a:t>
            </a:r>
            <a:r>
              <a:rPr lang="fr-FR" sz="2000" b="0" i="0" dirty="0" err="1">
                <a:solidFill>
                  <a:srgbClr val="ECECEC"/>
                </a:solidFill>
                <a:effectLst/>
                <a:latin typeface="Söhne"/>
              </a:rPr>
              <a:t>managed</a:t>
            </a:r>
            <a:r>
              <a:rPr lang="fr-FR" sz="2000" b="0" i="0" dirty="0">
                <a:solidFill>
                  <a:srgbClr val="ECECEC"/>
                </a:solidFill>
                <a:effectLst/>
                <a:latin typeface="Söhne"/>
              </a:rPr>
              <a:t> </a:t>
            </a:r>
            <a:r>
              <a:rPr lang="fr-FR" sz="2000" b="0" i="0" dirty="0" err="1">
                <a:solidFill>
                  <a:srgbClr val="ECECEC"/>
                </a:solidFill>
                <a:effectLst/>
                <a:latin typeface="Söhne"/>
              </a:rPr>
              <a:t>using</a:t>
            </a:r>
            <a:r>
              <a:rPr lang="fr-FR" sz="2000" b="0" i="0" dirty="0">
                <a:solidFill>
                  <a:srgbClr val="ECECEC"/>
                </a:solidFill>
                <a:effectLst/>
                <a:latin typeface="Söhne"/>
              </a:rPr>
              <a:t> Google </a:t>
            </a:r>
            <a:r>
              <a:rPr lang="fr-FR" sz="2000" b="0" i="0" dirty="0" err="1">
                <a:solidFill>
                  <a:srgbClr val="ECECEC"/>
                </a:solidFill>
                <a:effectLst/>
                <a:latin typeface="Söhne"/>
              </a:rPr>
              <a:t>Kubernetes</a:t>
            </a:r>
            <a:r>
              <a:rPr lang="fr-FR" sz="2000" b="0" i="0" dirty="0">
                <a:solidFill>
                  <a:srgbClr val="ECECEC"/>
                </a:solidFill>
                <a:effectLst/>
                <a:latin typeface="Söhne"/>
              </a:rPr>
              <a:t> Engine via the Cloud console or </a:t>
            </a:r>
            <a:r>
              <a:rPr lang="fr-FR" sz="2000" b="0" i="0" dirty="0" err="1">
                <a:solidFill>
                  <a:srgbClr val="ECECEC"/>
                </a:solidFill>
                <a:effectLst/>
                <a:latin typeface="Söhne"/>
              </a:rPr>
              <a:t>gcloud</a:t>
            </a:r>
            <a:r>
              <a:rPr lang="fr-FR" sz="2000" b="0" i="0" dirty="0">
                <a:solidFill>
                  <a:srgbClr val="ECECEC"/>
                </a:solidFill>
                <a:effectLst/>
                <a:latin typeface="Söhne"/>
              </a:rPr>
              <a:t> </a:t>
            </a:r>
            <a:r>
              <a:rPr lang="fr-FR" sz="2000" b="0" i="0" dirty="0" err="1">
                <a:solidFill>
                  <a:srgbClr val="ECECEC"/>
                </a:solidFill>
                <a:effectLst/>
                <a:latin typeface="Söhne"/>
              </a:rPr>
              <a:t>commands</a:t>
            </a:r>
            <a:r>
              <a:rPr lang="fr-FR" sz="20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3405469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err="1"/>
              <a:t>kubernetes</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00F0D414-5C7E-5E3B-8455-3637912FD9C9}"/>
              </a:ext>
            </a:extLst>
          </p:cNvPr>
          <p:cNvPicPr>
            <a:picLocks noChangeAspect="1"/>
          </p:cNvPicPr>
          <p:nvPr/>
        </p:nvPicPr>
        <p:blipFill>
          <a:blip r:embed="rId2"/>
          <a:stretch>
            <a:fillRect/>
          </a:stretch>
        </p:blipFill>
        <p:spPr>
          <a:xfrm>
            <a:off x="5919722" y="2323395"/>
            <a:ext cx="5994103" cy="2666615"/>
          </a:xfrm>
          <a:prstGeom prst="rect">
            <a:avLst/>
          </a:prstGeom>
        </p:spPr>
      </p:pic>
      <p:pic>
        <p:nvPicPr>
          <p:cNvPr id="6" name="Image 5">
            <a:extLst>
              <a:ext uri="{FF2B5EF4-FFF2-40B4-BE49-F238E27FC236}">
                <a16:creationId xmlns:a16="http://schemas.microsoft.com/office/drawing/2014/main" id="{478DF1A6-EC9F-9483-A037-BA1493B6543C}"/>
              </a:ext>
            </a:extLst>
          </p:cNvPr>
          <p:cNvPicPr>
            <a:picLocks noChangeAspect="1"/>
          </p:cNvPicPr>
          <p:nvPr/>
        </p:nvPicPr>
        <p:blipFill>
          <a:blip r:embed="rId3"/>
          <a:stretch>
            <a:fillRect/>
          </a:stretch>
        </p:blipFill>
        <p:spPr>
          <a:xfrm>
            <a:off x="278175" y="2323396"/>
            <a:ext cx="5478568" cy="2666615"/>
          </a:xfrm>
          <a:prstGeom prst="rect">
            <a:avLst/>
          </a:prstGeom>
        </p:spPr>
      </p:pic>
    </p:spTree>
    <p:extLst>
      <p:ext uri="{BB962C8B-B14F-4D97-AF65-F5344CB8AC3E}">
        <p14:creationId xmlns:p14="http://schemas.microsoft.com/office/powerpoint/2010/main" val="4861422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304213"/>
            <a:ext cx="11530647" cy="1293028"/>
          </a:xfrm>
        </p:spPr>
        <p:txBody>
          <a:bodyPr>
            <a:normAutofit/>
          </a:bodyPr>
          <a:lstStyle/>
          <a:p>
            <a:pPr algn="l"/>
            <a:r>
              <a:rPr lang="fr-FR" sz="3200" dirty="0"/>
              <a:t>GOOGLE CLOUD RUN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11121" y="1548562"/>
            <a:ext cx="10769757" cy="4821803"/>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Cloud Run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managed</a:t>
            </a:r>
            <a:r>
              <a:rPr lang="fr-FR" sz="2000" b="0" i="0" dirty="0">
                <a:solidFill>
                  <a:srgbClr val="ECECEC"/>
                </a:solidFill>
                <a:effectLst/>
                <a:latin typeface="Söhne"/>
              </a:rPr>
              <a:t> platform for running </a:t>
            </a:r>
            <a:r>
              <a:rPr lang="fr-FR" sz="2000" b="0" i="0" dirty="0" err="1">
                <a:solidFill>
                  <a:srgbClr val="ECECEC"/>
                </a:solidFill>
                <a:effectLst/>
                <a:latin typeface="Söhne"/>
              </a:rPr>
              <a:t>stateless</a:t>
            </a:r>
            <a:r>
              <a:rPr lang="fr-FR" sz="2000" b="0" i="0" dirty="0">
                <a:solidFill>
                  <a:srgbClr val="ECECEC"/>
                </a:solidFill>
                <a:effectLst/>
                <a:latin typeface="Söhne"/>
              </a:rPr>
              <a:t> containers via web </a:t>
            </a:r>
            <a:r>
              <a:rPr lang="fr-FR" sz="2000" b="0" i="0" dirty="0" err="1">
                <a:solidFill>
                  <a:srgbClr val="ECECEC"/>
                </a:solidFill>
                <a:effectLst/>
                <a:latin typeface="Söhne"/>
              </a:rPr>
              <a:t>requests</a:t>
            </a:r>
            <a:r>
              <a:rPr lang="fr-FR" sz="2000" b="0" i="0" dirty="0">
                <a:solidFill>
                  <a:srgbClr val="ECECEC"/>
                </a:solidFill>
                <a:effectLst/>
                <a:latin typeface="Söhne"/>
              </a:rPr>
              <a:t> or Pub/</a:t>
            </a:r>
            <a:r>
              <a:rPr lang="fr-FR" sz="2000" b="0" i="0" dirty="0" err="1">
                <a:solidFill>
                  <a:srgbClr val="ECECEC"/>
                </a:solidFill>
                <a:effectLst/>
                <a:latin typeface="Söhne"/>
              </a:rPr>
              <a:t>Sub</a:t>
            </a:r>
            <a:r>
              <a:rPr lang="fr-FR" sz="2000" b="0" i="0" dirty="0">
                <a:solidFill>
                  <a:srgbClr val="ECECEC"/>
                </a:solidFill>
                <a:effectLst/>
                <a:latin typeface="Söhne"/>
              </a:rPr>
              <a:t> </a:t>
            </a:r>
            <a:r>
              <a:rPr lang="fr-FR" sz="2000" b="0" i="0" dirty="0" err="1">
                <a:solidFill>
                  <a:srgbClr val="ECECEC"/>
                </a:solidFill>
                <a:effectLst/>
                <a:latin typeface="Söhne"/>
              </a:rPr>
              <a:t>events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It </a:t>
            </a:r>
            <a:r>
              <a:rPr lang="fr-FR" sz="2000" b="0" i="0" dirty="0" err="1">
                <a:solidFill>
                  <a:srgbClr val="ECECEC"/>
                </a:solidFill>
                <a:effectLst/>
                <a:latin typeface="Söhne"/>
              </a:rPr>
              <a:t>is</a:t>
            </a:r>
            <a:r>
              <a:rPr lang="fr-FR" sz="2000" b="0" i="0" dirty="0">
                <a:solidFill>
                  <a:srgbClr val="ECECEC"/>
                </a:solidFill>
                <a:effectLst/>
                <a:latin typeface="Söhne"/>
              </a:rPr>
              <a:t> </a:t>
            </a:r>
            <a:r>
              <a:rPr lang="fr-FR" sz="2000" b="0" i="0" dirty="0" err="1">
                <a:solidFill>
                  <a:srgbClr val="ECECEC"/>
                </a:solidFill>
                <a:effectLst/>
                <a:latin typeface="Söhne"/>
              </a:rPr>
              <a:t>Serverless</a:t>
            </a:r>
            <a:r>
              <a:rPr lang="fr-FR" sz="2000" b="0" i="0" dirty="0">
                <a:solidFill>
                  <a:srgbClr val="ECECEC"/>
                </a:solidFill>
                <a:effectLst/>
                <a:latin typeface="Söhne"/>
              </a:rPr>
              <a:t>, </a:t>
            </a:r>
            <a:r>
              <a:rPr lang="fr-FR" sz="2000" b="0" i="0" dirty="0" err="1">
                <a:solidFill>
                  <a:srgbClr val="ECECEC"/>
                </a:solidFill>
                <a:effectLst/>
                <a:latin typeface="Söhne"/>
              </a:rPr>
              <a:t>eliminating</a:t>
            </a:r>
            <a:r>
              <a:rPr lang="fr-FR" sz="2000" b="0" i="0" dirty="0">
                <a:solidFill>
                  <a:srgbClr val="ECECEC"/>
                </a:solidFill>
                <a:effectLst/>
                <a:latin typeface="Söhne"/>
              </a:rPr>
              <a:t> infrastructure management </a:t>
            </a:r>
            <a:r>
              <a:rPr lang="fr-FR" sz="2000" b="0" i="0" dirty="0" err="1">
                <a:solidFill>
                  <a:srgbClr val="ECECEC"/>
                </a:solidFill>
                <a:effectLst/>
                <a:latin typeface="Söhne"/>
              </a:rPr>
              <a:t>tasks</a:t>
            </a:r>
            <a:r>
              <a:rPr lang="fr-FR" sz="2000" b="0" i="0" dirty="0">
                <a:solidFill>
                  <a:srgbClr val="ECECEC"/>
                </a:solidFill>
                <a:effectLst/>
                <a:latin typeface="Söhne"/>
              </a:rPr>
              <a:t> and </a:t>
            </a:r>
            <a:r>
              <a:rPr lang="fr-FR" sz="2000" b="0" i="0" dirty="0" err="1">
                <a:solidFill>
                  <a:srgbClr val="ECECEC"/>
                </a:solidFill>
                <a:effectLst/>
                <a:latin typeface="Söhne"/>
              </a:rPr>
              <a:t>allowing</a:t>
            </a:r>
            <a:r>
              <a:rPr lang="fr-FR" sz="2000" b="0" i="0" dirty="0">
                <a:solidFill>
                  <a:srgbClr val="ECECEC"/>
                </a:solidFill>
                <a:effectLst/>
                <a:latin typeface="Söhne"/>
              </a:rPr>
              <a:t> </a:t>
            </a:r>
            <a:r>
              <a:rPr lang="fr-FR" sz="2000" b="0" i="0" dirty="0" err="1">
                <a:solidFill>
                  <a:srgbClr val="ECECEC"/>
                </a:solidFill>
                <a:effectLst/>
                <a:latin typeface="Söhne"/>
              </a:rPr>
              <a:t>developers</a:t>
            </a:r>
            <a:r>
              <a:rPr lang="fr-FR" sz="2000" b="0" i="0" dirty="0">
                <a:solidFill>
                  <a:srgbClr val="ECECEC"/>
                </a:solidFill>
                <a:effectLst/>
                <a:latin typeface="Söhne"/>
              </a:rPr>
              <a:t> to focus </a:t>
            </a:r>
            <a:r>
              <a:rPr lang="fr-FR" sz="2000" b="0" i="0" dirty="0" err="1">
                <a:solidFill>
                  <a:srgbClr val="ECECEC"/>
                </a:solidFill>
                <a:effectLst/>
                <a:latin typeface="Söhne"/>
              </a:rPr>
              <a:t>solely</a:t>
            </a:r>
            <a:r>
              <a:rPr lang="fr-FR" sz="2000" b="0" i="0" dirty="0">
                <a:solidFill>
                  <a:srgbClr val="ECECEC"/>
                </a:solidFill>
                <a:effectLst/>
                <a:latin typeface="Söhne"/>
              </a:rPr>
              <a:t> on application </a:t>
            </a:r>
            <a:r>
              <a:rPr lang="fr-FR" sz="2000" b="0" i="0" dirty="0" err="1">
                <a:solidFill>
                  <a:srgbClr val="ECECEC"/>
                </a:solidFill>
                <a:effectLst/>
                <a:latin typeface="Söhne"/>
              </a:rPr>
              <a:t>development</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Cloud Run </a:t>
            </a:r>
            <a:r>
              <a:rPr lang="fr-FR" sz="2000" b="0" i="0" dirty="0" err="1">
                <a:solidFill>
                  <a:srgbClr val="ECECEC"/>
                </a:solidFill>
                <a:effectLst/>
                <a:latin typeface="Söhne"/>
              </a:rPr>
              <a:t>scales</a:t>
            </a:r>
            <a:r>
              <a:rPr lang="fr-FR" sz="2000" b="0" i="0" dirty="0">
                <a:solidFill>
                  <a:srgbClr val="ECECEC"/>
                </a:solidFill>
                <a:effectLst/>
                <a:latin typeface="Söhne"/>
              </a:rPr>
              <a:t> </a:t>
            </a:r>
            <a:r>
              <a:rPr lang="fr-FR" sz="2000" b="0" i="0" dirty="0" err="1">
                <a:solidFill>
                  <a:srgbClr val="ECECEC"/>
                </a:solidFill>
                <a:effectLst/>
                <a:latin typeface="Söhne"/>
              </a:rPr>
              <a:t>rapidly</a:t>
            </a:r>
            <a:r>
              <a:rPr lang="fr-FR" sz="2000" b="0" i="0" dirty="0">
                <a:solidFill>
                  <a:srgbClr val="ECECEC"/>
                </a:solidFill>
                <a:effectLst/>
                <a:latin typeface="Söhne"/>
              </a:rPr>
              <a:t>, </a:t>
            </a:r>
            <a:r>
              <a:rPr lang="fr-FR" sz="2000" b="0" i="0" dirty="0" err="1">
                <a:solidFill>
                  <a:srgbClr val="ECECEC"/>
                </a:solidFill>
                <a:effectLst/>
                <a:latin typeface="Söhne"/>
              </a:rPr>
              <a:t>adjusting</a:t>
            </a:r>
            <a:r>
              <a:rPr lang="fr-FR" sz="2000" b="0" i="0" dirty="0">
                <a:solidFill>
                  <a:srgbClr val="ECECEC"/>
                </a:solidFill>
                <a:effectLst/>
                <a:latin typeface="Söhne"/>
              </a:rPr>
              <a:t> </a:t>
            </a:r>
            <a:r>
              <a:rPr lang="fr-FR" sz="2000" b="0" i="0" dirty="0" err="1">
                <a:solidFill>
                  <a:srgbClr val="ECECEC"/>
                </a:solidFill>
                <a:effectLst/>
                <a:latin typeface="Söhne"/>
              </a:rPr>
              <a:t>resources</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a:t>
            </a:r>
            <a:r>
              <a:rPr lang="fr-FR" sz="2000" b="0" i="0" dirty="0" err="1">
                <a:solidFill>
                  <a:srgbClr val="ECECEC"/>
                </a:solidFill>
                <a:effectLst/>
                <a:latin typeface="Söhne"/>
              </a:rPr>
              <a:t>demand</a:t>
            </a:r>
            <a:r>
              <a:rPr lang="fr-FR" sz="2000" b="0" i="0" dirty="0">
                <a:solidFill>
                  <a:srgbClr val="ECECEC"/>
                </a:solidFill>
                <a:effectLst/>
                <a:latin typeface="Söhne"/>
              </a:rPr>
              <a:t> and </a:t>
            </a:r>
            <a:r>
              <a:rPr lang="fr-FR" sz="2000" b="0" i="0" dirty="0" err="1">
                <a:solidFill>
                  <a:srgbClr val="ECECEC"/>
                </a:solidFill>
                <a:effectLst/>
                <a:latin typeface="Söhne"/>
              </a:rPr>
              <a:t>billing</a:t>
            </a:r>
            <a:r>
              <a:rPr lang="fr-FR" sz="2000" b="0" i="0" dirty="0">
                <a:solidFill>
                  <a:srgbClr val="ECECEC"/>
                </a:solidFill>
                <a:effectLst/>
                <a:latin typeface="Söhne"/>
              </a:rPr>
              <a:t> </a:t>
            </a:r>
            <a:r>
              <a:rPr lang="fr-FR" sz="2000" b="0" i="0" dirty="0" err="1">
                <a:solidFill>
                  <a:srgbClr val="ECECEC"/>
                </a:solidFill>
                <a:effectLst/>
                <a:latin typeface="Söhne"/>
              </a:rPr>
              <a:t>only</a:t>
            </a:r>
            <a:r>
              <a:rPr lang="fr-FR" sz="2000" b="0" i="0" dirty="0">
                <a:solidFill>
                  <a:srgbClr val="ECECEC"/>
                </a:solidFill>
                <a:effectLst/>
                <a:latin typeface="Söhne"/>
              </a:rPr>
              <a:t> for </a:t>
            </a:r>
            <a:r>
              <a:rPr lang="fr-FR" sz="2000" b="0" i="0" dirty="0" err="1">
                <a:solidFill>
                  <a:srgbClr val="ECECEC"/>
                </a:solidFill>
                <a:effectLst/>
                <a:latin typeface="Söhne"/>
              </a:rPr>
              <a:t>actual</a:t>
            </a:r>
            <a:r>
              <a:rPr lang="fr-FR" sz="2000" b="0" i="0" dirty="0">
                <a:solidFill>
                  <a:srgbClr val="ECECEC"/>
                </a:solidFill>
                <a:effectLst/>
                <a:latin typeface="Söhne"/>
              </a:rPr>
              <a:t> usage.</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developer</a:t>
            </a:r>
            <a:r>
              <a:rPr lang="fr-FR" sz="2000" b="0" i="0" dirty="0">
                <a:solidFill>
                  <a:srgbClr val="ECECEC"/>
                </a:solidFill>
                <a:effectLst/>
                <a:latin typeface="Söhne"/>
              </a:rPr>
              <a:t> workflow </a:t>
            </a:r>
            <a:r>
              <a:rPr lang="fr-FR" sz="2000" b="0" i="0" dirty="0" err="1">
                <a:solidFill>
                  <a:srgbClr val="ECECEC"/>
                </a:solidFill>
                <a:effectLst/>
                <a:latin typeface="Söhne"/>
              </a:rPr>
              <a:t>involves</a:t>
            </a:r>
            <a:r>
              <a:rPr lang="fr-FR" sz="2000" b="0" i="0" dirty="0">
                <a:solidFill>
                  <a:srgbClr val="ECECEC"/>
                </a:solidFill>
                <a:effectLst/>
                <a:latin typeface="Söhne"/>
              </a:rPr>
              <a:t> </a:t>
            </a:r>
            <a:r>
              <a:rPr lang="fr-FR" sz="2000" b="0" i="0" dirty="0" err="1">
                <a:solidFill>
                  <a:srgbClr val="ECECEC"/>
                </a:solidFill>
                <a:effectLst/>
                <a:latin typeface="Söhne"/>
              </a:rPr>
              <a:t>writing</a:t>
            </a:r>
            <a:r>
              <a:rPr lang="fr-FR" sz="2000" b="0" i="0" dirty="0">
                <a:solidFill>
                  <a:srgbClr val="ECECEC"/>
                </a:solidFill>
                <a:effectLst/>
                <a:latin typeface="Söhne"/>
              </a:rPr>
              <a:t> the application, packaging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into</a:t>
            </a:r>
            <a:r>
              <a:rPr lang="fr-FR" sz="2000" b="0" i="0" dirty="0">
                <a:solidFill>
                  <a:srgbClr val="ECECEC"/>
                </a:solidFill>
                <a:effectLst/>
                <a:latin typeface="Söhne"/>
              </a:rPr>
              <a:t> a container image, and </a:t>
            </a:r>
            <a:r>
              <a:rPr lang="fr-FR" sz="2000" b="0" i="0" dirty="0" err="1">
                <a:solidFill>
                  <a:srgbClr val="ECECEC"/>
                </a:solidFill>
                <a:effectLst/>
                <a:latin typeface="Söhne"/>
              </a:rPr>
              <a:t>deploying</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to </a:t>
            </a:r>
            <a:r>
              <a:rPr lang="fr-FR" sz="2000" b="0" i="0" dirty="0" err="1">
                <a:solidFill>
                  <a:srgbClr val="ECECEC"/>
                </a:solidFill>
                <a:effectLst/>
                <a:latin typeface="Söhne"/>
              </a:rPr>
              <a:t>Artifact</a:t>
            </a:r>
            <a:r>
              <a:rPr lang="fr-FR" sz="2000" b="0" i="0" dirty="0">
                <a:solidFill>
                  <a:srgbClr val="ECECEC"/>
                </a:solidFill>
                <a:effectLst/>
                <a:latin typeface="Söhne"/>
              </a:rPr>
              <a:t> </a:t>
            </a:r>
            <a:r>
              <a:rPr lang="fr-FR" sz="2000" b="0" i="0" dirty="0" err="1">
                <a:solidFill>
                  <a:srgbClr val="ECECEC"/>
                </a:solidFill>
                <a:effectLst/>
                <a:latin typeface="Söhne"/>
              </a:rPr>
              <a:t>Registry</a:t>
            </a:r>
            <a:r>
              <a:rPr lang="fr-FR" sz="2000" b="0" i="0" dirty="0">
                <a:solidFill>
                  <a:srgbClr val="ECECEC"/>
                </a:solidFill>
                <a:effectLst/>
                <a:latin typeface="Söhne"/>
              </a:rPr>
              <a:t> for </a:t>
            </a:r>
            <a:r>
              <a:rPr lang="fr-FR" sz="2000" b="0" i="0" dirty="0" err="1">
                <a:solidFill>
                  <a:srgbClr val="ECECEC"/>
                </a:solidFill>
                <a:effectLst/>
                <a:latin typeface="Söhne"/>
              </a:rPr>
              <a:t>deployment</a:t>
            </a:r>
            <a:r>
              <a:rPr lang="fr-FR" sz="2000" b="0" i="0" dirty="0">
                <a:solidFill>
                  <a:srgbClr val="ECECEC"/>
                </a:solidFill>
                <a:effectLst/>
                <a:latin typeface="Söhne"/>
              </a:rPr>
              <a:t> on Cloud Run.</a:t>
            </a:r>
          </a:p>
          <a:p>
            <a:pPr algn="l">
              <a:buFont typeface="Arial" panose="020B0604020202020204" pitchFamily="34" charset="0"/>
              <a:buChar char="•"/>
            </a:pPr>
            <a:r>
              <a:rPr lang="fr-FR" sz="2000" b="0" i="0" dirty="0">
                <a:solidFill>
                  <a:srgbClr val="ECECEC"/>
                </a:solidFill>
                <a:effectLst/>
                <a:latin typeface="Söhne"/>
              </a:rPr>
              <a:t>Images must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stored</a:t>
            </a:r>
            <a:r>
              <a:rPr lang="fr-FR" sz="2000" b="0" i="0" dirty="0">
                <a:solidFill>
                  <a:srgbClr val="ECECEC"/>
                </a:solidFill>
                <a:effectLst/>
                <a:latin typeface="Söhne"/>
              </a:rPr>
              <a:t> in </a:t>
            </a:r>
            <a:r>
              <a:rPr lang="fr-FR" sz="2000" b="0" i="0" dirty="0" err="1">
                <a:solidFill>
                  <a:srgbClr val="ECECEC"/>
                </a:solidFill>
                <a:effectLst/>
                <a:latin typeface="Söhne"/>
              </a:rPr>
              <a:t>Artifact</a:t>
            </a:r>
            <a:r>
              <a:rPr lang="fr-FR" sz="2000" b="0" i="0" dirty="0">
                <a:solidFill>
                  <a:srgbClr val="ECECEC"/>
                </a:solidFill>
                <a:effectLst/>
                <a:latin typeface="Söhne"/>
              </a:rPr>
              <a:t> </a:t>
            </a:r>
            <a:r>
              <a:rPr lang="fr-FR" sz="2000" b="0" i="0" dirty="0" err="1">
                <a:solidFill>
                  <a:srgbClr val="ECECEC"/>
                </a:solidFill>
                <a:effectLst/>
                <a:latin typeface="Söhne"/>
              </a:rPr>
              <a:t>Registry</a:t>
            </a:r>
            <a:r>
              <a:rPr lang="fr-FR" sz="2000" b="0" i="0" dirty="0">
                <a:solidFill>
                  <a:srgbClr val="ECECEC"/>
                </a:solidFill>
                <a:effectLst/>
                <a:latin typeface="Söhne"/>
              </a:rPr>
              <a:t> for </a:t>
            </a:r>
            <a:r>
              <a:rPr lang="fr-FR" sz="2000" b="0" i="0" dirty="0" err="1">
                <a:solidFill>
                  <a:srgbClr val="ECECEC"/>
                </a:solidFill>
                <a:effectLst/>
                <a:latin typeface="Söhne"/>
              </a:rPr>
              <a:t>deployment</a:t>
            </a:r>
            <a:r>
              <a:rPr lang="fr-FR" sz="2000" b="0" i="0" dirty="0">
                <a:solidFill>
                  <a:srgbClr val="ECECEC"/>
                </a:solidFill>
                <a:effectLst/>
                <a:latin typeface="Söhne"/>
              </a:rPr>
              <a:t>.</a:t>
            </a:r>
          </a:p>
          <a:p>
            <a:pPr algn="l">
              <a:buFont typeface="Arial" panose="020B0604020202020204" pitchFamily="34" charset="0"/>
              <a:buChar char="•"/>
            </a:pPr>
            <a:r>
              <a:rPr lang="fr-FR" sz="2000" b="0" i="0" dirty="0" err="1">
                <a:solidFill>
                  <a:srgbClr val="ECECEC"/>
                </a:solidFill>
                <a:effectLst/>
                <a:latin typeface="Söhne"/>
              </a:rPr>
              <a:t>Developers</a:t>
            </a:r>
            <a:r>
              <a:rPr lang="fr-FR" sz="2000" b="0" i="0" dirty="0">
                <a:solidFill>
                  <a:srgbClr val="ECECEC"/>
                </a:solidFill>
                <a:effectLst/>
                <a:latin typeface="Söhne"/>
              </a:rPr>
              <a:t> can </a:t>
            </a:r>
            <a:r>
              <a:rPr lang="fr-FR" sz="2000" b="0" i="0" dirty="0" err="1">
                <a:solidFill>
                  <a:srgbClr val="ECECEC"/>
                </a:solidFill>
                <a:effectLst/>
                <a:latin typeface="Söhne"/>
              </a:rPr>
              <a:t>deploy</a:t>
            </a:r>
            <a:r>
              <a:rPr lang="fr-FR" sz="2000" b="0" i="0" dirty="0">
                <a:solidFill>
                  <a:srgbClr val="ECECEC"/>
                </a:solidFill>
                <a:effectLst/>
                <a:latin typeface="Söhne"/>
              </a:rPr>
              <a:t> code </a:t>
            </a:r>
            <a:r>
              <a:rPr lang="fr-FR" sz="2000" b="0" i="0" dirty="0" err="1">
                <a:solidFill>
                  <a:srgbClr val="ECECEC"/>
                </a:solidFill>
                <a:effectLst/>
                <a:latin typeface="Söhne"/>
              </a:rPr>
              <a:t>from</a:t>
            </a:r>
            <a:r>
              <a:rPr lang="fr-FR" sz="2000" b="0" i="0" dirty="0">
                <a:solidFill>
                  <a:srgbClr val="ECECEC"/>
                </a:solidFill>
                <a:effectLst/>
                <a:latin typeface="Söhne"/>
              </a:rPr>
              <a:t> local sources or </a:t>
            </a:r>
            <a:r>
              <a:rPr lang="fr-FR" sz="2000" b="0" i="0" dirty="0" err="1">
                <a:solidFill>
                  <a:srgbClr val="ECECEC"/>
                </a:solidFill>
                <a:effectLst/>
                <a:latin typeface="Söhne"/>
              </a:rPr>
              <a:t>existing</a:t>
            </a:r>
            <a:r>
              <a:rPr lang="fr-FR" sz="2000" b="0" i="0" dirty="0">
                <a:solidFill>
                  <a:srgbClr val="ECECEC"/>
                </a:solidFill>
                <a:effectLst/>
                <a:latin typeface="Söhne"/>
              </a:rPr>
              <a:t> images in </a:t>
            </a:r>
            <a:r>
              <a:rPr lang="fr-FR" sz="2000" b="0" i="0" dirty="0" err="1">
                <a:solidFill>
                  <a:srgbClr val="ECECEC"/>
                </a:solidFill>
                <a:effectLst/>
                <a:latin typeface="Söhne"/>
              </a:rPr>
              <a:t>Artifact</a:t>
            </a:r>
            <a:r>
              <a:rPr lang="fr-FR" sz="2000" b="0" i="0" dirty="0">
                <a:solidFill>
                  <a:srgbClr val="ECECEC"/>
                </a:solidFill>
                <a:effectLst/>
                <a:latin typeface="Söhne"/>
              </a:rPr>
              <a:t> </a:t>
            </a:r>
            <a:r>
              <a:rPr lang="fr-FR" sz="2000" b="0" i="0" dirty="0" err="1">
                <a:solidFill>
                  <a:srgbClr val="ECECEC"/>
                </a:solidFill>
                <a:effectLst/>
                <a:latin typeface="Söhne"/>
              </a:rPr>
              <a:t>Registry</a:t>
            </a:r>
            <a:r>
              <a:rPr lang="fr-FR" sz="2000" b="0" i="0" dirty="0">
                <a:solidFill>
                  <a:srgbClr val="ECECEC"/>
                </a:solidFill>
                <a:effectLst/>
                <a:latin typeface="Söhne"/>
              </a:rPr>
              <a:t>.</a:t>
            </a:r>
          </a:p>
          <a:p>
            <a:pPr algn="l">
              <a:buFont typeface="Arial" panose="020B0604020202020204" pitchFamily="34" charset="0"/>
              <a:buChar char="•"/>
            </a:pPr>
            <a:r>
              <a:rPr lang="fr-FR" sz="2000" b="0" i="0" dirty="0" err="1">
                <a:solidFill>
                  <a:srgbClr val="ECECEC"/>
                </a:solidFill>
                <a:effectLst/>
                <a:latin typeface="Söhne"/>
              </a:rPr>
              <a:t>After</a:t>
            </a:r>
            <a:r>
              <a:rPr lang="fr-FR" sz="2000" b="0" i="0" dirty="0">
                <a:solidFill>
                  <a:srgbClr val="ECECEC"/>
                </a:solidFill>
                <a:effectLst/>
                <a:latin typeface="Söhne"/>
              </a:rPr>
              <a:t> </a:t>
            </a:r>
            <a:r>
              <a:rPr lang="fr-FR" sz="2000" b="0" i="0" dirty="0" err="1">
                <a:solidFill>
                  <a:srgbClr val="ECECEC"/>
                </a:solidFill>
                <a:effectLst/>
                <a:latin typeface="Söhne"/>
              </a:rPr>
              <a:t>deployment</a:t>
            </a:r>
            <a:r>
              <a:rPr lang="fr-FR" sz="2000" b="0" i="0" dirty="0">
                <a:solidFill>
                  <a:srgbClr val="ECECEC"/>
                </a:solidFill>
                <a:effectLst/>
                <a:latin typeface="Söhne"/>
              </a:rPr>
              <a:t>, Cloud Run </a:t>
            </a:r>
            <a:r>
              <a:rPr lang="fr-FR" sz="2000" b="0" i="0" dirty="0" err="1">
                <a:solidFill>
                  <a:srgbClr val="ECECEC"/>
                </a:solidFill>
                <a:effectLst/>
                <a:latin typeface="Söhne"/>
              </a:rPr>
              <a:t>provides</a:t>
            </a:r>
            <a:r>
              <a:rPr lang="fr-FR" sz="2000" b="0" i="0" dirty="0">
                <a:solidFill>
                  <a:srgbClr val="ECECEC"/>
                </a:solidFill>
                <a:effectLst/>
                <a:latin typeface="Söhne"/>
              </a:rPr>
              <a:t> a unique HTTPS URL to </a:t>
            </a:r>
            <a:r>
              <a:rPr lang="fr-FR" sz="2000" b="0" i="0" dirty="0" err="1">
                <a:solidFill>
                  <a:srgbClr val="ECECEC"/>
                </a:solidFill>
                <a:effectLst/>
                <a:latin typeface="Söhne"/>
              </a:rPr>
              <a:t>access</a:t>
            </a:r>
            <a:r>
              <a:rPr lang="fr-FR" sz="2000" b="0" i="0" dirty="0">
                <a:solidFill>
                  <a:srgbClr val="ECECEC"/>
                </a:solidFill>
                <a:effectLst/>
                <a:latin typeface="Söhne"/>
              </a:rPr>
              <a:t> the application.</a:t>
            </a:r>
          </a:p>
          <a:p>
            <a:pPr algn="l">
              <a:buFont typeface="Arial" panose="020B0604020202020204" pitchFamily="34" charset="0"/>
              <a:buChar char="•"/>
            </a:pPr>
            <a:r>
              <a:rPr lang="fr-FR" sz="2000" b="0" i="0" dirty="0">
                <a:solidFill>
                  <a:srgbClr val="ECECEC"/>
                </a:solidFill>
                <a:effectLst/>
                <a:latin typeface="Söhne"/>
              </a:rPr>
              <a:t>It </a:t>
            </a:r>
            <a:r>
              <a:rPr lang="fr-FR" sz="2000" b="0" i="0" dirty="0" err="1">
                <a:solidFill>
                  <a:srgbClr val="ECECEC"/>
                </a:solidFill>
                <a:effectLst/>
                <a:latin typeface="Söhne"/>
              </a:rPr>
              <a:t>dynamically</a:t>
            </a:r>
            <a:r>
              <a:rPr lang="fr-FR" sz="2000" b="0" i="0" dirty="0">
                <a:solidFill>
                  <a:srgbClr val="ECECEC"/>
                </a:solidFill>
                <a:effectLst/>
                <a:latin typeface="Söhne"/>
              </a:rPr>
              <a:t> manages containers to </a:t>
            </a:r>
            <a:r>
              <a:rPr lang="fr-FR" sz="2000" b="0" i="0" dirty="0" err="1">
                <a:solidFill>
                  <a:srgbClr val="ECECEC"/>
                </a:solidFill>
                <a:effectLst/>
                <a:latin typeface="Söhne"/>
              </a:rPr>
              <a:t>efficiently</a:t>
            </a:r>
            <a:r>
              <a:rPr lang="fr-FR" sz="2000" b="0" i="0" dirty="0">
                <a:solidFill>
                  <a:srgbClr val="ECECEC"/>
                </a:solidFill>
                <a:effectLst/>
                <a:latin typeface="Söhne"/>
              </a:rPr>
              <a:t> </a:t>
            </a:r>
            <a:r>
              <a:rPr lang="fr-FR" sz="2000" b="0" i="0" dirty="0" err="1">
                <a:solidFill>
                  <a:srgbClr val="ECECEC"/>
                </a:solidFill>
                <a:effectLst/>
                <a:latin typeface="Söhne"/>
              </a:rPr>
              <a:t>handle</a:t>
            </a:r>
            <a:r>
              <a:rPr lang="fr-FR" sz="2000" b="0" i="0" dirty="0">
                <a:solidFill>
                  <a:srgbClr val="ECECEC"/>
                </a:solidFill>
                <a:effectLst/>
                <a:latin typeface="Söhne"/>
              </a:rPr>
              <a:t> </a:t>
            </a:r>
            <a:r>
              <a:rPr lang="fr-FR" sz="2000" b="0" i="0" dirty="0" err="1">
                <a:solidFill>
                  <a:srgbClr val="ECECEC"/>
                </a:solidFill>
                <a:effectLst/>
                <a:latin typeface="Söhne"/>
              </a:rPr>
              <a:t>incoming</a:t>
            </a:r>
            <a:r>
              <a:rPr lang="fr-FR" sz="2000" b="0" i="0" dirty="0">
                <a:solidFill>
                  <a:srgbClr val="ECECEC"/>
                </a:solidFill>
                <a:effectLst/>
                <a:latin typeface="Söhne"/>
              </a:rPr>
              <a:t> </a:t>
            </a:r>
            <a:r>
              <a:rPr lang="fr-FR" sz="2000" b="0" i="0" dirty="0" err="1">
                <a:solidFill>
                  <a:srgbClr val="ECECEC"/>
                </a:solidFill>
                <a:effectLst/>
                <a:latin typeface="Söhne"/>
              </a:rPr>
              <a:t>requests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Serverless</a:t>
            </a:r>
            <a:r>
              <a:rPr lang="fr-FR" sz="2000" b="0" i="0" dirty="0">
                <a:solidFill>
                  <a:srgbClr val="ECECEC"/>
                </a:solidFill>
                <a:effectLst/>
                <a:latin typeface="Söhne"/>
              </a:rPr>
              <a:t> nature of Cloud Run </a:t>
            </a:r>
            <a:r>
              <a:rPr lang="fr-FR" sz="2000" b="0" i="0" dirty="0" err="1">
                <a:solidFill>
                  <a:srgbClr val="ECECEC"/>
                </a:solidFill>
                <a:effectLst/>
                <a:latin typeface="Söhne"/>
              </a:rPr>
              <a:t>allows</a:t>
            </a:r>
            <a:r>
              <a:rPr lang="fr-FR" sz="2000" b="0" i="0" dirty="0">
                <a:solidFill>
                  <a:srgbClr val="ECECEC"/>
                </a:solidFill>
                <a:effectLst/>
                <a:latin typeface="Söhne"/>
              </a:rPr>
              <a:t> </a:t>
            </a:r>
            <a:r>
              <a:rPr lang="fr-FR" sz="2000" b="0" i="0" dirty="0" err="1">
                <a:solidFill>
                  <a:srgbClr val="ECECEC"/>
                </a:solidFill>
                <a:effectLst/>
                <a:latin typeface="Söhne"/>
              </a:rPr>
              <a:t>developers</a:t>
            </a:r>
            <a:r>
              <a:rPr lang="fr-FR" sz="2000" b="0" i="0" dirty="0">
                <a:solidFill>
                  <a:srgbClr val="ECECEC"/>
                </a:solidFill>
                <a:effectLst/>
                <a:latin typeface="Söhne"/>
              </a:rPr>
              <a:t> to focus on </a:t>
            </a:r>
            <a:r>
              <a:rPr lang="fr-FR" sz="2000" b="0" i="0" dirty="0" err="1">
                <a:solidFill>
                  <a:srgbClr val="ECECEC"/>
                </a:solidFill>
                <a:effectLst/>
                <a:latin typeface="Söhne"/>
              </a:rPr>
              <a:t>coding</a:t>
            </a:r>
            <a:r>
              <a:rPr lang="fr-FR" sz="2000" b="0" i="0" dirty="0">
                <a:solidFill>
                  <a:srgbClr val="ECECEC"/>
                </a:solidFill>
                <a:effectLst/>
                <a:latin typeface="Söhne"/>
              </a:rPr>
              <a:t> </a:t>
            </a:r>
            <a:r>
              <a:rPr lang="fr-FR" sz="2000" b="0" i="0" dirty="0" err="1">
                <a:solidFill>
                  <a:srgbClr val="ECECEC"/>
                </a:solidFill>
                <a:effectLst/>
                <a:latin typeface="Söhne"/>
              </a:rPr>
              <a:t>without</a:t>
            </a:r>
            <a:r>
              <a:rPr lang="fr-FR" sz="2000" b="0" i="0" dirty="0">
                <a:solidFill>
                  <a:srgbClr val="ECECEC"/>
                </a:solidFill>
                <a:effectLst/>
                <a:latin typeface="Söhne"/>
              </a:rPr>
              <a:t> the </a:t>
            </a:r>
            <a:r>
              <a:rPr lang="fr-FR" sz="2000" b="0" i="0" dirty="0" err="1">
                <a:solidFill>
                  <a:srgbClr val="ECECEC"/>
                </a:solidFill>
                <a:effectLst/>
                <a:latin typeface="Söhne"/>
              </a:rPr>
              <a:t>need</a:t>
            </a:r>
            <a:r>
              <a:rPr lang="fr-FR" sz="2000" b="0" i="0" dirty="0">
                <a:solidFill>
                  <a:srgbClr val="ECECEC"/>
                </a:solidFill>
                <a:effectLst/>
                <a:latin typeface="Söhne"/>
              </a:rPr>
              <a:t> for infrastructure maintenance.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0751275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RUN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11" name="Image 10">
            <a:extLst>
              <a:ext uri="{FF2B5EF4-FFF2-40B4-BE49-F238E27FC236}">
                <a16:creationId xmlns:a16="http://schemas.microsoft.com/office/drawing/2014/main" id="{184D6145-498E-23EF-6E81-783BE4634F91}"/>
              </a:ext>
            </a:extLst>
          </p:cNvPr>
          <p:cNvPicPr>
            <a:picLocks noChangeAspect="1"/>
          </p:cNvPicPr>
          <p:nvPr/>
        </p:nvPicPr>
        <p:blipFill>
          <a:blip r:embed="rId2"/>
          <a:stretch>
            <a:fillRect/>
          </a:stretch>
        </p:blipFill>
        <p:spPr>
          <a:xfrm>
            <a:off x="278175" y="2342018"/>
            <a:ext cx="5335778" cy="2583639"/>
          </a:xfrm>
          <a:prstGeom prst="rect">
            <a:avLst/>
          </a:prstGeom>
        </p:spPr>
      </p:pic>
      <p:pic>
        <p:nvPicPr>
          <p:cNvPr id="12" name="Image 11">
            <a:extLst>
              <a:ext uri="{FF2B5EF4-FFF2-40B4-BE49-F238E27FC236}">
                <a16:creationId xmlns:a16="http://schemas.microsoft.com/office/drawing/2014/main" id="{420650E9-D5F9-0261-EB16-38182B2F9EBC}"/>
              </a:ext>
            </a:extLst>
          </p:cNvPr>
          <p:cNvPicPr>
            <a:picLocks noChangeAspect="1"/>
          </p:cNvPicPr>
          <p:nvPr/>
        </p:nvPicPr>
        <p:blipFill>
          <a:blip r:embed="rId3"/>
          <a:stretch>
            <a:fillRect/>
          </a:stretch>
        </p:blipFill>
        <p:spPr>
          <a:xfrm>
            <a:off x="5801758" y="2319464"/>
            <a:ext cx="6112067" cy="2594533"/>
          </a:xfrm>
          <a:prstGeom prst="rect">
            <a:avLst/>
          </a:prstGeom>
        </p:spPr>
      </p:pic>
    </p:spTree>
    <p:extLst>
      <p:ext uri="{BB962C8B-B14F-4D97-AF65-F5344CB8AC3E}">
        <p14:creationId xmlns:p14="http://schemas.microsoft.com/office/powerpoint/2010/main" val="32356946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RUN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2974" y="2237455"/>
            <a:ext cx="10351747" cy="2688203"/>
          </a:xfrm>
        </p:spPr>
        <p:txBody>
          <a:bodyPr>
            <a:normAutofit/>
          </a:bodyPr>
          <a:lstStyle/>
          <a:p>
            <a:pPr marL="0" indent="0">
              <a:buNone/>
            </a:pPr>
            <a:r>
              <a:rPr lang="fr-FR" sz="1800" dirty="0">
                <a:effectLst/>
                <a:latin typeface="Roboto" panose="02000000000000000000" pitchFamily="2" charset="0"/>
              </a:rPr>
              <a:t>Cloud Run can </a:t>
            </a:r>
            <a:r>
              <a:rPr lang="fr-FR" sz="1800" dirty="0" err="1">
                <a:effectLst/>
                <a:latin typeface="Roboto" panose="02000000000000000000" pitchFamily="2" charset="0"/>
              </a:rPr>
              <a:t>only</a:t>
            </a:r>
            <a:r>
              <a:rPr lang="fr-FR" sz="1800" dirty="0">
                <a:effectLst/>
                <a:latin typeface="Roboto" panose="02000000000000000000" pitchFamily="2" charset="0"/>
              </a:rPr>
              <a:t> pull images </a:t>
            </a:r>
            <a:r>
              <a:rPr lang="fr-FR" sz="1800" dirty="0" err="1">
                <a:effectLst/>
                <a:latin typeface="Roboto" panose="02000000000000000000" pitchFamily="2" charset="0"/>
              </a:rPr>
              <a:t>from</a:t>
            </a:r>
            <a:r>
              <a:rPr lang="fr-FR" sz="1800" dirty="0">
                <a:effectLst/>
                <a:latin typeface="Roboto" panose="02000000000000000000" pitchFamily="2" charset="0"/>
              </a:rPr>
              <a:t>: </a:t>
            </a:r>
            <a:endParaRPr lang="fr-FR" sz="1400" dirty="0"/>
          </a:p>
          <a:p>
            <a:pPr lvl="1"/>
            <a:r>
              <a:rPr lang="fr-FR" sz="1600" dirty="0">
                <a:effectLst/>
                <a:latin typeface="Roboto" panose="02000000000000000000" pitchFamily="2" charset="0"/>
              </a:rPr>
              <a:t>A: Docker Hub</a:t>
            </a:r>
          </a:p>
          <a:p>
            <a:pPr lvl="1"/>
            <a:r>
              <a:rPr lang="fr-FR" sz="1600" dirty="0">
                <a:effectLst/>
                <a:latin typeface="Roboto" panose="02000000000000000000" pitchFamily="2" charset="0"/>
              </a:rPr>
              <a:t>B: Self-</a:t>
            </a:r>
            <a:r>
              <a:rPr lang="fr-FR" sz="1600" dirty="0" err="1">
                <a:effectLst/>
                <a:latin typeface="Roboto" panose="02000000000000000000" pitchFamily="2" charset="0"/>
              </a:rPr>
              <a:t>hosted</a:t>
            </a:r>
            <a:r>
              <a:rPr lang="fr-FR" sz="1600" dirty="0">
                <a:effectLst/>
                <a:latin typeface="Roboto" panose="02000000000000000000" pitchFamily="2" charset="0"/>
              </a:rPr>
              <a:t> </a:t>
            </a:r>
            <a:r>
              <a:rPr lang="fr-FR" sz="1600" dirty="0" err="1">
                <a:effectLst/>
                <a:latin typeface="Roboto" panose="02000000000000000000" pitchFamily="2" charset="0"/>
              </a:rPr>
              <a:t>registries</a:t>
            </a:r>
            <a:endParaRPr lang="fr-FR" sz="1600" dirty="0">
              <a:effectLst/>
              <a:latin typeface="Roboto" panose="02000000000000000000" pitchFamily="2" charset="0"/>
            </a:endParaRPr>
          </a:p>
          <a:p>
            <a:pPr lvl="1"/>
            <a:r>
              <a:rPr lang="fr-FR" sz="1600" b="1" dirty="0">
                <a:effectLst/>
                <a:latin typeface="Roboto" panose="02000000000000000000" pitchFamily="2" charset="0"/>
              </a:rPr>
              <a:t>C: </a:t>
            </a:r>
            <a:r>
              <a:rPr lang="fr-FR" sz="1600" b="1" dirty="0" err="1">
                <a:effectLst/>
                <a:latin typeface="Roboto" panose="02000000000000000000" pitchFamily="2" charset="0"/>
              </a:rPr>
              <a:t>Artifact</a:t>
            </a:r>
            <a:r>
              <a:rPr lang="fr-FR" sz="1600" b="1" dirty="0">
                <a:effectLst/>
                <a:latin typeface="Roboto" panose="02000000000000000000" pitchFamily="2" charset="0"/>
              </a:rPr>
              <a:t> </a:t>
            </a:r>
            <a:r>
              <a:rPr lang="fr-FR" sz="1600" b="1" dirty="0" err="1">
                <a:effectLst/>
                <a:latin typeface="Roboto" panose="02000000000000000000" pitchFamily="2" charset="0"/>
              </a:rPr>
              <a:t>Registry</a:t>
            </a:r>
            <a:r>
              <a:rPr lang="fr-FR" sz="1600" b="1" dirty="0">
                <a:effectLst/>
                <a:latin typeface="Roboto" panose="02000000000000000000" pitchFamily="2" charset="0"/>
              </a:rPr>
              <a:t> </a:t>
            </a:r>
            <a:endParaRPr lang="fr-FR" sz="1600" dirty="0">
              <a:effectLst/>
              <a:latin typeface="Roboto" panose="02000000000000000000" pitchFamily="2" charset="0"/>
            </a:endParaRPr>
          </a:p>
          <a:p>
            <a:pPr lvl="1"/>
            <a:r>
              <a:rPr lang="fr-FR" sz="1600" dirty="0">
                <a:effectLst/>
                <a:latin typeface="Roboto" panose="02000000000000000000" pitchFamily="2" charset="0"/>
              </a:rPr>
              <a:t>D: GitHub</a:t>
            </a:r>
            <a:endParaRPr lang="fr-FR" sz="1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9730936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81966"/>
            <a:ext cx="11530647" cy="1293028"/>
          </a:xfrm>
        </p:spPr>
        <p:txBody>
          <a:bodyPr>
            <a:normAutofit/>
          </a:bodyPr>
          <a:lstStyle/>
          <a:p>
            <a:pPr algn="l"/>
            <a:r>
              <a:rPr lang="fr-FR" sz="3200" dirty="0"/>
              <a:t>CLOUD FUNCTIONS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fontScale="92500" lnSpcReduction="10000"/>
          </a:bodyPr>
          <a:lstStyle/>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Functions</a:t>
            </a:r>
            <a:r>
              <a:rPr lang="fr-FR" sz="2400" b="0" i="0" dirty="0">
                <a:solidFill>
                  <a:srgbClr val="ECECEC"/>
                </a:solidFill>
                <a:effectLst/>
                <a:latin typeface="Söhne"/>
              </a:rPr>
              <a:t> </a:t>
            </a:r>
            <a:r>
              <a:rPr lang="fr-FR" sz="2400" b="0" i="0" dirty="0" err="1">
                <a:solidFill>
                  <a:srgbClr val="ECECEC"/>
                </a:solidFill>
                <a:effectLst/>
                <a:latin typeface="Söhne"/>
              </a:rPr>
              <a:t>allows</a:t>
            </a:r>
            <a:r>
              <a:rPr lang="fr-FR" sz="2400" b="0" i="0" dirty="0">
                <a:solidFill>
                  <a:srgbClr val="ECECEC"/>
                </a:solidFill>
                <a:effectLst/>
                <a:latin typeface="Söhne"/>
              </a:rPr>
              <a:t> for </a:t>
            </a:r>
            <a:r>
              <a:rPr lang="fr-FR" sz="2400" b="0" i="0" dirty="0" err="1">
                <a:solidFill>
                  <a:srgbClr val="ECECEC"/>
                </a:solidFill>
                <a:effectLst/>
                <a:latin typeface="Söhne"/>
              </a:rPr>
              <a:t>creating</a:t>
            </a:r>
            <a:r>
              <a:rPr lang="fr-FR" sz="2400" b="0" i="0" dirty="0">
                <a:solidFill>
                  <a:srgbClr val="ECECEC"/>
                </a:solidFill>
                <a:effectLst/>
                <a:latin typeface="Söhne"/>
              </a:rPr>
              <a:t> simple and </a:t>
            </a:r>
            <a:r>
              <a:rPr lang="fr-FR" sz="2400" b="0" i="0" dirty="0" err="1">
                <a:solidFill>
                  <a:srgbClr val="ECECEC"/>
                </a:solidFill>
                <a:effectLst/>
                <a:latin typeface="Söhne"/>
              </a:rPr>
              <a:t>specific</a:t>
            </a:r>
            <a:r>
              <a:rPr lang="fr-FR" sz="2400" b="0" i="0" dirty="0">
                <a:solidFill>
                  <a:srgbClr val="ECECEC"/>
                </a:solidFill>
                <a:effectLst/>
                <a:latin typeface="Söhne"/>
              </a:rPr>
              <a:t> </a:t>
            </a:r>
            <a:r>
              <a:rPr lang="fr-FR" sz="2400" b="0" i="0" dirty="0" err="1">
                <a:solidFill>
                  <a:srgbClr val="ECECEC"/>
                </a:solidFill>
                <a:effectLst/>
                <a:latin typeface="Söhne"/>
              </a:rPr>
              <a:t>functions</a:t>
            </a:r>
            <a:r>
              <a:rPr lang="fr-FR" sz="2400" b="0" i="0" dirty="0">
                <a:solidFill>
                  <a:srgbClr val="ECECEC"/>
                </a:solidFill>
                <a:effectLst/>
                <a:latin typeface="Söhne"/>
              </a:rPr>
              <a:t> </a:t>
            </a:r>
            <a:r>
              <a:rPr lang="fr-FR" sz="2400" b="0" i="0" dirty="0" err="1">
                <a:solidFill>
                  <a:srgbClr val="ECECEC"/>
                </a:solidFill>
                <a:effectLst/>
                <a:latin typeface="Söhne"/>
              </a:rPr>
              <a:t>that</a:t>
            </a:r>
            <a:r>
              <a:rPr lang="fr-FR" sz="2400" b="0" i="0" dirty="0">
                <a:solidFill>
                  <a:srgbClr val="ECECEC"/>
                </a:solidFill>
                <a:effectLst/>
                <a:latin typeface="Söhne"/>
              </a:rPr>
              <a:t> </a:t>
            </a:r>
            <a:r>
              <a:rPr lang="fr-FR" sz="2400" b="0" i="0" dirty="0" err="1">
                <a:solidFill>
                  <a:srgbClr val="ECECEC"/>
                </a:solidFill>
                <a:effectLst/>
                <a:latin typeface="Söhne"/>
              </a:rPr>
              <a:t>automatically</a:t>
            </a:r>
            <a:r>
              <a:rPr lang="fr-FR" sz="2400" b="0" i="0" dirty="0">
                <a:solidFill>
                  <a:srgbClr val="ECECEC"/>
                </a:solidFill>
                <a:effectLst/>
                <a:latin typeface="Söhne"/>
              </a:rPr>
              <a:t> </a:t>
            </a:r>
            <a:r>
              <a:rPr lang="fr-FR" sz="2400" b="0" i="0" dirty="0" err="1">
                <a:solidFill>
                  <a:srgbClr val="ECECEC"/>
                </a:solidFill>
                <a:effectLst/>
                <a:latin typeface="Söhne"/>
              </a:rPr>
              <a:t>execute</a:t>
            </a:r>
            <a:r>
              <a:rPr lang="fr-FR" sz="2400" b="0" i="0" dirty="0">
                <a:solidFill>
                  <a:srgbClr val="ECECEC"/>
                </a:solidFill>
                <a:effectLst/>
                <a:latin typeface="Söhne"/>
              </a:rPr>
              <a:t> in </a:t>
            </a:r>
            <a:r>
              <a:rPr lang="fr-FR" sz="2400" b="0" i="0" dirty="0" err="1">
                <a:solidFill>
                  <a:srgbClr val="ECECEC"/>
                </a:solidFill>
                <a:effectLst/>
                <a:latin typeface="Söhne"/>
              </a:rPr>
              <a:t>response</a:t>
            </a:r>
            <a:r>
              <a:rPr lang="fr-FR" sz="2400" b="0" i="0" dirty="0">
                <a:solidFill>
                  <a:srgbClr val="ECECEC"/>
                </a:solidFill>
                <a:effectLst/>
                <a:latin typeface="Söhne"/>
              </a:rPr>
              <a:t> to cloud </a:t>
            </a:r>
            <a:r>
              <a:rPr lang="fr-FR" sz="2400" b="0" i="0" dirty="0" err="1">
                <a:solidFill>
                  <a:srgbClr val="ECECEC"/>
                </a:solidFill>
                <a:effectLst/>
                <a:latin typeface="Söhne"/>
              </a:rPr>
              <a:t>events</a:t>
            </a:r>
            <a:r>
              <a:rPr lang="fr-FR" sz="2400" b="0" i="0" dirty="0">
                <a:solidFill>
                  <a:srgbClr val="ECECEC"/>
                </a:solidFill>
                <a:effectLst/>
                <a:latin typeface="Söhne"/>
              </a:rPr>
              <a:t>, </a:t>
            </a:r>
            <a:r>
              <a:rPr lang="fr-FR" sz="2400" b="0" i="0" dirty="0" err="1">
                <a:solidFill>
                  <a:srgbClr val="ECECEC"/>
                </a:solidFill>
                <a:effectLst/>
                <a:latin typeface="Söhne"/>
              </a:rPr>
              <a:t>such</a:t>
            </a:r>
            <a:r>
              <a:rPr lang="fr-FR" sz="2400" b="0" i="0" dirty="0">
                <a:solidFill>
                  <a:srgbClr val="ECECEC"/>
                </a:solidFill>
                <a:effectLst/>
                <a:latin typeface="Söhne"/>
              </a:rPr>
              <a:t> as the </a:t>
            </a:r>
            <a:r>
              <a:rPr lang="fr-FR" sz="2400" b="0" i="0" dirty="0" err="1">
                <a:solidFill>
                  <a:srgbClr val="ECECEC"/>
                </a:solidFill>
                <a:effectLst/>
                <a:latin typeface="Söhne"/>
              </a:rPr>
              <a:t>uploading</a:t>
            </a:r>
            <a:r>
              <a:rPr lang="fr-FR" sz="2400" b="0" i="0" dirty="0">
                <a:solidFill>
                  <a:srgbClr val="ECECEC"/>
                </a:solidFill>
                <a:effectLst/>
                <a:latin typeface="Söhne"/>
              </a:rPr>
              <a:t> of a new image, the </a:t>
            </a:r>
            <a:r>
              <a:rPr lang="fr-FR" sz="2400" b="0" i="0" dirty="0" err="1">
                <a:solidFill>
                  <a:srgbClr val="ECECEC"/>
                </a:solidFill>
                <a:effectLst/>
                <a:latin typeface="Söhne"/>
              </a:rPr>
              <a:t>deposit</a:t>
            </a:r>
            <a:r>
              <a:rPr lang="fr-FR" sz="2400" b="0" i="0" dirty="0">
                <a:solidFill>
                  <a:srgbClr val="ECECEC"/>
                </a:solidFill>
                <a:effectLst/>
                <a:latin typeface="Söhne"/>
              </a:rPr>
              <a:t> of a file in Google Cloud Storage, etc.</a:t>
            </a:r>
          </a:p>
          <a:p>
            <a:pPr algn="l">
              <a:buFont typeface="Arial" panose="020B0604020202020204" pitchFamily="34" charset="0"/>
              <a:buChar char="•"/>
            </a:pPr>
            <a:r>
              <a:rPr lang="fr-FR" sz="2400" b="0" i="0" dirty="0">
                <a:solidFill>
                  <a:srgbClr val="ECECEC"/>
                </a:solidFill>
                <a:effectLst/>
                <a:latin typeface="Söhne"/>
              </a:rPr>
              <a:t>It </a:t>
            </a:r>
            <a:r>
              <a:rPr lang="fr-FR" sz="2400" b="0" i="0" dirty="0" err="1">
                <a:solidFill>
                  <a:srgbClr val="ECECEC"/>
                </a:solidFill>
                <a:effectLst/>
                <a:latin typeface="Söhne"/>
              </a:rPr>
              <a:t>is</a:t>
            </a:r>
            <a:r>
              <a:rPr lang="fr-FR" sz="2400" b="0" i="0" dirty="0">
                <a:solidFill>
                  <a:srgbClr val="ECECEC"/>
                </a:solidFill>
                <a:effectLst/>
                <a:latin typeface="Söhne"/>
              </a:rPr>
              <a:t> a </a:t>
            </a:r>
            <a:r>
              <a:rPr lang="fr-FR" sz="2400" b="0" i="0" dirty="0" err="1">
                <a:solidFill>
                  <a:srgbClr val="ECECEC"/>
                </a:solidFill>
                <a:effectLst/>
                <a:latin typeface="Söhne"/>
              </a:rPr>
              <a:t>lightweight</a:t>
            </a:r>
            <a:r>
              <a:rPr lang="fr-FR" sz="2400" b="0" i="0" dirty="0">
                <a:solidFill>
                  <a:srgbClr val="ECECEC"/>
                </a:solidFill>
                <a:effectLst/>
                <a:latin typeface="Söhne"/>
              </a:rPr>
              <a:t>, </a:t>
            </a:r>
            <a:r>
              <a:rPr lang="fr-FR" sz="2400" b="0" i="0" dirty="0" err="1">
                <a:solidFill>
                  <a:srgbClr val="ECECEC"/>
                </a:solidFill>
                <a:effectLst/>
                <a:latin typeface="Söhne"/>
              </a:rPr>
              <a:t>event-based</a:t>
            </a:r>
            <a:r>
              <a:rPr lang="fr-FR" sz="2400" b="0" i="0" dirty="0">
                <a:solidFill>
                  <a:srgbClr val="ECECEC"/>
                </a:solidFill>
                <a:effectLst/>
                <a:latin typeface="Söhne"/>
              </a:rPr>
              <a:t>, and </a:t>
            </a:r>
            <a:r>
              <a:rPr lang="fr-FR" sz="2400" b="0" i="0" dirty="0" err="1">
                <a:solidFill>
                  <a:srgbClr val="ECECEC"/>
                </a:solidFill>
                <a:effectLst/>
                <a:latin typeface="Söhne"/>
              </a:rPr>
              <a:t>asynchronous</a:t>
            </a:r>
            <a:r>
              <a:rPr lang="fr-FR" sz="2400" b="0" i="0" dirty="0">
                <a:solidFill>
                  <a:srgbClr val="ECECEC"/>
                </a:solidFill>
                <a:effectLst/>
                <a:latin typeface="Söhne"/>
              </a:rPr>
              <a:t> </a:t>
            </a:r>
            <a:r>
              <a:rPr lang="fr-FR" sz="2400" b="0" i="0" dirty="0" err="1">
                <a:solidFill>
                  <a:srgbClr val="ECECEC"/>
                </a:solidFill>
                <a:effectLst/>
                <a:latin typeface="Söhne"/>
              </a:rPr>
              <a:t>computing</a:t>
            </a:r>
            <a:r>
              <a:rPr lang="fr-FR" sz="2400" b="0" i="0" dirty="0">
                <a:solidFill>
                  <a:srgbClr val="ECECEC"/>
                </a:solidFill>
                <a:effectLst/>
                <a:latin typeface="Söhne"/>
              </a:rPr>
              <a:t> solution </a:t>
            </a:r>
            <a:r>
              <a:rPr lang="fr-FR" sz="2400" b="0" i="0" dirty="0" err="1">
                <a:solidFill>
                  <a:srgbClr val="ECECEC"/>
                </a:solidFill>
                <a:effectLst/>
                <a:latin typeface="Söhne"/>
              </a:rPr>
              <a:t>that</a:t>
            </a:r>
            <a:r>
              <a:rPr lang="fr-FR" sz="2400" b="0" i="0" dirty="0">
                <a:solidFill>
                  <a:srgbClr val="ECECEC"/>
                </a:solidFill>
                <a:effectLst/>
                <a:latin typeface="Söhne"/>
              </a:rPr>
              <a:t> </a:t>
            </a:r>
            <a:r>
              <a:rPr lang="fr-FR" sz="2400" b="0" i="0" dirty="0" err="1">
                <a:solidFill>
                  <a:srgbClr val="ECECEC"/>
                </a:solidFill>
                <a:effectLst/>
                <a:latin typeface="Söhne"/>
              </a:rPr>
              <a:t>does</a:t>
            </a:r>
            <a:r>
              <a:rPr lang="fr-FR" sz="2400" b="0" i="0" dirty="0">
                <a:solidFill>
                  <a:srgbClr val="ECECEC"/>
                </a:solidFill>
                <a:effectLst/>
                <a:latin typeface="Söhne"/>
              </a:rPr>
              <a:t> not </a:t>
            </a:r>
            <a:r>
              <a:rPr lang="fr-FR" sz="2400" b="0" i="0" dirty="0" err="1">
                <a:solidFill>
                  <a:srgbClr val="ECECEC"/>
                </a:solidFill>
                <a:effectLst/>
                <a:latin typeface="Söhne"/>
              </a:rPr>
              <a:t>require</a:t>
            </a:r>
            <a:r>
              <a:rPr lang="fr-FR" sz="2400" b="0" i="0" dirty="0">
                <a:solidFill>
                  <a:srgbClr val="ECECEC"/>
                </a:solidFill>
                <a:effectLst/>
                <a:latin typeface="Söhne"/>
              </a:rPr>
              <a:t> server management or runtime </a:t>
            </a:r>
            <a:r>
              <a:rPr lang="fr-FR" sz="2400" b="0" i="0" dirty="0" err="1">
                <a:solidFill>
                  <a:srgbClr val="ECECEC"/>
                </a:solidFill>
                <a:effectLst/>
                <a:latin typeface="Söhne"/>
              </a:rPr>
              <a:t>environment</a:t>
            </a:r>
            <a:r>
              <a:rPr lang="fr-FR" sz="2400" b="0" i="0" dirty="0">
                <a:solidFill>
                  <a:srgbClr val="ECECEC"/>
                </a:solidFill>
                <a:effectLst/>
                <a:latin typeface="Söhne"/>
              </a:rPr>
              <a:t>.</a:t>
            </a:r>
          </a:p>
          <a:p>
            <a:pPr algn="l">
              <a:buFont typeface="Arial" panose="020B0604020202020204" pitchFamily="34" charset="0"/>
              <a:buChar char="•"/>
            </a:pPr>
            <a:r>
              <a:rPr lang="fr-FR" sz="2400" b="0" i="0" dirty="0" err="1">
                <a:solidFill>
                  <a:srgbClr val="ECECEC"/>
                </a:solidFill>
                <a:effectLst/>
                <a:latin typeface="Söhne"/>
              </a:rPr>
              <a:t>These</a:t>
            </a:r>
            <a:r>
              <a:rPr lang="fr-FR" sz="2400" b="0" i="0" dirty="0">
                <a:solidFill>
                  <a:srgbClr val="ECECEC"/>
                </a:solidFill>
                <a:effectLst/>
                <a:latin typeface="Söhne"/>
              </a:rPr>
              <a:t> </a:t>
            </a:r>
            <a:r>
              <a:rPr lang="fr-FR" sz="2400" b="0" i="0" dirty="0" err="1">
                <a:solidFill>
                  <a:srgbClr val="ECECEC"/>
                </a:solidFill>
                <a:effectLst/>
                <a:latin typeface="Söhne"/>
              </a:rPr>
              <a:t>functions</a:t>
            </a:r>
            <a:r>
              <a:rPr lang="fr-FR" sz="2400" b="0" i="0" dirty="0">
                <a:solidFill>
                  <a:srgbClr val="ECECEC"/>
                </a:solidFill>
                <a:effectLst/>
                <a:latin typeface="Söhne"/>
              </a:rPr>
              <a:t> can </a:t>
            </a:r>
            <a:r>
              <a:rPr lang="fr-FR" sz="2400" b="0" i="0" dirty="0" err="1">
                <a:solidFill>
                  <a:srgbClr val="ECECEC"/>
                </a:solidFill>
                <a:effectLst/>
                <a:latin typeface="Söhne"/>
              </a:rPr>
              <a:t>be</a:t>
            </a:r>
            <a:r>
              <a:rPr lang="fr-FR" sz="2400" b="0" i="0" dirty="0">
                <a:solidFill>
                  <a:srgbClr val="ECECEC"/>
                </a:solidFill>
                <a:effectLst/>
                <a:latin typeface="Söhne"/>
              </a:rPr>
              <a:t> </a:t>
            </a:r>
            <a:r>
              <a:rPr lang="fr-FR" sz="2400" b="0" i="0" dirty="0" err="1">
                <a:solidFill>
                  <a:srgbClr val="ECECEC"/>
                </a:solidFill>
                <a:effectLst/>
                <a:latin typeface="Söhne"/>
              </a:rPr>
              <a:t>used</a:t>
            </a:r>
            <a:r>
              <a:rPr lang="fr-FR" sz="2400" b="0" i="0" dirty="0">
                <a:solidFill>
                  <a:srgbClr val="ECECEC"/>
                </a:solidFill>
                <a:effectLst/>
                <a:latin typeface="Söhne"/>
              </a:rPr>
              <a:t> to </a:t>
            </a:r>
            <a:r>
              <a:rPr lang="fr-FR" sz="2400" b="0" i="0" dirty="0" err="1">
                <a:solidFill>
                  <a:srgbClr val="ECECEC"/>
                </a:solidFill>
                <a:effectLst/>
                <a:latin typeface="Söhne"/>
              </a:rPr>
              <a:t>build</a:t>
            </a:r>
            <a:r>
              <a:rPr lang="fr-FR" sz="2400" b="0" i="0" dirty="0">
                <a:solidFill>
                  <a:srgbClr val="ECECEC"/>
                </a:solidFill>
                <a:effectLst/>
                <a:latin typeface="Söhne"/>
              </a:rPr>
              <a:t> applications </a:t>
            </a:r>
            <a:r>
              <a:rPr lang="fr-FR" sz="2400" b="0" i="0" dirty="0" err="1">
                <a:solidFill>
                  <a:srgbClr val="ECECEC"/>
                </a:solidFill>
                <a:effectLst/>
                <a:latin typeface="Söhne"/>
              </a:rPr>
              <a:t>from</a:t>
            </a:r>
            <a:r>
              <a:rPr lang="fr-FR" sz="2400" b="0" i="0" dirty="0">
                <a:solidFill>
                  <a:srgbClr val="ECECEC"/>
                </a:solidFill>
                <a:effectLst/>
                <a:latin typeface="Söhne"/>
              </a:rPr>
              <a:t> </a:t>
            </a:r>
            <a:r>
              <a:rPr lang="fr-FR" sz="2400" b="0" i="0" dirty="0" err="1">
                <a:solidFill>
                  <a:srgbClr val="ECECEC"/>
                </a:solidFill>
                <a:effectLst/>
                <a:latin typeface="Söhne"/>
              </a:rPr>
              <a:t>small</a:t>
            </a:r>
            <a:r>
              <a:rPr lang="fr-FR" sz="2400" b="0" i="0" dirty="0">
                <a:solidFill>
                  <a:srgbClr val="ECECEC"/>
                </a:solidFill>
                <a:effectLst/>
                <a:latin typeface="Söhne"/>
              </a:rPr>
              <a:t> business </a:t>
            </a:r>
            <a:r>
              <a:rPr lang="fr-FR" sz="2400" b="0" i="0" dirty="0" err="1">
                <a:solidFill>
                  <a:srgbClr val="ECECEC"/>
                </a:solidFill>
                <a:effectLst/>
                <a:latin typeface="Söhne"/>
              </a:rPr>
              <a:t>logics</a:t>
            </a:r>
            <a:r>
              <a:rPr lang="fr-FR" sz="2400" b="0" i="0" dirty="0">
                <a:solidFill>
                  <a:srgbClr val="ECECEC"/>
                </a:solidFill>
                <a:effectLst/>
                <a:latin typeface="Söhne"/>
              </a:rPr>
              <a:t> and to </a:t>
            </a:r>
            <a:r>
              <a:rPr lang="fr-FR" sz="2400" b="0" i="0" dirty="0" err="1">
                <a:solidFill>
                  <a:srgbClr val="ECECEC"/>
                </a:solidFill>
                <a:effectLst/>
                <a:latin typeface="Söhne"/>
              </a:rPr>
              <a:t>connect</a:t>
            </a:r>
            <a:r>
              <a:rPr lang="fr-FR" sz="2400" b="0" i="0" dirty="0">
                <a:solidFill>
                  <a:srgbClr val="ECECEC"/>
                </a:solidFill>
                <a:effectLst/>
                <a:latin typeface="Söhne"/>
              </a:rPr>
              <a:t> and </a:t>
            </a:r>
            <a:r>
              <a:rPr lang="fr-FR" sz="2400" b="0" i="0" dirty="0" err="1">
                <a:solidFill>
                  <a:srgbClr val="ECECEC"/>
                </a:solidFill>
                <a:effectLst/>
                <a:latin typeface="Söhne"/>
              </a:rPr>
              <a:t>extend</a:t>
            </a:r>
            <a:r>
              <a:rPr lang="fr-FR" sz="2400" b="0" i="0" dirty="0">
                <a:solidFill>
                  <a:srgbClr val="ECECEC"/>
                </a:solidFill>
                <a:effectLst/>
                <a:latin typeface="Söhne"/>
              </a:rPr>
              <a:t> cloud services.</a:t>
            </a:r>
          </a:p>
          <a:p>
            <a:pPr algn="l">
              <a:buFont typeface="Arial" panose="020B0604020202020204" pitchFamily="34" charset="0"/>
              <a:buChar char="•"/>
            </a:pPr>
            <a:r>
              <a:rPr lang="fr-FR" sz="2400" b="0" i="0" dirty="0" err="1">
                <a:solidFill>
                  <a:srgbClr val="ECECEC"/>
                </a:solidFill>
                <a:effectLst/>
                <a:latin typeface="Söhne"/>
              </a:rPr>
              <a:t>Billing</a:t>
            </a:r>
            <a:r>
              <a:rPr lang="fr-FR" sz="2400" b="0" i="0" dirty="0">
                <a:solidFill>
                  <a:srgbClr val="ECECEC"/>
                </a:solidFill>
                <a:effectLst/>
                <a:latin typeface="Söhne"/>
              </a:rPr>
              <a:t> </a:t>
            </a:r>
            <a:r>
              <a:rPr lang="fr-FR" sz="2400" b="0" i="0" dirty="0" err="1">
                <a:solidFill>
                  <a:srgbClr val="ECECEC"/>
                </a:solidFill>
                <a:effectLst/>
                <a:latin typeface="Söhne"/>
              </a:rPr>
              <a:t>occurs</a:t>
            </a:r>
            <a:r>
              <a:rPr lang="fr-FR" sz="2400" b="0" i="0" dirty="0">
                <a:solidFill>
                  <a:srgbClr val="ECECEC"/>
                </a:solidFill>
                <a:effectLst/>
                <a:latin typeface="Söhne"/>
              </a:rPr>
              <a:t> at the </a:t>
            </a:r>
            <a:r>
              <a:rPr lang="fr-FR" sz="2400" b="0" i="0" dirty="0" err="1">
                <a:solidFill>
                  <a:srgbClr val="ECECEC"/>
                </a:solidFill>
                <a:effectLst/>
                <a:latin typeface="Söhne"/>
              </a:rPr>
              <a:t>closest</a:t>
            </a:r>
            <a:r>
              <a:rPr lang="fr-FR" sz="2400" b="0" i="0" dirty="0">
                <a:solidFill>
                  <a:srgbClr val="ECECEC"/>
                </a:solidFill>
                <a:effectLst/>
                <a:latin typeface="Söhne"/>
              </a:rPr>
              <a:t> to the </a:t>
            </a:r>
            <a:r>
              <a:rPr lang="fr-FR" sz="2400" b="0" i="0" dirty="0" err="1">
                <a:solidFill>
                  <a:srgbClr val="ECECEC"/>
                </a:solidFill>
                <a:effectLst/>
                <a:latin typeface="Söhne"/>
              </a:rPr>
              <a:t>millisecond</a:t>
            </a:r>
            <a:r>
              <a:rPr lang="fr-FR" sz="2400" b="0" i="0" dirty="0">
                <a:solidFill>
                  <a:srgbClr val="ECECEC"/>
                </a:solidFill>
                <a:effectLst/>
                <a:latin typeface="Söhne"/>
              </a:rPr>
              <a:t>, </a:t>
            </a:r>
            <a:r>
              <a:rPr lang="fr-FR" sz="2400" b="0" i="0" dirty="0" err="1">
                <a:solidFill>
                  <a:srgbClr val="ECECEC"/>
                </a:solidFill>
                <a:effectLst/>
                <a:latin typeface="Söhne"/>
              </a:rPr>
              <a:t>only</a:t>
            </a:r>
            <a:r>
              <a:rPr lang="fr-FR" sz="2400" b="0" i="0" dirty="0">
                <a:solidFill>
                  <a:srgbClr val="ECECEC"/>
                </a:solidFill>
                <a:effectLst/>
                <a:latin typeface="Söhne"/>
              </a:rPr>
              <a:t> </a:t>
            </a:r>
            <a:r>
              <a:rPr lang="fr-FR" sz="2400" b="0" i="0" dirty="0" err="1">
                <a:solidFill>
                  <a:srgbClr val="ECECEC"/>
                </a:solidFill>
                <a:effectLst/>
                <a:latin typeface="Söhne"/>
              </a:rPr>
              <a:t>during</a:t>
            </a:r>
            <a:r>
              <a:rPr lang="fr-FR" sz="2400" b="0" i="0" dirty="0">
                <a:solidFill>
                  <a:srgbClr val="ECECEC"/>
                </a:solidFill>
                <a:effectLst/>
                <a:latin typeface="Söhne"/>
              </a:rPr>
              <a:t> code </a:t>
            </a:r>
            <a:r>
              <a:rPr lang="fr-FR" sz="2400" b="0" i="0" dirty="0" err="1">
                <a:solidFill>
                  <a:srgbClr val="ECECEC"/>
                </a:solidFill>
                <a:effectLst/>
                <a:latin typeface="Söhne"/>
              </a:rPr>
              <a:t>execution</a:t>
            </a:r>
            <a:r>
              <a:rPr lang="fr-FR" sz="2400" b="0" i="0" dirty="0">
                <a:solidFill>
                  <a:srgbClr val="ECECEC"/>
                </a:solidFill>
                <a:effectLst/>
                <a:latin typeface="Söhne"/>
              </a:rPr>
              <a:t>, </a:t>
            </a:r>
            <a:r>
              <a:rPr lang="fr-FR" sz="2400" b="0" i="0" dirty="0" err="1">
                <a:solidFill>
                  <a:srgbClr val="ECECEC"/>
                </a:solidFill>
                <a:effectLst/>
                <a:latin typeface="Söhne"/>
              </a:rPr>
              <a:t>allowing</a:t>
            </a:r>
            <a:r>
              <a:rPr lang="fr-FR" sz="2400" b="0" i="0" dirty="0">
                <a:solidFill>
                  <a:srgbClr val="ECECEC"/>
                </a:solidFill>
                <a:effectLst/>
                <a:latin typeface="Söhne"/>
              </a:rPr>
              <a:t> for </a:t>
            </a:r>
            <a:r>
              <a:rPr lang="fr-FR" sz="2400" b="0" i="0" dirty="0" err="1">
                <a:solidFill>
                  <a:srgbClr val="ECECEC"/>
                </a:solidFill>
                <a:effectLst/>
                <a:latin typeface="Söhne"/>
              </a:rPr>
              <a:t>economical</a:t>
            </a:r>
            <a:r>
              <a:rPr lang="fr-FR" sz="2400" b="0" i="0" dirty="0">
                <a:solidFill>
                  <a:srgbClr val="ECECEC"/>
                </a:solidFill>
                <a:effectLst/>
                <a:latin typeface="Söhne"/>
              </a:rPr>
              <a:t> use of </a:t>
            </a:r>
            <a:r>
              <a:rPr lang="fr-FR" sz="2400" b="0" i="0" dirty="0" err="1">
                <a:solidFill>
                  <a:srgbClr val="ECECEC"/>
                </a:solidFill>
                <a:effectLst/>
                <a:latin typeface="Söhne"/>
              </a:rPr>
              <a:t>resources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Functions</a:t>
            </a:r>
            <a:r>
              <a:rPr lang="fr-FR" sz="2400" b="0" i="0" dirty="0">
                <a:solidFill>
                  <a:srgbClr val="ECECEC"/>
                </a:solidFill>
                <a:effectLst/>
                <a:latin typeface="Söhne"/>
              </a:rPr>
              <a:t> supports multiple </a:t>
            </a:r>
            <a:r>
              <a:rPr lang="fr-FR" sz="2400" b="0" i="0" dirty="0" err="1">
                <a:solidFill>
                  <a:srgbClr val="ECECEC"/>
                </a:solidFill>
                <a:effectLst/>
                <a:latin typeface="Söhne"/>
              </a:rPr>
              <a:t>programming</a:t>
            </a:r>
            <a:r>
              <a:rPr lang="fr-FR" sz="2400" b="0" i="0" dirty="0">
                <a:solidFill>
                  <a:srgbClr val="ECECEC"/>
                </a:solidFill>
                <a:effectLst/>
                <a:latin typeface="Söhne"/>
              </a:rPr>
              <a:t> </a:t>
            </a:r>
            <a:r>
              <a:rPr lang="fr-FR" sz="2400" b="0" i="0" dirty="0" err="1">
                <a:solidFill>
                  <a:srgbClr val="ECECEC"/>
                </a:solidFill>
                <a:effectLst/>
                <a:latin typeface="Söhne"/>
              </a:rPr>
              <a:t>languages</a:t>
            </a:r>
            <a:r>
              <a:rPr lang="fr-FR" sz="2400" b="0" i="0" dirty="0">
                <a:solidFill>
                  <a:srgbClr val="ECECEC"/>
                </a:solidFill>
                <a:effectLst/>
                <a:latin typeface="Söhne"/>
              </a:rPr>
              <a:t>, </a:t>
            </a:r>
            <a:r>
              <a:rPr lang="fr-FR" sz="2400" b="0" i="0" dirty="0" err="1">
                <a:solidFill>
                  <a:srgbClr val="ECECEC"/>
                </a:solidFill>
                <a:effectLst/>
                <a:latin typeface="Söhne"/>
              </a:rPr>
              <a:t>providing</a:t>
            </a:r>
            <a:r>
              <a:rPr lang="fr-FR" sz="2400" b="0" i="0" dirty="0">
                <a:solidFill>
                  <a:srgbClr val="ECECEC"/>
                </a:solidFill>
                <a:effectLst/>
                <a:latin typeface="Söhne"/>
              </a:rPr>
              <a:t> </a:t>
            </a:r>
            <a:r>
              <a:rPr lang="fr-FR" sz="2400" b="0" i="0" dirty="0" err="1">
                <a:solidFill>
                  <a:srgbClr val="ECECEC"/>
                </a:solidFill>
                <a:effectLst/>
                <a:latin typeface="Söhne"/>
              </a:rPr>
              <a:t>flexibility</a:t>
            </a:r>
            <a:r>
              <a:rPr lang="fr-FR" sz="2400" b="0" i="0" dirty="0">
                <a:solidFill>
                  <a:srgbClr val="ECECEC"/>
                </a:solidFill>
                <a:effectLst/>
                <a:latin typeface="Söhne"/>
              </a:rPr>
              <a:t> to </a:t>
            </a:r>
            <a:r>
              <a:rPr lang="fr-FR" sz="2400" b="0" i="0" dirty="0" err="1">
                <a:solidFill>
                  <a:srgbClr val="ECECEC"/>
                </a:solidFill>
                <a:effectLst/>
                <a:latin typeface="Söhne"/>
              </a:rPr>
              <a:t>developers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Events </a:t>
            </a:r>
            <a:r>
              <a:rPr lang="fr-FR" sz="2400" b="0" i="0" dirty="0" err="1">
                <a:solidFill>
                  <a:srgbClr val="ECECEC"/>
                </a:solidFill>
                <a:effectLst/>
                <a:latin typeface="Söhne"/>
              </a:rPr>
              <a:t>from</a:t>
            </a:r>
            <a:r>
              <a:rPr lang="fr-FR" sz="2400" b="0" i="0" dirty="0">
                <a:solidFill>
                  <a:srgbClr val="ECECEC"/>
                </a:solidFill>
                <a:effectLst/>
                <a:latin typeface="Söhne"/>
              </a:rPr>
              <a:t> Cloud Storage and Pub/</a:t>
            </a:r>
            <a:r>
              <a:rPr lang="fr-FR" sz="2400" b="0" i="0" dirty="0" err="1">
                <a:solidFill>
                  <a:srgbClr val="ECECEC"/>
                </a:solidFill>
                <a:effectLst/>
                <a:latin typeface="Söhne"/>
              </a:rPr>
              <a:t>Sub</a:t>
            </a:r>
            <a:r>
              <a:rPr lang="fr-FR" sz="2400" b="0" i="0" dirty="0">
                <a:solidFill>
                  <a:srgbClr val="ECECEC"/>
                </a:solidFill>
                <a:effectLst/>
                <a:latin typeface="Söhne"/>
              </a:rPr>
              <a:t> can trigger </a:t>
            </a:r>
            <a:r>
              <a:rPr lang="fr-FR" sz="2400" b="0" i="0" dirty="0" err="1">
                <a:solidFill>
                  <a:srgbClr val="ECECEC"/>
                </a:solidFill>
                <a:effectLst/>
                <a:latin typeface="Söhne"/>
              </a:rPr>
              <a:t>functions</a:t>
            </a:r>
            <a:r>
              <a:rPr lang="fr-FR" sz="2400" b="0" i="0" dirty="0">
                <a:solidFill>
                  <a:srgbClr val="ECECEC"/>
                </a:solidFill>
                <a:effectLst/>
                <a:latin typeface="Söhne"/>
              </a:rPr>
              <a:t> </a:t>
            </a:r>
            <a:r>
              <a:rPr lang="fr-FR" sz="2400" b="0" i="0" dirty="0" err="1">
                <a:solidFill>
                  <a:srgbClr val="ECECEC"/>
                </a:solidFill>
                <a:effectLst/>
                <a:latin typeface="Söhne"/>
              </a:rPr>
              <a:t>asynchronously</a:t>
            </a:r>
            <a:r>
              <a:rPr lang="fr-FR" sz="2400" b="0" i="0" dirty="0">
                <a:solidFill>
                  <a:srgbClr val="ECECEC"/>
                </a:solidFill>
                <a:effectLst/>
                <a:latin typeface="Söhne"/>
              </a:rPr>
              <a:t>, </a:t>
            </a:r>
            <a:r>
              <a:rPr lang="fr-FR" sz="2400" b="0" i="0" dirty="0" err="1">
                <a:solidFill>
                  <a:srgbClr val="ECECEC"/>
                </a:solidFill>
                <a:effectLst/>
                <a:latin typeface="Söhne"/>
              </a:rPr>
              <a:t>while</a:t>
            </a:r>
            <a:r>
              <a:rPr lang="fr-FR" sz="2400" b="0" i="0" dirty="0">
                <a:solidFill>
                  <a:srgbClr val="ECECEC"/>
                </a:solidFill>
                <a:effectLst/>
                <a:latin typeface="Söhne"/>
              </a:rPr>
              <a:t> HTTP invocation </a:t>
            </a:r>
            <a:r>
              <a:rPr lang="fr-FR" sz="2400" b="0" i="0" dirty="0" err="1">
                <a:solidFill>
                  <a:srgbClr val="ECECEC"/>
                </a:solidFill>
                <a:effectLst/>
                <a:latin typeface="Söhne"/>
              </a:rPr>
              <a:t>allows</a:t>
            </a:r>
            <a:r>
              <a:rPr lang="fr-FR" sz="2400" b="0" i="0" dirty="0">
                <a:solidFill>
                  <a:srgbClr val="ECECEC"/>
                </a:solidFill>
                <a:effectLst/>
                <a:latin typeface="Söhne"/>
              </a:rPr>
              <a:t> for </a:t>
            </a:r>
            <a:r>
              <a:rPr lang="fr-FR" sz="2400" b="0" i="0" dirty="0" err="1">
                <a:solidFill>
                  <a:srgbClr val="ECECEC"/>
                </a:solidFill>
                <a:effectLst/>
                <a:latin typeface="Söhne"/>
              </a:rPr>
              <a:t>synchronous</a:t>
            </a:r>
            <a:r>
              <a:rPr lang="fr-FR" sz="2400" b="0" i="0" dirty="0">
                <a:solidFill>
                  <a:srgbClr val="ECECEC"/>
                </a:solidFill>
                <a:effectLst/>
                <a:latin typeface="Söhne"/>
              </a:rPr>
              <a:t> </a:t>
            </a:r>
            <a:r>
              <a:rPr lang="fr-FR" sz="2400" b="0" i="0" dirty="0" err="1">
                <a:solidFill>
                  <a:srgbClr val="ECECEC"/>
                </a:solidFill>
                <a:effectLst/>
                <a:latin typeface="Söhne"/>
              </a:rPr>
              <a:t>execution</a:t>
            </a:r>
            <a:r>
              <a:rPr lang="fr-FR" sz="2400" b="0" i="0" dirty="0">
                <a:solidFill>
                  <a:srgbClr val="ECECEC"/>
                </a:solidFill>
                <a:effectLst/>
                <a:latin typeface="Söhne"/>
              </a:rPr>
              <a:t> for direct interactions </a:t>
            </a:r>
            <a:r>
              <a:rPr lang="fr-FR" sz="2400" b="0" i="0" dirty="0" err="1">
                <a:solidFill>
                  <a:srgbClr val="ECECEC"/>
                </a:solidFill>
                <a:effectLst/>
                <a:latin typeface="Söhne"/>
              </a:rPr>
              <a:t>with</a:t>
            </a:r>
            <a:r>
              <a:rPr lang="fr-FR" sz="2400" b="0" i="0" dirty="0">
                <a:solidFill>
                  <a:srgbClr val="ECECEC"/>
                </a:solidFill>
                <a:effectLst/>
                <a:latin typeface="Söhne"/>
              </a:rPr>
              <a:t> the API.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6952263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FUNCTIONS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34265" y="2014425"/>
            <a:ext cx="10351747" cy="4204259"/>
          </a:xfrm>
        </p:spPr>
        <p:txBody>
          <a:bodyPr>
            <a:normAutofit/>
          </a:bodyPr>
          <a:lstStyle/>
          <a:p>
            <a:r>
              <a:rPr lang="fr-FR" sz="2400" dirty="0" err="1">
                <a:effectLst/>
                <a:latin typeface="Roboto" panose="02000000000000000000" pitchFamily="2" charset="0"/>
              </a:rPr>
              <a:t>What</a:t>
            </a:r>
            <a:r>
              <a:rPr lang="fr-FR" sz="2400" dirty="0">
                <a:effectLst/>
                <a:latin typeface="Roboto" panose="02000000000000000000" pitchFamily="2" charset="0"/>
              </a:rPr>
              <a:t> </a:t>
            </a:r>
            <a:r>
              <a:rPr lang="fr-FR" sz="2400" dirty="0" err="1">
                <a:effectLst/>
                <a:latin typeface="Roboto" panose="02000000000000000000" pitchFamily="2" charset="0"/>
              </a:rPr>
              <a:t>is</a:t>
            </a:r>
            <a:r>
              <a:rPr lang="fr-FR" sz="2400" dirty="0">
                <a:effectLst/>
                <a:latin typeface="Roboto" panose="02000000000000000000" pitchFamily="2" charset="0"/>
              </a:rPr>
              <a:t> the </a:t>
            </a:r>
            <a:r>
              <a:rPr lang="fr-FR" sz="2400" dirty="0" err="1">
                <a:effectLst/>
                <a:latin typeface="Roboto" panose="02000000000000000000" pitchFamily="2" charset="0"/>
              </a:rPr>
              <a:t>advantage</a:t>
            </a:r>
            <a:r>
              <a:rPr lang="fr-FR" sz="2400" dirty="0">
                <a:effectLst/>
                <a:latin typeface="Roboto" panose="02000000000000000000" pitchFamily="2" charset="0"/>
              </a:rPr>
              <a:t> of putting the </a:t>
            </a:r>
            <a:r>
              <a:rPr lang="fr-FR" sz="2400" dirty="0" err="1">
                <a:effectLst/>
                <a:latin typeface="Roboto" panose="02000000000000000000" pitchFamily="2" charset="0"/>
              </a:rPr>
              <a:t>event-driven</a:t>
            </a:r>
            <a:r>
              <a:rPr lang="fr-FR" sz="2400" dirty="0">
                <a:effectLst/>
                <a:latin typeface="Roboto" panose="02000000000000000000" pitchFamily="2" charset="0"/>
              </a:rPr>
              <a:t> components of </a:t>
            </a:r>
            <a:r>
              <a:rPr lang="fr-FR" sz="2400" dirty="0" err="1">
                <a:effectLst/>
                <a:latin typeface="Roboto" panose="02000000000000000000" pitchFamily="2" charset="0"/>
              </a:rPr>
              <a:t>your</a:t>
            </a:r>
            <a:r>
              <a:rPr lang="fr-FR" sz="2400" dirty="0">
                <a:effectLst/>
                <a:latin typeface="Roboto" panose="02000000000000000000" pitchFamily="2" charset="0"/>
              </a:rPr>
              <a:t> application </a:t>
            </a:r>
            <a:r>
              <a:rPr lang="fr-FR" sz="2400" dirty="0" err="1">
                <a:effectLst/>
                <a:latin typeface="Roboto" panose="02000000000000000000" pitchFamily="2" charset="0"/>
              </a:rPr>
              <a:t>into</a:t>
            </a:r>
            <a:r>
              <a:rPr lang="fr-FR" sz="2400" dirty="0">
                <a:effectLst/>
                <a:latin typeface="Roboto" panose="02000000000000000000" pitchFamily="2" charset="0"/>
              </a:rPr>
              <a:t> Cloud </a:t>
            </a:r>
            <a:r>
              <a:rPr lang="fr-FR" sz="2400" dirty="0" err="1">
                <a:effectLst/>
                <a:latin typeface="Roboto" panose="02000000000000000000" pitchFamily="2" charset="0"/>
              </a:rPr>
              <a:t>Functions</a:t>
            </a:r>
            <a:r>
              <a:rPr lang="fr-FR" sz="2400" dirty="0">
                <a:effectLst/>
                <a:latin typeface="Roboto" panose="02000000000000000000" pitchFamily="2" charset="0"/>
              </a:rPr>
              <a:t>? </a:t>
            </a:r>
            <a:endParaRPr lang="fr-FR" sz="1800" dirty="0"/>
          </a:p>
          <a:p>
            <a:pPr lvl="1"/>
            <a:r>
              <a:rPr lang="fr-FR" dirty="0">
                <a:effectLst/>
                <a:latin typeface="Roboto" panose="02000000000000000000" pitchFamily="2" charset="0"/>
              </a:rPr>
              <a:t>A: Cloud </a:t>
            </a:r>
            <a:r>
              <a:rPr lang="fr-FR" dirty="0" err="1">
                <a:effectLst/>
                <a:latin typeface="Roboto" panose="02000000000000000000" pitchFamily="2" charset="0"/>
              </a:rPr>
              <a:t>Functions</a:t>
            </a:r>
            <a:r>
              <a:rPr lang="fr-FR" dirty="0">
                <a:effectLst/>
                <a:latin typeface="Roboto" panose="02000000000000000000" pitchFamily="2" charset="0"/>
              </a:rPr>
              <a:t> </a:t>
            </a:r>
            <a:r>
              <a:rPr lang="fr-FR" dirty="0" err="1">
                <a:effectLst/>
                <a:latin typeface="Roboto" panose="02000000000000000000" pitchFamily="2" charset="0"/>
              </a:rPr>
              <a:t>means</a:t>
            </a:r>
            <a:r>
              <a:rPr lang="fr-FR" dirty="0">
                <a:effectLst/>
                <a:latin typeface="Roboto" panose="02000000000000000000" pitchFamily="2" charset="0"/>
              </a:rPr>
              <a:t> </a:t>
            </a:r>
            <a:r>
              <a:rPr lang="fr-FR" dirty="0" err="1">
                <a:effectLst/>
                <a:latin typeface="Roboto" panose="02000000000000000000" pitchFamily="2" charset="0"/>
              </a:rPr>
              <a:t>that</a:t>
            </a:r>
            <a:r>
              <a:rPr lang="fr-FR" dirty="0">
                <a:effectLst/>
                <a:latin typeface="Roboto" panose="02000000000000000000" pitchFamily="2" charset="0"/>
              </a:rPr>
              <a:t> </a:t>
            </a:r>
            <a:r>
              <a:rPr lang="fr-FR" dirty="0" err="1">
                <a:effectLst/>
                <a:latin typeface="Roboto" panose="02000000000000000000" pitchFamily="2" charset="0"/>
              </a:rPr>
              <a:t>processing</a:t>
            </a:r>
            <a:r>
              <a:rPr lang="fr-FR" dirty="0">
                <a:effectLst/>
                <a:latin typeface="Roboto" panose="02000000000000000000" pitchFamily="2" charset="0"/>
              </a:rPr>
              <a:t> </a:t>
            </a:r>
            <a:r>
              <a:rPr lang="fr-FR" dirty="0" err="1">
                <a:effectLst/>
                <a:latin typeface="Roboto" panose="02000000000000000000" pitchFamily="2" charset="0"/>
              </a:rPr>
              <a:t>always</a:t>
            </a:r>
            <a:r>
              <a:rPr lang="fr-FR" dirty="0">
                <a:effectLst/>
                <a:latin typeface="Roboto" panose="02000000000000000000" pitchFamily="2" charset="0"/>
              </a:rPr>
              <a:t> </a:t>
            </a:r>
            <a:r>
              <a:rPr lang="fr-FR" dirty="0" err="1">
                <a:effectLst/>
                <a:latin typeface="Roboto" panose="02000000000000000000" pitchFamily="2" charset="0"/>
              </a:rPr>
              <a:t>happens</a:t>
            </a:r>
            <a:r>
              <a:rPr lang="fr-FR" dirty="0">
                <a:effectLst/>
                <a:latin typeface="Roboto" panose="02000000000000000000" pitchFamily="2" charset="0"/>
              </a:rPr>
              <a:t> free of charge.</a:t>
            </a:r>
          </a:p>
          <a:p>
            <a:pPr lvl="2"/>
            <a:r>
              <a:rPr lang="fr-FR" dirty="0">
                <a:effectLst/>
                <a:latin typeface="Roboto" panose="02000000000000000000" pitchFamily="2" charset="0"/>
              </a:rPr>
              <a:t>Not free of charge !</a:t>
            </a:r>
            <a:endParaRPr lang="fr-FR" sz="1100" dirty="0"/>
          </a:p>
          <a:p>
            <a:pPr lvl="1"/>
            <a:r>
              <a:rPr lang="fr-FR" b="1" dirty="0">
                <a:effectLst/>
                <a:latin typeface="Roboto" panose="02000000000000000000" pitchFamily="2" charset="0"/>
              </a:rPr>
              <a:t>B: Cloud </a:t>
            </a:r>
            <a:r>
              <a:rPr lang="fr-FR" b="1" dirty="0" err="1">
                <a:effectLst/>
                <a:latin typeface="Roboto" panose="02000000000000000000" pitchFamily="2" charset="0"/>
              </a:rPr>
              <a:t>Functions</a:t>
            </a:r>
            <a:r>
              <a:rPr lang="fr-FR" b="1" dirty="0">
                <a:effectLst/>
                <a:latin typeface="Roboto" panose="02000000000000000000" pitchFamily="2" charset="0"/>
              </a:rPr>
              <a:t> </a:t>
            </a:r>
            <a:r>
              <a:rPr lang="fr-FR" b="1" dirty="0" err="1">
                <a:effectLst/>
                <a:latin typeface="Roboto" panose="02000000000000000000" pitchFamily="2" charset="0"/>
              </a:rPr>
              <a:t>handles</a:t>
            </a:r>
            <a:r>
              <a:rPr lang="fr-FR" b="1" dirty="0">
                <a:effectLst/>
                <a:latin typeface="Roboto" panose="02000000000000000000" pitchFamily="2" charset="0"/>
              </a:rPr>
              <a:t> </a:t>
            </a:r>
            <a:r>
              <a:rPr lang="fr-FR" b="1" dirty="0" err="1">
                <a:effectLst/>
                <a:latin typeface="Roboto" panose="02000000000000000000" pitchFamily="2" charset="0"/>
              </a:rPr>
              <a:t>scaling</a:t>
            </a:r>
            <a:r>
              <a:rPr lang="fr-FR" b="1" dirty="0">
                <a:effectLst/>
                <a:latin typeface="Roboto" panose="02000000000000000000" pitchFamily="2" charset="0"/>
              </a:rPr>
              <a:t> </a:t>
            </a:r>
            <a:r>
              <a:rPr lang="fr-FR" b="1" dirty="0" err="1">
                <a:effectLst/>
                <a:latin typeface="Roboto" panose="02000000000000000000" pitchFamily="2" charset="0"/>
              </a:rPr>
              <a:t>these</a:t>
            </a:r>
            <a:r>
              <a:rPr lang="fr-FR" b="1" dirty="0">
                <a:effectLst/>
                <a:latin typeface="Roboto" panose="02000000000000000000" pitchFamily="2" charset="0"/>
              </a:rPr>
              <a:t> components </a:t>
            </a:r>
            <a:r>
              <a:rPr lang="fr-FR" b="1" dirty="0" err="1">
                <a:effectLst/>
                <a:latin typeface="Roboto" panose="02000000000000000000" pitchFamily="2" charset="0"/>
              </a:rPr>
              <a:t>seamlessly</a:t>
            </a:r>
            <a:r>
              <a:rPr lang="fr-FR" b="1" dirty="0">
                <a:effectLst/>
                <a:latin typeface="Roboto" panose="02000000000000000000" pitchFamily="2" charset="0"/>
              </a:rPr>
              <a:t>. </a:t>
            </a:r>
            <a:endParaRPr lang="fr-FR" sz="1600" b="1" dirty="0"/>
          </a:p>
          <a:p>
            <a:pPr lvl="2"/>
            <a:r>
              <a:rPr lang="fr-FR" dirty="0">
                <a:effectLst/>
                <a:latin typeface="Roboto" panose="02000000000000000000" pitchFamily="2" charset="0"/>
              </a:rPr>
              <a:t>Correct! </a:t>
            </a:r>
            <a:r>
              <a:rPr lang="fr-FR" dirty="0" err="1">
                <a:effectLst/>
                <a:latin typeface="Roboto" panose="02000000000000000000" pitchFamily="2" charset="0"/>
              </a:rPr>
              <a:t>Your</a:t>
            </a:r>
            <a:r>
              <a:rPr lang="fr-FR" dirty="0">
                <a:effectLst/>
                <a:latin typeface="Roboto" panose="02000000000000000000" pitchFamily="2" charset="0"/>
              </a:rPr>
              <a:t> code </a:t>
            </a:r>
            <a:r>
              <a:rPr lang="fr-FR" dirty="0" err="1">
                <a:effectLst/>
                <a:latin typeface="Roboto" panose="02000000000000000000" pitchFamily="2" charset="0"/>
              </a:rPr>
              <a:t>executes</a:t>
            </a:r>
            <a:r>
              <a:rPr lang="fr-FR" dirty="0">
                <a:effectLst/>
                <a:latin typeface="Roboto" panose="02000000000000000000" pitchFamily="2" charset="0"/>
              </a:rPr>
              <a:t> </a:t>
            </a:r>
            <a:r>
              <a:rPr lang="fr-FR" dirty="0" err="1">
                <a:effectLst/>
                <a:latin typeface="Roboto" panose="02000000000000000000" pitchFamily="2" charset="0"/>
              </a:rPr>
              <a:t>whenever</a:t>
            </a:r>
            <a:r>
              <a:rPr lang="fr-FR" dirty="0">
                <a:effectLst/>
                <a:latin typeface="Roboto" panose="02000000000000000000" pitchFamily="2" charset="0"/>
              </a:rPr>
              <a:t> an </a:t>
            </a:r>
            <a:r>
              <a:rPr lang="fr-FR" dirty="0" err="1">
                <a:effectLst/>
                <a:latin typeface="Roboto" panose="02000000000000000000" pitchFamily="2" charset="0"/>
              </a:rPr>
              <a:t>event</a:t>
            </a:r>
            <a:r>
              <a:rPr lang="fr-FR" dirty="0">
                <a:effectLst/>
                <a:latin typeface="Roboto" panose="02000000000000000000" pitchFamily="2" charset="0"/>
              </a:rPr>
              <a:t> triggers </a:t>
            </a:r>
            <a:r>
              <a:rPr lang="fr-FR" dirty="0" err="1">
                <a:effectLst/>
                <a:latin typeface="Roboto" panose="02000000000000000000" pitchFamily="2" charset="0"/>
              </a:rPr>
              <a:t>it</a:t>
            </a:r>
            <a:r>
              <a:rPr lang="fr-FR" dirty="0">
                <a:effectLst/>
                <a:latin typeface="Roboto" panose="02000000000000000000" pitchFamily="2" charset="0"/>
              </a:rPr>
              <a:t>, no </a:t>
            </a:r>
            <a:r>
              <a:rPr lang="fr-FR" dirty="0" err="1">
                <a:effectLst/>
                <a:latin typeface="Roboto" panose="02000000000000000000" pitchFamily="2" charset="0"/>
              </a:rPr>
              <a:t>matter</a:t>
            </a:r>
            <a:r>
              <a:rPr lang="fr-FR" dirty="0">
                <a:effectLst/>
                <a:latin typeface="Roboto" panose="02000000000000000000" pitchFamily="2" charset="0"/>
              </a:rPr>
              <a:t> </a:t>
            </a:r>
            <a:r>
              <a:rPr lang="fr-FR" dirty="0" err="1">
                <a:effectLst/>
                <a:latin typeface="Roboto" panose="02000000000000000000" pitchFamily="2" charset="0"/>
              </a:rPr>
              <a:t>whether</a:t>
            </a:r>
            <a:r>
              <a:rPr lang="fr-FR" dirty="0">
                <a:effectLst/>
                <a:latin typeface="Roboto" panose="02000000000000000000" pitchFamily="2" charset="0"/>
              </a:rPr>
              <a:t> </a:t>
            </a:r>
            <a:r>
              <a:rPr lang="fr-FR" dirty="0" err="1">
                <a:effectLst/>
                <a:latin typeface="Roboto" panose="02000000000000000000" pitchFamily="2" charset="0"/>
              </a:rPr>
              <a:t>it</a:t>
            </a:r>
            <a:r>
              <a:rPr lang="fr-FR" dirty="0">
                <a:effectLst/>
                <a:latin typeface="Roboto" panose="02000000000000000000" pitchFamily="2" charset="0"/>
              </a:rPr>
              <a:t> </a:t>
            </a:r>
            <a:r>
              <a:rPr lang="fr-FR" dirty="0" err="1">
                <a:effectLst/>
                <a:latin typeface="Roboto" panose="02000000000000000000" pitchFamily="2" charset="0"/>
              </a:rPr>
              <a:t>happens</a:t>
            </a:r>
            <a:r>
              <a:rPr lang="fr-FR" dirty="0">
                <a:effectLst/>
                <a:latin typeface="Roboto" panose="02000000000000000000" pitchFamily="2" charset="0"/>
              </a:rPr>
              <a:t> </a:t>
            </a:r>
            <a:r>
              <a:rPr lang="fr-FR" dirty="0" err="1">
                <a:effectLst/>
                <a:latin typeface="Roboto" panose="02000000000000000000" pitchFamily="2" charset="0"/>
              </a:rPr>
              <a:t>rarely</a:t>
            </a:r>
            <a:r>
              <a:rPr lang="fr-FR" dirty="0">
                <a:effectLst/>
                <a:latin typeface="Roboto" panose="02000000000000000000" pitchFamily="2" charset="0"/>
              </a:rPr>
              <a:t> or </a:t>
            </a:r>
            <a:r>
              <a:rPr lang="fr-FR" dirty="0" err="1">
                <a:effectLst/>
                <a:latin typeface="Roboto" panose="02000000000000000000" pitchFamily="2" charset="0"/>
              </a:rPr>
              <a:t>many</a:t>
            </a:r>
            <a:r>
              <a:rPr lang="fr-FR" dirty="0">
                <a:effectLst/>
                <a:latin typeface="Roboto" panose="02000000000000000000" pitchFamily="2" charset="0"/>
              </a:rPr>
              <a:t> times per second. That </a:t>
            </a:r>
            <a:r>
              <a:rPr lang="fr-FR" dirty="0" err="1">
                <a:effectLst/>
                <a:latin typeface="Roboto" panose="02000000000000000000" pitchFamily="2" charset="0"/>
              </a:rPr>
              <a:t>means</a:t>
            </a:r>
            <a:r>
              <a:rPr lang="fr-FR" dirty="0">
                <a:effectLst/>
                <a:latin typeface="Roboto" panose="02000000000000000000" pitchFamily="2" charset="0"/>
              </a:rPr>
              <a:t> </a:t>
            </a:r>
            <a:r>
              <a:rPr lang="fr-FR" dirty="0" err="1">
                <a:effectLst/>
                <a:latin typeface="Roboto" panose="02000000000000000000" pitchFamily="2" charset="0"/>
              </a:rPr>
              <a:t>you</a:t>
            </a:r>
            <a:r>
              <a:rPr lang="fr-FR" dirty="0">
                <a:effectLst/>
                <a:latin typeface="Roboto" panose="02000000000000000000" pitchFamily="2" charset="0"/>
              </a:rPr>
              <a:t> </a:t>
            </a:r>
            <a:r>
              <a:rPr lang="fr-FR" dirty="0" err="1">
                <a:effectLst/>
                <a:latin typeface="Roboto" panose="02000000000000000000" pitchFamily="2" charset="0"/>
              </a:rPr>
              <a:t>don't</a:t>
            </a:r>
            <a:r>
              <a:rPr lang="fr-FR" dirty="0">
                <a:effectLst/>
                <a:latin typeface="Roboto" panose="02000000000000000000" pitchFamily="2" charset="0"/>
              </a:rPr>
              <a:t> have to provision </a:t>
            </a:r>
            <a:r>
              <a:rPr lang="fr-FR" dirty="0" err="1">
                <a:effectLst/>
                <a:latin typeface="Roboto" panose="02000000000000000000" pitchFamily="2" charset="0"/>
              </a:rPr>
              <a:t>compute</a:t>
            </a:r>
            <a:r>
              <a:rPr lang="fr-FR" dirty="0">
                <a:effectLst/>
                <a:latin typeface="Roboto" panose="02000000000000000000" pitchFamily="2" charset="0"/>
              </a:rPr>
              <a:t> </a:t>
            </a:r>
            <a:r>
              <a:rPr lang="fr-FR" dirty="0" err="1">
                <a:effectLst/>
                <a:latin typeface="Roboto" panose="02000000000000000000" pitchFamily="2" charset="0"/>
              </a:rPr>
              <a:t>resources</a:t>
            </a:r>
            <a:r>
              <a:rPr lang="fr-FR" dirty="0">
                <a:effectLst/>
                <a:latin typeface="Roboto" panose="02000000000000000000" pitchFamily="2" charset="0"/>
              </a:rPr>
              <a:t> to </a:t>
            </a:r>
            <a:r>
              <a:rPr lang="fr-FR" dirty="0" err="1">
                <a:effectLst/>
                <a:latin typeface="Roboto" panose="02000000000000000000" pitchFamily="2" charset="0"/>
              </a:rPr>
              <a:t>handle</a:t>
            </a:r>
            <a:r>
              <a:rPr lang="fr-FR" dirty="0">
                <a:effectLst/>
                <a:latin typeface="Roboto" panose="02000000000000000000" pitchFamily="2" charset="0"/>
              </a:rPr>
              <a:t> </a:t>
            </a:r>
            <a:r>
              <a:rPr lang="fr-FR" dirty="0" err="1">
                <a:effectLst/>
                <a:latin typeface="Roboto" panose="02000000000000000000" pitchFamily="2" charset="0"/>
              </a:rPr>
              <a:t>these</a:t>
            </a:r>
            <a:r>
              <a:rPr lang="fr-FR" dirty="0">
                <a:effectLst/>
                <a:latin typeface="Roboto" panose="02000000000000000000" pitchFamily="2" charset="0"/>
              </a:rPr>
              <a:t> </a:t>
            </a:r>
            <a:r>
              <a:rPr lang="fr-FR" dirty="0" err="1">
                <a:effectLst/>
                <a:latin typeface="Roboto" panose="02000000000000000000" pitchFamily="2" charset="0"/>
              </a:rPr>
              <a:t>operations</a:t>
            </a:r>
            <a:r>
              <a:rPr lang="fr-FR" dirty="0">
                <a:effectLst/>
                <a:latin typeface="Roboto" panose="02000000000000000000" pitchFamily="2" charset="0"/>
              </a:rPr>
              <a:t>. </a:t>
            </a:r>
            <a:endParaRPr lang="fr-FR" sz="1100" dirty="0"/>
          </a:p>
          <a:p>
            <a:pPr lvl="1"/>
            <a:r>
              <a:rPr lang="fr-FR" dirty="0">
                <a:effectLst/>
                <a:latin typeface="Roboto" panose="02000000000000000000" pitchFamily="2" charset="0"/>
              </a:rPr>
              <a:t>C: Cloud </a:t>
            </a:r>
            <a:r>
              <a:rPr lang="fr-FR" dirty="0" err="1">
                <a:effectLst/>
                <a:latin typeface="Roboto" panose="02000000000000000000" pitchFamily="2" charset="0"/>
              </a:rPr>
              <a:t>Functions</a:t>
            </a:r>
            <a:r>
              <a:rPr lang="fr-FR" dirty="0">
                <a:effectLst/>
                <a:latin typeface="Roboto" panose="02000000000000000000" pitchFamily="2" charset="0"/>
              </a:rPr>
              <a:t> can </a:t>
            </a:r>
            <a:r>
              <a:rPr lang="fr-FR" dirty="0" err="1">
                <a:effectLst/>
                <a:latin typeface="Roboto" panose="02000000000000000000" pitchFamily="2" charset="0"/>
              </a:rPr>
              <a:t>be</a:t>
            </a:r>
            <a:r>
              <a:rPr lang="fr-FR" dirty="0">
                <a:effectLst/>
                <a:latin typeface="Roboto" panose="02000000000000000000" pitchFamily="2" charset="0"/>
              </a:rPr>
              <a:t> </a:t>
            </a:r>
            <a:r>
              <a:rPr lang="fr-FR" dirty="0" err="1">
                <a:effectLst/>
                <a:latin typeface="Roboto" panose="02000000000000000000" pitchFamily="2" charset="0"/>
              </a:rPr>
              <a:t>written</a:t>
            </a:r>
            <a:r>
              <a:rPr lang="fr-FR" dirty="0">
                <a:effectLst/>
                <a:latin typeface="Roboto" panose="02000000000000000000" pitchFamily="2" charset="0"/>
              </a:rPr>
              <a:t> in C# or C++</a:t>
            </a:r>
          </a:p>
          <a:p>
            <a:pPr lvl="2"/>
            <a:r>
              <a:rPr lang="fr-FR" dirty="0">
                <a:effectLst/>
                <a:latin typeface="Roboto" panose="02000000000000000000" pitchFamily="2" charset="0"/>
              </a:rPr>
              <a:t>Cloud </a:t>
            </a:r>
            <a:r>
              <a:rPr lang="fr-FR" dirty="0" err="1">
                <a:effectLst/>
                <a:latin typeface="Roboto" panose="02000000000000000000" pitchFamily="2" charset="0"/>
              </a:rPr>
              <a:t>Functions</a:t>
            </a:r>
            <a:r>
              <a:rPr lang="fr-FR" dirty="0">
                <a:effectLst/>
                <a:latin typeface="Roboto" panose="02000000000000000000" pitchFamily="2" charset="0"/>
              </a:rPr>
              <a:t> are </a:t>
            </a:r>
            <a:r>
              <a:rPr lang="fr-FR" dirty="0" err="1">
                <a:effectLst/>
                <a:latin typeface="Roboto" panose="02000000000000000000" pitchFamily="2" charset="0"/>
              </a:rPr>
              <a:t>written</a:t>
            </a:r>
            <a:r>
              <a:rPr lang="fr-FR" dirty="0">
                <a:effectLst/>
                <a:latin typeface="Roboto" panose="02000000000000000000" pitchFamily="2" charset="0"/>
              </a:rPr>
              <a:t> in Javascript (</a:t>
            </a:r>
            <a:r>
              <a:rPr lang="fr-FR" dirty="0" err="1">
                <a:effectLst/>
                <a:latin typeface="Roboto" panose="02000000000000000000" pitchFamily="2" charset="0"/>
              </a:rPr>
              <a:t>Node.js</a:t>
            </a:r>
            <a:r>
              <a:rPr lang="fr-FR" dirty="0">
                <a:effectLst/>
                <a:latin typeface="Roboto" panose="02000000000000000000" pitchFamily="2" charset="0"/>
              </a:rPr>
              <a:t>), Python, or Go. </a:t>
            </a:r>
            <a:endParaRPr lang="fr-FR" sz="1100" dirty="0"/>
          </a:p>
          <a:p>
            <a:pPr lvl="1"/>
            <a:r>
              <a:rPr lang="fr-FR" dirty="0">
                <a:effectLst/>
                <a:latin typeface="Roboto" panose="02000000000000000000" pitchFamily="2" charset="0"/>
              </a:rPr>
              <a:t>D: Cloud </a:t>
            </a:r>
            <a:r>
              <a:rPr lang="fr-FR" dirty="0" err="1">
                <a:effectLst/>
                <a:latin typeface="Roboto" panose="02000000000000000000" pitchFamily="2" charset="0"/>
              </a:rPr>
              <a:t>Functions</a:t>
            </a:r>
            <a:r>
              <a:rPr lang="fr-FR" dirty="0">
                <a:effectLst/>
                <a:latin typeface="Roboto" panose="02000000000000000000" pitchFamily="2" charset="0"/>
              </a:rPr>
              <a:t> </a:t>
            </a:r>
            <a:r>
              <a:rPr lang="fr-FR" dirty="0" err="1">
                <a:effectLst/>
                <a:latin typeface="Roboto" panose="02000000000000000000" pitchFamily="2" charset="0"/>
              </a:rPr>
              <a:t>eliminates</a:t>
            </a:r>
            <a:r>
              <a:rPr lang="fr-FR" dirty="0">
                <a:effectLst/>
                <a:latin typeface="Roboto" panose="02000000000000000000" pitchFamily="2" charset="0"/>
              </a:rPr>
              <a:t> the </a:t>
            </a:r>
            <a:r>
              <a:rPr lang="fr-FR" dirty="0" err="1">
                <a:effectLst/>
                <a:latin typeface="Roboto" panose="02000000000000000000" pitchFamily="2" charset="0"/>
              </a:rPr>
              <a:t>need</a:t>
            </a:r>
            <a:r>
              <a:rPr lang="fr-FR" dirty="0">
                <a:effectLst/>
                <a:latin typeface="Roboto" panose="02000000000000000000" pitchFamily="2" charset="0"/>
              </a:rPr>
              <a:t> to use a </a:t>
            </a:r>
            <a:r>
              <a:rPr lang="fr-FR" dirty="0" err="1">
                <a:effectLst/>
                <a:latin typeface="Roboto" panose="02000000000000000000" pitchFamily="2" charset="0"/>
              </a:rPr>
              <a:t>separate</a:t>
            </a:r>
            <a:r>
              <a:rPr lang="fr-FR" dirty="0">
                <a:effectLst/>
                <a:latin typeface="Roboto" panose="02000000000000000000" pitchFamily="2" charset="0"/>
              </a:rPr>
              <a:t> service to trigger application </a:t>
            </a:r>
            <a:r>
              <a:rPr lang="fr-FR" dirty="0" err="1">
                <a:effectLst/>
                <a:latin typeface="Roboto" panose="02000000000000000000" pitchFamily="2" charset="0"/>
              </a:rPr>
              <a:t>events</a:t>
            </a:r>
            <a:r>
              <a:rPr lang="fr-FR" dirty="0">
                <a:effectLst/>
                <a:latin typeface="Roboto" panose="02000000000000000000" pitchFamily="2" charset="0"/>
              </a:rPr>
              <a:t>.</a:t>
            </a:r>
            <a:endParaRPr lang="fr-FR" sz="16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0790002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DATAFLOW</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932343"/>
            <a:ext cx="10351747" cy="3794191"/>
          </a:xfrm>
        </p:spPr>
        <p:txBody>
          <a:bodyPr>
            <a:normAutofit/>
          </a:bodyPr>
          <a:lstStyle/>
          <a:p>
            <a:pPr algn="l">
              <a:buFont typeface="Arial" panose="020B0604020202020204" pitchFamily="34" charset="0"/>
              <a:buChar char="•"/>
            </a:pPr>
            <a:r>
              <a:rPr lang="fr-FR" sz="1800" b="0" i="0" dirty="0" err="1">
                <a:solidFill>
                  <a:srgbClr val="ECECEC"/>
                </a:solidFill>
                <a:effectLst/>
                <a:latin typeface="Söhne"/>
              </a:rPr>
              <a:t>DataFlow</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 real-time and batch data </a:t>
            </a:r>
            <a:r>
              <a:rPr lang="fr-FR" sz="1800" b="0" i="0" dirty="0" err="1">
                <a:solidFill>
                  <a:srgbClr val="ECECEC"/>
                </a:solidFill>
                <a:effectLst/>
                <a:latin typeface="Söhne"/>
              </a:rPr>
              <a:t>processing</a:t>
            </a:r>
            <a:r>
              <a:rPr lang="fr-FR" sz="1800" b="0" i="0" dirty="0">
                <a:solidFill>
                  <a:srgbClr val="ECECEC"/>
                </a:solidFill>
                <a:effectLst/>
                <a:latin typeface="Söhne"/>
              </a:rPr>
              <a:t> solution </a:t>
            </a:r>
            <a:r>
              <a:rPr lang="fr-FR" sz="1800" b="0" i="0" dirty="0" err="1">
                <a:solidFill>
                  <a:srgbClr val="ECECEC"/>
                </a:solidFill>
                <a:effectLst/>
                <a:latin typeface="Söhne"/>
              </a:rPr>
              <a:t>offered</a:t>
            </a:r>
            <a:r>
              <a:rPr lang="fr-FR" sz="1800" b="0" i="0" dirty="0">
                <a:solidFill>
                  <a:srgbClr val="ECECEC"/>
                </a:solidFill>
                <a:effectLst/>
                <a:latin typeface="Söhne"/>
              </a:rPr>
              <a:t> by Google Cloud Platform (GCP). It </a:t>
            </a:r>
            <a:r>
              <a:rPr lang="fr-FR" sz="1800" b="0" i="0" dirty="0" err="1">
                <a:solidFill>
                  <a:srgbClr val="ECECEC"/>
                </a:solidFill>
                <a:effectLst/>
                <a:latin typeface="Söhne"/>
              </a:rPr>
              <a:t>is</a:t>
            </a:r>
            <a:r>
              <a:rPr lang="fr-FR" sz="1800" b="0" i="0" dirty="0">
                <a:solidFill>
                  <a:srgbClr val="ECECEC"/>
                </a:solidFill>
                <a:effectLst/>
                <a:latin typeface="Söhne"/>
              </a:rPr>
              <a:t> </a:t>
            </a:r>
            <a:r>
              <a:rPr lang="fr-FR" sz="1800" b="0" i="0" dirty="0" err="1">
                <a:solidFill>
                  <a:srgbClr val="ECECEC"/>
                </a:solidFill>
                <a:effectLst/>
                <a:latin typeface="Söhne"/>
              </a:rPr>
              <a:t>based</a:t>
            </a:r>
            <a:r>
              <a:rPr lang="fr-FR" sz="1800" b="0" i="0" dirty="0">
                <a:solidFill>
                  <a:srgbClr val="ECECEC"/>
                </a:solidFill>
                <a:effectLst/>
                <a:latin typeface="Söhne"/>
              </a:rPr>
              <a:t> on Apache Beam, a </a:t>
            </a:r>
            <a:r>
              <a:rPr lang="fr-FR" sz="1800" b="0" i="0" dirty="0" err="1">
                <a:solidFill>
                  <a:srgbClr val="ECECEC"/>
                </a:solidFill>
                <a:effectLst/>
                <a:latin typeface="Söhne"/>
              </a:rPr>
              <a:t>unified</a:t>
            </a:r>
            <a:r>
              <a:rPr lang="fr-FR" sz="1800" b="0" i="0" dirty="0">
                <a:solidFill>
                  <a:srgbClr val="ECECEC"/>
                </a:solidFill>
                <a:effectLst/>
                <a:latin typeface="Söhne"/>
              </a:rPr>
              <a:t> </a:t>
            </a:r>
            <a:r>
              <a:rPr lang="fr-FR" sz="1800" b="0" i="0" dirty="0" err="1">
                <a:solidFill>
                  <a:srgbClr val="ECECEC"/>
                </a:solidFill>
                <a:effectLst/>
                <a:latin typeface="Söhne"/>
              </a:rPr>
              <a:t>programming</a:t>
            </a:r>
            <a:r>
              <a:rPr lang="fr-FR" sz="1800" b="0" i="0" dirty="0">
                <a:solidFill>
                  <a:srgbClr val="ECECEC"/>
                </a:solidFill>
                <a:effectLst/>
                <a:latin typeface="Söhne"/>
              </a:rPr>
              <a:t> model for </a:t>
            </a:r>
            <a:r>
              <a:rPr lang="fr-FR" sz="1800" b="0" i="0" dirty="0" err="1">
                <a:solidFill>
                  <a:srgbClr val="ECECEC"/>
                </a:solidFill>
                <a:effectLst/>
                <a:latin typeface="Söhne"/>
              </a:rPr>
              <a:t>parallel</a:t>
            </a:r>
            <a:r>
              <a:rPr lang="fr-FR" sz="1800" b="0" i="0" dirty="0">
                <a:solidFill>
                  <a:srgbClr val="ECECEC"/>
                </a:solidFill>
                <a:effectLst/>
                <a:latin typeface="Söhne"/>
              </a:rPr>
              <a:t> and </a:t>
            </a:r>
            <a:r>
              <a:rPr lang="fr-FR" sz="1800" b="0" i="0" dirty="0" err="1">
                <a:solidFill>
                  <a:srgbClr val="ECECEC"/>
                </a:solidFill>
                <a:effectLst/>
                <a:latin typeface="Söhne"/>
              </a:rPr>
              <a:t>distributed</a:t>
            </a:r>
            <a:r>
              <a:rPr lang="fr-FR" sz="1800" b="0" i="0" dirty="0">
                <a:solidFill>
                  <a:srgbClr val="ECECEC"/>
                </a:solidFill>
                <a:effectLst/>
                <a:latin typeface="Söhne"/>
              </a:rPr>
              <a:t> data </a:t>
            </a:r>
            <a:r>
              <a:rPr lang="fr-FR" sz="1800" b="0" i="0" dirty="0" err="1">
                <a:solidFill>
                  <a:srgbClr val="ECECEC"/>
                </a:solidFill>
                <a:effectLst/>
                <a:latin typeface="Söhne"/>
              </a:rPr>
              <a:t>processing</a:t>
            </a:r>
            <a:r>
              <a:rPr lang="fr-FR" sz="1800" b="0" i="0" dirty="0">
                <a:solidFill>
                  <a:srgbClr val="ECECEC"/>
                </a:solidFill>
                <a:effectLst/>
                <a:latin typeface="Söhne"/>
              </a:rPr>
              <a:t>.</a:t>
            </a:r>
          </a:p>
          <a:p>
            <a:pPr algn="l">
              <a:buFont typeface="Arial" panose="020B0604020202020204" pitchFamily="34" charset="0"/>
              <a:buChar char="•"/>
            </a:pPr>
            <a:r>
              <a:rPr lang="fr-FR" sz="1800" b="0" i="0" dirty="0" err="1">
                <a:solidFill>
                  <a:srgbClr val="ECECEC"/>
                </a:solidFill>
                <a:effectLst/>
                <a:latin typeface="Söhne"/>
              </a:rPr>
              <a:t>DataFlow</a:t>
            </a:r>
            <a:r>
              <a:rPr lang="fr-FR" sz="1800" b="0" i="0" dirty="0">
                <a:solidFill>
                  <a:srgbClr val="ECECEC"/>
                </a:solidFill>
                <a:effectLst/>
                <a:latin typeface="Söhne"/>
              </a:rPr>
              <a:t> </a:t>
            </a:r>
            <a:r>
              <a:rPr lang="fr-FR" sz="1800" b="0" i="0" dirty="0" err="1">
                <a:solidFill>
                  <a:srgbClr val="ECECEC"/>
                </a:solidFill>
                <a:effectLst/>
                <a:latin typeface="Söhne"/>
              </a:rPr>
              <a:t>operates</a:t>
            </a:r>
            <a:r>
              <a:rPr lang="fr-FR" sz="1800" b="0" i="0" dirty="0">
                <a:solidFill>
                  <a:srgbClr val="ECECEC"/>
                </a:solidFill>
                <a:effectLst/>
                <a:latin typeface="Söhne"/>
              </a:rPr>
              <a:t> by </a:t>
            </a:r>
            <a:r>
              <a:rPr lang="fr-FR" sz="1800" b="0" i="0" dirty="0" err="1">
                <a:solidFill>
                  <a:srgbClr val="ECECEC"/>
                </a:solidFill>
                <a:effectLst/>
                <a:latin typeface="Söhne"/>
              </a:rPr>
              <a:t>allowing</a:t>
            </a:r>
            <a:r>
              <a:rPr lang="fr-FR" sz="1800" b="0" i="0" dirty="0">
                <a:solidFill>
                  <a:srgbClr val="ECECEC"/>
                </a:solidFill>
                <a:effectLst/>
                <a:latin typeface="Söhne"/>
              </a:rPr>
              <a:t> </a:t>
            </a:r>
            <a:r>
              <a:rPr lang="fr-FR" sz="1800" b="0" i="0" dirty="0" err="1">
                <a:solidFill>
                  <a:srgbClr val="ECECEC"/>
                </a:solidFill>
                <a:effectLst/>
                <a:latin typeface="Söhne"/>
              </a:rPr>
              <a:t>developers</a:t>
            </a:r>
            <a:r>
              <a:rPr lang="fr-FR" sz="1800" b="0" i="0" dirty="0">
                <a:solidFill>
                  <a:srgbClr val="ECECEC"/>
                </a:solidFill>
                <a:effectLst/>
                <a:latin typeface="Söhne"/>
              </a:rPr>
              <a:t> to </a:t>
            </a:r>
            <a:r>
              <a:rPr lang="fr-FR" sz="1800" b="0" i="0" dirty="0" err="1">
                <a:solidFill>
                  <a:srgbClr val="ECECEC"/>
                </a:solidFill>
                <a:effectLst/>
                <a:latin typeface="Söhne"/>
              </a:rPr>
              <a:t>define</a:t>
            </a:r>
            <a:r>
              <a:rPr lang="fr-FR" sz="1800" b="0" i="0" dirty="0">
                <a:solidFill>
                  <a:srgbClr val="ECECEC"/>
                </a:solidFill>
                <a:effectLst/>
                <a:latin typeface="Söhne"/>
              </a:rPr>
              <a:t> data pipelines </a:t>
            </a:r>
            <a:r>
              <a:rPr lang="fr-FR" sz="1800" b="0" i="0" dirty="0" err="1">
                <a:solidFill>
                  <a:srgbClr val="ECECEC"/>
                </a:solidFill>
                <a:effectLst/>
                <a:latin typeface="Söhne"/>
              </a:rPr>
              <a:t>using</a:t>
            </a:r>
            <a:r>
              <a:rPr lang="fr-FR" sz="1800" b="0" i="0" dirty="0">
                <a:solidFill>
                  <a:srgbClr val="ECECEC"/>
                </a:solidFill>
                <a:effectLst/>
                <a:latin typeface="Söhne"/>
              </a:rPr>
              <a:t> the Apache Beam API. </a:t>
            </a:r>
            <a:r>
              <a:rPr lang="fr-FR" sz="1800" b="0" i="0" dirty="0" err="1">
                <a:solidFill>
                  <a:srgbClr val="ECECEC"/>
                </a:solidFill>
                <a:effectLst/>
                <a:latin typeface="Söhne"/>
              </a:rPr>
              <a:t>These</a:t>
            </a:r>
            <a:r>
              <a:rPr lang="fr-FR" sz="1800" b="0" i="0" dirty="0">
                <a:solidFill>
                  <a:srgbClr val="ECECEC"/>
                </a:solidFill>
                <a:effectLst/>
                <a:latin typeface="Söhne"/>
              </a:rPr>
              <a:t> pipelines </a:t>
            </a:r>
            <a:r>
              <a:rPr lang="fr-FR" sz="1800" b="0" i="0" dirty="0" err="1">
                <a:solidFill>
                  <a:srgbClr val="ECECEC"/>
                </a:solidFill>
                <a:effectLst/>
                <a:latin typeface="Söhne"/>
              </a:rPr>
              <a:t>describe</a:t>
            </a:r>
            <a:r>
              <a:rPr lang="fr-FR" sz="1800" b="0" i="0" dirty="0">
                <a:solidFill>
                  <a:srgbClr val="ECECEC"/>
                </a:solidFill>
                <a:effectLst/>
                <a:latin typeface="Söhne"/>
              </a:rPr>
              <a:t> data </a:t>
            </a:r>
            <a:r>
              <a:rPr lang="fr-FR" sz="1800" b="0" i="0" dirty="0" err="1">
                <a:solidFill>
                  <a:srgbClr val="ECECEC"/>
                </a:solidFill>
                <a:effectLst/>
                <a:latin typeface="Söhne"/>
              </a:rPr>
              <a:t>processing</a:t>
            </a:r>
            <a:r>
              <a:rPr lang="fr-FR" sz="1800" b="0" i="0" dirty="0">
                <a:solidFill>
                  <a:srgbClr val="ECECEC"/>
                </a:solidFill>
                <a:effectLst/>
                <a:latin typeface="Söhne"/>
              </a:rPr>
              <a:t>, </a:t>
            </a:r>
            <a:r>
              <a:rPr lang="fr-FR" sz="1800" b="0" i="0" dirty="0" err="1">
                <a:solidFill>
                  <a:srgbClr val="ECECEC"/>
                </a:solidFill>
                <a:effectLst/>
                <a:latin typeface="Söhne"/>
              </a:rPr>
              <a:t>whether</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involves</a:t>
            </a:r>
            <a:r>
              <a:rPr lang="fr-FR" sz="1800" b="0" i="0" dirty="0">
                <a:solidFill>
                  <a:srgbClr val="ECECEC"/>
                </a:solidFill>
                <a:effectLst/>
                <a:latin typeface="Söhne"/>
              </a:rPr>
              <a:t> </a:t>
            </a:r>
            <a:r>
              <a:rPr lang="fr-FR" sz="1800" b="0" i="0" dirty="0" err="1">
                <a:solidFill>
                  <a:srgbClr val="ECECEC"/>
                </a:solidFill>
                <a:effectLst/>
                <a:latin typeface="Söhne"/>
              </a:rPr>
              <a:t>reading</a:t>
            </a:r>
            <a:r>
              <a:rPr lang="fr-FR" sz="1800" b="0" i="0" dirty="0">
                <a:solidFill>
                  <a:srgbClr val="ECECEC"/>
                </a:solidFill>
                <a:effectLst/>
                <a:latin typeface="Söhne"/>
              </a:rPr>
              <a:t> data </a:t>
            </a:r>
            <a:r>
              <a:rPr lang="fr-FR" sz="1800" b="0" i="0" dirty="0" err="1">
                <a:solidFill>
                  <a:srgbClr val="ECECEC"/>
                </a:solidFill>
                <a:effectLst/>
                <a:latin typeface="Söhne"/>
              </a:rPr>
              <a:t>from</a:t>
            </a:r>
            <a:r>
              <a:rPr lang="fr-FR" sz="1800" b="0" i="0" dirty="0">
                <a:solidFill>
                  <a:srgbClr val="ECECEC"/>
                </a:solidFill>
                <a:effectLst/>
                <a:latin typeface="Söhne"/>
              </a:rPr>
              <a:t> a source, </a:t>
            </a:r>
            <a:r>
              <a:rPr lang="fr-FR" sz="1800" b="0" i="0" dirty="0" err="1">
                <a:solidFill>
                  <a:srgbClr val="ECECEC"/>
                </a:solidFill>
                <a:effectLst/>
                <a:latin typeface="Söhne"/>
              </a:rPr>
              <a:t>transforming</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and </a:t>
            </a:r>
            <a:r>
              <a:rPr lang="fr-FR" sz="1800" b="0" i="0" dirty="0" err="1">
                <a:solidFill>
                  <a:srgbClr val="ECECEC"/>
                </a:solidFill>
                <a:effectLst/>
                <a:latin typeface="Söhne"/>
              </a:rPr>
              <a:t>writing</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to </a:t>
            </a:r>
            <a:r>
              <a:rPr lang="fr-FR" sz="1800" b="0" i="0" dirty="0" err="1">
                <a:solidFill>
                  <a:srgbClr val="ECECEC"/>
                </a:solidFill>
                <a:effectLst/>
                <a:latin typeface="Söhne"/>
              </a:rPr>
              <a:t>another</a:t>
            </a:r>
            <a:r>
              <a:rPr lang="fr-FR" sz="1800" b="0" i="0" dirty="0">
                <a:solidFill>
                  <a:srgbClr val="ECECEC"/>
                </a:solidFill>
                <a:effectLst/>
                <a:latin typeface="Söhne"/>
              </a:rPr>
              <a:t> destination.</a:t>
            </a:r>
          </a:p>
          <a:p>
            <a:pPr algn="l">
              <a:buFont typeface="Arial" panose="020B0604020202020204" pitchFamily="34" charset="0"/>
              <a:buChar char="•"/>
            </a:pPr>
            <a:r>
              <a:rPr lang="fr-FR" sz="1800" b="0" i="0" dirty="0">
                <a:solidFill>
                  <a:srgbClr val="ECECEC"/>
                </a:solidFill>
                <a:effectLst/>
                <a:latin typeface="Söhne"/>
              </a:rPr>
              <a:t>There are </a:t>
            </a:r>
            <a:r>
              <a:rPr lang="fr-FR" sz="1800" b="0" i="0" dirty="0" err="1">
                <a:solidFill>
                  <a:srgbClr val="ECECEC"/>
                </a:solidFill>
                <a:effectLst/>
                <a:latin typeface="Söhne"/>
              </a:rPr>
              <a:t>numerous</a:t>
            </a:r>
            <a:r>
              <a:rPr lang="fr-FR" sz="1800" b="0" i="0" dirty="0">
                <a:solidFill>
                  <a:srgbClr val="ECECEC"/>
                </a:solidFill>
                <a:effectLst/>
                <a:latin typeface="Söhne"/>
              </a:rPr>
              <a:t> </a:t>
            </a:r>
            <a:r>
              <a:rPr lang="fr-FR" sz="1800" b="0" i="0" dirty="0" err="1">
                <a:solidFill>
                  <a:srgbClr val="ECECEC"/>
                </a:solidFill>
                <a:effectLst/>
                <a:latin typeface="Söhne"/>
              </a:rPr>
              <a:t>advantages</a:t>
            </a:r>
            <a:r>
              <a:rPr lang="fr-FR" sz="1800" b="0" i="0" dirty="0">
                <a:solidFill>
                  <a:srgbClr val="ECECEC"/>
                </a:solidFill>
                <a:effectLst/>
                <a:latin typeface="Söhne"/>
              </a:rPr>
              <a:t> to </a:t>
            </a:r>
            <a:r>
              <a:rPr lang="fr-FR" sz="1800" b="0" i="0" dirty="0" err="1">
                <a:solidFill>
                  <a:srgbClr val="ECECEC"/>
                </a:solidFill>
                <a:effectLst/>
                <a:latin typeface="Söhne"/>
              </a:rPr>
              <a:t>DataFlow</a:t>
            </a:r>
            <a:r>
              <a:rPr lang="fr-FR" sz="1800" b="0" i="0" dirty="0">
                <a:solidFill>
                  <a:srgbClr val="ECECEC"/>
                </a:solidFill>
                <a:effectLst/>
                <a:latin typeface="Söhne"/>
              </a:rPr>
              <a:t>. </a:t>
            </a:r>
            <a:r>
              <a:rPr lang="fr-FR" sz="1800" b="0" i="0" dirty="0" err="1">
                <a:solidFill>
                  <a:srgbClr val="ECECEC"/>
                </a:solidFill>
                <a:effectLst/>
                <a:latin typeface="Söhne"/>
              </a:rPr>
              <a:t>Firstly</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offers</a:t>
            </a:r>
            <a:r>
              <a:rPr lang="fr-FR" sz="1800" b="0" i="0" dirty="0">
                <a:solidFill>
                  <a:srgbClr val="ECECEC"/>
                </a:solidFill>
                <a:effectLst/>
                <a:latin typeface="Söhne"/>
              </a:rPr>
              <a:t> </a:t>
            </a:r>
            <a:r>
              <a:rPr lang="fr-FR" sz="1800" b="0" i="0" dirty="0" err="1">
                <a:solidFill>
                  <a:srgbClr val="ECECEC"/>
                </a:solidFill>
                <a:effectLst/>
                <a:latin typeface="Söhne"/>
              </a:rPr>
              <a:t>automatic</a:t>
            </a:r>
            <a:r>
              <a:rPr lang="fr-FR" sz="1800" b="0" i="0" dirty="0">
                <a:solidFill>
                  <a:srgbClr val="ECECEC"/>
                </a:solidFill>
                <a:effectLst/>
                <a:latin typeface="Söhne"/>
              </a:rPr>
              <a:t> </a:t>
            </a:r>
            <a:r>
              <a:rPr lang="fr-FR" sz="1800" b="0" i="0" dirty="0" err="1">
                <a:solidFill>
                  <a:srgbClr val="ECECEC"/>
                </a:solidFill>
                <a:effectLst/>
                <a:latin typeface="Söhne"/>
              </a:rPr>
              <a:t>scalability</a:t>
            </a:r>
            <a:r>
              <a:rPr lang="fr-FR" sz="1800" b="0" i="0" dirty="0">
                <a:solidFill>
                  <a:srgbClr val="ECECEC"/>
                </a:solidFill>
                <a:effectLst/>
                <a:latin typeface="Söhne"/>
              </a:rPr>
              <a:t>, </a:t>
            </a:r>
            <a:r>
              <a:rPr lang="fr-FR" sz="1800" b="0" i="0" dirty="0" err="1">
                <a:solidFill>
                  <a:srgbClr val="ECECEC"/>
                </a:solidFill>
                <a:effectLst/>
                <a:latin typeface="Söhne"/>
              </a:rPr>
              <a:t>efficiently</a:t>
            </a:r>
            <a:r>
              <a:rPr lang="fr-FR" sz="1800" b="0" i="0" dirty="0">
                <a:solidFill>
                  <a:srgbClr val="ECECEC"/>
                </a:solidFill>
                <a:effectLst/>
                <a:latin typeface="Söhne"/>
              </a:rPr>
              <a:t> </a:t>
            </a:r>
            <a:r>
              <a:rPr lang="fr-FR" sz="1800" b="0" i="0" dirty="0" err="1">
                <a:solidFill>
                  <a:srgbClr val="ECECEC"/>
                </a:solidFill>
                <a:effectLst/>
                <a:latin typeface="Söhne"/>
              </a:rPr>
              <a:t>processing</a:t>
            </a:r>
            <a:r>
              <a:rPr lang="fr-FR" sz="1800" b="0" i="0" dirty="0">
                <a:solidFill>
                  <a:srgbClr val="ECECEC"/>
                </a:solidFill>
                <a:effectLst/>
                <a:latin typeface="Söhne"/>
              </a:rPr>
              <a:t> massive volumes of data, </a:t>
            </a:r>
            <a:r>
              <a:rPr lang="fr-FR" sz="1800" b="0" i="0" dirty="0" err="1">
                <a:solidFill>
                  <a:srgbClr val="ECECEC"/>
                </a:solidFill>
                <a:effectLst/>
                <a:latin typeface="Söhne"/>
              </a:rPr>
              <a:t>whether</a:t>
            </a:r>
            <a:r>
              <a:rPr lang="fr-FR" sz="1800" b="0" i="0" dirty="0">
                <a:solidFill>
                  <a:srgbClr val="ECECEC"/>
                </a:solidFill>
                <a:effectLst/>
                <a:latin typeface="Söhne"/>
              </a:rPr>
              <a:t> in real-time or batch. </a:t>
            </a:r>
            <a:r>
              <a:rPr lang="fr-FR" sz="1800" b="0" i="0" dirty="0" err="1">
                <a:solidFill>
                  <a:srgbClr val="ECECEC"/>
                </a:solidFill>
                <a:effectLst/>
                <a:latin typeface="Söhne"/>
              </a:rPr>
              <a:t>Additionally</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integrates</a:t>
            </a:r>
            <a:r>
              <a:rPr lang="fr-FR" sz="1800" b="0" i="0" dirty="0">
                <a:solidFill>
                  <a:srgbClr val="ECECEC"/>
                </a:solidFill>
                <a:effectLst/>
                <a:latin typeface="Söhne"/>
              </a:rPr>
              <a:t> </a:t>
            </a:r>
            <a:r>
              <a:rPr lang="fr-FR" sz="1800" b="0" i="0" dirty="0" err="1">
                <a:solidFill>
                  <a:srgbClr val="ECECEC"/>
                </a:solidFill>
                <a:effectLst/>
                <a:latin typeface="Söhne"/>
              </a:rPr>
              <a:t>well</a:t>
            </a:r>
            <a:r>
              <a:rPr lang="fr-FR" sz="1800" b="0" i="0" dirty="0">
                <a:solidFill>
                  <a:srgbClr val="ECECEC"/>
                </a:solidFill>
                <a:effectLst/>
                <a:latin typeface="Söhne"/>
              </a:rPr>
              <a:t> </a:t>
            </a:r>
            <a:r>
              <a:rPr lang="fr-FR" sz="1800" b="0" i="0" dirty="0" err="1">
                <a:solidFill>
                  <a:srgbClr val="ECECEC"/>
                </a:solidFill>
                <a:effectLst/>
                <a:latin typeface="Söhne"/>
              </a:rPr>
              <a:t>with</a:t>
            </a:r>
            <a:r>
              <a:rPr lang="fr-FR" sz="1800" b="0" i="0" dirty="0">
                <a:solidFill>
                  <a:srgbClr val="ECECEC"/>
                </a:solidFill>
                <a:effectLst/>
                <a:latin typeface="Söhne"/>
              </a:rPr>
              <a:t> </a:t>
            </a:r>
            <a:r>
              <a:rPr lang="fr-FR" sz="1800" b="0" i="0" dirty="0" err="1">
                <a:solidFill>
                  <a:srgbClr val="ECECEC"/>
                </a:solidFill>
                <a:effectLst/>
                <a:latin typeface="Söhne"/>
              </a:rPr>
              <a:t>other</a:t>
            </a:r>
            <a:r>
              <a:rPr lang="fr-FR" sz="1800" b="0" i="0" dirty="0">
                <a:solidFill>
                  <a:srgbClr val="ECECEC"/>
                </a:solidFill>
                <a:effectLst/>
                <a:latin typeface="Söhne"/>
              </a:rPr>
              <a:t> GCP services </a:t>
            </a:r>
            <a:r>
              <a:rPr lang="fr-FR" sz="1800" b="0" i="0" dirty="0" err="1">
                <a:solidFill>
                  <a:srgbClr val="ECECEC"/>
                </a:solidFill>
                <a:effectLst/>
                <a:latin typeface="Söhne"/>
              </a:rPr>
              <a:t>such</a:t>
            </a:r>
            <a:r>
              <a:rPr lang="fr-FR" sz="1800" b="0" i="0" dirty="0">
                <a:solidFill>
                  <a:srgbClr val="ECECEC"/>
                </a:solidFill>
                <a:effectLst/>
                <a:latin typeface="Söhne"/>
              </a:rPr>
              <a:t> as Pub/</a:t>
            </a:r>
            <a:r>
              <a:rPr lang="fr-FR" sz="1800" b="0" i="0" dirty="0" err="1">
                <a:solidFill>
                  <a:srgbClr val="ECECEC"/>
                </a:solidFill>
                <a:effectLst/>
                <a:latin typeface="Söhne"/>
              </a:rPr>
              <a:t>Sub</a:t>
            </a:r>
            <a:r>
              <a:rPr lang="fr-FR" sz="1800" b="0" i="0" dirty="0">
                <a:solidFill>
                  <a:srgbClr val="ECECEC"/>
                </a:solidFill>
                <a:effectLst/>
                <a:latin typeface="Söhne"/>
              </a:rPr>
              <a:t> and </a:t>
            </a:r>
            <a:r>
              <a:rPr lang="fr-FR" sz="1800" b="0" i="0" dirty="0" err="1">
                <a:solidFill>
                  <a:srgbClr val="ECECEC"/>
                </a:solidFill>
                <a:effectLst/>
                <a:latin typeface="Söhne"/>
              </a:rPr>
              <a:t>BigQuery</a:t>
            </a:r>
            <a:r>
              <a:rPr lang="fr-FR" sz="1800" b="0" i="0" dirty="0">
                <a:solidFill>
                  <a:srgbClr val="ECECEC"/>
                </a:solidFill>
                <a:effectLst/>
                <a:latin typeface="Söhne"/>
              </a:rPr>
              <a:t>, </a:t>
            </a:r>
            <a:r>
              <a:rPr lang="fr-FR" sz="1800" b="0" i="0" dirty="0" err="1">
                <a:solidFill>
                  <a:srgbClr val="ECECEC"/>
                </a:solidFill>
                <a:effectLst/>
                <a:latin typeface="Söhne"/>
              </a:rPr>
              <a:t>making</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easy</a:t>
            </a:r>
            <a:r>
              <a:rPr lang="fr-FR" sz="1800" b="0" i="0" dirty="0">
                <a:solidFill>
                  <a:srgbClr val="ECECEC"/>
                </a:solidFill>
                <a:effectLst/>
                <a:latin typeface="Söhne"/>
              </a:rPr>
              <a:t> to </a:t>
            </a:r>
            <a:r>
              <a:rPr lang="fr-FR" sz="1800" b="0" i="0" dirty="0" err="1">
                <a:solidFill>
                  <a:srgbClr val="ECECEC"/>
                </a:solidFill>
                <a:effectLst/>
                <a:latin typeface="Söhne"/>
              </a:rPr>
              <a:t>build</a:t>
            </a:r>
            <a:r>
              <a:rPr lang="fr-FR" sz="1800" b="0" i="0" dirty="0">
                <a:solidFill>
                  <a:srgbClr val="ECECEC"/>
                </a:solidFill>
                <a:effectLst/>
                <a:latin typeface="Söhne"/>
              </a:rPr>
              <a:t> </a:t>
            </a:r>
            <a:r>
              <a:rPr lang="fr-FR" sz="1800" b="0" i="0" dirty="0" err="1">
                <a:solidFill>
                  <a:srgbClr val="ECECEC"/>
                </a:solidFill>
                <a:effectLst/>
                <a:latin typeface="Söhne"/>
              </a:rPr>
              <a:t>comprehensive</a:t>
            </a:r>
            <a:r>
              <a:rPr lang="fr-FR" sz="1800" b="0" i="0" dirty="0">
                <a:solidFill>
                  <a:srgbClr val="ECECEC"/>
                </a:solidFill>
                <a:effectLst/>
                <a:latin typeface="Söhne"/>
              </a:rPr>
              <a:t> data pipelines. </a:t>
            </a:r>
            <a:r>
              <a:rPr lang="fr-FR" sz="1800" b="0" i="0" dirty="0" err="1">
                <a:solidFill>
                  <a:srgbClr val="ECECEC"/>
                </a:solidFill>
                <a:effectLst/>
                <a:latin typeface="Söhne"/>
              </a:rPr>
              <a:t>Furthermore</a:t>
            </a:r>
            <a:r>
              <a:rPr lang="fr-FR" sz="1800" b="0" i="0" dirty="0">
                <a:solidFill>
                  <a:srgbClr val="ECECEC"/>
                </a:solidFill>
                <a:effectLst/>
                <a:latin typeface="Söhne"/>
              </a:rPr>
              <a:t>, </a:t>
            </a:r>
            <a:r>
              <a:rPr lang="fr-FR" sz="1800" b="0" i="0" dirty="0" err="1">
                <a:solidFill>
                  <a:srgbClr val="ECECEC"/>
                </a:solidFill>
                <a:effectLst/>
                <a:latin typeface="Söhne"/>
              </a:rPr>
              <a:t>DataFlow</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t>
            </a:r>
            <a:r>
              <a:rPr lang="fr-FR" sz="1800" b="0" i="0" dirty="0" err="1">
                <a:solidFill>
                  <a:srgbClr val="ECECEC"/>
                </a:solidFill>
                <a:effectLst/>
                <a:latin typeface="Söhne"/>
              </a:rPr>
              <a:t>fully</a:t>
            </a:r>
            <a:r>
              <a:rPr lang="fr-FR" sz="1800" b="0" i="0" dirty="0">
                <a:solidFill>
                  <a:srgbClr val="ECECEC"/>
                </a:solidFill>
                <a:effectLst/>
                <a:latin typeface="Söhne"/>
              </a:rPr>
              <a:t> </a:t>
            </a:r>
            <a:r>
              <a:rPr lang="fr-FR" sz="1800" b="0" i="0" dirty="0" err="1">
                <a:solidFill>
                  <a:srgbClr val="ECECEC"/>
                </a:solidFill>
                <a:effectLst/>
                <a:latin typeface="Söhne"/>
              </a:rPr>
              <a:t>managed</a:t>
            </a:r>
            <a:r>
              <a:rPr lang="fr-FR" sz="1800" b="0" i="0" dirty="0">
                <a:solidFill>
                  <a:srgbClr val="ECECEC"/>
                </a:solidFill>
                <a:effectLst/>
                <a:latin typeface="Söhne"/>
              </a:rPr>
              <a:t>, </a:t>
            </a:r>
            <a:r>
              <a:rPr lang="fr-FR" sz="1800" b="0" i="0" dirty="0" err="1">
                <a:solidFill>
                  <a:srgbClr val="ECECEC"/>
                </a:solidFill>
                <a:effectLst/>
                <a:latin typeface="Söhne"/>
              </a:rPr>
              <a:t>meaning</a:t>
            </a:r>
            <a:r>
              <a:rPr lang="fr-FR" sz="1800" b="0" i="0" dirty="0">
                <a:solidFill>
                  <a:srgbClr val="ECECEC"/>
                </a:solidFill>
                <a:effectLst/>
                <a:latin typeface="Söhne"/>
              </a:rPr>
              <a:t> Google </a:t>
            </a:r>
            <a:r>
              <a:rPr lang="fr-FR" sz="1800" b="0" i="0" dirty="0" err="1">
                <a:solidFill>
                  <a:srgbClr val="ECECEC"/>
                </a:solidFill>
                <a:effectLst/>
                <a:latin typeface="Söhne"/>
              </a:rPr>
              <a:t>handles</a:t>
            </a:r>
            <a:r>
              <a:rPr lang="fr-FR" sz="1800" b="0" i="0" dirty="0">
                <a:solidFill>
                  <a:srgbClr val="ECECEC"/>
                </a:solidFill>
                <a:effectLst/>
                <a:latin typeface="Söhne"/>
              </a:rPr>
              <a:t> infrastructure maintenance, </a:t>
            </a:r>
            <a:r>
              <a:rPr lang="fr-FR" sz="1800" b="0" i="0" dirty="0" err="1">
                <a:solidFill>
                  <a:srgbClr val="ECECEC"/>
                </a:solidFill>
                <a:effectLst/>
                <a:latin typeface="Söhne"/>
              </a:rPr>
              <a:t>allowing</a:t>
            </a:r>
            <a:r>
              <a:rPr lang="fr-FR" sz="1800" b="0" i="0" dirty="0">
                <a:solidFill>
                  <a:srgbClr val="ECECEC"/>
                </a:solidFill>
                <a:effectLst/>
                <a:latin typeface="Söhne"/>
              </a:rPr>
              <a:t> </a:t>
            </a:r>
            <a:r>
              <a:rPr lang="fr-FR" sz="1800" b="0" i="0" dirty="0" err="1">
                <a:solidFill>
                  <a:srgbClr val="ECECEC"/>
                </a:solidFill>
                <a:effectLst/>
                <a:latin typeface="Söhne"/>
              </a:rPr>
              <a:t>developers</a:t>
            </a:r>
            <a:r>
              <a:rPr lang="fr-FR" sz="1800" b="0" i="0" dirty="0">
                <a:solidFill>
                  <a:srgbClr val="ECECEC"/>
                </a:solidFill>
                <a:effectLst/>
                <a:latin typeface="Söhne"/>
              </a:rPr>
              <a:t> to focus on application </a:t>
            </a:r>
            <a:r>
              <a:rPr lang="fr-FR" sz="1800" b="0" i="0" dirty="0" err="1">
                <a:solidFill>
                  <a:srgbClr val="ECECEC"/>
                </a:solidFill>
                <a:effectLst/>
                <a:latin typeface="Söhne"/>
              </a:rPr>
              <a:t>development</a:t>
            </a:r>
            <a:r>
              <a:rPr lang="fr-FR" sz="1800" b="0" i="0" dirty="0">
                <a:solidFill>
                  <a:srgbClr val="ECECEC"/>
                </a:solidFill>
                <a:effectLst/>
                <a:latin typeface="Söhne"/>
              </a:rPr>
              <a:t>.</a:t>
            </a:r>
          </a:p>
          <a:p>
            <a:pPr algn="l">
              <a:buFont typeface="Arial" panose="020B0604020202020204" pitchFamily="34" charset="0"/>
              <a:buChar char="•"/>
            </a:pPr>
            <a:r>
              <a:rPr lang="fr-FR" sz="1800" b="0" i="0" dirty="0" err="1">
                <a:solidFill>
                  <a:srgbClr val="ECECEC"/>
                </a:solidFill>
                <a:effectLst/>
                <a:latin typeface="Söhne"/>
              </a:rPr>
              <a:t>However</a:t>
            </a:r>
            <a:r>
              <a:rPr lang="fr-FR" sz="1800" b="0" i="0" dirty="0">
                <a:solidFill>
                  <a:srgbClr val="ECECEC"/>
                </a:solidFill>
                <a:effectLst/>
                <a:latin typeface="Söhne"/>
              </a:rPr>
              <a:t>, </a:t>
            </a:r>
            <a:r>
              <a:rPr lang="fr-FR" sz="1800" b="0" i="0" dirty="0" err="1">
                <a:solidFill>
                  <a:srgbClr val="ECECEC"/>
                </a:solidFill>
                <a:effectLst/>
                <a:latin typeface="Söhne"/>
              </a:rPr>
              <a:t>there</a:t>
            </a:r>
            <a:r>
              <a:rPr lang="fr-FR" sz="1800" b="0" i="0" dirty="0">
                <a:solidFill>
                  <a:srgbClr val="ECECEC"/>
                </a:solidFill>
                <a:effectLst/>
                <a:latin typeface="Söhne"/>
              </a:rPr>
              <a:t> are </a:t>
            </a:r>
            <a:r>
              <a:rPr lang="fr-FR" sz="1800" b="0" i="0" dirty="0" err="1">
                <a:solidFill>
                  <a:srgbClr val="ECECEC"/>
                </a:solidFill>
                <a:effectLst/>
                <a:latin typeface="Söhne"/>
              </a:rPr>
              <a:t>some</a:t>
            </a:r>
            <a:r>
              <a:rPr lang="fr-FR" sz="1800" b="0" i="0" dirty="0">
                <a:solidFill>
                  <a:srgbClr val="ECECEC"/>
                </a:solidFill>
                <a:effectLst/>
                <a:latin typeface="Söhne"/>
              </a:rPr>
              <a:t> drawbacks. Pricing can </a:t>
            </a:r>
            <a:r>
              <a:rPr lang="fr-FR" sz="1800" b="0" i="0" dirty="0" err="1">
                <a:solidFill>
                  <a:srgbClr val="ECECEC"/>
                </a:solidFill>
                <a:effectLst/>
                <a:latin typeface="Söhne"/>
              </a:rPr>
              <a:t>become</a:t>
            </a:r>
            <a:r>
              <a:rPr lang="fr-FR" sz="1800" b="0" i="0" dirty="0">
                <a:solidFill>
                  <a:srgbClr val="ECECEC"/>
                </a:solidFill>
                <a:effectLst/>
                <a:latin typeface="Söhne"/>
              </a:rPr>
              <a:t> </a:t>
            </a:r>
            <a:r>
              <a:rPr lang="fr-FR" sz="1800" b="0" i="0" dirty="0" err="1">
                <a:solidFill>
                  <a:srgbClr val="ECECEC"/>
                </a:solidFill>
                <a:effectLst/>
                <a:latin typeface="Söhne"/>
              </a:rPr>
              <a:t>complex</a:t>
            </a:r>
            <a:r>
              <a:rPr lang="fr-FR" sz="1800" b="0" i="0" dirty="0">
                <a:solidFill>
                  <a:srgbClr val="ECECEC"/>
                </a:solidFill>
                <a:effectLst/>
                <a:latin typeface="Söhne"/>
              </a:rPr>
              <a:t> as pipelines </a:t>
            </a:r>
            <a:r>
              <a:rPr lang="fr-FR" sz="1800" b="0" i="0" dirty="0" err="1">
                <a:solidFill>
                  <a:srgbClr val="ECECEC"/>
                </a:solidFill>
                <a:effectLst/>
                <a:latin typeface="Söhne"/>
              </a:rPr>
              <a:t>become</a:t>
            </a:r>
            <a:r>
              <a:rPr lang="fr-FR" sz="1800" b="0" i="0" dirty="0">
                <a:solidFill>
                  <a:srgbClr val="ECECEC"/>
                </a:solidFill>
                <a:effectLst/>
                <a:latin typeface="Söhne"/>
              </a:rPr>
              <a:t> more </a:t>
            </a:r>
            <a:r>
              <a:rPr lang="fr-FR" sz="1800" b="0" i="0" dirty="0" err="1">
                <a:solidFill>
                  <a:srgbClr val="ECECEC"/>
                </a:solidFill>
                <a:effectLst/>
                <a:latin typeface="Söhne"/>
              </a:rPr>
              <a:t>intricate</a:t>
            </a:r>
            <a:r>
              <a:rPr lang="fr-FR" sz="1800" b="0" i="0" dirty="0">
                <a:solidFill>
                  <a:srgbClr val="ECECEC"/>
                </a:solidFill>
                <a:effectLst/>
                <a:latin typeface="Söhne"/>
              </a:rPr>
              <a:t> and data volumes </a:t>
            </a:r>
            <a:r>
              <a:rPr lang="fr-FR" sz="1800" b="0" i="0" dirty="0" err="1">
                <a:solidFill>
                  <a:srgbClr val="ECECEC"/>
                </a:solidFill>
                <a:effectLst/>
                <a:latin typeface="Söhne"/>
              </a:rPr>
              <a:t>increase</a:t>
            </a:r>
            <a:r>
              <a:rPr lang="fr-FR" sz="1800" b="0" i="0" dirty="0">
                <a:solidFill>
                  <a:srgbClr val="ECECEC"/>
                </a:solidFill>
                <a:effectLst/>
                <a:latin typeface="Söhne"/>
              </a:rPr>
              <a:t>. </a:t>
            </a:r>
            <a:r>
              <a:rPr lang="fr-FR" sz="1800" b="0" i="0" dirty="0" err="1">
                <a:solidFill>
                  <a:srgbClr val="ECECEC"/>
                </a:solidFill>
                <a:effectLst/>
                <a:latin typeface="Söhne"/>
              </a:rPr>
              <a:t>Additionally</a:t>
            </a:r>
            <a:r>
              <a:rPr lang="fr-FR" sz="1800" b="0" i="0" dirty="0">
                <a:solidFill>
                  <a:srgbClr val="ECECEC"/>
                </a:solidFill>
                <a:effectLst/>
                <a:latin typeface="Söhne"/>
              </a:rPr>
              <a:t>, </a:t>
            </a:r>
            <a:r>
              <a:rPr lang="fr-FR" sz="1800" b="0" i="0" dirty="0" err="1">
                <a:solidFill>
                  <a:srgbClr val="ECECEC"/>
                </a:solidFill>
                <a:effectLst/>
                <a:latin typeface="Söhne"/>
              </a:rPr>
              <a:t>although</a:t>
            </a:r>
            <a:r>
              <a:rPr lang="fr-FR" sz="1800" b="0" i="0" dirty="0">
                <a:solidFill>
                  <a:srgbClr val="ECECEC"/>
                </a:solidFill>
                <a:effectLst/>
                <a:latin typeface="Söhne"/>
              </a:rPr>
              <a:t> </a:t>
            </a:r>
            <a:r>
              <a:rPr lang="fr-FR" sz="1800" b="0" i="0" dirty="0" err="1">
                <a:solidFill>
                  <a:srgbClr val="ECECEC"/>
                </a:solidFill>
                <a:effectLst/>
                <a:latin typeface="Söhne"/>
              </a:rPr>
              <a:t>DataFlow</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t>
            </a:r>
            <a:r>
              <a:rPr lang="fr-FR" sz="1800" b="0" i="0" dirty="0" err="1">
                <a:solidFill>
                  <a:srgbClr val="ECECEC"/>
                </a:solidFill>
                <a:effectLst/>
                <a:latin typeface="Söhne"/>
              </a:rPr>
              <a:t>extremely</a:t>
            </a:r>
            <a:r>
              <a:rPr lang="fr-FR" sz="1800" b="0" i="0" dirty="0">
                <a:solidFill>
                  <a:srgbClr val="ECECEC"/>
                </a:solidFill>
                <a:effectLst/>
                <a:latin typeface="Söhne"/>
              </a:rPr>
              <a:t> </a:t>
            </a:r>
            <a:r>
              <a:rPr lang="fr-FR" sz="1800" b="0" i="0" dirty="0" err="1">
                <a:solidFill>
                  <a:srgbClr val="ECECEC"/>
                </a:solidFill>
                <a:effectLst/>
                <a:latin typeface="Söhne"/>
              </a:rPr>
              <a:t>powerful</a:t>
            </a:r>
            <a:r>
              <a:rPr lang="fr-FR" sz="1800" b="0" i="0" dirty="0">
                <a:solidFill>
                  <a:srgbClr val="ECECEC"/>
                </a:solidFill>
                <a:effectLst/>
                <a:latin typeface="Söhne"/>
              </a:rPr>
              <a:t>, </a:t>
            </a:r>
            <a:r>
              <a:rPr lang="fr-FR" sz="1800" b="0" i="0" dirty="0" err="1">
                <a:solidFill>
                  <a:srgbClr val="ECECEC"/>
                </a:solidFill>
                <a:effectLst/>
                <a:latin typeface="Söhne"/>
              </a:rPr>
              <a:t>its</a:t>
            </a:r>
            <a:r>
              <a:rPr lang="fr-FR" sz="1800" b="0" i="0" dirty="0">
                <a:solidFill>
                  <a:srgbClr val="ECECEC"/>
                </a:solidFill>
                <a:effectLst/>
                <a:latin typeface="Söhne"/>
              </a:rPr>
              <a:t> </a:t>
            </a:r>
            <a:r>
              <a:rPr lang="fr-FR" sz="1800" b="0" i="0" dirty="0" err="1">
                <a:solidFill>
                  <a:srgbClr val="ECECEC"/>
                </a:solidFill>
                <a:effectLst/>
                <a:latin typeface="Söhne"/>
              </a:rPr>
              <a:t>learning</a:t>
            </a:r>
            <a:r>
              <a:rPr lang="fr-FR" sz="1800" b="0" i="0" dirty="0">
                <a:solidFill>
                  <a:srgbClr val="ECECEC"/>
                </a:solidFill>
                <a:effectLst/>
                <a:latin typeface="Söhne"/>
              </a:rPr>
              <a:t> </a:t>
            </a:r>
            <a:r>
              <a:rPr lang="fr-FR" sz="1800" b="0" i="0" dirty="0" err="1">
                <a:solidFill>
                  <a:srgbClr val="ECECEC"/>
                </a:solidFill>
                <a:effectLst/>
                <a:latin typeface="Söhne"/>
              </a:rPr>
              <a:t>curve</a:t>
            </a:r>
            <a:r>
              <a:rPr lang="fr-FR" sz="1800" b="0" i="0" dirty="0">
                <a:solidFill>
                  <a:srgbClr val="ECECEC"/>
                </a:solidFill>
                <a:effectLst/>
                <a:latin typeface="Söhne"/>
              </a:rPr>
              <a:t> can </a:t>
            </a:r>
            <a:r>
              <a:rPr lang="fr-FR" sz="1800" b="0" i="0" dirty="0" err="1">
                <a:solidFill>
                  <a:srgbClr val="ECECEC"/>
                </a:solidFill>
                <a:effectLst/>
                <a:latin typeface="Söhne"/>
              </a:rPr>
              <a:t>be</a:t>
            </a:r>
            <a:r>
              <a:rPr lang="fr-FR" sz="1800" b="0" i="0" dirty="0">
                <a:solidFill>
                  <a:srgbClr val="ECECEC"/>
                </a:solidFill>
                <a:effectLst/>
                <a:latin typeface="Söhne"/>
              </a:rPr>
              <a:t> </a:t>
            </a:r>
            <a:r>
              <a:rPr lang="fr-FR" sz="1800" b="0" i="0" dirty="0" err="1">
                <a:solidFill>
                  <a:srgbClr val="ECECEC"/>
                </a:solidFill>
                <a:effectLst/>
                <a:latin typeface="Söhne"/>
              </a:rPr>
              <a:t>steep</a:t>
            </a:r>
            <a:r>
              <a:rPr lang="fr-FR" sz="1800" b="0" i="0" dirty="0">
                <a:solidFill>
                  <a:srgbClr val="ECECEC"/>
                </a:solidFill>
                <a:effectLst/>
                <a:latin typeface="Söhne"/>
              </a:rPr>
              <a:t> for new </a:t>
            </a:r>
            <a:r>
              <a:rPr lang="fr-FR" sz="1800" b="0" i="0" dirty="0" err="1">
                <a:solidFill>
                  <a:srgbClr val="ECECEC"/>
                </a:solidFill>
                <a:effectLst/>
                <a:latin typeface="Söhne"/>
              </a:rPr>
              <a:t>users</a:t>
            </a:r>
            <a:r>
              <a:rPr lang="fr-FR" sz="1800" b="0" i="0" dirty="0">
                <a:solidFill>
                  <a:srgbClr val="ECECEC"/>
                </a:solidFill>
                <a:effectLst/>
                <a:latin typeface="Söhne"/>
              </a:rPr>
              <a:t>, </a:t>
            </a:r>
            <a:r>
              <a:rPr lang="fr-FR" sz="1800" b="0" i="0" dirty="0" err="1">
                <a:solidFill>
                  <a:srgbClr val="ECECEC"/>
                </a:solidFill>
                <a:effectLst/>
                <a:latin typeface="Söhne"/>
              </a:rPr>
              <a:t>especially</a:t>
            </a:r>
            <a:r>
              <a:rPr lang="fr-FR" sz="1800" b="0" i="0" dirty="0">
                <a:solidFill>
                  <a:srgbClr val="ECECEC"/>
                </a:solidFill>
                <a:effectLst/>
                <a:latin typeface="Söhne"/>
              </a:rPr>
              <a:t> if </a:t>
            </a:r>
            <a:r>
              <a:rPr lang="fr-FR" sz="1800" b="0" i="0" dirty="0" err="1">
                <a:solidFill>
                  <a:srgbClr val="ECECEC"/>
                </a:solidFill>
                <a:effectLst/>
                <a:latin typeface="Söhne"/>
              </a:rPr>
              <a:t>they</a:t>
            </a:r>
            <a:r>
              <a:rPr lang="fr-FR" sz="1800" b="0" i="0" dirty="0">
                <a:solidFill>
                  <a:srgbClr val="ECECEC"/>
                </a:solidFill>
                <a:effectLst/>
                <a:latin typeface="Söhne"/>
              </a:rPr>
              <a:t> are not </a:t>
            </a:r>
            <a:r>
              <a:rPr lang="fr-FR" sz="1800" b="0" i="0" dirty="0" err="1">
                <a:solidFill>
                  <a:srgbClr val="ECECEC"/>
                </a:solidFill>
                <a:effectLst/>
                <a:latin typeface="Söhne"/>
              </a:rPr>
              <a:t>familiar</a:t>
            </a:r>
            <a:r>
              <a:rPr lang="fr-FR" sz="1800" b="0" i="0" dirty="0">
                <a:solidFill>
                  <a:srgbClr val="ECECEC"/>
                </a:solidFill>
                <a:effectLst/>
                <a:latin typeface="Söhne"/>
              </a:rPr>
              <a:t> </a:t>
            </a:r>
            <a:r>
              <a:rPr lang="fr-FR" sz="1800" b="0" i="0" dirty="0" err="1">
                <a:solidFill>
                  <a:srgbClr val="ECECEC"/>
                </a:solidFill>
                <a:effectLst/>
                <a:latin typeface="Söhne"/>
              </a:rPr>
              <a:t>with</a:t>
            </a:r>
            <a:r>
              <a:rPr lang="fr-FR" sz="1800" b="0" i="0" dirty="0">
                <a:solidFill>
                  <a:srgbClr val="ECECEC"/>
                </a:solidFill>
                <a:effectLst/>
                <a:latin typeface="Söhne"/>
              </a:rPr>
              <a:t> Apache Beam.</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8692304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pub-</a:t>
            </a:r>
            <a:r>
              <a:rPr lang="fr-FR" sz="3200" dirty="0" err="1"/>
              <a:t>sub</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2049260"/>
            <a:ext cx="10351747" cy="3863859"/>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Pub/</a:t>
            </a:r>
            <a:r>
              <a:rPr lang="fr-FR" sz="2000" b="0" i="0" dirty="0" err="1">
                <a:solidFill>
                  <a:srgbClr val="ECECEC"/>
                </a:solidFill>
                <a:effectLst/>
                <a:latin typeface="Söhne"/>
              </a:rPr>
              <a:t>Sub</a:t>
            </a:r>
            <a:r>
              <a:rPr lang="fr-FR" sz="2000" b="0" i="0" dirty="0">
                <a:solidFill>
                  <a:srgbClr val="ECECEC"/>
                </a:solidFill>
                <a:effectLst/>
                <a:latin typeface="Söhne"/>
              </a:rPr>
              <a:t>, or Publisher/</a:t>
            </a:r>
            <a:r>
              <a:rPr lang="fr-FR" sz="2000" b="0" i="0" dirty="0" err="1">
                <a:solidFill>
                  <a:srgbClr val="ECECEC"/>
                </a:solidFill>
                <a:effectLst/>
                <a:latin typeface="Söhne"/>
              </a:rPr>
              <a:t>Subscriber</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fully</a:t>
            </a:r>
            <a:r>
              <a:rPr lang="fr-FR" sz="2000" b="0" i="0" dirty="0">
                <a:solidFill>
                  <a:srgbClr val="ECECEC"/>
                </a:solidFill>
                <a:effectLst/>
                <a:latin typeface="Söhne"/>
              </a:rPr>
              <a:t> </a:t>
            </a:r>
            <a:r>
              <a:rPr lang="fr-FR" sz="2000" b="0" i="0" dirty="0" err="1">
                <a:solidFill>
                  <a:srgbClr val="ECECEC"/>
                </a:solidFill>
                <a:effectLst/>
                <a:latin typeface="Söhne"/>
              </a:rPr>
              <a:t>managed</a:t>
            </a:r>
            <a:r>
              <a:rPr lang="fr-FR" sz="2000" b="0" i="0" dirty="0">
                <a:solidFill>
                  <a:srgbClr val="ECECEC"/>
                </a:solidFill>
                <a:effectLst/>
                <a:latin typeface="Söhne"/>
              </a:rPr>
              <a:t> </a:t>
            </a:r>
            <a:r>
              <a:rPr lang="fr-FR" sz="2000" b="0" i="0" dirty="0" err="1">
                <a:solidFill>
                  <a:srgbClr val="ECECEC"/>
                </a:solidFill>
                <a:effectLst/>
                <a:latin typeface="Söhne"/>
              </a:rPr>
              <a:t>event</a:t>
            </a:r>
            <a:r>
              <a:rPr lang="fr-FR" sz="2000" b="0" i="0" dirty="0">
                <a:solidFill>
                  <a:srgbClr val="ECECEC"/>
                </a:solidFill>
                <a:effectLst/>
                <a:latin typeface="Söhne"/>
              </a:rPr>
              <a:t> messaging service </a:t>
            </a:r>
            <a:r>
              <a:rPr lang="fr-FR" sz="2000" b="0" i="0" dirty="0" err="1">
                <a:solidFill>
                  <a:srgbClr val="ECECEC"/>
                </a:solidFill>
                <a:effectLst/>
                <a:latin typeface="Söhne"/>
              </a:rPr>
              <a:t>offered</a:t>
            </a:r>
            <a:r>
              <a:rPr lang="fr-FR" sz="2000" b="0" i="0" dirty="0">
                <a:solidFill>
                  <a:srgbClr val="ECECEC"/>
                </a:solidFill>
                <a:effectLst/>
                <a:latin typeface="Söhne"/>
              </a:rPr>
              <a:t> by Google Cloud Platform. It </a:t>
            </a:r>
            <a:r>
              <a:rPr lang="fr-FR" sz="2000" b="0" i="0" dirty="0" err="1">
                <a:solidFill>
                  <a:srgbClr val="ECECEC"/>
                </a:solidFill>
                <a:effectLst/>
                <a:latin typeface="Söhne"/>
              </a:rPr>
              <a:t>allows</a:t>
            </a:r>
            <a:r>
              <a:rPr lang="fr-FR" sz="2000" b="0" i="0" dirty="0">
                <a:solidFill>
                  <a:srgbClr val="ECECEC"/>
                </a:solidFill>
                <a:effectLst/>
                <a:latin typeface="Söhne"/>
              </a:rPr>
              <a:t> applications to </a:t>
            </a:r>
            <a:r>
              <a:rPr lang="fr-FR" sz="2000" b="0" i="0" dirty="0" err="1">
                <a:solidFill>
                  <a:srgbClr val="ECECEC"/>
                </a:solidFill>
                <a:effectLst/>
                <a:latin typeface="Söhne"/>
              </a:rPr>
              <a:t>communicate</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each</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a:t>
            </a:r>
            <a:r>
              <a:rPr lang="fr-FR" sz="2000" b="0" i="0" dirty="0" err="1">
                <a:solidFill>
                  <a:srgbClr val="ECECEC"/>
                </a:solidFill>
                <a:effectLst/>
                <a:latin typeface="Söhne"/>
              </a:rPr>
              <a:t>asynchronously</a:t>
            </a:r>
            <a:r>
              <a:rPr lang="fr-FR" sz="2000" b="0" i="0" dirty="0">
                <a:solidFill>
                  <a:srgbClr val="ECECEC"/>
                </a:solidFill>
                <a:effectLst/>
                <a:latin typeface="Söhne"/>
              </a:rPr>
              <a:t>, </a:t>
            </a:r>
            <a:r>
              <a:rPr lang="fr-FR" sz="2000" b="0" i="0" dirty="0" err="1">
                <a:solidFill>
                  <a:srgbClr val="ECECEC"/>
                </a:solidFill>
                <a:effectLst/>
                <a:latin typeface="Söhne"/>
              </a:rPr>
              <a:t>ensuring</a:t>
            </a:r>
            <a:r>
              <a:rPr lang="fr-FR" sz="2000" b="0" i="0" dirty="0">
                <a:solidFill>
                  <a:srgbClr val="ECECEC"/>
                </a:solidFill>
                <a:effectLst/>
                <a:latin typeface="Söhne"/>
              </a:rPr>
              <a:t> high </a:t>
            </a:r>
            <a:r>
              <a:rPr lang="fr-FR" sz="2000" b="0" i="0" dirty="0" err="1">
                <a:solidFill>
                  <a:srgbClr val="ECECEC"/>
                </a:solidFill>
                <a:effectLst/>
                <a:latin typeface="Söhne"/>
              </a:rPr>
              <a:t>scalability</a:t>
            </a:r>
            <a:r>
              <a:rPr lang="fr-FR" sz="2000" b="0" i="0" dirty="0">
                <a:solidFill>
                  <a:srgbClr val="ECECEC"/>
                </a:solidFill>
                <a:effectLst/>
                <a:latin typeface="Söhne"/>
              </a:rPr>
              <a:t> and </a:t>
            </a:r>
            <a:r>
              <a:rPr lang="fr-FR" sz="2000" b="0" i="0" dirty="0" err="1">
                <a:solidFill>
                  <a:srgbClr val="ECECEC"/>
                </a:solidFill>
                <a:effectLst/>
                <a:latin typeface="Söhne"/>
              </a:rPr>
              <a:t>robust</a:t>
            </a:r>
            <a:r>
              <a:rPr lang="fr-FR" sz="2000" b="0" i="0" dirty="0">
                <a:solidFill>
                  <a:srgbClr val="ECECEC"/>
                </a:solidFill>
                <a:effectLst/>
                <a:latin typeface="Söhne"/>
              </a:rPr>
              <a:t> </a:t>
            </a:r>
            <a:r>
              <a:rPr lang="fr-FR" sz="2000" b="0" i="0" dirty="0" err="1">
                <a:solidFill>
                  <a:srgbClr val="ECECEC"/>
                </a:solidFill>
                <a:effectLst/>
                <a:latin typeface="Söhne"/>
              </a:rPr>
              <a:t>reliability</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operation</a:t>
            </a:r>
            <a:r>
              <a:rPr lang="fr-FR" sz="2000" b="0" i="0" dirty="0">
                <a:solidFill>
                  <a:srgbClr val="ECECEC"/>
                </a:solidFill>
                <a:effectLst/>
                <a:latin typeface="Söhne"/>
              </a:rPr>
              <a:t> of Pub/</a:t>
            </a:r>
            <a:r>
              <a:rPr lang="fr-FR" sz="2000" b="0" i="0" dirty="0" err="1">
                <a:solidFill>
                  <a:srgbClr val="ECECEC"/>
                </a:solidFill>
                <a:effectLst/>
                <a:latin typeface="Söhne"/>
              </a:rPr>
              <a:t>Sub</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simple: applications </a:t>
            </a:r>
            <a:r>
              <a:rPr lang="fr-FR" sz="2000" b="0" i="0" dirty="0" err="1">
                <a:solidFill>
                  <a:srgbClr val="ECECEC"/>
                </a:solidFill>
                <a:effectLst/>
                <a:latin typeface="Söhne"/>
              </a:rPr>
              <a:t>send</a:t>
            </a:r>
            <a:r>
              <a:rPr lang="fr-FR" sz="2000" b="0" i="0" dirty="0">
                <a:solidFill>
                  <a:srgbClr val="ECECEC"/>
                </a:solidFill>
                <a:effectLst/>
                <a:latin typeface="Söhne"/>
              </a:rPr>
              <a:t> messages to topics, and </a:t>
            </a:r>
            <a:r>
              <a:rPr lang="fr-FR" sz="2000" b="0" i="0" dirty="0" err="1">
                <a:solidFill>
                  <a:srgbClr val="ECECEC"/>
                </a:solidFill>
                <a:effectLst/>
                <a:latin typeface="Söhne"/>
              </a:rPr>
              <a:t>then</a:t>
            </a:r>
            <a:r>
              <a:rPr lang="fr-FR" sz="2000" b="0" i="0" dirty="0">
                <a:solidFill>
                  <a:srgbClr val="ECECEC"/>
                </a:solidFill>
                <a:effectLst/>
                <a:latin typeface="Söhne"/>
              </a:rPr>
              <a:t> the messages are </a:t>
            </a:r>
            <a:r>
              <a:rPr lang="fr-FR" sz="2000" b="0" i="0" dirty="0" err="1">
                <a:solidFill>
                  <a:srgbClr val="ECECEC"/>
                </a:solidFill>
                <a:effectLst/>
                <a:latin typeface="Söhne"/>
              </a:rPr>
              <a:t>received</a:t>
            </a:r>
            <a:r>
              <a:rPr lang="fr-FR" sz="2000" b="0" i="0" dirty="0">
                <a:solidFill>
                  <a:srgbClr val="ECECEC"/>
                </a:solidFill>
                <a:effectLst/>
                <a:latin typeface="Söhne"/>
              </a:rPr>
              <a:t> by </a:t>
            </a:r>
            <a:r>
              <a:rPr lang="fr-FR" sz="2000" b="0" i="0" dirty="0" err="1">
                <a:solidFill>
                  <a:srgbClr val="ECECEC"/>
                </a:solidFill>
                <a:effectLst/>
                <a:latin typeface="Söhne"/>
              </a:rPr>
              <a:t>subscribers</a:t>
            </a:r>
            <a:r>
              <a:rPr lang="fr-FR" sz="2000" b="0" i="0" dirty="0">
                <a:solidFill>
                  <a:srgbClr val="ECECEC"/>
                </a:solidFill>
                <a:effectLst/>
                <a:latin typeface="Söhne"/>
              </a:rPr>
              <a:t> </a:t>
            </a:r>
            <a:r>
              <a:rPr lang="fr-FR" sz="2000" b="0" i="0" dirty="0" err="1">
                <a:solidFill>
                  <a:srgbClr val="ECECEC"/>
                </a:solidFill>
                <a:effectLst/>
                <a:latin typeface="Söhne"/>
              </a:rPr>
              <a:t>who</a:t>
            </a:r>
            <a:r>
              <a:rPr lang="fr-FR" sz="2000" b="0" i="0" dirty="0">
                <a:solidFill>
                  <a:srgbClr val="ECECEC"/>
                </a:solidFill>
                <a:effectLst/>
                <a:latin typeface="Söhne"/>
              </a:rPr>
              <a:t> are </a:t>
            </a:r>
            <a:r>
              <a:rPr lang="fr-FR" sz="2000" b="0" i="0" dirty="0" err="1">
                <a:solidFill>
                  <a:srgbClr val="ECECEC"/>
                </a:solidFill>
                <a:effectLst/>
                <a:latin typeface="Söhne"/>
              </a:rPr>
              <a:t>interested</a:t>
            </a:r>
            <a:r>
              <a:rPr lang="fr-FR" sz="2000" b="0" i="0" dirty="0">
                <a:solidFill>
                  <a:srgbClr val="ECECEC"/>
                </a:solidFill>
                <a:effectLst/>
                <a:latin typeface="Söhne"/>
              </a:rPr>
              <a:t> in </a:t>
            </a:r>
            <a:r>
              <a:rPr lang="fr-FR" sz="2000" b="0" i="0" dirty="0" err="1">
                <a:solidFill>
                  <a:srgbClr val="ECECEC"/>
                </a:solidFill>
                <a:effectLst/>
                <a:latin typeface="Söhne"/>
              </a:rPr>
              <a:t>those</a:t>
            </a:r>
            <a:r>
              <a:rPr lang="fr-FR" sz="2000" b="0" i="0" dirty="0">
                <a:solidFill>
                  <a:srgbClr val="ECECEC"/>
                </a:solidFill>
                <a:effectLst/>
                <a:latin typeface="Söhne"/>
              </a:rPr>
              <a:t> topics.</a:t>
            </a:r>
          </a:p>
          <a:p>
            <a:pPr algn="l">
              <a:buFont typeface="Arial" panose="020B0604020202020204" pitchFamily="34" charset="0"/>
              <a:buChar char="•"/>
            </a:pPr>
            <a:r>
              <a:rPr lang="fr-FR" sz="2000" b="0" i="0" dirty="0">
                <a:solidFill>
                  <a:srgbClr val="ECECEC"/>
                </a:solidFill>
                <a:effectLst/>
                <a:latin typeface="Söhne"/>
              </a:rPr>
              <a:t>There are </a:t>
            </a:r>
            <a:r>
              <a:rPr lang="fr-FR" sz="2000" b="0" i="0" dirty="0" err="1">
                <a:solidFill>
                  <a:srgbClr val="ECECEC"/>
                </a:solidFill>
                <a:effectLst/>
                <a:latin typeface="Söhne"/>
              </a:rPr>
              <a:t>numerous</a:t>
            </a:r>
            <a:r>
              <a:rPr lang="fr-FR" sz="2000" b="0" i="0" dirty="0">
                <a:solidFill>
                  <a:srgbClr val="ECECEC"/>
                </a:solidFill>
                <a:effectLst/>
                <a:latin typeface="Söhne"/>
              </a:rPr>
              <a:t> </a:t>
            </a:r>
            <a:r>
              <a:rPr lang="fr-FR" sz="2000" b="0" i="0" dirty="0" err="1">
                <a:solidFill>
                  <a:srgbClr val="ECECEC"/>
                </a:solidFill>
                <a:effectLst/>
                <a:latin typeface="Söhne"/>
              </a:rPr>
              <a:t>advantages</a:t>
            </a:r>
            <a:r>
              <a:rPr lang="fr-FR" sz="2000" b="0" i="0" dirty="0">
                <a:solidFill>
                  <a:srgbClr val="ECECEC"/>
                </a:solidFill>
                <a:effectLst/>
                <a:latin typeface="Söhne"/>
              </a:rPr>
              <a:t> to Pub/</a:t>
            </a:r>
            <a:r>
              <a:rPr lang="fr-FR" sz="2000" b="0" i="0" dirty="0" err="1">
                <a:solidFill>
                  <a:srgbClr val="ECECEC"/>
                </a:solidFill>
                <a:effectLst/>
                <a:latin typeface="Söhne"/>
              </a:rPr>
              <a:t>Sub</a:t>
            </a:r>
            <a:r>
              <a:rPr lang="fr-FR" sz="2000" b="0" i="0" dirty="0">
                <a:solidFill>
                  <a:srgbClr val="ECECEC"/>
                </a:solidFill>
                <a:effectLst/>
                <a:latin typeface="Söhne"/>
              </a:rPr>
              <a:t>. </a:t>
            </a:r>
            <a:r>
              <a:rPr lang="fr-FR" sz="2000" b="0" i="0" dirty="0" err="1">
                <a:solidFill>
                  <a:srgbClr val="ECECEC"/>
                </a:solidFill>
                <a:effectLst/>
                <a:latin typeface="Söhne"/>
              </a:rPr>
              <a:t>Firstly</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offers</a:t>
            </a:r>
            <a:r>
              <a:rPr lang="fr-FR" sz="2000" b="0" i="0" dirty="0">
                <a:solidFill>
                  <a:srgbClr val="ECECEC"/>
                </a:solidFill>
                <a:effectLst/>
                <a:latin typeface="Söhne"/>
              </a:rPr>
              <a:t> </a:t>
            </a:r>
            <a:r>
              <a:rPr lang="fr-FR" sz="2000" b="0" i="0" dirty="0" err="1">
                <a:solidFill>
                  <a:srgbClr val="ECECEC"/>
                </a:solidFill>
                <a:effectLst/>
                <a:latin typeface="Söhne"/>
              </a:rPr>
              <a:t>automatic</a:t>
            </a:r>
            <a:r>
              <a:rPr lang="fr-FR" sz="2000" b="0" i="0" dirty="0">
                <a:solidFill>
                  <a:srgbClr val="ECECEC"/>
                </a:solidFill>
                <a:effectLst/>
                <a:latin typeface="Söhne"/>
              </a:rPr>
              <a:t> </a:t>
            </a:r>
            <a:r>
              <a:rPr lang="fr-FR" sz="2000" b="0" i="0" dirty="0" err="1">
                <a:solidFill>
                  <a:srgbClr val="ECECEC"/>
                </a:solidFill>
                <a:effectLst/>
                <a:latin typeface="Söhne"/>
              </a:rPr>
              <a:t>scaling</a:t>
            </a:r>
            <a:r>
              <a:rPr lang="fr-FR" sz="2000" b="0" i="0" dirty="0">
                <a:solidFill>
                  <a:srgbClr val="ECECEC"/>
                </a:solidFill>
                <a:effectLst/>
                <a:latin typeface="Söhne"/>
              </a:rPr>
              <a:t>, </a:t>
            </a:r>
            <a:r>
              <a:rPr lang="fr-FR" sz="2000" b="0" i="0" dirty="0" err="1">
                <a:solidFill>
                  <a:srgbClr val="ECECEC"/>
                </a:solidFill>
                <a:effectLst/>
                <a:latin typeface="Söhne"/>
              </a:rPr>
              <a:t>efficiently</a:t>
            </a:r>
            <a:r>
              <a:rPr lang="fr-FR" sz="2000" b="0" i="0" dirty="0">
                <a:solidFill>
                  <a:srgbClr val="ECECEC"/>
                </a:solidFill>
                <a:effectLst/>
                <a:latin typeface="Söhne"/>
              </a:rPr>
              <a:t> </a:t>
            </a:r>
            <a:r>
              <a:rPr lang="fr-FR" sz="2000" b="0" i="0" dirty="0" err="1">
                <a:solidFill>
                  <a:srgbClr val="ECECEC"/>
                </a:solidFill>
                <a:effectLst/>
                <a:latin typeface="Söhne"/>
              </a:rPr>
              <a:t>processing</a:t>
            </a:r>
            <a:r>
              <a:rPr lang="fr-FR" sz="2000" b="0" i="0" dirty="0">
                <a:solidFill>
                  <a:srgbClr val="ECECEC"/>
                </a:solidFill>
                <a:effectLst/>
                <a:latin typeface="Söhne"/>
              </a:rPr>
              <a:t> millions of messages per second. </a:t>
            </a:r>
            <a:r>
              <a:rPr lang="fr-FR" sz="2000" b="0" i="0" dirty="0" err="1">
                <a:solidFill>
                  <a:srgbClr val="ECECEC"/>
                </a:solidFill>
                <a:effectLst/>
                <a:latin typeface="Söhne"/>
              </a:rPr>
              <a:t>Additionally</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ensures</a:t>
            </a:r>
            <a:r>
              <a:rPr lang="fr-FR" sz="2000" b="0" i="0" dirty="0">
                <a:solidFill>
                  <a:srgbClr val="ECECEC"/>
                </a:solidFill>
                <a:effectLst/>
                <a:latin typeface="Söhne"/>
              </a:rPr>
              <a:t> reliable message </a:t>
            </a:r>
            <a:r>
              <a:rPr lang="fr-FR" sz="2000" b="0" i="0" dirty="0" err="1">
                <a:solidFill>
                  <a:srgbClr val="ECECEC"/>
                </a:solidFill>
                <a:effectLst/>
                <a:latin typeface="Söhne"/>
              </a:rPr>
              <a:t>delivery</a:t>
            </a:r>
            <a:r>
              <a:rPr lang="fr-FR" sz="2000" b="0" i="0" dirty="0">
                <a:solidFill>
                  <a:srgbClr val="ECECEC"/>
                </a:solidFill>
                <a:effectLst/>
                <a:latin typeface="Söhne"/>
              </a:rPr>
              <a:t>, </a:t>
            </a:r>
            <a:r>
              <a:rPr lang="fr-FR" sz="2000" b="0" i="0" dirty="0" err="1">
                <a:solidFill>
                  <a:srgbClr val="ECECEC"/>
                </a:solidFill>
                <a:effectLst/>
                <a:latin typeface="Söhne"/>
              </a:rPr>
              <a:t>even</a:t>
            </a:r>
            <a:r>
              <a:rPr lang="fr-FR" sz="2000" b="0" i="0" dirty="0">
                <a:solidFill>
                  <a:srgbClr val="ECECEC"/>
                </a:solidFill>
                <a:effectLst/>
                <a:latin typeface="Söhne"/>
              </a:rPr>
              <a:t> in the </a:t>
            </a:r>
            <a:r>
              <a:rPr lang="fr-FR" sz="2000" b="0" i="0" dirty="0" err="1">
                <a:solidFill>
                  <a:srgbClr val="ECECEC"/>
                </a:solidFill>
                <a:effectLst/>
                <a:latin typeface="Söhne"/>
              </a:rPr>
              <a:t>event</a:t>
            </a:r>
            <a:r>
              <a:rPr lang="fr-FR" sz="2000" b="0" i="0" dirty="0">
                <a:solidFill>
                  <a:srgbClr val="ECECEC"/>
                </a:solidFill>
                <a:effectLst/>
                <a:latin typeface="Söhne"/>
              </a:rPr>
              <a:t> of a system component </a:t>
            </a:r>
            <a:r>
              <a:rPr lang="fr-FR" sz="2000" b="0" i="0" dirty="0" err="1">
                <a:solidFill>
                  <a:srgbClr val="ECECEC"/>
                </a:solidFill>
                <a:effectLst/>
                <a:latin typeface="Söhne"/>
              </a:rPr>
              <a:t>failure</a:t>
            </a:r>
            <a:r>
              <a:rPr lang="fr-FR" sz="2000" b="0" i="0" dirty="0">
                <a:solidFill>
                  <a:srgbClr val="ECECEC"/>
                </a:solidFill>
                <a:effectLst/>
                <a:latin typeface="Söhne"/>
              </a:rPr>
              <a:t>. Pub/</a:t>
            </a:r>
            <a:r>
              <a:rPr lang="fr-FR" sz="2000" b="0" i="0" dirty="0" err="1">
                <a:solidFill>
                  <a:srgbClr val="ECECEC"/>
                </a:solidFill>
                <a:effectLst/>
                <a:latin typeface="Söhne"/>
              </a:rPr>
              <a:t>Sub</a:t>
            </a:r>
            <a:r>
              <a:rPr lang="fr-FR" sz="2000" b="0" i="0" dirty="0">
                <a:solidFill>
                  <a:srgbClr val="ECECEC"/>
                </a:solidFill>
                <a:effectLst/>
                <a:latin typeface="Söhne"/>
              </a:rPr>
              <a:t> </a:t>
            </a:r>
            <a:r>
              <a:rPr lang="fr-FR" sz="2000" b="0" i="0" dirty="0" err="1">
                <a:solidFill>
                  <a:srgbClr val="ECECEC"/>
                </a:solidFill>
                <a:effectLst/>
                <a:latin typeface="Söhne"/>
              </a:rPr>
              <a:t>also</a:t>
            </a:r>
            <a:r>
              <a:rPr lang="fr-FR" sz="2000" b="0" i="0" dirty="0">
                <a:solidFill>
                  <a:srgbClr val="ECECEC"/>
                </a:solidFill>
                <a:effectLst/>
                <a:latin typeface="Söhne"/>
              </a:rPr>
              <a:t> </a:t>
            </a:r>
            <a:r>
              <a:rPr lang="fr-FR" sz="2000" b="0" i="0" dirty="0" err="1">
                <a:solidFill>
                  <a:srgbClr val="ECECEC"/>
                </a:solidFill>
                <a:effectLst/>
                <a:latin typeface="Söhne"/>
              </a:rPr>
              <a:t>seamlessly</a:t>
            </a:r>
            <a:r>
              <a:rPr lang="fr-FR" sz="2000" b="0" i="0" dirty="0">
                <a:solidFill>
                  <a:srgbClr val="ECECEC"/>
                </a:solidFill>
                <a:effectLst/>
                <a:latin typeface="Söhne"/>
              </a:rPr>
              <a:t> </a:t>
            </a:r>
            <a:r>
              <a:rPr lang="fr-FR" sz="2000" b="0" i="0" dirty="0" err="1">
                <a:solidFill>
                  <a:srgbClr val="ECECEC"/>
                </a:solidFill>
                <a:effectLst/>
                <a:latin typeface="Söhne"/>
              </a:rPr>
              <a:t>integrates</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GCP services, </a:t>
            </a:r>
            <a:r>
              <a:rPr lang="fr-FR" sz="2000" b="0" i="0" dirty="0" err="1">
                <a:solidFill>
                  <a:srgbClr val="ECECEC"/>
                </a:solidFill>
                <a:effectLst/>
                <a:latin typeface="Söhne"/>
              </a:rPr>
              <a:t>making</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easy</a:t>
            </a:r>
            <a:r>
              <a:rPr lang="fr-FR" sz="2000" b="0" i="0" dirty="0">
                <a:solidFill>
                  <a:srgbClr val="ECECEC"/>
                </a:solidFill>
                <a:effectLst/>
                <a:latin typeface="Söhne"/>
              </a:rPr>
              <a:t> to </a:t>
            </a:r>
            <a:r>
              <a:rPr lang="fr-FR" sz="2000" b="0" i="0" dirty="0" err="1">
                <a:solidFill>
                  <a:srgbClr val="ECECEC"/>
                </a:solidFill>
                <a:effectLst/>
                <a:latin typeface="Söhne"/>
              </a:rPr>
              <a:t>build</a:t>
            </a:r>
            <a:r>
              <a:rPr lang="fr-FR" sz="2000" b="0" i="0" dirty="0">
                <a:solidFill>
                  <a:srgbClr val="ECECEC"/>
                </a:solidFill>
                <a:effectLst/>
                <a:latin typeface="Söhne"/>
              </a:rPr>
              <a:t> cloud-native applications.</a:t>
            </a:r>
          </a:p>
          <a:p>
            <a:pPr algn="l">
              <a:buFont typeface="Arial" panose="020B0604020202020204" pitchFamily="34" charset="0"/>
              <a:buChar char="•"/>
            </a:pPr>
            <a:r>
              <a:rPr lang="fr-FR" sz="2000" b="0" i="0" dirty="0" err="1">
                <a:solidFill>
                  <a:srgbClr val="ECECEC"/>
                </a:solidFill>
                <a:effectLst/>
                <a:latin typeface="Söhne"/>
              </a:rPr>
              <a:t>However</a:t>
            </a:r>
            <a:r>
              <a:rPr lang="fr-FR" sz="2000" b="0" i="0" dirty="0">
                <a:solidFill>
                  <a:srgbClr val="ECECEC"/>
                </a:solidFill>
                <a:effectLst/>
                <a:latin typeface="Söhne"/>
              </a:rPr>
              <a:t>, </a:t>
            </a:r>
            <a:r>
              <a:rPr lang="fr-FR" sz="2000" b="0" i="0" dirty="0" err="1">
                <a:solidFill>
                  <a:srgbClr val="ECECEC"/>
                </a:solidFill>
                <a:effectLst/>
                <a:latin typeface="Söhne"/>
              </a:rPr>
              <a:t>there</a:t>
            </a:r>
            <a:r>
              <a:rPr lang="fr-FR" sz="2000" b="0" i="0" dirty="0">
                <a:solidFill>
                  <a:srgbClr val="ECECEC"/>
                </a:solidFill>
                <a:effectLst/>
                <a:latin typeface="Söhne"/>
              </a:rPr>
              <a:t> are a few </a:t>
            </a:r>
            <a:r>
              <a:rPr lang="fr-FR" sz="2000" b="0" i="0" dirty="0" err="1">
                <a:solidFill>
                  <a:srgbClr val="ECECEC"/>
                </a:solidFill>
                <a:effectLst/>
                <a:latin typeface="Söhne"/>
              </a:rPr>
              <a:t>disadvantages</a:t>
            </a:r>
            <a:r>
              <a:rPr lang="fr-FR" sz="2000" b="0" i="0" dirty="0">
                <a:solidFill>
                  <a:srgbClr val="ECECEC"/>
                </a:solidFill>
                <a:effectLst/>
                <a:latin typeface="Söhne"/>
              </a:rPr>
              <a:t> to </a:t>
            </a:r>
            <a:r>
              <a:rPr lang="fr-FR" sz="2000" b="0" i="0" dirty="0" err="1">
                <a:solidFill>
                  <a:srgbClr val="ECECEC"/>
                </a:solidFill>
                <a:effectLst/>
                <a:latin typeface="Söhne"/>
              </a:rPr>
              <a:t>consider</a:t>
            </a:r>
            <a:r>
              <a:rPr lang="fr-FR" sz="2000" b="0" i="0" dirty="0">
                <a:solidFill>
                  <a:srgbClr val="ECECEC"/>
                </a:solidFill>
                <a:effectLst/>
                <a:latin typeface="Söhne"/>
              </a:rPr>
              <a:t>. Pub/</a:t>
            </a:r>
            <a:r>
              <a:rPr lang="fr-FR" sz="2000" b="0" i="0" dirty="0" err="1">
                <a:solidFill>
                  <a:srgbClr val="ECECEC"/>
                </a:solidFill>
                <a:effectLst/>
                <a:latin typeface="Söhne"/>
              </a:rPr>
              <a:t>Sub</a:t>
            </a:r>
            <a:r>
              <a:rPr lang="fr-FR" sz="2000" b="0" i="0" dirty="0">
                <a:solidFill>
                  <a:srgbClr val="ECECEC"/>
                </a:solidFill>
                <a:effectLst/>
                <a:latin typeface="Söhne"/>
              </a:rPr>
              <a:t> </a:t>
            </a:r>
            <a:r>
              <a:rPr lang="fr-FR" sz="2000" b="0" i="0" dirty="0" err="1">
                <a:solidFill>
                  <a:srgbClr val="ECECEC"/>
                </a:solidFill>
                <a:effectLst/>
                <a:latin typeface="Söhne"/>
              </a:rPr>
              <a:t>pricing</a:t>
            </a:r>
            <a:r>
              <a:rPr lang="fr-FR" sz="2000" b="0" i="0" dirty="0">
                <a:solidFill>
                  <a:srgbClr val="ECECEC"/>
                </a:solidFill>
                <a:effectLst/>
                <a:latin typeface="Söhne"/>
              </a:rPr>
              <a:t> can </a:t>
            </a:r>
            <a:r>
              <a:rPr lang="fr-FR" sz="2000" b="0" i="0" dirty="0" err="1">
                <a:solidFill>
                  <a:srgbClr val="ECECEC"/>
                </a:solidFill>
                <a:effectLst/>
                <a:latin typeface="Söhne"/>
              </a:rPr>
              <a:t>increase</a:t>
            </a:r>
            <a:r>
              <a:rPr lang="fr-FR" sz="2000" b="0" i="0" dirty="0">
                <a:solidFill>
                  <a:srgbClr val="ECECEC"/>
                </a:solidFill>
                <a:effectLst/>
                <a:latin typeface="Söhne"/>
              </a:rPr>
              <a:t> </a:t>
            </a:r>
            <a:r>
              <a:rPr lang="fr-FR" sz="2000" b="0" i="0" dirty="0" err="1">
                <a:solidFill>
                  <a:srgbClr val="ECECEC"/>
                </a:solidFill>
                <a:effectLst/>
                <a:latin typeface="Söhne"/>
              </a:rPr>
              <a:t>rapidly</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the volume of messages </a:t>
            </a:r>
            <a:r>
              <a:rPr lang="fr-FR" sz="2000" b="0" i="0" dirty="0" err="1">
                <a:solidFill>
                  <a:srgbClr val="ECECEC"/>
                </a:solidFill>
                <a:effectLst/>
                <a:latin typeface="Söhne"/>
              </a:rPr>
              <a:t>processed</a:t>
            </a:r>
            <a:r>
              <a:rPr lang="fr-FR" sz="2000" b="0" i="0" dirty="0">
                <a:solidFill>
                  <a:srgbClr val="ECECEC"/>
                </a:solidFill>
                <a:effectLst/>
                <a:latin typeface="Söhne"/>
              </a:rPr>
              <a:t>, and </a:t>
            </a:r>
            <a:r>
              <a:rPr lang="fr-FR" sz="2000" b="0" i="0" dirty="0" err="1">
                <a:solidFill>
                  <a:srgbClr val="ECECEC"/>
                </a:solidFill>
                <a:effectLst/>
                <a:latin typeface="Söhne"/>
              </a:rPr>
              <a:t>it</a:t>
            </a:r>
            <a:r>
              <a:rPr lang="fr-FR" sz="2000" b="0" i="0" dirty="0">
                <a:solidFill>
                  <a:srgbClr val="ECECEC"/>
                </a:solidFill>
                <a:effectLst/>
                <a:latin typeface="Söhne"/>
              </a:rPr>
              <a:t> can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challenging</a:t>
            </a:r>
            <a:r>
              <a:rPr lang="fr-FR" sz="2000" b="0" i="0" dirty="0">
                <a:solidFill>
                  <a:srgbClr val="ECECEC"/>
                </a:solidFill>
                <a:effectLst/>
                <a:latin typeface="Söhne"/>
              </a:rPr>
              <a:t> to </a:t>
            </a:r>
            <a:r>
              <a:rPr lang="fr-FR" sz="2000" b="0" i="0" dirty="0" err="1">
                <a:solidFill>
                  <a:srgbClr val="ECECEC"/>
                </a:solidFill>
                <a:effectLst/>
                <a:latin typeface="Söhne"/>
              </a:rPr>
              <a:t>predict</a:t>
            </a:r>
            <a:r>
              <a:rPr lang="fr-FR" sz="2000" b="0" i="0" dirty="0">
                <a:solidFill>
                  <a:srgbClr val="ECECEC"/>
                </a:solidFill>
                <a:effectLst/>
                <a:latin typeface="Söhne"/>
              </a:rPr>
              <a:t> exact </a:t>
            </a:r>
            <a:r>
              <a:rPr lang="fr-FR" sz="2000" b="0" i="0" dirty="0" err="1">
                <a:solidFill>
                  <a:srgbClr val="ECECEC"/>
                </a:solidFill>
                <a:effectLst/>
                <a:latin typeface="Söhne"/>
              </a:rPr>
              <a:t>costs</a:t>
            </a:r>
            <a:r>
              <a:rPr lang="fr-FR" sz="20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2258542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203886"/>
            <a:ext cx="11530647" cy="1293028"/>
          </a:xfrm>
        </p:spPr>
        <p:txBody>
          <a:bodyPr>
            <a:normAutofit/>
          </a:bodyPr>
          <a:lstStyle/>
          <a:p>
            <a:pPr algn="l"/>
            <a:r>
              <a:rPr lang="fr-FR" sz="3200" dirty="0"/>
              <a:t>GOOGLE CLOUD </a:t>
            </a:r>
            <a:r>
              <a:rPr lang="fr-FR" sz="3200" dirty="0" err="1"/>
              <a:t>dataproc</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726008"/>
          </a:xfrm>
        </p:spPr>
        <p:txBody>
          <a:bodyPr>
            <a:normAutofit lnSpcReduction="10000"/>
          </a:bodyPr>
          <a:lstStyle/>
          <a:p>
            <a:pPr algn="l">
              <a:buFont typeface="Arial" panose="020B0604020202020204" pitchFamily="34" charset="0"/>
              <a:buChar char="•"/>
            </a:pPr>
            <a:r>
              <a:rPr lang="fr-FR" sz="2000" b="0" i="0" dirty="0">
                <a:solidFill>
                  <a:srgbClr val="ECECEC"/>
                </a:solidFill>
                <a:effectLst/>
                <a:latin typeface="Söhne"/>
              </a:rPr>
              <a:t>Cloud </a:t>
            </a:r>
            <a:r>
              <a:rPr lang="fr-FR" sz="2000" b="0" i="0" dirty="0" err="1">
                <a:solidFill>
                  <a:srgbClr val="ECECEC"/>
                </a:solidFill>
                <a:effectLst/>
                <a:latin typeface="Söhne"/>
              </a:rPr>
              <a:t>Dataproc</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fully</a:t>
            </a:r>
            <a:r>
              <a:rPr lang="fr-FR" sz="2000" b="0" i="0" dirty="0">
                <a:solidFill>
                  <a:srgbClr val="ECECEC"/>
                </a:solidFill>
                <a:effectLst/>
                <a:latin typeface="Söhne"/>
              </a:rPr>
              <a:t> </a:t>
            </a:r>
            <a:r>
              <a:rPr lang="fr-FR" sz="2000" b="0" i="0" dirty="0" err="1">
                <a:solidFill>
                  <a:srgbClr val="ECECEC"/>
                </a:solidFill>
                <a:effectLst/>
                <a:latin typeface="Söhne"/>
              </a:rPr>
              <a:t>managed</a:t>
            </a:r>
            <a:r>
              <a:rPr lang="fr-FR" sz="2000" b="0" i="0" dirty="0">
                <a:solidFill>
                  <a:srgbClr val="ECECEC"/>
                </a:solidFill>
                <a:effectLst/>
                <a:latin typeface="Söhne"/>
              </a:rPr>
              <a:t> data </a:t>
            </a:r>
            <a:r>
              <a:rPr lang="fr-FR" sz="2000" b="0" i="0" dirty="0" err="1">
                <a:solidFill>
                  <a:srgbClr val="ECECEC"/>
                </a:solidFill>
                <a:effectLst/>
                <a:latin typeface="Söhne"/>
              </a:rPr>
              <a:t>processing</a:t>
            </a:r>
            <a:r>
              <a:rPr lang="fr-FR" sz="2000" b="0" i="0" dirty="0">
                <a:solidFill>
                  <a:srgbClr val="ECECEC"/>
                </a:solidFill>
                <a:effectLst/>
                <a:latin typeface="Söhne"/>
              </a:rPr>
              <a:t> service </a:t>
            </a:r>
            <a:r>
              <a:rPr lang="fr-FR" sz="2000" b="0" i="0" dirty="0" err="1">
                <a:solidFill>
                  <a:srgbClr val="ECECEC"/>
                </a:solidFill>
                <a:effectLst/>
                <a:latin typeface="Söhne"/>
              </a:rPr>
              <a:t>based</a:t>
            </a:r>
            <a:r>
              <a:rPr lang="fr-FR" sz="2000" b="0" i="0" dirty="0">
                <a:solidFill>
                  <a:srgbClr val="ECECEC"/>
                </a:solidFill>
                <a:effectLst/>
                <a:latin typeface="Söhne"/>
              </a:rPr>
              <a:t> on Apache Hadoop and Apache Spark, </a:t>
            </a:r>
            <a:r>
              <a:rPr lang="fr-FR" sz="2000" b="0" i="0" dirty="0" err="1">
                <a:solidFill>
                  <a:srgbClr val="ECECEC"/>
                </a:solidFill>
                <a:effectLst/>
                <a:latin typeface="Söhne"/>
              </a:rPr>
              <a:t>offered</a:t>
            </a:r>
            <a:r>
              <a:rPr lang="fr-FR" sz="2000" b="0" i="0" dirty="0">
                <a:solidFill>
                  <a:srgbClr val="ECECEC"/>
                </a:solidFill>
                <a:effectLst/>
                <a:latin typeface="Söhne"/>
              </a:rPr>
              <a:t> by Google Cloud Platform (GCP). It </a:t>
            </a:r>
            <a:r>
              <a:rPr lang="fr-FR" sz="2000" b="0" i="0" dirty="0" err="1">
                <a:solidFill>
                  <a:srgbClr val="ECECEC"/>
                </a:solidFill>
                <a:effectLst/>
                <a:latin typeface="Söhne"/>
              </a:rPr>
              <a:t>allows</a:t>
            </a:r>
            <a:r>
              <a:rPr lang="fr-FR" sz="2000" b="0" i="0" dirty="0">
                <a:solidFill>
                  <a:srgbClr val="ECECEC"/>
                </a:solidFill>
                <a:effectLst/>
                <a:latin typeface="Söhne"/>
              </a:rPr>
              <a:t> </a:t>
            </a:r>
            <a:r>
              <a:rPr lang="fr-FR" sz="2000" b="0" i="0" dirty="0" err="1">
                <a:solidFill>
                  <a:srgbClr val="ECECEC"/>
                </a:solidFill>
                <a:effectLst/>
                <a:latin typeface="Söhne"/>
              </a:rPr>
              <a:t>users</a:t>
            </a:r>
            <a:r>
              <a:rPr lang="fr-FR" sz="2000" b="0" i="0" dirty="0">
                <a:solidFill>
                  <a:srgbClr val="ECECEC"/>
                </a:solidFill>
                <a:effectLst/>
                <a:latin typeface="Söhne"/>
              </a:rPr>
              <a:t> to </a:t>
            </a:r>
            <a:r>
              <a:rPr lang="fr-FR" sz="2000" b="0" i="0" dirty="0" err="1">
                <a:solidFill>
                  <a:srgbClr val="ECECEC"/>
                </a:solidFill>
                <a:effectLst/>
                <a:latin typeface="Söhne"/>
              </a:rPr>
              <a:t>quickly</a:t>
            </a:r>
            <a:r>
              <a:rPr lang="fr-FR" sz="2000" b="0" i="0" dirty="0">
                <a:solidFill>
                  <a:srgbClr val="ECECEC"/>
                </a:solidFill>
                <a:effectLst/>
                <a:latin typeface="Söhne"/>
              </a:rPr>
              <a:t> </a:t>
            </a:r>
            <a:r>
              <a:rPr lang="fr-FR" sz="2000" b="0" i="0" dirty="0" err="1">
                <a:solidFill>
                  <a:srgbClr val="ECECEC"/>
                </a:solidFill>
                <a:effectLst/>
                <a:latin typeface="Söhne"/>
              </a:rPr>
              <a:t>deploy</a:t>
            </a:r>
            <a:r>
              <a:rPr lang="fr-FR" sz="2000" b="0" i="0" dirty="0">
                <a:solidFill>
                  <a:srgbClr val="ECECEC"/>
                </a:solidFill>
                <a:effectLst/>
                <a:latin typeface="Söhne"/>
              </a:rPr>
              <a:t> </a:t>
            </a:r>
            <a:r>
              <a:rPr lang="fr-FR" sz="2000" b="0" i="0" dirty="0" err="1">
                <a:solidFill>
                  <a:srgbClr val="ECECEC"/>
                </a:solidFill>
                <a:effectLst/>
                <a:latin typeface="Söhne"/>
              </a:rPr>
              <a:t>compute</a:t>
            </a:r>
            <a:r>
              <a:rPr lang="fr-FR" sz="2000" b="0" i="0" dirty="0">
                <a:solidFill>
                  <a:srgbClr val="ECECEC"/>
                </a:solidFill>
                <a:effectLst/>
                <a:latin typeface="Söhne"/>
              </a:rPr>
              <a:t> clusters in the cloud for </a:t>
            </a:r>
            <a:r>
              <a:rPr lang="fr-FR" sz="2000" b="0" i="0" dirty="0" err="1">
                <a:solidFill>
                  <a:srgbClr val="ECECEC"/>
                </a:solidFill>
                <a:effectLst/>
                <a:latin typeface="Söhne"/>
              </a:rPr>
              <a:t>analyzing</a:t>
            </a:r>
            <a:r>
              <a:rPr lang="fr-FR" sz="2000" b="0" i="0" dirty="0">
                <a:solidFill>
                  <a:srgbClr val="ECECEC"/>
                </a:solidFill>
                <a:effectLst/>
                <a:latin typeface="Söhne"/>
              </a:rPr>
              <a:t>, </a:t>
            </a:r>
            <a:r>
              <a:rPr lang="fr-FR" sz="2000" b="0" i="0" dirty="0" err="1">
                <a:solidFill>
                  <a:srgbClr val="ECECEC"/>
                </a:solidFill>
                <a:effectLst/>
                <a:latin typeface="Söhne"/>
              </a:rPr>
              <a:t>processing</a:t>
            </a:r>
            <a:r>
              <a:rPr lang="fr-FR" sz="2000" b="0" i="0" dirty="0">
                <a:solidFill>
                  <a:srgbClr val="ECECEC"/>
                </a:solidFill>
                <a:effectLst/>
                <a:latin typeface="Söhne"/>
              </a:rPr>
              <a:t>, and </a:t>
            </a:r>
            <a:r>
              <a:rPr lang="fr-FR" sz="2000" b="0" i="0" dirty="0" err="1">
                <a:solidFill>
                  <a:srgbClr val="ECECEC"/>
                </a:solidFill>
                <a:effectLst/>
                <a:latin typeface="Söhne"/>
              </a:rPr>
              <a:t>transforming</a:t>
            </a:r>
            <a:r>
              <a:rPr lang="fr-FR" sz="2000" b="0" i="0" dirty="0">
                <a:solidFill>
                  <a:srgbClr val="ECECEC"/>
                </a:solidFill>
                <a:effectLst/>
                <a:latin typeface="Söhne"/>
              </a:rPr>
              <a:t> large </a:t>
            </a:r>
            <a:r>
              <a:rPr lang="fr-FR" sz="2000" b="0" i="0" dirty="0" err="1">
                <a:solidFill>
                  <a:srgbClr val="ECECEC"/>
                </a:solidFill>
                <a:effectLst/>
                <a:latin typeface="Söhne"/>
              </a:rPr>
              <a:t>datasets</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operation</a:t>
            </a:r>
            <a:r>
              <a:rPr lang="fr-FR" sz="2000" b="0" i="0" dirty="0">
                <a:solidFill>
                  <a:srgbClr val="ECECEC"/>
                </a:solidFill>
                <a:effectLst/>
                <a:latin typeface="Söhne"/>
              </a:rPr>
              <a:t> of Cloud </a:t>
            </a:r>
            <a:r>
              <a:rPr lang="fr-FR" sz="2000" b="0" i="0" dirty="0" err="1">
                <a:solidFill>
                  <a:srgbClr val="ECECEC"/>
                </a:solidFill>
                <a:effectLst/>
                <a:latin typeface="Söhne"/>
              </a:rPr>
              <a:t>Dataproc</a:t>
            </a:r>
            <a:r>
              <a:rPr lang="fr-FR" sz="2000" b="0" i="0" dirty="0">
                <a:solidFill>
                  <a:srgbClr val="ECECEC"/>
                </a:solidFill>
                <a:effectLst/>
                <a:latin typeface="Söhne"/>
              </a:rPr>
              <a:t> relies on </a:t>
            </a:r>
            <a:r>
              <a:rPr lang="fr-FR" sz="2000" b="0" i="0" dirty="0" err="1">
                <a:solidFill>
                  <a:srgbClr val="ECECEC"/>
                </a:solidFill>
                <a:effectLst/>
                <a:latin typeface="Söhne"/>
              </a:rPr>
              <a:t>dynamically</a:t>
            </a:r>
            <a:r>
              <a:rPr lang="fr-FR" sz="2000" b="0" i="0" dirty="0">
                <a:solidFill>
                  <a:srgbClr val="ECECEC"/>
                </a:solidFill>
                <a:effectLst/>
                <a:latin typeface="Söhne"/>
              </a:rPr>
              <a:t> </a:t>
            </a:r>
            <a:r>
              <a:rPr lang="fr-FR" sz="2000" b="0" i="0" dirty="0" err="1">
                <a:solidFill>
                  <a:srgbClr val="ECECEC"/>
                </a:solidFill>
                <a:effectLst/>
                <a:latin typeface="Söhne"/>
              </a:rPr>
              <a:t>creating</a:t>
            </a:r>
            <a:r>
              <a:rPr lang="fr-FR" sz="2000" b="0" i="0" dirty="0">
                <a:solidFill>
                  <a:srgbClr val="ECECEC"/>
                </a:solidFill>
                <a:effectLst/>
                <a:latin typeface="Söhne"/>
              </a:rPr>
              <a:t> </a:t>
            </a:r>
            <a:r>
              <a:rPr lang="fr-FR" sz="2000" b="0" i="0" dirty="0" err="1">
                <a:solidFill>
                  <a:srgbClr val="ECECEC"/>
                </a:solidFill>
                <a:effectLst/>
                <a:latin typeface="Söhne"/>
              </a:rPr>
              <a:t>compute</a:t>
            </a:r>
            <a:r>
              <a:rPr lang="fr-FR" sz="2000" b="0" i="0" dirty="0">
                <a:solidFill>
                  <a:srgbClr val="ECECEC"/>
                </a:solidFill>
                <a:effectLst/>
                <a:latin typeface="Söhne"/>
              </a:rPr>
              <a:t> clusters, </a:t>
            </a:r>
            <a:r>
              <a:rPr lang="fr-FR" sz="2000" b="0" i="0" dirty="0" err="1">
                <a:solidFill>
                  <a:srgbClr val="ECECEC"/>
                </a:solidFill>
                <a:effectLst/>
                <a:latin typeface="Söhne"/>
              </a:rPr>
              <a:t>which</a:t>
            </a:r>
            <a:r>
              <a:rPr lang="fr-FR" sz="2000" b="0" i="0" dirty="0">
                <a:solidFill>
                  <a:srgbClr val="ECECEC"/>
                </a:solidFill>
                <a:effectLst/>
                <a:latin typeface="Söhne"/>
              </a:rPr>
              <a:t> can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scaled</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data </a:t>
            </a:r>
            <a:r>
              <a:rPr lang="fr-FR" sz="2000" b="0" i="0" dirty="0" err="1">
                <a:solidFill>
                  <a:srgbClr val="ECECEC"/>
                </a:solidFill>
                <a:effectLst/>
                <a:latin typeface="Söhne"/>
              </a:rPr>
              <a:t>processing</a:t>
            </a:r>
            <a:r>
              <a:rPr lang="fr-FR" sz="2000" b="0" i="0" dirty="0">
                <a:solidFill>
                  <a:srgbClr val="ECECEC"/>
                </a:solidFill>
                <a:effectLst/>
                <a:latin typeface="Söhne"/>
              </a:rPr>
              <a:t> </a:t>
            </a:r>
            <a:r>
              <a:rPr lang="fr-FR" sz="2000" b="0" i="0" dirty="0" err="1">
                <a:solidFill>
                  <a:srgbClr val="ECECEC"/>
                </a:solidFill>
                <a:effectLst/>
                <a:latin typeface="Söhne"/>
              </a:rPr>
              <a:t>needs</a:t>
            </a:r>
            <a:r>
              <a:rPr lang="fr-FR" sz="2000" b="0" i="0" dirty="0">
                <a:solidFill>
                  <a:srgbClr val="ECECEC"/>
                </a:solidFill>
                <a:effectLst/>
                <a:latin typeface="Söhne"/>
              </a:rPr>
              <a:t>. </a:t>
            </a:r>
            <a:r>
              <a:rPr lang="fr-FR" sz="2000" b="0" i="0" dirty="0" err="1">
                <a:solidFill>
                  <a:srgbClr val="ECECEC"/>
                </a:solidFill>
                <a:effectLst/>
                <a:latin typeface="Söhne"/>
              </a:rPr>
              <a:t>Users</a:t>
            </a:r>
            <a:r>
              <a:rPr lang="fr-FR" sz="2000" b="0" i="0" dirty="0">
                <a:solidFill>
                  <a:srgbClr val="ECECEC"/>
                </a:solidFill>
                <a:effectLst/>
                <a:latin typeface="Söhne"/>
              </a:rPr>
              <a:t> can run batch </a:t>
            </a:r>
            <a:r>
              <a:rPr lang="fr-FR" sz="2000" b="0" i="0" dirty="0" err="1">
                <a:solidFill>
                  <a:srgbClr val="ECECEC"/>
                </a:solidFill>
                <a:effectLst/>
                <a:latin typeface="Söhne"/>
              </a:rPr>
              <a:t>processing</a:t>
            </a:r>
            <a:r>
              <a:rPr lang="fr-FR" sz="2000" b="0" i="0" dirty="0">
                <a:solidFill>
                  <a:srgbClr val="ECECEC"/>
                </a:solidFill>
                <a:effectLst/>
                <a:latin typeface="Söhne"/>
              </a:rPr>
              <a:t> </a:t>
            </a:r>
            <a:r>
              <a:rPr lang="fr-FR" sz="2000" b="0" i="0" dirty="0" err="1">
                <a:solidFill>
                  <a:srgbClr val="ECECEC"/>
                </a:solidFill>
                <a:effectLst/>
                <a:latin typeface="Söhne"/>
              </a:rPr>
              <a:t>tasks</a:t>
            </a:r>
            <a:r>
              <a:rPr lang="fr-FR" sz="2000" b="0" i="0" dirty="0">
                <a:solidFill>
                  <a:srgbClr val="ECECEC"/>
                </a:solidFill>
                <a:effectLst/>
                <a:latin typeface="Söhne"/>
              </a:rPr>
              <a:t>, interactive analyses, and </a:t>
            </a:r>
            <a:r>
              <a:rPr lang="fr-FR" sz="2000" b="0" i="0" dirty="0" err="1">
                <a:solidFill>
                  <a:srgbClr val="ECECEC"/>
                </a:solidFill>
                <a:effectLst/>
                <a:latin typeface="Söhne"/>
              </a:rPr>
              <a:t>even</a:t>
            </a:r>
            <a:r>
              <a:rPr lang="fr-FR" sz="2000" b="0" i="0" dirty="0">
                <a:solidFill>
                  <a:srgbClr val="ECECEC"/>
                </a:solidFill>
                <a:effectLst/>
                <a:latin typeface="Söhne"/>
              </a:rPr>
              <a:t> streaming workflows.</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advantages</a:t>
            </a:r>
            <a:r>
              <a:rPr lang="fr-FR" sz="2000" b="0" i="0" dirty="0">
                <a:solidFill>
                  <a:srgbClr val="ECECEC"/>
                </a:solidFill>
                <a:effectLst/>
                <a:latin typeface="Söhne"/>
              </a:rPr>
              <a:t> of Cloud </a:t>
            </a:r>
            <a:r>
              <a:rPr lang="fr-FR" sz="2000" b="0" i="0" dirty="0" err="1">
                <a:solidFill>
                  <a:srgbClr val="ECECEC"/>
                </a:solidFill>
                <a:effectLst/>
                <a:latin typeface="Söhne"/>
              </a:rPr>
              <a:t>Dataproc</a:t>
            </a:r>
            <a:r>
              <a:rPr lang="fr-FR" sz="2000" b="0" i="0" dirty="0">
                <a:solidFill>
                  <a:srgbClr val="ECECEC"/>
                </a:solidFill>
                <a:effectLst/>
                <a:latin typeface="Söhne"/>
              </a:rPr>
              <a:t> are </a:t>
            </a:r>
            <a:r>
              <a:rPr lang="fr-FR" sz="2000" b="0" i="0" dirty="0" err="1">
                <a:solidFill>
                  <a:srgbClr val="ECECEC"/>
                </a:solidFill>
                <a:effectLst/>
                <a:latin typeface="Söhne"/>
              </a:rPr>
              <a:t>significant</a:t>
            </a:r>
            <a:r>
              <a:rPr lang="fr-FR" sz="2000" b="0" i="0" dirty="0">
                <a:solidFill>
                  <a:srgbClr val="ECECEC"/>
                </a:solidFill>
                <a:effectLst/>
                <a:latin typeface="Söhne"/>
              </a:rPr>
              <a:t>. </a:t>
            </a:r>
            <a:r>
              <a:rPr lang="fr-FR" sz="2000" b="0" i="0" dirty="0" err="1">
                <a:solidFill>
                  <a:srgbClr val="ECECEC"/>
                </a:solidFill>
                <a:effectLst/>
                <a:latin typeface="Söhne"/>
              </a:rPr>
              <a:t>Firstly</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offers</a:t>
            </a:r>
            <a:r>
              <a:rPr lang="fr-FR" sz="2000" b="0" i="0" dirty="0">
                <a:solidFill>
                  <a:srgbClr val="ECECEC"/>
                </a:solidFill>
                <a:effectLst/>
                <a:latin typeface="Söhne"/>
              </a:rPr>
              <a:t> </a:t>
            </a:r>
            <a:r>
              <a:rPr lang="fr-FR" sz="2000" b="0" i="0" dirty="0" err="1">
                <a:solidFill>
                  <a:srgbClr val="ECECEC"/>
                </a:solidFill>
                <a:effectLst/>
                <a:latin typeface="Söhne"/>
              </a:rPr>
              <a:t>elastic</a:t>
            </a:r>
            <a:r>
              <a:rPr lang="fr-FR" sz="2000" b="0" i="0" dirty="0">
                <a:solidFill>
                  <a:srgbClr val="ECECEC"/>
                </a:solidFill>
                <a:effectLst/>
                <a:latin typeface="Söhne"/>
              </a:rPr>
              <a:t> </a:t>
            </a:r>
            <a:r>
              <a:rPr lang="fr-FR" sz="2000" b="0" i="0" dirty="0" err="1">
                <a:solidFill>
                  <a:srgbClr val="ECECEC"/>
                </a:solidFill>
                <a:effectLst/>
                <a:latin typeface="Söhne"/>
              </a:rPr>
              <a:t>scalability</a:t>
            </a:r>
            <a:r>
              <a:rPr lang="fr-FR" sz="2000" b="0" i="0" dirty="0">
                <a:solidFill>
                  <a:srgbClr val="ECECEC"/>
                </a:solidFill>
                <a:effectLst/>
                <a:latin typeface="Söhne"/>
              </a:rPr>
              <a:t>, </a:t>
            </a:r>
            <a:r>
              <a:rPr lang="fr-FR" sz="2000" b="0" i="0" dirty="0" err="1">
                <a:solidFill>
                  <a:srgbClr val="ECECEC"/>
                </a:solidFill>
                <a:effectLst/>
                <a:latin typeface="Söhne"/>
              </a:rPr>
              <a:t>allowing</a:t>
            </a:r>
            <a:r>
              <a:rPr lang="fr-FR" sz="2000" b="0" i="0" dirty="0">
                <a:solidFill>
                  <a:srgbClr val="ECECEC"/>
                </a:solidFill>
                <a:effectLst/>
                <a:latin typeface="Söhne"/>
              </a:rPr>
              <a:t> </a:t>
            </a:r>
            <a:r>
              <a:rPr lang="fr-FR" sz="2000" b="0" i="0" dirty="0" err="1">
                <a:solidFill>
                  <a:srgbClr val="ECECEC"/>
                </a:solidFill>
                <a:effectLst/>
                <a:latin typeface="Söhne"/>
              </a:rPr>
              <a:t>users</a:t>
            </a:r>
            <a:r>
              <a:rPr lang="fr-FR" sz="2000" b="0" i="0" dirty="0">
                <a:solidFill>
                  <a:srgbClr val="ECECEC"/>
                </a:solidFill>
                <a:effectLst/>
                <a:latin typeface="Söhne"/>
              </a:rPr>
              <a:t> to provision and </a:t>
            </a:r>
            <a:r>
              <a:rPr lang="fr-FR" sz="2000" b="0" i="0" dirty="0" err="1">
                <a:solidFill>
                  <a:srgbClr val="ECECEC"/>
                </a:solidFill>
                <a:effectLst/>
                <a:latin typeface="Söhne"/>
              </a:rPr>
              <a:t>deactivate</a:t>
            </a:r>
            <a:r>
              <a:rPr lang="fr-FR" sz="2000" b="0" i="0" dirty="0">
                <a:solidFill>
                  <a:srgbClr val="ECECEC"/>
                </a:solidFill>
                <a:effectLst/>
                <a:latin typeface="Söhne"/>
              </a:rPr>
              <a:t> clusters </a:t>
            </a:r>
            <a:r>
              <a:rPr lang="fr-FR" sz="2000" b="0" i="0" dirty="0" err="1">
                <a:solidFill>
                  <a:srgbClr val="ECECEC"/>
                </a:solidFill>
                <a:effectLst/>
                <a:latin typeface="Söhne"/>
              </a:rPr>
              <a:t>quickly</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a:t>
            </a:r>
            <a:r>
              <a:rPr lang="fr-FR" sz="2000" b="0" i="0" dirty="0" err="1">
                <a:solidFill>
                  <a:srgbClr val="ECECEC"/>
                </a:solidFill>
                <a:effectLst/>
                <a:latin typeface="Söhne"/>
              </a:rPr>
              <a:t>workload</a:t>
            </a:r>
            <a:r>
              <a:rPr lang="fr-FR" sz="2000" b="0" i="0" dirty="0">
                <a:solidFill>
                  <a:srgbClr val="ECECEC"/>
                </a:solidFill>
                <a:effectLst/>
                <a:latin typeface="Söhne"/>
              </a:rPr>
              <a:t>. </a:t>
            </a:r>
            <a:r>
              <a:rPr lang="fr-FR" sz="2000" b="0" i="0" dirty="0" err="1">
                <a:solidFill>
                  <a:srgbClr val="ECECEC"/>
                </a:solidFill>
                <a:effectLst/>
                <a:latin typeface="Söhne"/>
              </a:rPr>
              <a:t>Additionally</a:t>
            </a:r>
            <a:r>
              <a:rPr lang="fr-FR" sz="2000" b="0" i="0" dirty="0">
                <a:solidFill>
                  <a:srgbClr val="ECECEC"/>
                </a:solidFill>
                <a:effectLst/>
                <a:latin typeface="Söhne"/>
              </a:rPr>
              <a:t>, Cloud </a:t>
            </a:r>
            <a:r>
              <a:rPr lang="fr-FR" sz="2000" b="0" i="0" dirty="0" err="1">
                <a:solidFill>
                  <a:srgbClr val="ECECEC"/>
                </a:solidFill>
                <a:effectLst/>
                <a:latin typeface="Söhne"/>
              </a:rPr>
              <a:t>Dataproc</a:t>
            </a:r>
            <a:r>
              <a:rPr lang="fr-FR" sz="2000" b="0" i="0" dirty="0">
                <a:solidFill>
                  <a:srgbClr val="ECECEC"/>
                </a:solidFill>
                <a:effectLst/>
                <a:latin typeface="Söhne"/>
              </a:rPr>
              <a:t> </a:t>
            </a:r>
            <a:r>
              <a:rPr lang="fr-FR" sz="2000" b="0" i="0" dirty="0" err="1">
                <a:solidFill>
                  <a:srgbClr val="ECECEC"/>
                </a:solidFill>
                <a:effectLst/>
                <a:latin typeface="Söhne"/>
              </a:rPr>
              <a:t>is</a:t>
            </a:r>
            <a:r>
              <a:rPr lang="fr-FR" sz="2000" b="0" i="0" dirty="0">
                <a:solidFill>
                  <a:srgbClr val="ECECEC"/>
                </a:solidFill>
                <a:effectLst/>
                <a:latin typeface="Söhne"/>
              </a:rPr>
              <a:t> compatible </a:t>
            </a:r>
            <a:r>
              <a:rPr lang="fr-FR" sz="2000" b="0" i="0" dirty="0" err="1">
                <a:solidFill>
                  <a:srgbClr val="ECECEC"/>
                </a:solidFill>
                <a:effectLst/>
                <a:latin typeface="Söhne"/>
              </a:rPr>
              <a:t>with</a:t>
            </a:r>
            <a:r>
              <a:rPr lang="fr-FR" sz="2000" b="0" i="0" dirty="0">
                <a:solidFill>
                  <a:srgbClr val="ECECEC"/>
                </a:solidFill>
                <a:effectLst/>
                <a:latin typeface="Söhne"/>
              </a:rPr>
              <a:t> open-source data </a:t>
            </a:r>
            <a:r>
              <a:rPr lang="fr-FR" sz="2000" b="0" i="0" dirty="0" err="1">
                <a:solidFill>
                  <a:srgbClr val="ECECEC"/>
                </a:solidFill>
                <a:effectLst/>
                <a:latin typeface="Söhne"/>
              </a:rPr>
              <a:t>processing</a:t>
            </a:r>
            <a:r>
              <a:rPr lang="fr-FR" sz="2000" b="0" i="0" dirty="0">
                <a:solidFill>
                  <a:srgbClr val="ECECEC"/>
                </a:solidFill>
                <a:effectLst/>
                <a:latin typeface="Söhne"/>
              </a:rPr>
              <a:t> </a:t>
            </a:r>
            <a:r>
              <a:rPr lang="fr-FR" sz="2000" b="0" i="0" dirty="0" err="1">
                <a:solidFill>
                  <a:srgbClr val="ECECEC"/>
                </a:solidFill>
                <a:effectLst/>
                <a:latin typeface="Söhne"/>
              </a:rPr>
              <a:t>tools</a:t>
            </a:r>
            <a:r>
              <a:rPr lang="fr-FR" sz="2000" b="0" i="0" dirty="0">
                <a:solidFill>
                  <a:srgbClr val="ECECEC"/>
                </a:solidFill>
                <a:effectLst/>
                <a:latin typeface="Söhne"/>
              </a:rPr>
              <a:t> and </a:t>
            </a:r>
            <a:r>
              <a:rPr lang="fr-FR" sz="2000" b="0" i="0" dirty="0" err="1">
                <a:solidFill>
                  <a:srgbClr val="ECECEC"/>
                </a:solidFill>
                <a:effectLst/>
                <a:latin typeface="Söhne"/>
              </a:rPr>
              <a:t>frameworks</a:t>
            </a:r>
            <a:r>
              <a:rPr lang="fr-FR" sz="2000" b="0" i="0" dirty="0">
                <a:solidFill>
                  <a:srgbClr val="ECECEC"/>
                </a:solidFill>
                <a:effectLst/>
                <a:latin typeface="Söhne"/>
              </a:rPr>
              <a:t> </a:t>
            </a:r>
            <a:r>
              <a:rPr lang="fr-FR" sz="2000" b="0" i="0" dirty="0" err="1">
                <a:solidFill>
                  <a:srgbClr val="ECECEC"/>
                </a:solidFill>
                <a:effectLst/>
                <a:latin typeface="Söhne"/>
              </a:rPr>
              <a:t>such</a:t>
            </a:r>
            <a:r>
              <a:rPr lang="fr-FR" sz="2000" b="0" i="0" dirty="0">
                <a:solidFill>
                  <a:srgbClr val="ECECEC"/>
                </a:solidFill>
                <a:effectLst/>
                <a:latin typeface="Söhne"/>
              </a:rPr>
              <a:t> as Apache Spark, Apache Hadoop, and Presto, </a:t>
            </a:r>
            <a:r>
              <a:rPr lang="fr-FR" sz="2000" b="0" i="0" dirty="0" err="1">
                <a:solidFill>
                  <a:srgbClr val="ECECEC"/>
                </a:solidFill>
                <a:effectLst/>
                <a:latin typeface="Söhne"/>
              </a:rPr>
              <a:t>providing</a:t>
            </a:r>
            <a:r>
              <a:rPr lang="fr-FR" sz="2000" b="0" i="0" dirty="0">
                <a:solidFill>
                  <a:srgbClr val="ECECEC"/>
                </a:solidFill>
                <a:effectLst/>
                <a:latin typeface="Söhne"/>
              </a:rPr>
              <a:t> </a:t>
            </a:r>
            <a:r>
              <a:rPr lang="fr-FR" sz="2000" b="0" i="0" dirty="0" err="1">
                <a:solidFill>
                  <a:srgbClr val="ECECEC"/>
                </a:solidFill>
                <a:effectLst/>
                <a:latin typeface="Söhne"/>
              </a:rPr>
              <a:t>great</a:t>
            </a:r>
            <a:r>
              <a:rPr lang="fr-FR" sz="2000" b="0" i="0" dirty="0">
                <a:solidFill>
                  <a:srgbClr val="ECECEC"/>
                </a:solidFill>
                <a:effectLst/>
                <a:latin typeface="Söhne"/>
              </a:rPr>
              <a:t> </a:t>
            </a:r>
            <a:r>
              <a:rPr lang="fr-FR" sz="2000" b="0" i="0" dirty="0" err="1">
                <a:solidFill>
                  <a:srgbClr val="ECECEC"/>
                </a:solidFill>
                <a:effectLst/>
                <a:latin typeface="Söhne"/>
              </a:rPr>
              <a:t>flexibility</a:t>
            </a:r>
            <a:r>
              <a:rPr lang="fr-FR" sz="2000" b="0" i="0" dirty="0">
                <a:solidFill>
                  <a:srgbClr val="ECECEC"/>
                </a:solidFill>
                <a:effectLst/>
                <a:latin typeface="Söhne"/>
              </a:rPr>
              <a:t> to </a:t>
            </a:r>
            <a:r>
              <a:rPr lang="fr-FR" sz="2000" b="0" i="0" dirty="0" err="1">
                <a:solidFill>
                  <a:srgbClr val="ECECEC"/>
                </a:solidFill>
                <a:effectLst/>
                <a:latin typeface="Söhne"/>
              </a:rPr>
              <a:t>users</a:t>
            </a:r>
            <a:r>
              <a:rPr lang="fr-FR" sz="2000" b="0" i="0" dirty="0">
                <a:solidFill>
                  <a:srgbClr val="ECECEC"/>
                </a:solidFill>
                <a:effectLst/>
                <a:latin typeface="Söhne"/>
              </a:rPr>
              <a:t>. </a:t>
            </a:r>
            <a:r>
              <a:rPr lang="fr-FR" sz="2000" b="0" i="0" dirty="0" err="1">
                <a:solidFill>
                  <a:srgbClr val="ECECEC"/>
                </a:solidFill>
                <a:effectLst/>
                <a:latin typeface="Söhne"/>
              </a:rPr>
              <a:t>Furthermore</a:t>
            </a:r>
            <a:r>
              <a:rPr lang="fr-FR" sz="2000" b="0" i="0" dirty="0">
                <a:solidFill>
                  <a:srgbClr val="ECECEC"/>
                </a:solidFill>
                <a:effectLst/>
                <a:latin typeface="Söhne"/>
              </a:rPr>
              <a:t>, Cloud </a:t>
            </a:r>
            <a:r>
              <a:rPr lang="fr-FR" sz="2000" b="0" i="0" dirty="0" err="1">
                <a:solidFill>
                  <a:srgbClr val="ECECEC"/>
                </a:solidFill>
                <a:effectLst/>
                <a:latin typeface="Söhne"/>
              </a:rPr>
              <a:t>Dataproc</a:t>
            </a:r>
            <a:r>
              <a:rPr lang="fr-FR" sz="2000" b="0" i="0" dirty="0">
                <a:solidFill>
                  <a:srgbClr val="ECECEC"/>
                </a:solidFill>
                <a:effectLst/>
                <a:latin typeface="Söhne"/>
              </a:rPr>
              <a:t> </a:t>
            </a:r>
            <a:r>
              <a:rPr lang="fr-FR" sz="2000" b="0" i="0" dirty="0" err="1">
                <a:solidFill>
                  <a:srgbClr val="ECECEC"/>
                </a:solidFill>
                <a:effectLst/>
                <a:latin typeface="Söhne"/>
              </a:rPr>
              <a:t>seamlessly</a:t>
            </a:r>
            <a:r>
              <a:rPr lang="fr-FR" sz="2000" b="0" i="0" dirty="0">
                <a:solidFill>
                  <a:srgbClr val="ECECEC"/>
                </a:solidFill>
                <a:effectLst/>
                <a:latin typeface="Söhne"/>
              </a:rPr>
              <a:t> </a:t>
            </a:r>
            <a:r>
              <a:rPr lang="fr-FR" sz="2000" b="0" i="0" dirty="0" err="1">
                <a:solidFill>
                  <a:srgbClr val="ECECEC"/>
                </a:solidFill>
                <a:effectLst/>
                <a:latin typeface="Söhne"/>
              </a:rPr>
              <a:t>integrates</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GCP services like </a:t>
            </a:r>
            <a:r>
              <a:rPr lang="fr-FR" sz="2000" b="0" i="0" dirty="0" err="1">
                <a:solidFill>
                  <a:srgbClr val="ECECEC"/>
                </a:solidFill>
                <a:effectLst/>
                <a:latin typeface="Söhne"/>
              </a:rPr>
              <a:t>BigQuery</a:t>
            </a:r>
            <a:r>
              <a:rPr lang="fr-FR" sz="2000" b="0" i="0" dirty="0">
                <a:solidFill>
                  <a:srgbClr val="ECECEC"/>
                </a:solidFill>
                <a:effectLst/>
                <a:latin typeface="Söhne"/>
              </a:rPr>
              <a:t> and Google Cloud Storage, </a:t>
            </a:r>
            <a:r>
              <a:rPr lang="fr-FR" sz="2000" b="0" i="0" dirty="0" err="1">
                <a:solidFill>
                  <a:srgbClr val="ECECEC"/>
                </a:solidFill>
                <a:effectLst/>
                <a:latin typeface="Söhne"/>
              </a:rPr>
              <a:t>making</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easy</a:t>
            </a:r>
            <a:r>
              <a:rPr lang="fr-FR" sz="2000" b="0" i="0" dirty="0">
                <a:solidFill>
                  <a:srgbClr val="ECECEC"/>
                </a:solidFill>
                <a:effectLst/>
                <a:latin typeface="Söhne"/>
              </a:rPr>
              <a:t> to </a:t>
            </a:r>
            <a:r>
              <a:rPr lang="fr-FR" sz="2000" b="0" i="0" dirty="0" err="1">
                <a:solidFill>
                  <a:srgbClr val="ECECEC"/>
                </a:solidFill>
                <a:effectLst/>
                <a:latin typeface="Söhne"/>
              </a:rPr>
              <a:t>build</a:t>
            </a:r>
            <a:r>
              <a:rPr lang="fr-FR" sz="2000" b="0" i="0" dirty="0">
                <a:solidFill>
                  <a:srgbClr val="ECECEC"/>
                </a:solidFill>
                <a:effectLst/>
                <a:latin typeface="Söhne"/>
              </a:rPr>
              <a:t> </a:t>
            </a:r>
            <a:r>
              <a:rPr lang="fr-FR" sz="2000" b="0" i="0" dirty="0" err="1">
                <a:solidFill>
                  <a:srgbClr val="ECECEC"/>
                </a:solidFill>
                <a:effectLst/>
                <a:latin typeface="Söhne"/>
              </a:rPr>
              <a:t>comprehensive</a:t>
            </a:r>
            <a:r>
              <a:rPr lang="fr-FR" sz="2000" b="0" i="0" dirty="0">
                <a:solidFill>
                  <a:srgbClr val="ECECEC"/>
                </a:solidFill>
                <a:effectLst/>
                <a:latin typeface="Söhne"/>
              </a:rPr>
              <a:t> data pipelines.</a:t>
            </a:r>
          </a:p>
          <a:p>
            <a:pPr algn="l">
              <a:buFont typeface="Arial" panose="020B0604020202020204" pitchFamily="34" charset="0"/>
              <a:buChar char="•"/>
            </a:pPr>
            <a:r>
              <a:rPr lang="fr-FR" sz="2000" b="0" i="0" dirty="0" err="1">
                <a:solidFill>
                  <a:srgbClr val="ECECEC"/>
                </a:solidFill>
                <a:effectLst/>
                <a:latin typeface="Söhne"/>
              </a:rPr>
              <a:t>However</a:t>
            </a:r>
            <a:r>
              <a:rPr lang="fr-FR" sz="2000" b="0" i="0" dirty="0">
                <a:solidFill>
                  <a:srgbClr val="ECECEC"/>
                </a:solidFill>
                <a:effectLst/>
                <a:latin typeface="Söhne"/>
              </a:rPr>
              <a:t>, </a:t>
            </a:r>
            <a:r>
              <a:rPr lang="fr-FR" sz="2000" b="0" i="0" dirty="0" err="1">
                <a:solidFill>
                  <a:srgbClr val="ECECEC"/>
                </a:solidFill>
                <a:effectLst/>
                <a:latin typeface="Söhne"/>
              </a:rPr>
              <a:t>there</a:t>
            </a:r>
            <a:r>
              <a:rPr lang="fr-FR" sz="2000" b="0" i="0" dirty="0">
                <a:solidFill>
                  <a:srgbClr val="ECECEC"/>
                </a:solidFill>
                <a:effectLst/>
                <a:latin typeface="Söhne"/>
              </a:rPr>
              <a:t> are a few drawbacks. Cloud </a:t>
            </a:r>
            <a:r>
              <a:rPr lang="fr-FR" sz="2000" b="0" i="0" dirty="0" err="1">
                <a:solidFill>
                  <a:srgbClr val="ECECEC"/>
                </a:solidFill>
                <a:effectLst/>
                <a:latin typeface="Söhne"/>
              </a:rPr>
              <a:t>Dataproc</a:t>
            </a:r>
            <a:r>
              <a:rPr lang="fr-FR" sz="2000" b="0" i="0" dirty="0">
                <a:solidFill>
                  <a:srgbClr val="ECECEC"/>
                </a:solidFill>
                <a:effectLst/>
                <a:latin typeface="Söhne"/>
              </a:rPr>
              <a:t> </a:t>
            </a:r>
            <a:r>
              <a:rPr lang="fr-FR" sz="2000" b="0" i="0" dirty="0" err="1">
                <a:solidFill>
                  <a:srgbClr val="ECECEC"/>
                </a:solidFill>
                <a:effectLst/>
                <a:latin typeface="Söhne"/>
              </a:rPr>
              <a:t>pricing</a:t>
            </a:r>
            <a:r>
              <a:rPr lang="fr-FR" sz="2000" b="0" i="0" dirty="0">
                <a:solidFill>
                  <a:srgbClr val="ECECEC"/>
                </a:solidFill>
                <a:effectLst/>
                <a:latin typeface="Söhne"/>
              </a:rPr>
              <a:t> can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complex</a:t>
            </a:r>
            <a:r>
              <a:rPr lang="fr-FR" sz="2000" b="0" i="0" dirty="0">
                <a:solidFill>
                  <a:srgbClr val="ECECEC"/>
                </a:solidFill>
                <a:effectLst/>
                <a:latin typeface="Söhne"/>
              </a:rPr>
              <a:t>, as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depends</a:t>
            </a:r>
            <a:r>
              <a:rPr lang="fr-FR" sz="2000" b="0" i="0" dirty="0">
                <a:solidFill>
                  <a:srgbClr val="ECECEC"/>
                </a:solidFill>
                <a:effectLst/>
                <a:latin typeface="Söhne"/>
              </a:rPr>
              <a:t> on the type of instance </a:t>
            </a:r>
            <a:r>
              <a:rPr lang="fr-FR" sz="2000" b="0" i="0" dirty="0" err="1">
                <a:solidFill>
                  <a:srgbClr val="ECECEC"/>
                </a:solidFill>
                <a:effectLst/>
                <a:latin typeface="Söhne"/>
              </a:rPr>
              <a:t>used</a:t>
            </a:r>
            <a:r>
              <a:rPr lang="fr-FR" sz="2000" b="0" i="0" dirty="0">
                <a:solidFill>
                  <a:srgbClr val="ECECEC"/>
                </a:solidFill>
                <a:effectLst/>
                <a:latin typeface="Söhne"/>
              </a:rPr>
              <a:t>, the </a:t>
            </a:r>
            <a:r>
              <a:rPr lang="fr-FR" sz="2000" b="0" i="0" dirty="0" err="1">
                <a:solidFill>
                  <a:srgbClr val="ECECEC"/>
                </a:solidFill>
                <a:effectLst/>
                <a:latin typeface="Söhne"/>
              </a:rPr>
              <a:t>cluster's</a:t>
            </a:r>
            <a:r>
              <a:rPr lang="fr-FR" sz="2000" b="0" i="0" dirty="0">
                <a:solidFill>
                  <a:srgbClr val="ECECEC"/>
                </a:solidFill>
                <a:effectLst/>
                <a:latin typeface="Söhne"/>
              </a:rPr>
              <a:t> runtime duration, and </a:t>
            </a:r>
            <a:r>
              <a:rPr lang="fr-FR" sz="2000" b="0" i="0" dirty="0" err="1">
                <a:solidFill>
                  <a:srgbClr val="ECECEC"/>
                </a:solidFill>
                <a:effectLst/>
                <a:latin typeface="Söhne"/>
              </a:rPr>
              <a:t>other</a:t>
            </a:r>
            <a:r>
              <a:rPr lang="fr-FR" sz="2000" b="0" i="0" dirty="0">
                <a:solidFill>
                  <a:srgbClr val="ECECEC"/>
                </a:solidFill>
                <a:effectLst/>
                <a:latin typeface="Söhne"/>
              </a:rPr>
              <a:t> </a:t>
            </a:r>
            <a:r>
              <a:rPr lang="fr-FR" sz="2000" b="0" i="0" dirty="0" err="1">
                <a:solidFill>
                  <a:srgbClr val="ECECEC"/>
                </a:solidFill>
                <a:effectLst/>
                <a:latin typeface="Söhne"/>
              </a:rPr>
              <a:t>factors</a:t>
            </a:r>
            <a:r>
              <a:rPr lang="fr-FR" sz="2000" b="0" i="0" dirty="0">
                <a:solidFill>
                  <a:srgbClr val="ECECEC"/>
                </a:solidFill>
                <a:effectLst/>
                <a:latin typeface="Söhne"/>
              </a:rPr>
              <a:t>. </a:t>
            </a:r>
            <a:r>
              <a:rPr lang="fr-FR" sz="2000" b="0" i="0" dirty="0" err="1">
                <a:solidFill>
                  <a:srgbClr val="ECECEC"/>
                </a:solidFill>
                <a:effectLst/>
                <a:latin typeface="Söhne"/>
              </a:rPr>
              <a:t>Additionally</a:t>
            </a:r>
            <a:r>
              <a:rPr lang="fr-FR" sz="2000" b="0" i="0" dirty="0">
                <a:solidFill>
                  <a:srgbClr val="ECECEC"/>
                </a:solidFill>
                <a:effectLst/>
                <a:latin typeface="Söhne"/>
              </a:rPr>
              <a:t>, </a:t>
            </a:r>
            <a:r>
              <a:rPr lang="fr-FR" sz="2000" b="0" i="0" dirty="0" err="1">
                <a:solidFill>
                  <a:srgbClr val="ECECEC"/>
                </a:solidFill>
                <a:effectLst/>
                <a:latin typeface="Söhne"/>
              </a:rPr>
              <a:t>while</a:t>
            </a:r>
            <a:r>
              <a:rPr lang="fr-FR" sz="2000" b="0" i="0" dirty="0">
                <a:solidFill>
                  <a:srgbClr val="ECECEC"/>
                </a:solidFill>
                <a:effectLst/>
                <a:latin typeface="Söhne"/>
              </a:rPr>
              <a:t> Cloud </a:t>
            </a:r>
            <a:r>
              <a:rPr lang="fr-FR" sz="2000" b="0" i="0" dirty="0" err="1">
                <a:solidFill>
                  <a:srgbClr val="ECECEC"/>
                </a:solidFill>
                <a:effectLst/>
                <a:latin typeface="Söhne"/>
              </a:rPr>
              <a:t>Dataproc</a:t>
            </a:r>
            <a:r>
              <a:rPr lang="fr-FR" sz="2000" b="0" i="0" dirty="0">
                <a:solidFill>
                  <a:srgbClr val="ECECEC"/>
                </a:solidFill>
                <a:effectLst/>
                <a:latin typeface="Söhne"/>
              </a:rPr>
              <a:t> </a:t>
            </a:r>
            <a:r>
              <a:rPr lang="fr-FR" sz="2000" b="0" i="0" dirty="0" err="1">
                <a:solidFill>
                  <a:srgbClr val="ECECEC"/>
                </a:solidFill>
                <a:effectLst/>
                <a:latin typeface="Söhne"/>
              </a:rPr>
              <a:t>offers</a:t>
            </a:r>
            <a:r>
              <a:rPr lang="fr-FR" sz="2000" b="0" i="0" dirty="0">
                <a:solidFill>
                  <a:srgbClr val="ECECEC"/>
                </a:solidFill>
                <a:effectLst/>
                <a:latin typeface="Söhne"/>
              </a:rPr>
              <a:t> </a:t>
            </a:r>
            <a:r>
              <a:rPr lang="fr-FR" sz="2000" b="0" i="0" dirty="0" err="1">
                <a:solidFill>
                  <a:srgbClr val="ECECEC"/>
                </a:solidFill>
                <a:effectLst/>
                <a:latin typeface="Söhne"/>
              </a:rPr>
              <a:t>great</a:t>
            </a:r>
            <a:r>
              <a:rPr lang="fr-FR" sz="2000" b="0" i="0" dirty="0">
                <a:solidFill>
                  <a:srgbClr val="ECECEC"/>
                </a:solidFill>
                <a:effectLst/>
                <a:latin typeface="Söhne"/>
              </a:rPr>
              <a:t> </a:t>
            </a:r>
            <a:r>
              <a:rPr lang="fr-FR" sz="2000" b="0" i="0" dirty="0" err="1">
                <a:solidFill>
                  <a:srgbClr val="ECECEC"/>
                </a:solidFill>
                <a:effectLst/>
                <a:latin typeface="Söhne"/>
              </a:rPr>
              <a:t>flexibility</a:t>
            </a:r>
            <a:r>
              <a:rPr lang="fr-FR" sz="2000" b="0" i="0" dirty="0">
                <a:solidFill>
                  <a:srgbClr val="ECECEC"/>
                </a:solidFill>
                <a:effectLst/>
                <a:latin typeface="Söhne"/>
              </a:rPr>
              <a:t>, cluster management and configuration can </a:t>
            </a:r>
            <a:r>
              <a:rPr lang="fr-FR" sz="2000" b="0" i="0" dirty="0" err="1">
                <a:solidFill>
                  <a:srgbClr val="ECECEC"/>
                </a:solidFill>
                <a:effectLst/>
                <a:latin typeface="Söhne"/>
              </a:rPr>
              <a:t>be</a:t>
            </a:r>
            <a:r>
              <a:rPr lang="fr-FR" sz="2000" b="0" i="0" dirty="0">
                <a:solidFill>
                  <a:srgbClr val="ECECEC"/>
                </a:solidFill>
                <a:effectLst/>
                <a:latin typeface="Söhne"/>
              </a:rPr>
              <a:t> </a:t>
            </a:r>
            <a:r>
              <a:rPr lang="fr-FR" sz="2000" b="0" i="0" dirty="0" err="1">
                <a:solidFill>
                  <a:srgbClr val="ECECEC"/>
                </a:solidFill>
                <a:effectLst/>
                <a:latin typeface="Söhne"/>
              </a:rPr>
              <a:t>complex</a:t>
            </a:r>
            <a:r>
              <a:rPr lang="fr-FR" sz="2000" b="0" i="0" dirty="0">
                <a:solidFill>
                  <a:srgbClr val="ECECEC"/>
                </a:solidFill>
                <a:effectLst/>
                <a:latin typeface="Söhne"/>
              </a:rPr>
              <a:t> for </a:t>
            </a:r>
            <a:r>
              <a:rPr lang="fr-FR" sz="2000" b="0" i="0" dirty="0" err="1">
                <a:solidFill>
                  <a:srgbClr val="ECECEC"/>
                </a:solidFill>
                <a:effectLst/>
                <a:latin typeface="Söhne"/>
              </a:rPr>
              <a:t>less</a:t>
            </a:r>
            <a:r>
              <a:rPr lang="fr-FR" sz="2000" b="0" i="0" dirty="0">
                <a:solidFill>
                  <a:srgbClr val="ECECEC"/>
                </a:solidFill>
                <a:effectLst/>
                <a:latin typeface="Söhne"/>
              </a:rPr>
              <a:t> </a:t>
            </a:r>
            <a:r>
              <a:rPr lang="fr-FR" sz="2000" b="0" i="0" dirty="0" err="1">
                <a:solidFill>
                  <a:srgbClr val="ECECEC"/>
                </a:solidFill>
                <a:effectLst/>
                <a:latin typeface="Söhne"/>
              </a:rPr>
              <a:t>experienced</a:t>
            </a:r>
            <a:r>
              <a:rPr lang="fr-FR" sz="2000" b="0" i="0" dirty="0">
                <a:solidFill>
                  <a:srgbClr val="ECECEC"/>
                </a:solidFill>
                <a:effectLst/>
                <a:latin typeface="Söhne"/>
              </a:rPr>
              <a:t> </a:t>
            </a:r>
            <a:r>
              <a:rPr lang="fr-FR" sz="2000" b="0" i="0" dirty="0" err="1">
                <a:solidFill>
                  <a:srgbClr val="ECECEC"/>
                </a:solidFill>
                <a:effectLst/>
                <a:latin typeface="Söhne"/>
              </a:rPr>
              <a:t>users</a:t>
            </a:r>
            <a:r>
              <a:rPr lang="fr-FR" sz="20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2400963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AI SERVICES ON GCP</a:t>
            </a:r>
          </a:p>
        </p:txBody>
      </p:sp>
    </p:spTree>
    <p:extLst>
      <p:ext uri="{BB962C8B-B14F-4D97-AF65-F5344CB8AC3E}">
        <p14:creationId xmlns:p14="http://schemas.microsoft.com/office/powerpoint/2010/main" val="30223449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46929"/>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7"/>
            <a:ext cx="10351747" cy="4281871"/>
          </a:xfrm>
        </p:spPr>
        <p:txBody>
          <a:bodyPr>
            <a:normAutofit lnSpcReduction="10000"/>
          </a:bodyPr>
          <a:lstStyle/>
          <a:p>
            <a:pPr algn="l">
              <a:buFont typeface="Arial" panose="020B0604020202020204" pitchFamily="34" charset="0"/>
              <a:buChar char="•"/>
            </a:pPr>
            <a:r>
              <a:rPr lang="fr-FR" sz="2000" b="0" i="0" dirty="0">
                <a:solidFill>
                  <a:srgbClr val="ECECEC"/>
                </a:solidFill>
                <a:effectLst/>
                <a:latin typeface="Söhne"/>
              </a:rPr>
              <a:t>Vertex AI </a:t>
            </a:r>
            <a:r>
              <a:rPr lang="fr-FR" sz="2000" b="0" i="0" dirty="0" err="1">
                <a:solidFill>
                  <a:srgbClr val="ECECEC"/>
                </a:solidFill>
                <a:effectLst/>
                <a:latin typeface="Söhne"/>
              </a:rPr>
              <a:t>is</a:t>
            </a:r>
            <a:r>
              <a:rPr lang="fr-FR" sz="2000" b="0" i="0" dirty="0">
                <a:solidFill>
                  <a:srgbClr val="ECECEC"/>
                </a:solidFill>
                <a:effectLst/>
                <a:latin typeface="Söhne"/>
              </a:rPr>
              <a:t> a </a:t>
            </a:r>
            <a:r>
              <a:rPr lang="fr-FR" sz="2000" b="0" i="0" dirty="0" err="1">
                <a:solidFill>
                  <a:srgbClr val="ECECEC"/>
                </a:solidFill>
                <a:effectLst/>
                <a:latin typeface="Söhne"/>
              </a:rPr>
              <a:t>fully</a:t>
            </a:r>
            <a:r>
              <a:rPr lang="fr-FR" sz="2000" b="0" i="0" dirty="0">
                <a:solidFill>
                  <a:srgbClr val="ECECEC"/>
                </a:solidFill>
                <a:effectLst/>
                <a:latin typeface="Söhne"/>
              </a:rPr>
              <a:t> </a:t>
            </a:r>
            <a:r>
              <a:rPr lang="fr-FR" sz="2000" b="0" i="0" dirty="0" err="1">
                <a:solidFill>
                  <a:srgbClr val="ECECEC"/>
                </a:solidFill>
                <a:effectLst/>
                <a:latin typeface="Söhne"/>
              </a:rPr>
              <a:t>managed</a:t>
            </a:r>
            <a:r>
              <a:rPr lang="fr-FR" sz="2000" b="0" i="0" dirty="0">
                <a:solidFill>
                  <a:srgbClr val="ECECEC"/>
                </a:solidFill>
                <a:effectLst/>
                <a:latin typeface="Söhne"/>
              </a:rPr>
              <a:t> </a:t>
            </a:r>
            <a:r>
              <a:rPr lang="fr-FR" sz="2000" b="0" i="0" dirty="0" err="1">
                <a:solidFill>
                  <a:srgbClr val="ECECEC"/>
                </a:solidFill>
                <a:effectLst/>
                <a:latin typeface="Söhne"/>
              </a:rPr>
              <a:t>artificial</a:t>
            </a:r>
            <a:r>
              <a:rPr lang="fr-FR" sz="2000" b="0" i="0" dirty="0">
                <a:solidFill>
                  <a:srgbClr val="ECECEC"/>
                </a:solidFill>
                <a:effectLst/>
                <a:latin typeface="Söhne"/>
              </a:rPr>
              <a:t> intelligence (AI) platform </a:t>
            </a:r>
            <a:r>
              <a:rPr lang="fr-FR" sz="2000" b="0" i="0" dirty="0" err="1">
                <a:solidFill>
                  <a:srgbClr val="ECECEC"/>
                </a:solidFill>
                <a:effectLst/>
                <a:latin typeface="Söhne"/>
              </a:rPr>
              <a:t>offered</a:t>
            </a:r>
            <a:r>
              <a:rPr lang="fr-FR" sz="2000" b="0" i="0" dirty="0">
                <a:solidFill>
                  <a:srgbClr val="ECECEC"/>
                </a:solidFill>
                <a:effectLst/>
                <a:latin typeface="Söhne"/>
              </a:rPr>
              <a:t> by Google Cloud Platform. It </a:t>
            </a:r>
            <a:r>
              <a:rPr lang="fr-FR" sz="2000" b="0" i="0" dirty="0" err="1">
                <a:solidFill>
                  <a:srgbClr val="ECECEC"/>
                </a:solidFill>
                <a:effectLst/>
                <a:latin typeface="Söhne"/>
              </a:rPr>
              <a:t>allows</a:t>
            </a:r>
            <a:r>
              <a:rPr lang="fr-FR" sz="2000" b="0" i="0" dirty="0">
                <a:solidFill>
                  <a:srgbClr val="ECECEC"/>
                </a:solidFill>
                <a:effectLst/>
                <a:latin typeface="Söhne"/>
              </a:rPr>
              <a:t> </a:t>
            </a:r>
            <a:r>
              <a:rPr lang="fr-FR" sz="2000" b="0" i="0" dirty="0" err="1">
                <a:solidFill>
                  <a:srgbClr val="ECECEC"/>
                </a:solidFill>
                <a:effectLst/>
                <a:latin typeface="Söhne"/>
              </a:rPr>
              <a:t>developers</a:t>
            </a:r>
            <a:r>
              <a:rPr lang="fr-FR" sz="2000" b="0" i="0" dirty="0">
                <a:solidFill>
                  <a:srgbClr val="ECECEC"/>
                </a:solidFill>
                <a:effectLst/>
                <a:latin typeface="Söhne"/>
              </a:rPr>
              <a:t> and data </a:t>
            </a:r>
            <a:r>
              <a:rPr lang="fr-FR" sz="2000" b="0" i="0" dirty="0" err="1">
                <a:solidFill>
                  <a:srgbClr val="ECECEC"/>
                </a:solidFill>
                <a:effectLst/>
                <a:latin typeface="Söhne"/>
              </a:rPr>
              <a:t>scientists</a:t>
            </a:r>
            <a:r>
              <a:rPr lang="fr-FR" sz="2000" b="0" i="0" dirty="0">
                <a:solidFill>
                  <a:srgbClr val="ECECEC"/>
                </a:solidFill>
                <a:effectLst/>
                <a:latin typeface="Söhne"/>
              </a:rPr>
              <a:t> to </a:t>
            </a:r>
            <a:r>
              <a:rPr lang="fr-FR" sz="2000" b="0" i="0" dirty="0" err="1">
                <a:solidFill>
                  <a:srgbClr val="ECECEC"/>
                </a:solidFill>
                <a:effectLst/>
                <a:latin typeface="Söhne"/>
              </a:rPr>
              <a:t>easily</a:t>
            </a:r>
            <a:r>
              <a:rPr lang="fr-FR" sz="2000" b="0" i="0" dirty="0">
                <a:solidFill>
                  <a:srgbClr val="ECECEC"/>
                </a:solidFill>
                <a:effectLst/>
                <a:latin typeface="Söhne"/>
              </a:rPr>
              <a:t> </a:t>
            </a:r>
            <a:r>
              <a:rPr lang="fr-FR" sz="2000" b="0" i="0" dirty="0" err="1">
                <a:solidFill>
                  <a:srgbClr val="ECECEC"/>
                </a:solidFill>
                <a:effectLst/>
                <a:latin typeface="Söhne"/>
              </a:rPr>
              <a:t>create</a:t>
            </a:r>
            <a:r>
              <a:rPr lang="fr-FR" sz="2000" b="0" i="0" dirty="0">
                <a:solidFill>
                  <a:srgbClr val="ECECEC"/>
                </a:solidFill>
                <a:effectLst/>
                <a:latin typeface="Söhne"/>
              </a:rPr>
              <a:t>, </a:t>
            </a:r>
            <a:r>
              <a:rPr lang="fr-FR" sz="2000" b="0" i="0" dirty="0" err="1">
                <a:solidFill>
                  <a:srgbClr val="ECECEC"/>
                </a:solidFill>
                <a:effectLst/>
                <a:latin typeface="Söhne"/>
              </a:rPr>
              <a:t>deploy</a:t>
            </a:r>
            <a:r>
              <a:rPr lang="fr-FR" sz="2000" b="0" i="0" dirty="0">
                <a:solidFill>
                  <a:srgbClr val="ECECEC"/>
                </a:solidFill>
                <a:effectLst/>
                <a:latin typeface="Söhne"/>
              </a:rPr>
              <a:t>, and manage AI </a:t>
            </a:r>
            <a:r>
              <a:rPr lang="fr-FR" sz="2000" b="0" i="0" dirty="0" err="1">
                <a:solidFill>
                  <a:srgbClr val="ECECEC"/>
                </a:solidFill>
                <a:effectLst/>
                <a:latin typeface="Söhne"/>
              </a:rPr>
              <a:t>models</a:t>
            </a:r>
            <a:r>
              <a:rPr lang="fr-FR" sz="2000" b="0" i="0" dirty="0">
                <a:solidFill>
                  <a:srgbClr val="ECECEC"/>
                </a:solidFill>
                <a:effectLst/>
                <a:latin typeface="Söhne"/>
              </a:rPr>
              <a:t> at </a:t>
            </a:r>
            <a:r>
              <a:rPr lang="fr-FR" sz="2000" b="0" i="0" dirty="0" err="1">
                <a:solidFill>
                  <a:srgbClr val="ECECEC"/>
                </a:solidFill>
                <a:effectLst/>
                <a:latin typeface="Söhne"/>
              </a:rPr>
              <a:t>scale</a:t>
            </a:r>
            <a:r>
              <a:rPr lang="fr-FR" sz="2000" b="0" i="0" dirty="0">
                <a:solidFill>
                  <a:srgbClr val="ECECEC"/>
                </a:solidFill>
                <a:effectLst/>
                <a:latin typeface="Söhne"/>
              </a:rPr>
              <a:t>.</a:t>
            </a:r>
          </a:p>
          <a:p>
            <a:pPr algn="l">
              <a:buFont typeface="Arial" panose="020B0604020202020204" pitchFamily="34" charset="0"/>
              <a:buChar char="•"/>
            </a:pPr>
            <a:r>
              <a:rPr lang="fr-FR" sz="2000" b="0" i="0" dirty="0">
                <a:solidFill>
                  <a:srgbClr val="ECECEC"/>
                </a:solidFill>
                <a:effectLst/>
                <a:latin typeface="Söhne"/>
              </a:rPr>
              <a:t>The </a:t>
            </a:r>
            <a:r>
              <a:rPr lang="fr-FR" sz="2000" b="0" i="0" dirty="0" err="1">
                <a:solidFill>
                  <a:srgbClr val="ECECEC"/>
                </a:solidFill>
                <a:effectLst/>
                <a:latin typeface="Söhne"/>
              </a:rPr>
              <a:t>operation</a:t>
            </a:r>
            <a:r>
              <a:rPr lang="fr-FR" sz="2000" b="0" i="0" dirty="0">
                <a:solidFill>
                  <a:srgbClr val="ECECEC"/>
                </a:solidFill>
                <a:effectLst/>
                <a:latin typeface="Söhne"/>
              </a:rPr>
              <a:t> of Vertex AI </a:t>
            </a:r>
            <a:r>
              <a:rPr lang="fr-FR" sz="2000" b="0" i="0" dirty="0" err="1">
                <a:solidFill>
                  <a:srgbClr val="ECECEC"/>
                </a:solidFill>
                <a:effectLst/>
                <a:latin typeface="Söhne"/>
              </a:rPr>
              <a:t>is</a:t>
            </a:r>
            <a:r>
              <a:rPr lang="fr-FR" sz="2000" b="0" i="0" dirty="0">
                <a:solidFill>
                  <a:srgbClr val="ECECEC"/>
                </a:solidFill>
                <a:effectLst/>
                <a:latin typeface="Söhne"/>
              </a:rPr>
              <a:t> </a:t>
            </a:r>
            <a:r>
              <a:rPr lang="fr-FR" sz="2000" b="0" i="0" dirty="0" err="1">
                <a:solidFill>
                  <a:srgbClr val="ECECEC"/>
                </a:solidFill>
                <a:effectLst/>
                <a:latin typeface="Söhne"/>
              </a:rPr>
              <a:t>based</a:t>
            </a:r>
            <a:r>
              <a:rPr lang="fr-FR" sz="2000" b="0" i="0" dirty="0">
                <a:solidFill>
                  <a:srgbClr val="ECECEC"/>
                </a:solidFill>
                <a:effectLst/>
                <a:latin typeface="Söhne"/>
              </a:rPr>
              <a:t> on a </a:t>
            </a:r>
            <a:r>
              <a:rPr lang="fr-FR" sz="2000" b="0" i="0" dirty="0" err="1">
                <a:solidFill>
                  <a:srgbClr val="ECECEC"/>
                </a:solidFill>
                <a:effectLst/>
                <a:latin typeface="Söhne"/>
              </a:rPr>
              <a:t>modular</a:t>
            </a:r>
            <a:r>
              <a:rPr lang="fr-FR" sz="2000" b="0" i="0" dirty="0">
                <a:solidFill>
                  <a:srgbClr val="ECECEC"/>
                </a:solidFill>
                <a:effectLst/>
                <a:latin typeface="Söhne"/>
              </a:rPr>
              <a:t> </a:t>
            </a:r>
            <a:r>
              <a:rPr lang="fr-FR" sz="2000" b="0" i="0" dirty="0" err="1">
                <a:solidFill>
                  <a:srgbClr val="ECECEC"/>
                </a:solidFill>
                <a:effectLst/>
                <a:latin typeface="Söhne"/>
              </a:rPr>
              <a:t>approach</a:t>
            </a:r>
            <a:r>
              <a:rPr lang="fr-FR" sz="2000" b="0" i="0" dirty="0">
                <a:solidFill>
                  <a:srgbClr val="ECECEC"/>
                </a:solidFill>
                <a:effectLst/>
                <a:latin typeface="Söhne"/>
              </a:rPr>
              <a:t>, </a:t>
            </a:r>
            <a:r>
              <a:rPr lang="fr-FR" sz="2000" b="0" i="0" dirty="0" err="1">
                <a:solidFill>
                  <a:srgbClr val="ECECEC"/>
                </a:solidFill>
                <a:effectLst/>
                <a:latin typeface="Söhne"/>
              </a:rPr>
              <a:t>offering</a:t>
            </a:r>
            <a:r>
              <a:rPr lang="fr-FR" sz="2000" b="0" i="0" dirty="0">
                <a:solidFill>
                  <a:srgbClr val="ECECEC"/>
                </a:solidFill>
                <a:effectLst/>
                <a:latin typeface="Söhne"/>
              </a:rPr>
              <a:t> </a:t>
            </a:r>
            <a:r>
              <a:rPr lang="fr-FR" sz="2000" b="0" i="0" dirty="0" err="1">
                <a:solidFill>
                  <a:srgbClr val="ECECEC"/>
                </a:solidFill>
                <a:effectLst/>
                <a:latin typeface="Söhne"/>
              </a:rPr>
              <a:t>tools</a:t>
            </a:r>
            <a:r>
              <a:rPr lang="fr-FR" sz="2000" b="0" i="0" dirty="0">
                <a:solidFill>
                  <a:srgbClr val="ECECEC"/>
                </a:solidFill>
                <a:effectLst/>
                <a:latin typeface="Söhne"/>
              </a:rPr>
              <a:t> for </a:t>
            </a:r>
            <a:r>
              <a:rPr lang="fr-FR" sz="2000" b="0" i="0" dirty="0" err="1">
                <a:solidFill>
                  <a:srgbClr val="ECECEC"/>
                </a:solidFill>
                <a:effectLst/>
                <a:latin typeface="Söhne"/>
              </a:rPr>
              <a:t>every</a:t>
            </a:r>
            <a:r>
              <a:rPr lang="fr-FR" sz="2000" b="0" i="0" dirty="0">
                <a:solidFill>
                  <a:srgbClr val="ECECEC"/>
                </a:solidFill>
                <a:effectLst/>
                <a:latin typeface="Söhne"/>
              </a:rPr>
              <a:t> stage of the AI model </a:t>
            </a:r>
            <a:r>
              <a:rPr lang="fr-FR" sz="2000" b="0" i="0" dirty="0" err="1">
                <a:solidFill>
                  <a:srgbClr val="ECECEC"/>
                </a:solidFill>
                <a:effectLst/>
                <a:latin typeface="Söhne"/>
              </a:rPr>
              <a:t>lifecycle</a:t>
            </a:r>
            <a:r>
              <a:rPr lang="fr-FR" sz="2000" b="0" i="0" dirty="0">
                <a:solidFill>
                  <a:srgbClr val="ECECEC"/>
                </a:solidFill>
                <a:effectLst/>
                <a:latin typeface="Söhne"/>
              </a:rPr>
              <a:t>. This </a:t>
            </a:r>
            <a:r>
              <a:rPr lang="fr-FR" sz="2000" b="0" i="0" dirty="0" err="1">
                <a:solidFill>
                  <a:srgbClr val="ECECEC"/>
                </a:solidFill>
                <a:effectLst/>
                <a:latin typeface="Söhne"/>
              </a:rPr>
              <a:t>includes</a:t>
            </a:r>
            <a:r>
              <a:rPr lang="fr-FR" sz="2000" b="0" i="0" dirty="0">
                <a:solidFill>
                  <a:srgbClr val="ECECEC"/>
                </a:solidFill>
                <a:effectLst/>
                <a:latin typeface="Söhne"/>
              </a:rPr>
              <a:t> data </a:t>
            </a:r>
            <a:r>
              <a:rPr lang="fr-FR" sz="2000" b="0" i="0" dirty="0" err="1">
                <a:solidFill>
                  <a:srgbClr val="ECECEC"/>
                </a:solidFill>
                <a:effectLst/>
                <a:latin typeface="Söhne"/>
              </a:rPr>
              <a:t>preparation</a:t>
            </a:r>
            <a:r>
              <a:rPr lang="fr-FR" sz="2000" b="0" i="0" dirty="0">
                <a:solidFill>
                  <a:srgbClr val="ECECEC"/>
                </a:solidFill>
                <a:effectLst/>
                <a:latin typeface="Söhne"/>
              </a:rPr>
              <a:t>, model training, model </a:t>
            </a:r>
            <a:r>
              <a:rPr lang="fr-FR" sz="2000" b="0" i="0" dirty="0" err="1">
                <a:solidFill>
                  <a:srgbClr val="ECECEC"/>
                </a:solidFill>
                <a:effectLst/>
                <a:latin typeface="Söhne"/>
              </a:rPr>
              <a:t>deployment</a:t>
            </a:r>
            <a:r>
              <a:rPr lang="fr-FR" sz="2000" b="0" i="0" dirty="0">
                <a:solidFill>
                  <a:srgbClr val="ECECEC"/>
                </a:solidFill>
                <a:effectLst/>
                <a:latin typeface="Söhne"/>
              </a:rPr>
              <a:t> in production, and monitoring </a:t>
            </a:r>
            <a:r>
              <a:rPr lang="fr-FR" sz="2000" b="0" i="0" dirty="0" err="1">
                <a:solidFill>
                  <a:srgbClr val="ECECEC"/>
                </a:solidFill>
                <a:effectLst/>
                <a:latin typeface="Söhne"/>
              </a:rPr>
              <a:t>their</a:t>
            </a:r>
            <a:r>
              <a:rPr lang="fr-FR" sz="2000" b="0" i="0" dirty="0">
                <a:solidFill>
                  <a:srgbClr val="ECECEC"/>
                </a:solidFill>
                <a:effectLst/>
                <a:latin typeface="Söhne"/>
              </a:rPr>
              <a:t> performance.</a:t>
            </a:r>
          </a:p>
          <a:p>
            <a:pPr algn="l">
              <a:buFont typeface="Arial" panose="020B0604020202020204" pitchFamily="34" charset="0"/>
              <a:buChar char="•"/>
            </a:pPr>
            <a:r>
              <a:rPr lang="fr-FR" sz="2000" b="0" i="0" dirty="0">
                <a:solidFill>
                  <a:srgbClr val="ECECEC"/>
                </a:solidFill>
                <a:effectLst/>
                <a:latin typeface="Söhne"/>
              </a:rPr>
              <a:t>There are </a:t>
            </a:r>
            <a:r>
              <a:rPr lang="fr-FR" sz="2000" b="0" i="0" dirty="0" err="1">
                <a:solidFill>
                  <a:srgbClr val="ECECEC"/>
                </a:solidFill>
                <a:effectLst/>
                <a:latin typeface="Söhne"/>
              </a:rPr>
              <a:t>numerous</a:t>
            </a:r>
            <a:r>
              <a:rPr lang="fr-FR" sz="2000" b="0" i="0" dirty="0">
                <a:solidFill>
                  <a:srgbClr val="ECECEC"/>
                </a:solidFill>
                <a:effectLst/>
                <a:latin typeface="Söhne"/>
              </a:rPr>
              <a:t> </a:t>
            </a:r>
            <a:r>
              <a:rPr lang="fr-FR" sz="2000" b="0" i="0" dirty="0" err="1">
                <a:solidFill>
                  <a:srgbClr val="ECECEC"/>
                </a:solidFill>
                <a:effectLst/>
                <a:latin typeface="Söhne"/>
              </a:rPr>
              <a:t>advantages</a:t>
            </a:r>
            <a:r>
              <a:rPr lang="fr-FR" sz="2000" b="0" i="0" dirty="0">
                <a:solidFill>
                  <a:srgbClr val="ECECEC"/>
                </a:solidFill>
                <a:effectLst/>
                <a:latin typeface="Söhne"/>
              </a:rPr>
              <a:t> to Vertex AI. </a:t>
            </a:r>
            <a:r>
              <a:rPr lang="fr-FR" sz="2000" b="0" i="0" dirty="0" err="1">
                <a:solidFill>
                  <a:srgbClr val="ECECEC"/>
                </a:solidFill>
                <a:effectLst/>
                <a:latin typeface="Söhne"/>
              </a:rPr>
              <a:t>Firstly</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offers</a:t>
            </a:r>
            <a:r>
              <a:rPr lang="fr-FR" sz="2000" b="0" i="0" dirty="0">
                <a:solidFill>
                  <a:srgbClr val="ECECEC"/>
                </a:solidFill>
                <a:effectLst/>
                <a:latin typeface="Söhne"/>
              </a:rPr>
              <a:t> a </a:t>
            </a:r>
            <a:r>
              <a:rPr lang="fr-FR" sz="2000" b="0" i="0" dirty="0" err="1">
                <a:solidFill>
                  <a:srgbClr val="ECECEC"/>
                </a:solidFill>
                <a:effectLst/>
                <a:latin typeface="Söhne"/>
              </a:rPr>
              <a:t>unified</a:t>
            </a:r>
            <a:r>
              <a:rPr lang="fr-FR" sz="2000" b="0" i="0" dirty="0">
                <a:solidFill>
                  <a:srgbClr val="ECECEC"/>
                </a:solidFill>
                <a:effectLst/>
                <a:latin typeface="Söhne"/>
              </a:rPr>
              <a:t> </a:t>
            </a:r>
            <a:r>
              <a:rPr lang="fr-FR" sz="2000" b="0" i="0" dirty="0" err="1">
                <a:solidFill>
                  <a:srgbClr val="ECECEC"/>
                </a:solidFill>
                <a:effectLst/>
                <a:latin typeface="Söhne"/>
              </a:rPr>
              <a:t>experience</a:t>
            </a:r>
            <a:r>
              <a:rPr lang="fr-FR" sz="2000" b="0" i="0" dirty="0">
                <a:solidFill>
                  <a:srgbClr val="ECECEC"/>
                </a:solidFill>
                <a:effectLst/>
                <a:latin typeface="Söhne"/>
              </a:rPr>
              <a:t> for AI model </a:t>
            </a:r>
            <a:r>
              <a:rPr lang="fr-FR" sz="2000" b="0" i="0" dirty="0" err="1">
                <a:solidFill>
                  <a:srgbClr val="ECECEC"/>
                </a:solidFill>
                <a:effectLst/>
                <a:latin typeface="Söhne"/>
              </a:rPr>
              <a:t>development</a:t>
            </a:r>
            <a:r>
              <a:rPr lang="fr-FR" sz="2000" b="0" i="0" dirty="0">
                <a:solidFill>
                  <a:srgbClr val="ECECEC"/>
                </a:solidFill>
                <a:effectLst/>
                <a:latin typeface="Söhne"/>
              </a:rPr>
              <a:t> and </a:t>
            </a:r>
            <a:r>
              <a:rPr lang="fr-FR" sz="2000" b="0" i="0" dirty="0" err="1">
                <a:solidFill>
                  <a:srgbClr val="ECECEC"/>
                </a:solidFill>
                <a:effectLst/>
                <a:latin typeface="Söhne"/>
              </a:rPr>
              <a:t>deployment</a:t>
            </a:r>
            <a:r>
              <a:rPr lang="fr-FR" sz="2000" b="0" i="0" dirty="0">
                <a:solidFill>
                  <a:srgbClr val="ECECEC"/>
                </a:solidFill>
                <a:effectLst/>
                <a:latin typeface="Söhne"/>
              </a:rPr>
              <a:t>, </a:t>
            </a:r>
            <a:r>
              <a:rPr lang="fr-FR" sz="2000" b="0" i="0" dirty="0" err="1">
                <a:solidFill>
                  <a:srgbClr val="ECECEC"/>
                </a:solidFill>
                <a:effectLst/>
                <a:latin typeface="Söhne"/>
              </a:rPr>
              <a:t>reducing</a:t>
            </a:r>
            <a:r>
              <a:rPr lang="fr-FR" sz="2000" b="0" i="0" dirty="0">
                <a:solidFill>
                  <a:srgbClr val="ECECEC"/>
                </a:solidFill>
                <a:effectLst/>
                <a:latin typeface="Söhne"/>
              </a:rPr>
              <a:t> </a:t>
            </a:r>
            <a:r>
              <a:rPr lang="fr-FR" sz="2000" b="0" i="0" dirty="0" err="1">
                <a:solidFill>
                  <a:srgbClr val="ECECEC"/>
                </a:solidFill>
                <a:effectLst/>
                <a:latin typeface="Söhne"/>
              </a:rPr>
              <a:t>complexity</a:t>
            </a:r>
            <a:r>
              <a:rPr lang="fr-FR" sz="2000" b="0" i="0" dirty="0">
                <a:solidFill>
                  <a:srgbClr val="ECECEC"/>
                </a:solidFill>
                <a:effectLst/>
                <a:latin typeface="Söhne"/>
              </a:rPr>
              <a:t> and </a:t>
            </a:r>
            <a:r>
              <a:rPr lang="fr-FR" sz="2000" b="0" i="0" dirty="0" err="1">
                <a:solidFill>
                  <a:srgbClr val="ECECEC"/>
                </a:solidFill>
                <a:effectLst/>
                <a:latin typeface="Söhne"/>
              </a:rPr>
              <a:t>required</a:t>
            </a:r>
            <a:r>
              <a:rPr lang="fr-FR" sz="2000" b="0" i="0" dirty="0">
                <a:solidFill>
                  <a:srgbClr val="ECECEC"/>
                </a:solidFill>
                <a:effectLst/>
                <a:latin typeface="Söhne"/>
              </a:rPr>
              <a:t> efforts. </a:t>
            </a:r>
            <a:r>
              <a:rPr lang="fr-FR" sz="2000" b="0" i="0" dirty="0" err="1">
                <a:solidFill>
                  <a:srgbClr val="ECECEC"/>
                </a:solidFill>
                <a:effectLst/>
                <a:latin typeface="Söhne"/>
              </a:rPr>
              <a:t>Additionally</a:t>
            </a:r>
            <a:r>
              <a:rPr lang="fr-FR" sz="2000" b="0" i="0" dirty="0">
                <a:solidFill>
                  <a:srgbClr val="ECECEC"/>
                </a:solidFill>
                <a:effectLst/>
                <a:latin typeface="Söhne"/>
              </a:rPr>
              <a:t>, Vertex AI </a:t>
            </a:r>
            <a:r>
              <a:rPr lang="fr-FR" sz="2000" b="0" i="0" dirty="0" err="1">
                <a:solidFill>
                  <a:srgbClr val="ECECEC"/>
                </a:solidFill>
                <a:effectLst/>
                <a:latin typeface="Söhne"/>
              </a:rPr>
              <a:t>provides</a:t>
            </a:r>
            <a:r>
              <a:rPr lang="fr-FR" sz="2000" b="0" i="0" dirty="0">
                <a:solidFill>
                  <a:srgbClr val="ECECEC"/>
                </a:solidFill>
                <a:effectLst/>
                <a:latin typeface="Söhne"/>
              </a:rPr>
              <a:t> </a:t>
            </a:r>
            <a:r>
              <a:rPr lang="fr-FR" sz="2000" b="0" i="0" dirty="0" err="1">
                <a:solidFill>
                  <a:srgbClr val="ECECEC"/>
                </a:solidFill>
                <a:effectLst/>
                <a:latin typeface="Söhne"/>
              </a:rPr>
              <a:t>advanced</a:t>
            </a:r>
            <a:r>
              <a:rPr lang="fr-FR" sz="2000" b="0" i="0" dirty="0">
                <a:solidFill>
                  <a:srgbClr val="ECECEC"/>
                </a:solidFill>
                <a:effectLst/>
                <a:latin typeface="Söhne"/>
              </a:rPr>
              <a:t> </a:t>
            </a:r>
            <a:r>
              <a:rPr lang="fr-FR" sz="2000" b="0" i="0" dirty="0" err="1">
                <a:solidFill>
                  <a:srgbClr val="ECECEC"/>
                </a:solidFill>
                <a:effectLst/>
                <a:latin typeface="Söhne"/>
              </a:rPr>
              <a:t>features</a:t>
            </a:r>
            <a:r>
              <a:rPr lang="fr-FR" sz="2000" b="0" i="0" dirty="0">
                <a:solidFill>
                  <a:srgbClr val="ECECEC"/>
                </a:solidFill>
                <a:effectLst/>
                <a:latin typeface="Söhne"/>
              </a:rPr>
              <a:t> </a:t>
            </a:r>
            <a:r>
              <a:rPr lang="fr-FR" sz="2000" b="0" i="0" dirty="0" err="1">
                <a:solidFill>
                  <a:srgbClr val="ECECEC"/>
                </a:solidFill>
                <a:effectLst/>
                <a:latin typeface="Söhne"/>
              </a:rPr>
              <a:t>such</a:t>
            </a:r>
            <a:r>
              <a:rPr lang="fr-FR" sz="2000" b="0" i="0" dirty="0">
                <a:solidFill>
                  <a:srgbClr val="ECECEC"/>
                </a:solidFill>
                <a:effectLst/>
                <a:latin typeface="Söhne"/>
              </a:rPr>
              <a:t> as </a:t>
            </a:r>
            <a:r>
              <a:rPr lang="fr-FR" sz="2000" b="0" i="0" dirty="0" err="1">
                <a:solidFill>
                  <a:srgbClr val="ECECEC"/>
                </a:solidFill>
                <a:effectLst/>
                <a:latin typeface="Söhne"/>
              </a:rPr>
              <a:t>AutoML</a:t>
            </a:r>
            <a:r>
              <a:rPr lang="fr-FR" sz="2000" b="0" i="0" dirty="0">
                <a:solidFill>
                  <a:srgbClr val="ECECEC"/>
                </a:solidFill>
                <a:effectLst/>
                <a:latin typeface="Söhne"/>
              </a:rPr>
              <a:t> (</a:t>
            </a:r>
            <a:r>
              <a:rPr lang="fr-FR" sz="2000" b="0" i="0" dirty="0" err="1">
                <a:solidFill>
                  <a:srgbClr val="ECECEC"/>
                </a:solidFill>
                <a:effectLst/>
                <a:latin typeface="Söhne"/>
              </a:rPr>
              <a:t>automated</a:t>
            </a:r>
            <a:r>
              <a:rPr lang="fr-FR" sz="2000" b="0" i="0" dirty="0">
                <a:solidFill>
                  <a:srgbClr val="ECECEC"/>
                </a:solidFill>
                <a:effectLst/>
                <a:latin typeface="Söhne"/>
              </a:rPr>
              <a:t> machine </a:t>
            </a:r>
            <a:r>
              <a:rPr lang="fr-FR" sz="2000" b="0" i="0" dirty="0" err="1">
                <a:solidFill>
                  <a:srgbClr val="ECECEC"/>
                </a:solidFill>
                <a:effectLst/>
                <a:latin typeface="Söhne"/>
              </a:rPr>
              <a:t>learning</a:t>
            </a:r>
            <a:r>
              <a:rPr lang="fr-FR" sz="2000" b="0" i="0" dirty="0">
                <a:solidFill>
                  <a:srgbClr val="ECECEC"/>
                </a:solidFill>
                <a:effectLst/>
                <a:latin typeface="Söhne"/>
              </a:rPr>
              <a:t>) and </a:t>
            </a:r>
            <a:r>
              <a:rPr lang="fr-FR" sz="2000" b="0" i="0" dirty="0" err="1">
                <a:solidFill>
                  <a:srgbClr val="ECECEC"/>
                </a:solidFill>
                <a:effectLst/>
                <a:latin typeface="Söhne"/>
              </a:rPr>
              <a:t>TensorFlow</a:t>
            </a:r>
            <a:r>
              <a:rPr lang="fr-FR" sz="2000" b="0" i="0" dirty="0">
                <a:solidFill>
                  <a:srgbClr val="ECECEC"/>
                </a:solidFill>
                <a:effectLst/>
                <a:latin typeface="Söhne"/>
              </a:rPr>
              <a:t> Enterprise, </a:t>
            </a:r>
            <a:r>
              <a:rPr lang="fr-FR" sz="2000" b="0" i="0" dirty="0" err="1">
                <a:solidFill>
                  <a:srgbClr val="ECECEC"/>
                </a:solidFill>
                <a:effectLst/>
                <a:latin typeface="Söhne"/>
              </a:rPr>
              <a:t>enabling</a:t>
            </a:r>
            <a:r>
              <a:rPr lang="fr-FR" sz="2000" b="0" i="0" dirty="0">
                <a:solidFill>
                  <a:srgbClr val="ECECEC"/>
                </a:solidFill>
                <a:effectLst/>
                <a:latin typeface="Söhne"/>
              </a:rPr>
              <a:t> </a:t>
            </a:r>
            <a:r>
              <a:rPr lang="fr-FR" sz="2000" b="0" i="0" dirty="0" err="1">
                <a:solidFill>
                  <a:srgbClr val="ECECEC"/>
                </a:solidFill>
                <a:effectLst/>
                <a:latin typeface="Söhne"/>
              </a:rPr>
              <a:t>users</a:t>
            </a:r>
            <a:r>
              <a:rPr lang="fr-FR" sz="2000" b="0" i="0" dirty="0">
                <a:solidFill>
                  <a:srgbClr val="ECECEC"/>
                </a:solidFill>
                <a:effectLst/>
                <a:latin typeface="Söhne"/>
              </a:rPr>
              <a:t> to </a:t>
            </a:r>
            <a:r>
              <a:rPr lang="fr-FR" sz="2000" b="0" i="0" dirty="0" err="1">
                <a:solidFill>
                  <a:srgbClr val="ECECEC"/>
                </a:solidFill>
                <a:effectLst/>
                <a:latin typeface="Söhne"/>
              </a:rPr>
              <a:t>create</a:t>
            </a:r>
            <a:r>
              <a:rPr lang="fr-FR" sz="2000" b="0" i="0" dirty="0">
                <a:solidFill>
                  <a:srgbClr val="ECECEC"/>
                </a:solidFill>
                <a:effectLst/>
                <a:latin typeface="Söhne"/>
              </a:rPr>
              <a:t> AI </a:t>
            </a:r>
            <a:r>
              <a:rPr lang="fr-FR" sz="2000" b="0" i="0" dirty="0" err="1">
                <a:solidFill>
                  <a:srgbClr val="ECECEC"/>
                </a:solidFill>
                <a:effectLst/>
                <a:latin typeface="Söhne"/>
              </a:rPr>
              <a:t>models</a:t>
            </a:r>
            <a:r>
              <a:rPr lang="fr-FR" sz="2000" b="0" i="0" dirty="0">
                <a:solidFill>
                  <a:srgbClr val="ECECEC"/>
                </a:solidFill>
                <a:effectLst/>
                <a:latin typeface="Söhne"/>
              </a:rPr>
              <a:t> </a:t>
            </a:r>
            <a:r>
              <a:rPr lang="fr-FR" sz="2000" b="0" i="0" dirty="0" err="1">
                <a:solidFill>
                  <a:srgbClr val="ECECEC"/>
                </a:solidFill>
                <a:effectLst/>
                <a:latin typeface="Söhne"/>
              </a:rPr>
              <a:t>even</a:t>
            </a:r>
            <a:r>
              <a:rPr lang="fr-FR" sz="2000" b="0" i="0" dirty="0">
                <a:solidFill>
                  <a:srgbClr val="ECECEC"/>
                </a:solidFill>
                <a:effectLst/>
                <a:latin typeface="Söhne"/>
              </a:rPr>
              <a:t> </a:t>
            </a:r>
            <a:r>
              <a:rPr lang="fr-FR" sz="2000" b="0" i="0" dirty="0" err="1">
                <a:solidFill>
                  <a:srgbClr val="ECECEC"/>
                </a:solidFill>
                <a:effectLst/>
                <a:latin typeface="Söhne"/>
              </a:rPr>
              <a:t>without</a:t>
            </a:r>
            <a:r>
              <a:rPr lang="fr-FR" sz="2000" b="0" i="0" dirty="0">
                <a:solidFill>
                  <a:srgbClr val="ECECEC"/>
                </a:solidFill>
                <a:effectLst/>
                <a:latin typeface="Söhne"/>
              </a:rPr>
              <a:t> </a:t>
            </a:r>
            <a:r>
              <a:rPr lang="fr-FR" sz="2000" b="0" i="0" dirty="0" err="1">
                <a:solidFill>
                  <a:srgbClr val="ECECEC"/>
                </a:solidFill>
                <a:effectLst/>
                <a:latin typeface="Söhne"/>
              </a:rPr>
              <a:t>deep</a:t>
            </a:r>
            <a:r>
              <a:rPr lang="fr-FR" sz="2000" b="0" i="0" dirty="0">
                <a:solidFill>
                  <a:srgbClr val="ECECEC"/>
                </a:solidFill>
                <a:effectLst/>
                <a:latin typeface="Söhne"/>
              </a:rPr>
              <a:t> expertise in data science. </a:t>
            </a:r>
            <a:r>
              <a:rPr lang="fr-FR" sz="2000" b="0" i="0" dirty="0" err="1">
                <a:solidFill>
                  <a:srgbClr val="ECECEC"/>
                </a:solidFill>
                <a:effectLst/>
                <a:latin typeface="Söhne"/>
              </a:rPr>
              <a:t>Furthermore</a:t>
            </a:r>
            <a:r>
              <a:rPr lang="fr-FR" sz="2000" b="0" i="0" dirty="0">
                <a:solidFill>
                  <a:srgbClr val="ECECEC"/>
                </a:solidFill>
                <a:effectLst/>
                <a:latin typeface="Söhne"/>
              </a:rPr>
              <a:t>, Vertex AI </a:t>
            </a:r>
            <a:r>
              <a:rPr lang="fr-FR" sz="2000" b="0" i="0" dirty="0" err="1">
                <a:solidFill>
                  <a:srgbClr val="ECECEC"/>
                </a:solidFill>
                <a:effectLst/>
                <a:latin typeface="Söhne"/>
              </a:rPr>
              <a:t>seamlessly</a:t>
            </a:r>
            <a:r>
              <a:rPr lang="fr-FR" sz="2000" b="0" i="0" dirty="0">
                <a:solidFill>
                  <a:srgbClr val="ECECEC"/>
                </a:solidFill>
                <a:effectLst/>
                <a:latin typeface="Söhne"/>
              </a:rPr>
              <a:t> </a:t>
            </a:r>
            <a:r>
              <a:rPr lang="fr-FR" sz="2000" b="0" i="0" dirty="0" err="1">
                <a:solidFill>
                  <a:srgbClr val="ECECEC"/>
                </a:solidFill>
                <a:effectLst/>
                <a:latin typeface="Söhne"/>
              </a:rPr>
              <a:t>integrates</a:t>
            </a:r>
            <a:r>
              <a:rPr lang="fr-FR" sz="2000" b="0" i="0" dirty="0">
                <a:solidFill>
                  <a:srgbClr val="ECECEC"/>
                </a:solidFill>
                <a:effectLst/>
                <a:latin typeface="Söhne"/>
              </a:rPr>
              <a:t> </a:t>
            </a:r>
            <a:r>
              <a:rPr lang="fr-FR" sz="2000" b="0" i="0" dirty="0" err="1">
                <a:solidFill>
                  <a:srgbClr val="ECECEC"/>
                </a:solidFill>
                <a:effectLst/>
                <a:latin typeface="Söhne"/>
              </a:rPr>
              <a:t>with</a:t>
            </a:r>
            <a:r>
              <a:rPr lang="fr-FR" sz="2000" b="0" i="0" dirty="0">
                <a:solidFill>
                  <a:srgbClr val="ECECEC"/>
                </a:solidFill>
                <a:effectLst/>
                <a:latin typeface="Söhne"/>
              </a:rPr>
              <a:t> </a:t>
            </a:r>
            <a:r>
              <a:rPr lang="fr-FR" sz="2000" b="0" i="0" dirty="0" err="1">
                <a:solidFill>
                  <a:srgbClr val="ECECEC"/>
                </a:solidFill>
                <a:effectLst/>
                <a:latin typeface="Söhne"/>
              </a:rPr>
              <a:t>other</a:t>
            </a:r>
            <a:r>
              <a:rPr lang="fr-FR" sz="2000" b="0" i="0" dirty="0">
                <a:solidFill>
                  <a:srgbClr val="ECECEC"/>
                </a:solidFill>
                <a:effectLst/>
                <a:latin typeface="Söhne"/>
              </a:rPr>
              <a:t> GCP services, </a:t>
            </a:r>
            <a:r>
              <a:rPr lang="fr-FR" sz="2000" b="0" i="0" dirty="0" err="1">
                <a:solidFill>
                  <a:srgbClr val="ECECEC"/>
                </a:solidFill>
                <a:effectLst/>
                <a:latin typeface="Söhne"/>
              </a:rPr>
              <a:t>making</a:t>
            </a:r>
            <a:r>
              <a:rPr lang="fr-FR" sz="2000" b="0" i="0" dirty="0">
                <a:solidFill>
                  <a:srgbClr val="ECECEC"/>
                </a:solidFill>
                <a:effectLst/>
                <a:latin typeface="Söhne"/>
              </a:rPr>
              <a:t> </a:t>
            </a:r>
            <a:r>
              <a:rPr lang="fr-FR" sz="2000" b="0" i="0" dirty="0" err="1">
                <a:solidFill>
                  <a:srgbClr val="ECECEC"/>
                </a:solidFill>
                <a:effectLst/>
                <a:latin typeface="Söhne"/>
              </a:rPr>
              <a:t>it</a:t>
            </a:r>
            <a:r>
              <a:rPr lang="fr-FR" sz="2000" b="0" i="0" dirty="0">
                <a:solidFill>
                  <a:srgbClr val="ECECEC"/>
                </a:solidFill>
                <a:effectLst/>
                <a:latin typeface="Söhne"/>
              </a:rPr>
              <a:t> </a:t>
            </a:r>
            <a:r>
              <a:rPr lang="fr-FR" sz="2000" b="0" i="0" dirty="0" err="1">
                <a:solidFill>
                  <a:srgbClr val="ECECEC"/>
                </a:solidFill>
                <a:effectLst/>
                <a:latin typeface="Söhne"/>
              </a:rPr>
              <a:t>easy</a:t>
            </a:r>
            <a:r>
              <a:rPr lang="fr-FR" sz="2000" b="0" i="0" dirty="0">
                <a:solidFill>
                  <a:srgbClr val="ECECEC"/>
                </a:solidFill>
                <a:effectLst/>
                <a:latin typeface="Söhne"/>
              </a:rPr>
              <a:t> to </a:t>
            </a:r>
            <a:r>
              <a:rPr lang="fr-FR" sz="2000" b="0" i="0" dirty="0" err="1">
                <a:solidFill>
                  <a:srgbClr val="ECECEC"/>
                </a:solidFill>
                <a:effectLst/>
                <a:latin typeface="Söhne"/>
              </a:rPr>
              <a:t>build</a:t>
            </a:r>
            <a:r>
              <a:rPr lang="fr-FR" sz="2000" b="0" i="0" dirty="0">
                <a:solidFill>
                  <a:srgbClr val="ECECEC"/>
                </a:solidFill>
                <a:effectLst/>
                <a:latin typeface="Söhne"/>
              </a:rPr>
              <a:t> </a:t>
            </a:r>
            <a:r>
              <a:rPr lang="fr-FR" sz="2000" b="0" i="0" dirty="0" err="1">
                <a:solidFill>
                  <a:srgbClr val="ECECEC"/>
                </a:solidFill>
                <a:effectLst/>
                <a:latin typeface="Söhne"/>
              </a:rPr>
              <a:t>comprehensive</a:t>
            </a:r>
            <a:r>
              <a:rPr lang="fr-FR" sz="2000" b="0" i="0" dirty="0">
                <a:solidFill>
                  <a:srgbClr val="ECECEC"/>
                </a:solidFill>
                <a:effectLst/>
                <a:latin typeface="Söhne"/>
              </a:rPr>
              <a:t> AI pipelines.</a:t>
            </a:r>
          </a:p>
          <a:p>
            <a:pPr algn="l">
              <a:buFont typeface="Arial" panose="020B0604020202020204" pitchFamily="34" charset="0"/>
              <a:buChar char="•"/>
            </a:pPr>
            <a:r>
              <a:rPr lang="fr-FR" sz="2000" b="0" i="0" dirty="0" err="1">
                <a:solidFill>
                  <a:srgbClr val="ECECEC"/>
                </a:solidFill>
                <a:effectLst/>
                <a:latin typeface="Söhne"/>
              </a:rPr>
              <a:t>However</a:t>
            </a:r>
            <a:r>
              <a:rPr lang="fr-FR" sz="2000" b="0" i="0" dirty="0">
                <a:solidFill>
                  <a:srgbClr val="ECECEC"/>
                </a:solidFill>
                <a:effectLst/>
                <a:latin typeface="Söhne"/>
              </a:rPr>
              <a:t>, </a:t>
            </a:r>
            <a:r>
              <a:rPr lang="fr-FR" sz="2000" b="0" i="0" dirty="0" err="1">
                <a:solidFill>
                  <a:srgbClr val="ECECEC"/>
                </a:solidFill>
                <a:effectLst/>
                <a:latin typeface="Söhne"/>
              </a:rPr>
              <a:t>there</a:t>
            </a:r>
            <a:r>
              <a:rPr lang="fr-FR" sz="2000" b="0" i="0" dirty="0">
                <a:solidFill>
                  <a:srgbClr val="ECECEC"/>
                </a:solidFill>
                <a:effectLst/>
                <a:latin typeface="Söhne"/>
              </a:rPr>
              <a:t> are a few drawbacks. Vertex AI </a:t>
            </a:r>
            <a:r>
              <a:rPr lang="fr-FR" sz="2000" b="0" i="0" dirty="0" err="1">
                <a:solidFill>
                  <a:srgbClr val="ECECEC"/>
                </a:solidFill>
                <a:effectLst/>
                <a:latin typeface="Söhne"/>
              </a:rPr>
              <a:t>pricing</a:t>
            </a:r>
            <a:r>
              <a:rPr lang="fr-FR" sz="2000" b="0" i="0" dirty="0">
                <a:solidFill>
                  <a:srgbClr val="ECECEC"/>
                </a:solidFill>
                <a:effectLst/>
                <a:latin typeface="Söhne"/>
              </a:rPr>
              <a:t> can </a:t>
            </a:r>
            <a:r>
              <a:rPr lang="fr-FR" sz="2000" b="0" i="0" dirty="0" err="1">
                <a:solidFill>
                  <a:srgbClr val="ECECEC"/>
                </a:solidFill>
                <a:effectLst/>
                <a:latin typeface="Söhne"/>
              </a:rPr>
              <a:t>become</a:t>
            </a:r>
            <a:r>
              <a:rPr lang="fr-FR" sz="2000" b="0" i="0" dirty="0">
                <a:solidFill>
                  <a:srgbClr val="ECECEC"/>
                </a:solidFill>
                <a:effectLst/>
                <a:latin typeface="Söhne"/>
              </a:rPr>
              <a:t> </a:t>
            </a:r>
            <a:r>
              <a:rPr lang="fr-FR" sz="2000" b="0" i="0" dirty="0" err="1">
                <a:solidFill>
                  <a:srgbClr val="ECECEC"/>
                </a:solidFill>
                <a:effectLst/>
                <a:latin typeface="Söhne"/>
              </a:rPr>
              <a:t>complex</a:t>
            </a:r>
            <a:r>
              <a:rPr lang="fr-FR" sz="2000" b="0" i="0" dirty="0">
                <a:solidFill>
                  <a:srgbClr val="ECECEC"/>
                </a:solidFill>
                <a:effectLst/>
                <a:latin typeface="Söhne"/>
              </a:rPr>
              <a:t>, </a:t>
            </a:r>
            <a:r>
              <a:rPr lang="fr-FR" sz="2000" b="0" i="0" dirty="0" err="1">
                <a:solidFill>
                  <a:srgbClr val="ECECEC"/>
                </a:solidFill>
                <a:effectLst/>
                <a:latin typeface="Söhne"/>
              </a:rPr>
              <a:t>depending</a:t>
            </a:r>
            <a:r>
              <a:rPr lang="fr-FR" sz="2000" b="0" i="0" dirty="0">
                <a:solidFill>
                  <a:srgbClr val="ECECEC"/>
                </a:solidFill>
                <a:effectLst/>
                <a:latin typeface="Söhne"/>
              </a:rPr>
              <a:t> on the </a:t>
            </a:r>
            <a:r>
              <a:rPr lang="fr-FR" sz="2000" b="0" i="0" dirty="0" err="1">
                <a:solidFill>
                  <a:srgbClr val="ECECEC"/>
                </a:solidFill>
                <a:effectLst/>
                <a:latin typeface="Söhne"/>
              </a:rPr>
              <a:t>resources</a:t>
            </a:r>
            <a:r>
              <a:rPr lang="fr-FR" sz="2000" b="0" i="0" dirty="0">
                <a:solidFill>
                  <a:srgbClr val="ECECEC"/>
                </a:solidFill>
                <a:effectLst/>
                <a:latin typeface="Söhne"/>
              </a:rPr>
              <a:t> </a:t>
            </a:r>
            <a:r>
              <a:rPr lang="fr-FR" sz="2000" b="0" i="0" dirty="0" err="1">
                <a:solidFill>
                  <a:srgbClr val="ECECEC"/>
                </a:solidFill>
                <a:effectLst/>
                <a:latin typeface="Söhne"/>
              </a:rPr>
              <a:t>used</a:t>
            </a:r>
            <a:r>
              <a:rPr lang="fr-FR" sz="2000" b="0" i="0" dirty="0">
                <a:solidFill>
                  <a:srgbClr val="ECECEC"/>
                </a:solidFill>
                <a:effectLst/>
                <a:latin typeface="Söhne"/>
              </a:rPr>
              <a:t> and the size of </a:t>
            </a:r>
            <a:r>
              <a:rPr lang="fr-FR" sz="2000" b="0" i="0" dirty="0" err="1">
                <a:solidFill>
                  <a:srgbClr val="ECECEC"/>
                </a:solidFill>
                <a:effectLst/>
                <a:latin typeface="Söhne"/>
              </a:rPr>
              <a:t>deployed</a:t>
            </a:r>
            <a:r>
              <a:rPr lang="fr-FR" sz="2000" b="0" i="0" dirty="0">
                <a:solidFill>
                  <a:srgbClr val="ECECEC"/>
                </a:solidFill>
                <a:effectLst/>
                <a:latin typeface="Söhne"/>
              </a:rPr>
              <a:t> </a:t>
            </a:r>
            <a:r>
              <a:rPr lang="fr-FR" sz="2000" b="0" i="0" dirty="0" err="1">
                <a:solidFill>
                  <a:srgbClr val="ECECEC"/>
                </a:solidFill>
                <a:effectLst/>
                <a:latin typeface="Söhne"/>
              </a:rPr>
              <a:t>models</a:t>
            </a:r>
            <a:r>
              <a:rPr lang="fr-FR" sz="2000" b="0" i="0" dirty="0">
                <a:solidFill>
                  <a:srgbClr val="ECECEC"/>
                </a:solidFill>
                <a:effectLst/>
                <a:latin typeface="Söhne"/>
              </a:rPr>
              <a:t>. </a:t>
            </a:r>
            <a:r>
              <a:rPr lang="fr-FR" sz="2000" b="0" i="0" dirty="0" err="1">
                <a:solidFill>
                  <a:srgbClr val="ECECEC"/>
                </a:solidFill>
                <a:effectLst/>
                <a:latin typeface="Söhne"/>
              </a:rPr>
              <a:t>Additionally</a:t>
            </a:r>
            <a:r>
              <a:rPr lang="fr-FR" sz="2000" b="0" i="0" dirty="0">
                <a:solidFill>
                  <a:srgbClr val="ECECEC"/>
                </a:solidFill>
                <a:effectLst/>
                <a:latin typeface="Söhne"/>
              </a:rPr>
              <a:t>, </a:t>
            </a:r>
            <a:r>
              <a:rPr lang="fr-FR" sz="2000" b="0" i="0" dirty="0" err="1">
                <a:solidFill>
                  <a:srgbClr val="ECECEC"/>
                </a:solidFill>
                <a:effectLst/>
                <a:latin typeface="Söhne"/>
              </a:rPr>
              <a:t>while</a:t>
            </a:r>
            <a:r>
              <a:rPr lang="fr-FR" sz="2000" b="0" i="0" dirty="0">
                <a:solidFill>
                  <a:srgbClr val="ECECEC"/>
                </a:solidFill>
                <a:effectLst/>
                <a:latin typeface="Söhne"/>
              </a:rPr>
              <a:t> Vertex AI </a:t>
            </a:r>
            <a:r>
              <a:rPr lang="fr-FR" sz="2000" b="0" i="0" dirty="0" err="1">
                <a:solidFill>
                  <a:srgbClr val="ECECEC"/>
                </a:solidFill>
                <a:effectLst/>
                <a:latin typeface="Söhne"/>
              </a:rPr>
              <a:t>offers</a:t>
            </a:r>
            <a:r>
              <a:rPr lang="fr-FR" sz="2000" b="0" i="0" dirty="0">
                <a:solidFill>
                  <a:srgbClr val="ECECEC"/>
                </a:solidFill>
                <a:effectLst/>
                <a:latin typeface="Söhne"/>
              </a:rPr>
              <a:t> </a:t>
            </a:r>
            <a:r>
              <a:rPr lang="fr-FR" sz="2000" b="0" i="0" dirty="0" err="1">
                <a:solidFill>
                  <a:srgbClr val="ECECEC"/>
                </a:solidFill>
                <a:effectLst/>
                <a:latin typeface="Söhne"/>
              </a:rPr>
              <a:t>many</a:t>
            </a:r>
            <a:r>
              <a:rPr lang="fr-FR" sz="2000" b="0" i="0" dirty="0">
                <a:solidFill>
                  <a:srgbClr val="ECECEC"/>
                </a:solidFill>
                <a:effectLst/>
                <a:latin typeface="Söhne"/>
              </a:rPr>
              <a:t> </a:t>
            </a:r>
            <a:r>
              <a:rPr lang="fr-FR" sz="2000" b="0" i="0" dirty="0" err="1">
                <a:solidFill>
                  <a:srgbClr val="ECECEC"/>
                </a:solidFill>
                <a:effectLst/>
                <a:latin typeface="Söhne"/>
              </a:rPr>
              <a:t>features</a:t>
            </a:r>
            <a:r>
              <a:rPr lang="fr-FR" sz="2000" b="0" i="0" dirty="0">
                <a:solidFill>
                  <a:srgbClr val="ECECEC"/>
                </a:solidFill>
                <a:effectLst/>
                <a:latin typeface="Söhne"/>
              </a:rPr>
              <a:t>, </a:t>
            </a:r>
            <a:r>
              <a:rPr lang="fr-FR" sz="2000" b="0" i="0" dirty="0" err="1">
                <a:solidFill>
                  <a:srgbClr val="ECECEC"/>
                </a:solidFill>
                <a:effectLst/>
                <a:latin typeface="Söhne"/>
              </a:rPr>
              <a:t>some</a:t>
            </a:r>
            <a:r>
              <a:rPr lang="fr-FR" sz="2000" b="0" i="0" dirty="0">
                <a:solidFill>
                  <a:srgbClr val="ECECEC"/>
                </a:solidFill>
                <a:effectLst/>
                <a:latin typeface="Söhne"/>
              </a:rPr>
              <a:t> </a:t>
            </a:r>
            <a:r>
              <a:rPr lang="fr-FR" sz="2000" b="0" i="0" dirty="0" err="1">
                <a:solidFill>
                  <a:srgbClr val="ECECEC"/>
                </a:solidFill>
                <a:effectLst/>
                <a:latin typeface="Söhne"/>
              </a:rPr>
              <a:t>advanced</a:t>
            </a:r>
            <a:r>
              <a:rPr lang="fr-FR" sz="2000" b="0" i="0" dirty="0">
                <a:solidFill>
                  <a:srgbClr val="ECECEC"/>
                </a:solidFill>
                <a:effectLst/>
                <a:latin typeface="Söhne"/>
              </a:rPr>
              <a:t> </a:t>
            </a:r>
            <a:r>
              <a:rPr lang="fr-FR" sz="2000" b="0" i="0" dirty="0" err="1">
                <a:solidFill>
                  <a:srgbClr val="ECECEC"/>
                </a:solidFill>
                <a:effectLst/>
                <a:latin typeface="Söhne"/>
              </a:rPr>
              <a:t>tasks</a:t>
            </a:r>
            <a:r>
              <a:rPr lang="fr-FR" sz="2000" b="0" i="0" dirty="0">
                <a:solidFill>
                  <a:srgbClr val="ECECEC"/>
                </a:solidFill>
                <a:effectLst/>
                <a:latin typeface="Söhne"/>
              </a:rPr>
              <a:t> </a:t>
            </a:r>
            <a:r>
              <a:rPr lang="fr-FR" sz="2000" b="0" i="0" dirty="0" err="1">
                <a:solidFill>
                  <a:srgbClr val="ECECEC"/>
                </a:solidFill>
                <a:effectLst/>
                <a:latin typeface="Söhne"/>
              </a:rPr>
              <a:t>may</a:t>
            </a:r>
            <a:r>
              <a:rPr lang="fr-FR" sz="2000" b="0" i="0" dirty="0">
                <a:solidFill>
                  <a:srgbClr val="ECECEC"/>
                </a:solidFill>
                <a:effectLst/>
                <a:latin typeface="Söhne"/>
              </a:rPr>
              <a:t> </a:t>
            </a:r>
            <a:r>
              <a:rPr lang="fr-FR" sz="2000" b="0" i="0" dirty="0" err="1">
                <a:solidFill>
                  <a:srgbClr val="ECECEC"/>
                </a:solidFill>
                <a:effectLst/>
                <a:latin typeface="Söhne"/>
              </a:rPr>
              <a:t>require</a:t>
            </a:r>
            <a:r>
              <a:rPr lang="fr-FR" sz="2000" b="0" i="0" dirty="0">
                <a:solidFill>
                  <a:srgbClr val="ECECEC"/>
                </a:solidFill>
                <a:effectLst/>
                <a:latin typeface="Söhne"/>
              </a:rPr>
              <a:t> </a:t>
            </a:r>
            <a:r>
              <a:rPr lang="fr-FR" sz="2000" b="0" i="0" dirty="0" err="1">
                <a:solidFill>
                  <a:srgbClr val="ECECEC"/>
                </a:solidFill>
                <a:effectLst/>
                <a:latin typeface="Söhne"/>
              </a:rPr>
              <a:t>additional</a:t>
            </a:r>
            <a:r>
              <a:rPr lang="fr-FR" sz="2000" b="0" i="0" dirty="0">
                <a:solidFill>
                  <a:srgbClr val="ECECEC"/>
                </a:solidFill>
                <a:effectLst/>
                <a:latin typeface="Söhne"/>
              </a:rPr>
              <a:t> expertise in data science or software engineering.</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851542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99432" y="1866380"/>
            <a:ext cx="10351747" cy="4220911"/>
          </a:xfrm>
        </p:spPr>
        <p:txBody>
          <a:bodyPr>
            <a:normAutofit fontScale="92500" lnSpcReduction="20000"/>
          </a:bodyPr>
          <a:lstStyle/>
          <a:p>
            <a:pPr algn="l">
              <a:buFont typeface="Arial" panose="020B0604020202020204" pitchFamily="34" charset="0"/>
              <a:buChar char="•"/>
            </a:pPr>
            <a:r>
              <a:rPr lang="fr-FR" b="0" i="0" dirty="0">
                <a:solidFill>
                  <a:srgbClr val="ECECEC"/>
                </a:solidFill>
                <a:effectLst/>
                <a:latin typeface="Söhne"/>
              </a:rPr>
              <a:t>Vertex AI </a:t>
            </a:r>
            <a:r>
              <a:rPr lang="fr-FR" b="0" i="0" dirty="0" err="1">
                <a:solidFill>
                  <a:srgbClr val="ECECEC"/>
                </a:solidFill>
                <a:effectLst/>
                <a:latin typeface="Söhne"/>
              </a:rPr>
              <a:t>is</a:t>
            </a:r>
            <a:r>
              <a:rPr lang="fr-FR" b="0" i="0" dirty="0">
                <a:solidFill>
                  <a:srgbClr val="ECECEC"/>
                </a:solidFill>
                <a:effectLst/>
                <a:latin typeface="Söhne"/>
              </a:rPr>
              <a:t> a machine </a:t>
            </a:r>
            <a:r>
              <a:rPr lang="fr-FR" b="0" i="0" dirty="0" err="1">
                <a:solidFill>
                  <a:srgbClr val="ECECEC"/>
                </a:solidFill>
                <a:effectLst/>
                <a:latin typeface="Söhne"/>
              </a:rPr>
              <a:t>learning</a:t>
            </a:r>
            <a:r>
              <a:rPr lang="fr-FR" b="0" i="0" dirty="0">
                <a:solidFill>
                  <a:srgbClr val="ECECEC"/>
                </a:solidFill>
                <a:effectLst/>
                <a:latin typeface="Söhne"/>
              </a:rPr>
              <a:t> (ML) platform </a:t>
            </a:r>
            <a:r>
              <a:rPr lang="fr-FR" b="0" i="0" dirty="0" err="1">
                <a:solidFill>
                  <a:srgbClr val="ECECEC"/>
                </a:solidFill>
                <a:effectLst/>
                <a:latin typeface="Söhne"/>
              </a:rPr>
              <a:t>that</a:t>
            </a:r>
            <a:r>
              <a:rPr lang="fr-FR" b="0" i="0" dirty="0">
                <a:solidFill>
                  <a:srgbClr val="ECECEC"/>
                </a:solidFill>
                <a:effectLst/>
                <a:latin typeface="Söhne"/>
              </a:rPr>
              <a:t> </a:t>
            </a:r>
            <a:r>
              <a:rPr lang="fr-FR" b="0" i="0" dirty="0" err="1">
                <a:solidFill>
                  <a:srgbClr val="ECECEC"/>
                </a:solidFill>
                <a:effectLst/>
                <a:latin typeface="Söhne"/>
              </a:rPr>
              <a:t>allows</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to train and </a:t>
            </a:r>
            <a:r>
              <a:rPr lang="fr-FR" b="0" i="0" dirty="0" err="1">
                <a:solidFill>
                  <a:srgbClr val="ECECEC"/>
                </a:solidFill>
                <a:effectLst/>
                <a:latin typeface="Söhne"/>
              </a:rPr>
              <a:t>deploy</a:t>
            </a:r>
            <a:r>
              <a:rPr lang="fr-FR" b="0" i="0" dirty="0">
                <a:solidFill>
                  <a:srgbClr val="ECECEC"/>
                </a:solidFill>
                <a:effectLst/>
                <a:latin typeface="Söhne"/>
              </a:rPr>
              <a:t> ML </a:t>
            </a:r>
            <a:r>
              <a:rPr lang="fr-FR" b="0" i="0" dirty="0" err="1">
                <a:solidFill>
                  <a:srgbClr val="ECECEC"/>
                </a:solidFill>
                <a:effectLst/>
                <a:latin typeface="Söhne"/>
              </a:rPr>
              <a:t>models</a:t>
            </a:r>
            <a:r>
              <a:rPr lang="fr-FR" b="0" i="0" dirty="0">
                <a:solidFill>
                  <a:srgbClr val="ECECEC"/>
                </a:solidFill>
                <a:effectLst/>
                <a:latin typeface="Söhne"/>
              </a:rPr>
              <a:t> and AI applications, and </a:t>
            </a:r>
            <a:r>
              <a:rPr lang="fr-FR" b="0" i="0" dirty="0" err="1">
                <a:solidFill>
                  <a:srgbClr val="ECECEC"/>
                </a:solidFill>
                <a:effectLst/>
                <a:latin typeface="Söhne"/>
              </a:rPr>
              <a:t>customize</a:t>
            </a:r>
            <a:r>
              <a:rPr lang="fr-FR" b="0" i="0" dirty="0">
                <a:solidFill>
                  <a:srgbClr val="ECECEC"/>
                </a:solidFill>
                <a:effectLst/>
                <a:latin typeface="Söhne"/>
              </a:rPr>
              <a:t> large </a:t>
            </a:r>
            <a:r>
              <a:rPr lang="fr-FR" b="0" i="0" dirty="0" err="1">
                <a:solidFill>
                  <a:srgbClr val="ECECEC"/>
                </a:solidFill>
                <a:effectLst/>
                <a:latin typeface="Söhne"/>
              </a:rPr>
              <a:t>language</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LLMs</a:t>
            </a:r>
            <a:r>
              <a:rPr lang="fr-FR" b="0" i="0" dirty="0">
                <a:solidFill>
                  <a:srgbClr val="ECECEC"/>
                </a:solidFill>
                <a:effectLst/>
                <a:latin typeface="Söhne"/>
              </a:rPr>
              <a:t>) for use in </a:t>
            </a:r>
            <a:r>
              <a:rPr lang="fr-FR" b="0" i="0" dirty="0" err="1">
                <a:solidFill>
                  <a:srgbClr val="ECECEC"/>
                </a:solidFill>
                <a:effectLst/>
                <a:latin typeface="Söhne"/>
              </a:rPr>
              <a:t>your</a:t>
            </a:r>
            <a:r>
              <a:rPr lang="fr-FR" b="0" i="0" dirty="0">
                <a:solidFill>
                  <a:srgbClr val="ECECEC"/>
                </a:solidFill>
                <a:effectLst/>
                <a:latin typeface="Söhne"/>
              </a:rPr>
              <a:t> AI-</a:t>
            </a:r>
            <a:r>
              <a:rPr lang="fr-FR" b="0" i="0" dirty="0" err="1">
                <a:solidFill>
                  <a:srgbClr val="ECECEC"/>
                </a:solidFill>
                <a:effectLst/>
                <a:latin typeface="Söhne"/>
              </a:rPr>
              <a:t>based</a:t>
            </a:r>
            <a:r>
              <a:rPr lang="fr-FR" b="0" i="0" dirty="0">
                <a:solidFill>
                  <a:srgbClr val="ECECEC"/>
                </a:solidFill>
                <a:effectLst/>
                <a:latin typeface="Söhne"/>
              </a:rPr>
              <a:t> applications. Vertex AI combines data engineering, data science, and ML engineering workflows, </a:t>
            </a:r>
            <a:r>
              <a:rPr lang="fr-FR" b="0" i="0" dirty="0" err="1">
                <a:solidFill>
                  <a:srgbClr val="ECECEC"/>
                </a:solidFill>
                <a:effectLst/>
                <a:latin typeface="Söhne"/>
              </a:rPr>
              <a:t>enabling</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teams to </a:t>
            </a:r>
            <a:r>
              <a:rPr lang="fr-FR" b="0" i="0" dirty="0" err="1">
                <a:solidFill>
                  <a:srgbClr val="ECECEC"/>
                </a:solidFill>
                <a:effectLst/>
                <a:latin typeface="Söhne"/>
              </a:rPr>
              <a:t>collaborate</a:t>
            </a:r>
            <a:r>
              <a:rPr lang="fr-FR" b="0" i="0" dirty="0">
                <a:solidFill>
                  <a:srgbClr val="ECECEC"/>
                </a:solidFill>
                <a:effectLst/>
                <a:latin typeface="Söhne"/>
              </a:rPr>
              <a:t> </a:t>
            </a:r>
            <a:r>
              <a:rPr lang="fr-FR" b="0" i="0" dirty="0" err="1">
                <a:solidFill>
                  <a:srgbClr val="ECECEC"/>
                </a:solidFill>
                <a:effectLst/>
                <a:latin typeface="Söhne"/>
              </a:rPr>
              <a:t>using</a:t>
            </a:r>
            <a:r>
              <a:rPr lang="fr-FR" b="0" i="0" dirty="0">
                <a:solidFill>
                  <a:srgbClr val="ECECEC"/>
                </a:solidFill>
                <a:effectLst/>
                <a:latin typeface="Söhne"/>
              </a:rPr>
              <a:t> a </a:t>
            </a:r>
            <a:r>
              <a:rPr lang="fr-FR" b="0" i="0" dirty="0" err="1">
                <a:solidFill>
                  <a:srgbClr val="ECECEC"/>
                </a:solidFill>
                <a:effectLst/>
                <a:latin typeface="Söhne"/>
              </a:rPr>
              <a:t>common</a:t>
            </a:r>
            <a:r>
              <a:rPr lang="fr-FR" b="0" i="0" dirty="0">
                <a:solidFill>
                  <a:srgbClr val="ECECEC"/>
                </a:solidFill>
                <a:effectLst/>
                <a:latin typeface="Söhne"/>
              </a:rPr>
              <a:t> set of </a:t>
            </a:r>
            <a:r>
              <a:rPr lang="fr-FR" b="0" i="0" dirty="0" err="1">
                <a:solidFill>
                  <a:srgbClr val="ECECEC"/>
                </a:solidFill>
                <a:effectLst/>
                <a:latin typeface="Söhne"/>
              </a:rPr>
              <a:t>tools</a:t>
            </a:r>
            <a:r>
              <a:rPr lang="fr-FR" b="0" i="0" dirty="0">
                <a:solidFill>
                  <a:srgbClr val="ECECEC"/>
                </a:solidFill>
                <a:effectLst/>
                <a:latin typeface="Söhne"/>
              </a:rPr>
              <a:t> and </a:t>
            </a:r>
            <a:r>
              <a:rPr lang="fr-FR" b="0" i="0" dirty="0" err="1">
                <a:solidFill>
                  <a:srgbClr val="ECECEC"/>
                </a:solidFill>
                <a:effectLst/>
                <a:latin typeface="Söhne"/>
              </a:rPr>
              <a:t>scale</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applications by leveraging the </a:t>
            </a:r>
            <a:r>
              <a:rPr lang="fr-FR" b="0" i="0" dirty="0" err="1">
                <a:solidFill>
                  <a:srgbClr val="ECECEC"/>
                </a:solidFill>
                <a:effectLst/>
                <a:latin typeface="Söhne"/>
              </a:rPr>
              <a:t>benefits</a:t>
            </a:r>
            <a:r>
              <a:rPr lang="fr-FR" b="0" i="0" dirty="0">
                <a:solidFill>
                  <a:srgbClr val="ECECEC"/>
                </a:solidFill>
                <a:effectLst/>
                <a:latin typeface="Söhne"/>
              </a:rPr>
              <a:t> of Google Cloud.</a:t>
            </a:r>
          </a:p>
          <a:p>
            <a:pPr algn="l">
              <a:buFont typeface="Arial" panose="020B0604020202020204" pitchFamily="34" charset="0"/>
              <a:buChar char="•"/>
            </a:pPr>
            <a:r>
              <a:rPr lang="fr-FR" b="0" i="0" dirty="0">
                <a:solidFill>
                  <a:srgbClr val="ECECEC"/>
                </a:solidFill>
                <a:effectLst/>
                <a:latin typeface="Söhne"/>
              </a:rPr>
              <a:t>Vertex AI </a:t>
            </a:r>
            <a:r>
              <a:rPr lang="fr-FR" b="0" i="0" dirty="0" err="1">
                <a:solidFill>
                  <a:srgbClr val="ECECEC"/>
                </a:solidFill>
                <a:effectLst/>
                <a:latin typeface="Söhne"/>
              </a:rPr>
              <a:t>offers</a:t>
            </a:r>
            <a:r>
              <a:rPr lang="fr-FR" b="0" i="0" dirty="0">
                <a:solidFill>
                  <a:srgbClr val="ECECEC"/>
                </a:solidFill>
                <a:effectLst/>
                <a:latin typeface="Söhne"/>
              </a:rPr>
              <a:t> </a:t>
            </a:r>
            <a:r>
              <a:rPr lang="fr-FR" b="0" i="0" dirty="0" err="1">
                <a:solidFill>
                  <a:srgbClr val="ECECEC"/>
                </a:solidFill>
                <a:effectLst/>
                <a:latin typeface="Söhne"/>
              </a:rPr>
              <a:t>several</a:t>
            </a:r>
            <a:r>
              <a:rPr lang="fr-FR" b="0" i="0" dirty="0">
                <a:solidFill>
                  <a:srgbClr val="ECECEC"/>
                </a:solidFill>
                <a:effectLst/>
                <a:latin typeface="Söhne"/>
              </a:rPr>
              <a:t> options for model training and </a:t>
            </a:r>
            <a:r>
              <a:rPr lang="fr-FR" b="0" i="0" dirty="0" err="1">
                <a:solidFill>
                  <a:srgbClr val="ECECEC"/>
                </a:solidFill>
                <a:effectLst/>
                <a:latin typeface="Söhne"/>
              </a:rPr>
              <a:t>deployment</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err="1">
                <a:solidFill>
                  <a:srgbClr val="ECECEC"/>
                </a:solidFill>
                <a:effectLst/>
                <a:latin typeface="Söhne"/>
              </a:rPr>
              <a:t>AutoML</a:t>
            </a:r>
            <a:r>
              <a:rPr lang="fr-FR" b="0" i="0" dirty="0">
                <a:solidFill>
                  <a:srgbClr val="ECECEC"/>
                </a:solidFill>
                <a:effectLst/>
                <a:latin typeface="Söhne"/>
              </a:rPr>
              <a:t> </a:t>
            </a:r>
            <a:r>
              <a:rPr lang="fr-FR" b="0" i="0" dirty="0" err="1">
                <a:solidFill>
                  <a:srgbClr val="ECECEC"/>
                </a:solidFill>
                <a:effectLst/>
                <a:latin typeface="Söhne"/>
              </a:rPr>
              <a:t>allows</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to train </a:t>
            </a:r>
            <a:r>
              <a:rPr lang="fr-FR" b="0" i="0" dirty="0" err="1">
                <a:solidFill>
                  <a:srgbClr val="ECECEC"/>
                </a:solidFill>
                <a:effectLst/>
                <a:latin typeface="Söhne"/>
              </a:rPr>
              <a:t>tabular</a:t>
            </a:r>
            <a:r>
              <a:rPr lang="fr-FR" b="0" i="0" dirty="0">
                <a:solidFill>
                  <a:srgbClr val="ECECEC"/>
                </a:solidFill>
                <a:effectLst/>
                <a:latin typeface="Söhne"/>
              </a:rPr>
              <a:t>, image, </a:t>
            </a:r>
            <a:r>
              <a:rPr lang="fr-FR" b="0" i="0" dirty="0" err="1">
                <a:solidFill>
                  <a:srgbClr val="ECECEC"/>
                </a:solidFill>
                <a:effectLst/>
                <a:latin typeface="Söhne"/>
              </a:rPr>
              <a:t>text</a:t>
            </a:r>
            <a:r>
              <a:rPr lang="fr-FR" b="0" i="0" dirty="0">
                <a:solidFill>
                  <a:srgbClr val="ECECEC"/>
                </a:solidFill>
                <a:effectLst/>
                <a:latin typeface="Söhne"/>
              </a:rPr>
              <a:t>, and </a:t>
            </a:r>
            <a:r>
              <a:rPr lang="fr-FR" b="0" i="0" dirty="0" err="1">
                <a:solidFill>
                  <a:srgbClr val="ECECEC"/>
                </a:solidFill>
                <a:effectLst/>
                <a:latin typeface="Söhne"/>
              </a:rPr>
              <a:t>video</a:t>
            </a:r>
            <a:r>
              <a:rPr lang="fr-FR" b="0" i="0" dirty="0">
                <a:solidFill>
                  <a:srgbClr val="ECECEC"/>
                </a:solidFill>
                <a:effectLst/>
                <a:latin typeface="Söhne"/>
              </a:rPr>
              <a:t> data </a:t>
            </a:r>
            <a:r>
              <a:rPr lang="fr-FR" b="0" i="0" dirty="0" err="1">
                <a:solidFill>
                  <a:srgbClr val="ECECEC"/>
                </a:solidFill>
                <a:effectLst/>
                <a:latin typeface="Söhne"/>
              </a:rPr>
              <a:t>without</a:t>
            </a:r>
            <a:r>
              <a:rPr lang="fr-FR" b="0" i="0" dirty="0">
                <a:solidFill>
                  <a:srgbClr val="ECECEC"/>
                </a:solidFill>
                <a:effectLst/>
                <a:latin typeface="Söhne"/>
              </a:rPr>
              <a:t> </a:t>
            </a:r>
            <a:r>
              <a:rPr lang="fr-FR" b="0" i="0" dirty="0" err="1">
                <a:solidFill>
                  <a:srgbClr val="ECECEC"/>
                </a:solidFill>
                <a:effectLst/>
                <a:latin typeface="Söhne"/>
              </a:rPr>
              <a:t>writing</a:t>
            </a:r>
            <a:r>
              <a:rPr lang="fr-FR" b="0" i="0" dirty="0">
                <a:solidFill>
                  <a:srgbClr val="ECECEC"/>
                </a:solidFill>
                <a:effectLst/>
                <a:latin typeface="Söhne"/>
              </a:rPr>
              <a:t> code or </a:t>
            </a:r>
            <a:r>
              <a:rPr lang="fr-FR" b="0" i="0" dirty="0" err="1">
                <a:solidFill>
                  <a:srgbClr val="ECECEC"/>
                </a:solidFill>
                <a:effectLst/>
                <a:latin typeface="Söhne"/>
              </a:rPr>
              <a:t>preparing</a:t>
            </a:r>
            <a:r>
              <a:rPr lang="fr-FR" b="0" i="0" dirty="0">
                <a:solidFill>
                  <a:srgbClr val="ECECEC"/>
                </a:solidFill>
                <a:effectLst/>
                <a:latin typeface="Söhne"/>
              </a:rPr>
              <a:t> data </a:t>
            </a:r>
            <a:r>
              <a:rPr lang="fr-FR" b="0" i="0" dirty="0" err="1">
                <a:solidFill>
                  <a:srgbClr val="ECECEC"/>
                </a:solidFill>
                <a:effectLst/>
                <a:latin typeface="Söhne"/>
              </a:rPr>
              <a:t>splits</a:t>
            </a:r>
            <a:r>
              <a:rPr lang="fr-FR" b="0" i="0" dirty="0">
                <a:solidFill>
                  <a:srgbClr val="ECECEC"/>
                </a:solidFill>
                <a:effectLst/>
                <a:latin typeface="Söhne"/>
              </a:rPr>
              <a:t>. Just </a:t>
            </a:r>
            <a:r>
              <a:rPr lang="fr-FR" b="0" i="0" dirty="0" err="1">
                <a:solidFill>
                  <a:srgbClr val="ECECEC"/>
                </a:solidFill>
                <a:effectLst/>
                <a:latin typeface="Söhne"/>
              </a:rPr>
              <a:t>choose</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a:t>
            </a:r>
            <a:r>
              <a:rPr lang="fr-FR" b="0" i="0" dirty="0" err="1">
                <a:solidFill>
                  <a:srgbClr val="ECECEC"/>
                </a:solidFill>
                <a:effectLst/>
                <a:latin typeface="Söhne"/>
              </a:rPr>
              <a:t>dataset</a:t>
            </a:r>
            <a:r>
              <a:rPr lang="fr-FR" b="0" i="0" dirty="0">
                <a:solidFill>
                  <a:srgbClr val="ECECEC"/>
                </a:solidFill>
                <a:effectLst/>
                <a:latin typeface="Söhne"/>
              </a:rPr>
              <a:t> and the </a:t>
            </a:r>
            <a:r>
              <a:rPr lang="fr-FR" b="0" i="0" dirty="0" err="1">
                <a:solidFill>
                  <a:srgbClr val="ECECEC"/>
                </a:solidFill>
                <a:effectLst/>
                <a:latin typeface="Söhne"/>
              </a:rPr>
              <a:t>target</a:t>
            </a:r>
            <a:r>
              <a:rPr lang="fr-FR" b="0" i="0" dirty="0">
                <a:solidFill>
                  <a:srgbClr val="ECECEC"/>
                </a:solidFill>
                <a:effectLst/>
                <a:latin typeface="Söhne"/>
              </a:rPr>
              <a:t> variable to </a:t>
            </a:r>
            <a:r>
              <a:rPr lang="fr-FR" b="0" i="0" dirty="0" err="1">
                <a:solidFill>
                  <a:srgbClr val="ECECEC"/>
                </a:solidFill>
                <a:effectLst/>
                <a:latin typeface="Söhne"/>
              </a:rPr>
              <a:t>predict</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Custom training </a:t>
            </a:r>
            <a:r>
              <a:rPr lang="fr-FR" b="0" i="0" dirty="0" err="1">
                <a:solidFill>
                  <a:srgbClr val="ECECEC"/>
                </a:solidFill>
                <a:effectLst/>
                <a:latin typeface="Söhne"/>
              </a:rPr>
              <a:t>gives</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full control over the training process, </a:t>
            </a:r>
            <a:r>
              <a:rPr lang="fr-FR" b="0" i="0" dirty="0" err="1">
                <a:solidFill>
                  <a:srgbClr val="ECECEC"/>
                </a:solidFill>
                <a:effectLst/>
                <a:latin typeface="Söhne"/>
              </a:rPr>
              <a:t>including</a:t>
            </a:r>
            <a:r>
              <a:rPr lang="fr-FR" b="0" i="0" dirty="0">
                <a:solidFill>
                  <a:srgbClr val="ECECEC"/>
                </a:solidFill>
                <a:effectLst/>
                <a:latin typeface="Söhne"/>
              </a:rPr>
              <a:t> </a:t>
            </a:r>
            <a:r>
              <a:rPr lang="fr-FR" b="0" i="0" dirty="0" err="1">
                <a:solidFill>
                  <a:srgbClr val="ECECEC"/>
                </a:solidFill>
                <a:effectLst/>
                <a:latin typeface="Söhne"/>
              </a:rPr>
              <a:t>using</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a:t>
            </a:r>
            <a:r>
              <a:rPr lang="fr-FR" b="0" i="0" dirty="0" err="1">
                <a:solidFill>
                  <a:srgbClr val="ECECEC"/>
                </a:solidFill>
                <a:effectLst/>
                <a:latin typeface="Söhne"/>
              </a:rPr>
              <a:t>preferred</a:t>
            </a:r>
            <a:r>
              <a:rPr lang="fr-FR" b="0" i="0" dirty="0">
                <a:solidFill>
                  <a:srgbClr val="ECECEC"/>
                </a:solidFill>
                <a:effectLst/>
                <a:latin typeface="Söhne"/>
              </a:rPr>
              <a:t> ML </a:t>
            </a:r>
            <a:r>
              <a:rPr lang="fr-FR" b="0" i="0" dirty="0" err="1">
                <a:solidFill>
                  <a:srgbClr val="ECECEC"/>
                </a:solidFill>
                <a:effectLst/>
                <a:latin typeface="Söhne"/>
              </a:rPr>
              <a:t>framework</a:t>
            </a:r>
            <a:r>
              <a:rPr lang="fr-FR" b="0" i="0" dirty="0">
                <a:solidFill>
                  <a:srgbClr val="ECECEC"/>
                </a:solidFill>
                <a:effectLst/>
                <a:latin typeface="Söhne"/>
              </a:rPr>
              <a:t>, </a:t>
            </a:r>
            <a:r>
              <a:rPr lang="fr-FR" b="0" i="0" dirty="0" err="1">
                <a:solidFill>
                  <a:srgbClr val="ECECEC"/>
                </a:solidFill>
                <a:effectLst/>
                <a:latin typeface="Söhne"/>
              </a:rPr>
              <a:t>writing</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a:t>
            </a:r>
            <a:r>
              <a:rPr lang="fr-FR" b="0" i="0" dirty="0" err="1">
                <a:solidFill>
                  <a:srgbClr val="ECECEC"/>
                </a:solidFill>
                <a:effectLst/>
                <a:latin typeface="Söhne"/>
              </a:rPr>
              <a:t>own</a:t>
            </a:r>
            <a:r>
              <a:rPr lang="fr-FR" b="0" i="0" dirty="0">
                <a:solidFill>
                  <a:srgbClr val="ECECEC"/>
                </a:solidFill>
                <a:effectLst/>
                <a:latin typeface="Söhne"/>
              </a:rPr>
              <a:t> training code, and </a:t>
            </a:r>
            <a:r>
              <a:rPr lang="fr-FR" b="0" i="0" dirty="0" err="1">
                <a:solidFill>
                  <a:srgbClr val="ECECEC"/>
                </a:solidFill>
                <a:effectLst/>
                <a:latin typeface="Söhne"/>
              </a:rPr>
              <a:t>choosing</a:t>
            </a:r>
            <a:r>
              <a:rPr lang="fr-FR" b="0" i="0" dirty="0">
                <a:solidFill>
                  <a:srgbClr val="ECECEC"/>
                </a:solidFill>
                <a:effectLst/>
                <a:latin typeface="Söhne"/>
              </a:rPr>
              <a:t> </a:t>
            </a:r>
            <a:r>
              <a:rPr lang="fr-FR" b="0" i="0" dirty="0" err="1">
                <a:solidFill>
                  <a:srgbClr val="ECECEC"/>
                </a:solidFill>
                <a:effectLst/>
                <a:latin typeface="Söhne"/>
              </a:rPr>
              <a:t>hyperparameter</a:t>
            </a:r>
            <a:r>
              <a:rPr lang="fr-FR" b="0" i="0" dirty="0">
                <a:solidFill>
                  <a:srgbClr val="ECECEC"/>
                </a:solidFill>
                <a:effectLst/>
                <a:latin typeface="Söhne"/>
              </a:rPr>
              <a:t> tuning options.</a:t>
            </a:r>
          </a:p>
          <a:p>
            <a:pPr marL="742950" lvl="1" indent="-285750" algn="l">
              <a:buFont typeface="Arial" panose="020B0604020202020204" pitchFamily="34" charset="0"/>
              <a:buChar char="•"/>
            </a:pPr>
            <a:r>
              <a:rPr lang="fr-FR" b="0" i="0" dirty="0">
                <a:solidFill>
                  <a:srgbClr val="ECECEC"/>
                </a:solidFill>
                <a:effectLst/>
                <a:latin typeface="Söhne"/>
              </a:rPr>
              <a:t>Model </a:t>
            </a:r>
            <a:r>
              <a:rPr lang="fr-FR" b="0" i="0" dirty="0" err="1">
                <a:solidFill>
                  <a:srgbClr val="ECECEC"/>
                </a:solidFill>
                <a:effectLst/>
                <a:latin typeface="Söhne"/>
              </a:rPr>
              <a:t>garden</a:t>
            </a:r>
            <a:r>
              <a:rPr lang="fr-FR" b="0" i="0" dirty="0">
                <a:solidFill>
                  <a:srgbClr val="ECECEC"/>
                </a:solidFill>
                <a:effectLst/>
                <a:latin typeface="Söhne"/>
              </a:rPr>
              <a:t> enables </a:t>
            </a:r>
            <a:r>
              <a:rPr lang="fr-FR" b="0" i="0" dirty="0" err="1">
                <a:solidFill>
                  <a:srgbClr val="ECECEC"/>
                </a:solidFill>
                <a:effectLst/>
                <a:latin typeface="Söhne"/>
              </a:rPr>
              <a:t>you</a:t>
            </a:r>
            <a:r>
              <a:rPr lang="fr-FR" b="0" i="0" dirty="0">
                <a:solidFill>
                  <a:srgbClr val="ECECEC"/>
                </a:solidFill>
                <a:effectLst/>
                <a:latin typeface="Söhne"/>
              </a:rPr>
              <a:t> to </a:t>
            </a:r>
            <a:r>
              <a:rPr lang="fr-FR" b="0" i="0" dirty="0" err="1">
                <a:solidFill>
                  <a:srgbClr val="ECECEC"/>
                </a:solidFill>
                <a:effectLst/>
                <a:latin typeface="Söhne"/>
              </a:rPr>
              <a:t>discover</a:t>
            </a:r>
            <a:r>
              <a:rPr lang="fr-FR" b="0" i="0" dirty="0">
                <a:solidFill>
                  <a:srgbClr val="ECECEC"/>
                </a:solidFill>
                <a:effectLst/>
                <a:latin typeface="Söhne"/>
              </a:rPr>
              <a:t>, test, </a:t>
            </a:r>
            <a:r>
              <a:rPr lang="fr-FR" b="0" i="0" dirty="0" err="1">
                <a:solidFill>
                  <a:srgbClr val="ECECEC"/>
                </a:solidFill>
                <a:effectLst/>
                <a:latin typeface="Söhne"/>
              </a:rPr>
              <a:t>customize</a:t>
            </a:r>
            <a:r>
              <a:rPr lang="fr-FR" b="0" i="0" dirty="0">
                <a:solidFill>
                  <a:srgbClr val="ECECEC"/>
                </a:solidFill>
                <a:effectLst/>
                <a:latin typeface="Söhne"/>
              </a:rPr>
              <a:t>, and </a:t>
            </a:r>
            <a:r>
              <a:rPr lang="fr-FR" b="0" i="0" dirty="0" err="1">
                <a:solidFill>
                  <a:srgbClr val="ECECEC"/>
                </a:solidFill>
                <a:effectLst/>
                <a:latin typeface="Söhne"/>
              </a:rPr>
              <a:t>deploy</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in Vertex AI, and select </a:t>
            </a:r>
            <a:r>
              <a:rPr lang="fr-FR" b="0" i="0" dirty="0" err="1">
                <a:solidFill>
                  <a:srgbClr val="ECECEC"/>
                </a:solidFill>
                <a:effectLst/>
                <a:latin typeface="Söhne"/>
              </a:rPr>
              <a:t>from</a:t>
            </a:r>
            <a:r>
              <a:rPr lang="fr-FR" b="0" i="0" dirty="0">
                <a:solidFill>
                  <a:srgbClr val="ECECEC"/>
                </a:solidFill>
                <a:effectLst/>
                <a:latin typeface="Söhne"/>
              </a:rPr>
              <a:t> Open Source Software (OSS) </a:t>
            </a:r>
            <a:r>
              <a:rPr lang="fr-FR" b="0" i="0" dirty="0" err="1">
                <a:solidFill>
                  <a:srgbClr val="ECECEC"/>
                </a:solidFill>
                <a:effectLst/>
                <a:latin typeface="Söhne"/>
              </a:rPr>
              <a:t>models</a:t>
            </a:r>
            <a:r>
              <a:rPr lang="fr-FR" b="0" i="0" dirty="0">
                <a:solidFill>
                  <a:srgbClr val="ECECEC"/>
                </a:solidFill>
                <a:effectLst/>
                <a:latin typeface="Söhne"/>
              </a:rPr>
              <a:t> and components.</a:t>
            </a:r>
          </a:p>
          <a:p>
            <a:pPr marL="742950" lvl="1" indent="-285750" algn="l">
              <a:buFont typeface="Arial" panose="020B0604020202020204" pitchFamily="34" charset="0"/>
              <a:buChar char="•"/>
            </a:pPr>
            <a:r>
              <a:rPr lang="fr-FR" b="0" i="0" dirty="0" err="1">
                <a:solidFill>
                  <a:srgbClr val="ECECEC"/>
                </a:solidFill>
                <a:effectLst/>
                <a:latin typeface="Söhne"/>
              </a:rPr>
              <a:t>Generative</a:t>
            </a:r>
            <a:r>
              <a:rPr lang="fr-FR" b="0" i="0" dirty="0">
                <a:solidFill>
                  <a:srgbClr val="ECECEC"/>
                </a:solidFill>
                <a:effectLst/>
                <a:latin typeface="Söhne"/>
              </a:rPr>
              <a:t> AI </a:t>
            </a:r>
            <a:r>
              <a:rPr lang="fr-FR" b="0" i="0" dirty="0" err="1">
                <a:solidFill>
                  <a:srgbClr val="ECECEC"/>
                </a:solidFill>
                <a:effectLst/>
                <a:latin typeface="Söhne"/>
              </a:rPr>
              <a:t>allows</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to </a:t>
            </a:r>
            <a:r>
              <a:rPr lang="fr-FR" b="0" i="0" dirty="0" err="1">
                <a:solidFill>
                  <a:srgbClr val="ECECEC"/>
                </a:solidFill>
                <a:effectLst/>
                <a:latin typeface="Söhne"/>
              </a:rPr>
              <a:t>access</a:t>
            </a:r>
            <a:r>
              <a:rPr lang="fr-FR" b="0" i="0" dirty="0">
                <a:solidFill>
                  <a:srgbClr val="ECECEC"/>
                </a:solidFill>
                <a:effectLst/>
                <a:latin typeface="Söhne"/>
              </a:rPr>
              <a:t> large </a:t>
            </a:r>
            <a:r>
              <a:rPr lang="fr-FR" b="0" i="0" dirty="0" err="1">
                <a:solidFill>
                  <a:srgbClr val="ECECEC"/>
                </a:solidFill>
                <a:effectLst/>
                <a:latin typeface="Söhne"/>
              </a:rPr>
              <a:t>generative</a:t>
            </a:r>
            <a:r>
              <a:rPr lang="fr-FR" b="0" i="0" dirty="0">
                <a:solidFill>
                  <a:srgbClr val="ECECEC"/>
                </a:solidFill>
                <a:effectLst/>
                <a:latin typeface="Söhne"/>
              </a:rPr>
              <a:t> AI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Google (and </a:t>
            </a:r>
            <a:r>
              <a:rPr lang="fr-FR" b="0" i="0" dirty="0" err="1">
                <a:solidFill>
                  <a:srgbClr val="ECECEC"/>
                </a:solidFill>
                <a:effectLst/>
                <a:latin typeface="Söhne"/>
              </a:rPr>
              <a:t>others</a:t>
            </a:r>
            <a:r>
              <a:rPr lang="fr-FR" b="0" i="0" dirty="0">
                <a:solidFill>
                  <a:srgbClr val="ECECEC"/>
                </a:solidFill>
                <a:effectLst/>
                <a:latin typeface="Söhne"/>
              </a:rPr>
              <a:t>) for multiple </a:t>
            </a:r>
            <a:r>
              <a:rPr lang="fr-FR" b="0" i="0" dirty="0" err="1">
                <a:solidFill>
                  <a:srgbClr val="ECECEC"/>
                </a:solidFill>
                <a:effectLst/>
                <a:latin typeface="Söhne"/>
              </a:rPr>
              <a:t>modalities</a:t>
            </a:r>
            <a:r>
              <a:rPr lang="fr-FR" b="0" i="0" dirty="0">
                <a:solidFill>
                  <a:srgbClr val="ECECEC"/>
                </a:solidFill>
                <a:effectLst/>
                <a:latin typeface="Söhne"/>
              </a:rPr>
              <a:t> (</a:t>
            </a:r>
            <a:r>
              <a:rPr lang="fr-FR" b="0" i="0" dirty="0" err="1">
                <a:solidFill>
                  <a:srgbClr val="ECECEC"/>
                </a:solidFill>
                <a:effectLst/>
                <a:latin typeface="Söhne"/>
              </a:rPr>
              <a:t>text</a:t>
            </a:r>
            <a:r>
              <a:rPr lang="fr-FR" b="0" i="0" dirty="0">
                <a:solidFill>
                  <a:srgbClr val="ECECEC"/>
                </a:solidFill>
                <a:effectLst/>
                <a:latin typeface="Söhne"/>
              </a:rPr>
              <a:t>, code, images, </a:t>
            </a:r>
            <a:r>
              <a:rPr lang="fr-FR" b="0" i="0" dirty="0" err="1">
                <a:solidFill>
                  <a:srgbClr val="ECECEC"/>
                </a:solidFill>
                <a:effectLst/>
                <a:latin typeface="Söhne"/>
              </a:rPr>
              <a:t>voice</a:t>
            </a:r>
            <a:r>
              <a:rPr lang="fr-FR" b="0" i="0" dirty="0">
                <a:solidFill>
                  <a:srgbClr val="ECECEC"/>
                </a:solidFill>
                <a:effectLst/>
                <a:latin typeface="Söhne"/>
              </a:rPr>
              <a:t>). You can fine-tune </a:t>
            </a:r>
            <a:r>
              <a:rPr lang="fr-FR" b="0" i="0" dirty="0" err="1">
                <a:solidFill>
                  <a:srgbClr val="ECECEC"/>
                </a:solidFill>
                <a:effectLst/>
                <a:latin typeface="Söhne"/>
              </a:rPr>
              <a:t>Google's</a:t>
            </a:r>
            <a:r>
              <a:rPr lang="fr-FR" b="0" i="0" dirty="0">
                <a:solidFill>
                  <a:srgbClr val="ECECEC"/>
                </a:solidFill>
                <a:effectLst/>
                <a:latin typeface="Söhne"/>
              </a:rPr>
              <a:t> </a:t>
            </a:r>
            <a:r>
              <a:rPr lang="fr-FR" b="0" i="0" dirty="0" err="1">
                <a:solidFill>
                  <a:srgbClr val="ECECEC"/>
                </a:solidFill>
                <a:effectLst/>
                <a:latin typeface="Söhne"/>
              </a:rPr>
              <a:t>LLMs</a:t>
            </a:r>
            <a:r>
              <a:rPr lang="fr-FR" b="0" i="0" dirty="0">
                <a:solidFill>
                  <a:srgbClr val="ECECEC"/>
                </a:solidFill>
                <a:effectLst/>
                <a:latin typeface="Söhne"/>
              </a:rPr>
              <a:t> to </a:t>
            </a:r>
            <a:r>
              <a:rPr lang="fr-FR" b="0" i="0" dirty="0" err="1">
                <a:solidFill>
                  <a:srgbClr val="ECECEC"/>
                </a:solidFill>
                <a:effectLst/>
                <a:latin typeface="Söhne"/>
              </a:rPr>
              <a:t>meet</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a:t>
            </a:r>
            <a:r>
              <a:rPr lang="fr-FR" b="0" i="0" dirty="0" err="1">
                <a:solidFill>
                  <a:srgbClr val="ECECEC"/>
                </a:solidFill>
                <a:effectLst/>
                <a:latin typeface="Söhne"/>
              </a:rPr>
              <a:t>needs</a:t>
            </a:r>
            <a:r>
              <a:rPr lang="fr-FR" b="0" i="0" dirty="0">
                <a:solidFill>
                  <a:srgbClr val="ECECEC"/>
                </a:solidFill>
                <a:effectLst/>
                <a:latin typeface="Söhne"/>
              </a:rPr>
              <a:t>, and </a:t>
            </a:r>
            <a:r>
              <a:rPr lang="fr-FR" b="0" i="0" dirty="0" err="1">
                <a:solidFill>
                  <a:srgbClr val="ECECEC"/>
                </a:solidFill>
                <a:effectLst/>
                <a:latin typeface="Söhne"/>
              </a:rPr>
              <a:t>then</a:t>
            </a:r>
            <a:r>
              <a:rPr lang="fr-FR" b="0" i="0" dirty="0">
                <a:solidFill>
                  <a:srgbClr val="ECECEC"/>
                </a:solidFill>
                <a:effectLst/>
                <a:latin typeface="Söhne"/>
              </a:rPr>
              <a:t> </a:t>
            </a:r>
            <a:r>
              <a:rPr lang="fr-FR" b="0" i="0" dirty="0" err="1">
                <a:solidFill>
                  <a:srgbClr val="ECECEC"/>
                </a:solidFill>
                <a:effectLst/>
                <a:latin typeface="Söhne"/>
              </a:rPr>
              <a:t>deploy</a:t>
            </a:r>
            <a:r>
              <a:rPr lang="fr-FR" b="0" i="0" dirty="0">
                <a:solidFill>
                  <a:srgbClr val="ECECEC"/>
                </a:solidFill>
                <a:effectLst/>
                <a:latin typeface="Söhne"/>
              </a:rPr>
              <a:t> </a:t>
            </a:r>
            <a:r>
              <a:rPr lang="fr-FR" b="0" i="0" dirty="0" err="1">
                <a:solidFill>
                  <a:srgbClr val="ECECEC"/>
                </a:solidFill>
                <a:effectLst/>
                <a:latin typeface="Söhne"/>
              </a:rPr>
              <a:t>them</a:t>
            </a:r>
            <a:r>
              <a:rPr lang="fr-FR" b="0" i="0" dirty="0">
                <a:solidFill>
                  <a:srgbClr val="ECECEC"/>
                </a:solidFill>
                <a:effectLst/>
                <a:latin typeface="Söhne"/>
              </a:rPr>
              <a:t> for use in </a:t>
            </a:r>
            <a:r>
              <a:rPr lang="fr-FR" b="0" i="0" dirty="0" err="1">
                <a:solidFill>
                  <a:srgbClr val="ECECEC"/>
                </a:solidFill>
                <a:effectLst/>
                <a:latin typeface="Söhne"/>
              </a:rPr>
              <a:t>your</a:t>
            </a:r>
            <a:r>
              <a:rPr lang="fr-FR" b="0" i="0" dirty="0">
                <a:solidFill>
                  <a:srgbClr val="ECECEC"/>
                </a:solidFill>
                <a:effectLst/>
                <a:latin typeface="Söhne"/>
              </a:rPr>
              <a:t> AI-</a:t>
            </a:r>
            <a:r>
              <a:rPr lang="fr-FR" b="0" i="0" dirty="0" err="1">
                <a:solidFill>
                  <a:srgbClr val="ECECEC"/>
                </a:solidFill>
                <a:effectLst/>
                <a:latin typeface="Söhne"/>
              </a:rPr>
              <a:t>based</a:t>
            </a:r>
            <a:r>
              <a:rPr lang="fr-FR" b="0" i="0" dirty="0">
                <a:solidFill>
                  <a:srgbClr val="ECECEC"/>
                </a:solidFill>
                <a:effectLst/>
                <a:latin typeface="Söhne"/>
              </a:rPr>
              <a:t> applications.</a:t>
            </a:r>
          </a:p>
          <a:p>
            <a:pPr algn="l">
              <a:buFont typeface="Arial" panose="020B0604020202020204" pitchFamily="34" charset="0"/>
              <a:buChar char="•"/>
            </a:pPr>
            <a:r>
              <a:rPr lang="fr-FR" b="0" i="0" dirty="0" err="1">
                <a:solidFill>
                  <a:srgbClr val="ECECEC"/>
                </a:solidFill>
                <a:effectLst/>
                <a:latin typeface="Söhne"/>
              </a:rPr>
              <a:t>Additionally</a:t>
            </a:r>
            <a:r>
              <a:rPr lang="fr-FR" b="0" i="0" dirty="0">
                <a:solidFill>
                  <a:srgbClr val="ECECEC"/>
                </a:solidFill>
                <a:effectLst/>
                <a:latin typeface="Söhne"/>
              </a:rPr>
              <a:t>, </a:t>
            </a:r>
            <a:r>
              <a:rPr lang="fr-FR" b="0" i="0" dirty="0" err="1">
                <a:solidFill>
                  <a:srgbClr val="ECECEC"/>
                </a:solidFill>
                <a:effectLst/>
                <a:latin typeface="Söhne"/>
              </a:rPr>
              <a:t>predictive</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can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created</a:t>
            </a:r>
            <a:r>
              <a:rPr lang="fr-FR" b="0" i="0" dirty="0">
                <a:solidFill>
                  <a:srgbClr val="ECECEC"/>
                </a:solidFill>
                <a:effectLst/>
                <a:latin typeface="Söhne"/>
              </a:rPr>
              <a:t> in </a:t>
            </a:r>
            <a:r>
              <a:rPr lang="fr-FR" b="0" i="0" dirty="0" err="1">
                <a:solidFill>
                  <a:srgbClr val="ECECEC"/>
                </a:solidFill>
                <a:effectLst/>
                <a:latin typeface="Söhne"/>
              </a:rPr>
              <a:t>BigQuery</a:t>
            </a:r>
            <a:r>
              <a:rPr lang="fr-FR" b="0" i="0" dirty="0">
                <a:solidFill>
                  <a:srgbClr val="ECECEC"/>
                </a:solidFill>
                <a:effectLst/>
                <a:latin typeface="Söhne"/>
              </a:rPr>
              <a:t> </a:t>
            </a:r>
            <a:r>
              <a:rPr lang="fr-FR" b="0" i="0" dirty="0" err="1">
                <a:solidFill>
                  <a:srgbClr val="ECECEC"/>
                </a:solidFill>
                <a:effectLst/>
                <a:latin typeface="Söhne"/>
              </a:rPr>
              <a:t>using</a:t>
            </a:r>
            <a:r>
              <a:rPr lang="fr-FR" b="0" i="0" dirty="0">
                <a:solidFill>
                  <a:srgbClr val="ECECEC"/>
                </a:solidFill>
                <a:effectLst/>
                <a:latin typeface="Söhne"/>
              </a:rPr>
              <a:t> BQML. </a:t>
            </a:r>
            <a:r>
              <a:rPr lang="fr-FR" b="0" i="0" dirty="0" err="1">
                <a:solidFill>
                  <a:srgbClr val="ECECEC"/>
                </a:solidFill>
                <a:effectLst/>
                <a:latin typeface="Söhne"/>
              </a:rPr>
              <a:t>These</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can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in Vertex 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9424808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16848" y="1866380"/>
            <a:ext cx="10647838" cy="4447334"/>
          </a:xfrm>
        </p:spPr>
        <p:txBody>
          <a:bodyPr>
            <a:normAutofit lnSpcReduction="10000"/>
          </a:bodyPr>
          <a:lstStyle/>
          <a:p>
            <a:pPr algn="l">
              <a:buFont typeface="Arial" panose="020B0604020202020204" pitchFamily="34" charset="0"/>
              <a:buChar char="•"/>
            </a:pPr>
            <a:r>
              <a:rPr lang="fr-FR" sz="2400" b="0" i="0" dirty="0">
                <a:solidFill>
                  <a:srgbClr val="ECECEC"/>
                </a:solidFill>
                <a:effectLst/>
                <a:latin typeface="Söhne"/>
              </a:rPr>
              <a:t>Once </a:t>
            </a:r>
            <a:r>
              <a:rPr lang="fr-FR" sz="2400" b="0" i="0" dirty="0" err="1">
                <a:solidFill>
                  <a:srgbClr val="ECECEC"/>
                </a:solidFill>
                <a:effectLst/>
                <a:latin typeface="Söhne"/>
              </a:rPr>
              <a:t>your</a:t>
            </a:r>
            <a:r>
              <a:rPr lang="fr-FR" sz="2400" b="0" i="0" dirty="0">
                <a:solidFill>
                  <a:srgbClr val="ECECEC"/>
                </a:solidFill>
                <a:effectLst/>
                <a:latin typeface="Söhne"/>
              </a:rPr>
              <a:t> </a:t>
            </a:r>
            <a:r>
              <a:rPr lang="fr-FR" sz="2400" b="0" i="0" dirty="0" err="1">
                <a:solidFill>
                  <a:srgbClr val="ECECEC"/>
                </a:solidFill>
                <a:effectLst/>
                <a:latin typeface="Söhne"/>
              </a:rPr>
              <a:t>models</a:t>
            </a:r>
            <a:r>
              <a:rPr lang="fr-FR" sz="2400" b="0" i="0" dirty="0">
                <a:solidFill>
                  <a:srgbClr val="ECECEC"/>
                </a:solidFill>
                <a:effectLst/>
                <a:latin typeface="Söhne"/>
              </a:rPr>
              <a:t> are </a:t>
            </a:r>
            <a:r>
              <a:rPr lang="fr-FR" sz="2400" b="0" i="0" dirty="0" err="1">
                <a:solidFill>
                  <a:srgbClr val="ECECEC"/>
                </a:solidFill>
                <a:effectLst/>
                <a:latin typeface="Söhne"/>
              </a:rPr>
              <a:t>deployed</a:t>
            </a:r>
            <a:r>
              <a:rPr lang="fr-FR" sz="2400" b="0" i="0" dirty="0">
                <a:solidFill>
                  <a:srgbClr val="ECECEC"/>
                </a:solidFill>
                <a:effectLst/>
                <a:latin typeface="Söhne"/>
              </a:rPr>
              <a:t>, use Vertex </a:t>
            </a:r>
            <a:r>
              <a:rPr lang="fr-FR" sz="2400" b="0" i="0" dirty="0" err="1">
                <a:solidFill>
                  <a:srgbClr val="ECECEC"/>
                </a:solidFill>
                <a:effectLst/>
                <a:latin typeface="Söhne"/>
              </a:rPr>
              <a:t>AI's</a:t>
            </a:r>
            <a:r>
              <a:rPr lang="fr-FR" sz="2400" b="0" i="0" dirty="0">
                <a:solidFill>
                  <a:srgbClr val="ECECEC"/>
                </a:solidFill>
                <a:effectLst/>
                <a:latin typeface="Söhne"/>
              </a:rPr>
              <a:t> end-to-end </a:t>
            </a:r>
            <a:r>
              <a:rPr lang="fr-FR" sz="2400" b="0" i="0" dirty="0" err="1">
                <a:solidFill>
                  <a:srgbClr val="ECECEC"/>
                </a:solidFill>
                <a:effectLst/>
                <a:latin typeface="Söhne"/>
              </a:rPr>
              <a:t>MLOps</a:t>
            </a:r>
            <a:r>
              <a:rPr lang="fr-FR" sz="2400" b="0" i="0" dirty="0">
                <a:solidFill>
                  <a:srgbClr val="ECECEC"/>
                </a:solidFill>
                <a:effectLst/>
                <a:latin typeface="Söhne"/>
              </a:rPr>
              <a:t> </a:t>
            </a:r>
            <a:r>
              <a:rPr lang="fr-FR" sz="2400" b="0" i="0" dirty="0" err="1">
                <a:solidFill>
                  <a:srgbClr val="ECECEC"/>
                </a:solidFill>
                <a:effectLst/>
                <a:latin typeface="Söhne"/>
              </a:rPr>
              <a:t>tools</a:t>
            </a:r>
            <a:r>
              <a:rPr lang="fr-FR" sz="2400" b="0" i="0" dirty="0">
                <a:solidFill>
                  <a:srgbClr val="ECECEC"/>
                </a:solidFill>
                <a:effectLst/>
                <a:latin typeface="Söhne"/>
              </a:rPr>
              <a:t> to automate and </a:t>
            </a:r>
            <a:r>
              <a:rPr lang="fr-FR" sz="2400" b="0" i="0" dirty="0" err="1">
                <a:solidFill>
                  <a:srgbClr val="ECECEC"/>
                </a:solidFill>
                <a:effectLst/>
                <a:latin typeface="Söhne"/>
              </a:rPr>
              <a:t>scale</a:t>
            </a:r>
            <a:r>
              <a:rPr lang="fr-FR" sz="2400" b="0" i="0" dirty="0">
                <a:solidFill>
                  <a:srgbClr val="ECECEC"/>
                </a:solidFill>
                <a:effectLst/>
                <a:latin typeface="Söhne"/>
              </a:rPr>
              <a:t> </a:t>
            </a:r>
            <a:r>
              <a:rPr lang="fr-FR" sz="2400" b="0" i="0" dirty="0" err="1">
                <a:solidFill>
                  <a:srgbClr val="ECECEC"/>
                </a:solidFill>
                <a:effectLst/>
                <a:latin typeface="Söhne"/>
              </a:rPr>
              <a:t>projects</a:t>
            </a:r>
            <a:r>
              <a:rPr lang="fr-FR" sz="2400" b="0" i="0" dirty="0">
                <a:solidFill>
                  <a:srgbClr val="ECECEC"/>
                </a:solidFill>
                <a:effectLst/>
                <a:latin typeface="Söhne"/>
              </a:rPr>
              <a:t> </a:t>
            </a:r>
            <a:r>
              <a:rPr lang="fr-FR" sz="2400" b="0" i="0" dirty="0" err="1">
                <a:solidFill>
                  <a:srgbClr val="ECECEC"/>
                </a:solidFill>
                <a:effectLst/>
                <a:latin typeface="Söhne"/>
              </a:rPr>
              <a:t>throughout</a:t>
            </a:r>
            <a:r>
              <a:rPr lang="fr-FR" sz="2400" b="0" i="0" dirty="0">
                <a:solidFill>
                  <a:srgbClr val="ECECEC"/>
                </a:solidFill>
                <a:effectLst/>
                <a:latin typeface="Söhne"/>
              </a:rPr>
              <a:t> the ML </a:t>
            </a:r>
            <a:r>
              <a:rPr lang="fr-FR" sz="2400" b="0" i="0" dirty="0" err="1">
                <a:solidFill>
                  <a:srgbClr val="ECECEC"/>
                </a:solidFill>
                <a:effectLst/>
                <a:latin typeface="Söhne"/>
              </a:rPr>
              <a:t>lifecycle</a:t>
            </a:r>
            <a:r>
              <a:rPr lang="fr-FR" sz="2400" b="0" i="0" dirty="0">
                <a:solidFill>
                  <a:srgbClr val="ECECEC"/>
                </a:solidFill>
                <a:effectLst/>
                <a:latin typeface="Söhne"/>
              </a:rPr>
              <a:t>. </a:t>
            </a:r>
            <a:r>
              <a:rPr lang="fr-FR" sz="2400" b="0" i="0" dirty="0" err="1">
                <a:solidFill>
                  <a:srgbClr val="ECECEC"/>
                </a:solidFill>
                <a:effectLst/>
                <a:latin typeface="Söhne"/>
              </a:rPr>
              <a:t>These</a:t>
            </a:r>
            <a:r>
              <a:rPr lang="fr-FR" sz="2400" b="0" i="0" dirty="0">
                <a:solidFill>
                  <a:srgbClr val="ECECEC"/>
                </a:solidFill>
                <a:effectLst/>
                <a:latin typeface="Söhne"/>
              </a:rPr>
              <a:t> </a:t>
            </a:r>
            <a:r>
              <a:rPr lang="fr-FR" sz="2400" b="0" i="0" dirty="0" err="1">
                <a:solidFill>
                  <a:srgbClr val="ECECEC"/>
                </a:solidFill>
                <a:effectLst/>
                <a:latin typeface="Söhne"/>
              </a:rPr>
              <a:t>MLOps</a:t>
            </a:r>
            <a:r>
              <a:rPr lang="fr-FR" sz="2400" b="0" i="0" dirty="0">
                <a:solidFill>
                  <a:srgbClr val="ECECEC"/>
                </a:solidFill>
                <a:effectLst/>
                <a:latin typeface="Söhne"/>
              </a:rPr>
              <a:t> </a:t>
            </a:r>
            <a:r>
              <a:rPr lang="fr-FR" sz="2400" b="0" i="0" dirty="0" err="1">
                <a:solidFill>
                  <a:srgbClr val="ECECEC"/>
                </a:solidFill>
                <a:effectLst/>
                <a:latin typeface="Söhne"/>
              </a:rPr>
              <a:t>tools</a:t>
            </a:r>
            <a:r>
              <a:rPr lang="fr-FR" sz="2400" b="0" i="0" dirty="0">
                <a:solidFill>
                  <a:srgbClr val="ECECEC"/>
                </a:solidFill>
                <a:effectLst/>
                <a:latin typeface="Söhne"/>
              </a:rPr>
              <a:t> run on </a:t>
            </a:r>
            <a:r>
              <a:rPr lang="fr-FR" sz="2400" b="0" i="0" dirty="0" err="1">
                <a:solidFill>
                  <a:srgbClr val="ECECEC"/>
                </a:solidFill>
                <a:effectLst/>
                <a:latin typeface="Söhne"/>
              </a:rPr>
              <a:t>fully</a:t>
            </a:r>
            <a:r>
              <a:rPr lang="fr-FR" sz="2400" b="0" i="0" dirty="0">
                <a:solidFill>
                  <a:srgbClr val="ECECEC"/>
                </a:solidFill>
                <a:effectLst/>
                <a:latin typeface="Söhne"/>
              </a:rPr>
              <a:t> </a:t>
            </a:r>
            <a:r>
              <a:rPr lang="fr-FR" sz="2400" b="0" i="0" dirty="0" err="1">
                <a:solidFill>
                  <a:srgbClr val="ECECEC"/>
                </a:solidFill>
                <a:effectLst/>
                <a:latin typeface="Söhne"/>
              </a:rPr>
              <a:t>managed</a:t>
            </a:r>
            <a:r>
              <a:rPr lang="fr-FR" sz="2400" b="0" i="0" dirty="0">
                <a:solidFill>
                  <a:srgbClr val="ECECEC"/>
                </a:solidFill>
                <a:effectLst/>
                <a:latin typeface="Söhne"/>
              </a:rPr>
              <a:t> infrastructure </a:t>
            </a:r>
            <a:r>
              <a:rPr lang="fr-FR" sz="2400" b="0" i="0" dirty="0" err="1">
                <a:solidFill>
                  <a:srgbClr val="ECECEC"/>
                </a:solidFill>
                <a:effectLst/>
                <a:latin typeface="Söhne"/>
              </a:rPr>
              <a:t>that</a:t>
            </a:r>
            <a:r>
              <a:rPr lang="fr-FR" sz="2400" b="0" i="0" dirty="0">
                <a:solidFill>
                  <a:srgbClr val="ECECEC"/>
                </a:solidFill>
                <a:effectLst/>
                <a:latin typeface="Söhne"/>
              </a:rPr>
              <a:t> </a:t>
            </a:r>
            <a:r>
              <a:rPr lang="fr-FR" sz="2400" b="0" i="0" dirty="0" err="1">
                <a:solidFill>
                  <a:srgbClr val="ECECEC"/>
                </a:solidFill>
                <a:effectLst/>
                <a:latin typeface="Söhne"/>
              </a:rPr>
              <a:t>you</a:t>
            </a:r>
            <a:r>
              <a:rPr lang="fr-FR" sz="2400" b="0" i="0" dirty="0">
                <a:solidFill>
                  <a:srgbClr val="ECECEC"/>
                </a:solidFill>
                <a:effectLst/>
                <a:latin typeface="Söhne"/>
              </a:rPr>
              <a:t> can </a:t>
            </a:r>
            <a:r>
              <a:rPr lang="fr-FR" sz="2400" b="0" i="0" dirty="0" err="1">
                <a:solidFill>
                  <a:srgbClr val="ECECEC"/>
                </a:solidFill>
                <a:effectLst/>
                <a:latin typeface="Söhne"/>
              </a:rPr>
              <a:t>customize</a:t>
            </a:r>
            <a:r>
              <a:rPr lang="fr-FR" sz="2400" b="0" i="0" dirty="0">
                <a:solidFill>
                  <a:srgbClr val="ECECEC"/>
                </a:solidFill>
                <a:effectLst/>
                <a:latin typeface="Söhne"/>
              </a:rPr>
              <a:t> </a:t>
            </a:r>
            <a:r>
              <a:rPr lang="fr-FR" sz="2400" b="0" i="0" dirty="0" err="1">
                <a:solidFill>
                  <a:srgbClr val="ECECEC"/>
                </a:solidFill>
                <a:effectLst/>
                <a:latin typeface="Söhne"/>
              </a:rPr>
              <a:t>based</a:t>
            </a:r>
            <a:r>
              <a:rPr lang="fr-FR" sz="2400" b="0" i="0" dirty="0">
                <a:solidFill>
                  <a:srgbClr val="ECECEC"/>
                </a:solidFill>
                <a:effectLst/>
                <a:latin typeface="Söhne"/>
              </a:rPr>
              <a:t> on </a:t>
            </a:r>
            <a:r>
              <a:rPr lang="fr-FR" sz="2400" b="0" i="0" dirty="0" err="1">
                <a:solidFill>
                  <a:srgbClr val="ECECEC"/>
                </a:solidFill>
                <a:effectLst/>
                <a:latin typeface="Söhne"/>
              </a:rPr>
              <a:t>your</a:t>
            </a:r>
            <a:r>
              <a:rPr lang="fr-FR" sz="2400" b="0" i="0" dirty="0">
                <a:solidFill>
                  <a:srgbClr val="ECECEC"/>
                </a:solidFill>
                <a:effectLst/>
                <a:latin typeface="Söhne"/>
              </a:rPr>
              <a:t> performance and budget </a:t>
            </a:r>
            <a:r>
              <a:rPr lang="fr-FR" sz="2400" b="0" i="0" dirty="0" err="1">
                <a:solidFill>
                  <a:srgbClr val="ECECEC"/>
                </a:solidFill>
                <a:effectLst/>
                <a:latin typeface="Söhne"/>
              </a:rPr>
              <a:t>needs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You can use the Vertex AI Python SDK to run the </a:t>
            </a:r>
            <a:r>
              <a:rPr lang="fr-FR" sz="2400" b="0" i="0" dirty="0" err="1">
                <a:solidFill>
                  <a:srgbClr val="ECECEC"/>
                </a:solidFill>
                <a:effectLst/>
                <a:latin typeface="Söhne"/>
              </a:rPr>
              <a:t>entire</a:t>
            </a:r>
            <a:r>
              <a:rPr lang="fr-FR" sz="2400" b="0" i="0" dirty="0">
                <a:solidFill>
                  <a:srgbClr val="ECECEC"/>
                </a:solidFill>
                <a:effectLst/>
                <a:latin typeface="Söhne"/>
              </a:rPr>
              <a:t> machine </a:t>
            </a:r>
            <a:r>
              <a:rPr lang="fr-FR" sz="2400" b="0" i="0" dirty="0" err="1">
                <a:solidFill>
                  <a:srgbClr val="ECECEC"/>
                </a:solidFill>
                <a:effectLst/>
                <a:latin typeface="Söhne"/>
              </a:rPr>
              <a:t>learning</a:t>
            </a:r>
            <a:r>
              <a:rPr lang="fr-FR" sz="2400" b="0" i="0" dirty="0">
                <a:solidFill>
                  <a:srgbClr val="ECECEC"/>
                </a:solidFill>
                <a:effectLst/>
                <a:latin typeface="Söhne"/>
              </a:rPr>
              <a:t> workflow in Vertex AI Workbench, a </a:t>
            </a:r>
            <a:r>
              <a:rPr lang="fr-FR" sz="2400" b="0" i="0" dirty="0" err="1">
                <a:solidFill>
                  <a:srgbClr val="ECECEC"/>
                </a:solidFill>
                <a:effectLst/>
                <a:latin typeface="Söhne"/>
              </a:rPr>
              <a:t>development</a:t>
            </a:r>
            <a:r>
              <a:rPr lang="fr-FR" sz="2400" b="0" i="0" dirty="0">
                <a:solidFill>
                  <a:srgbClr val="ECECEC"/>
                </a:solidFill>
                <a:effectLst/>
                <a:latin typeface="Söhne"/>
              </a:rPr>
              <a:t> </a:t>
            </a:r>
            <a:r>
              <a:rPr lang="fr-FR" sz="2400" b="0" i="0" dirty="0" err="1">
                <a:solidFill>
                  <a:srgbClr val="ECECEC"/>
                </a:solidFill>
                <a:effectLst/>
                <a:latin typeface="Söhne"/>
              </a:rPr>
              <a:t>environment</a:t>
            </a:r>
            <a:r>
              <a:rPr lang="fr-FR" sz="2400" b="0" i="0" dirty="0">
                <a:solidFill>
                  <a:srgbClr val="ECECEC"/>
                </a:solidFill>
                <a:effectLst/>
                <a:latin typeface="Söhne"/>
              </a:rPr>
              <a:t> </a:t>
            </a:r>
            <a:r>
              <a:rPr lang="fr-FR" sz="2400" b="0" i="0" dirty="0" err="1">
                <a:solidFill>
                  <a:srgbClr val="ECECEC"/>
                </a:solidFill>
                <a:effectLst/>
                <a:latin typeface="Söhne"/>
              </a:rPr>
              <a:t>based</a:t>
            </a:r>
            <a:r>
              <a:rPr lang="fr-FR" sz="2400" b="0" i="0" dirty="0">
                <a:solidFill>
                  <a:srgbClr val="ECECEC"/>
                </a:solidFill>
                <a:effectLst/>
                <a:latin typeface="Söhne"/>
              </a:rPr>
              <a:t> on a </a:t>
            </a:r>
            <a:r>
              <a:rPr lang="fr-FR" sz="2400" b="0" i="0" dirty="0" err="1">
                <a:solidFill>
                  <a:srgbClr val="ECECEC"/>
                </a:solidFill>
                <a:effectLst/>
                <a:latin typeface="Söhne"/>
              </a:rPr>
              <a:t>Jupyter</a:t>
            </a:r>
            <a:r>
              <a:rPr lang="fr-FR" sz="2400" b="0" i="0" dirty="0">
                <a:solidFill>
                  <a:srgbClr val="ECECEC"/>
                </a:solidFill>
                <a:effectLst/>
                <a:latin typeface="Söhne"/>
              </a:rPr>
              <a:t> notebook. You can </a:t>
            </a:r>
            <a:r>
              <a:rPr lang="fr-FR" sz="2400" b="0" i="0" dirty="0" err="1">
                <a:solidFill>
                  <a:srgbClr val="ECECEC"/>
                </a:solidFill>
                <a:effectLst/>
                <a:latin typeface="Söhne"/>
              </a:rPr>
              <a:t>collaborate</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a team to </a:t>
            </a:r>
            <a:r>
              <a:rPr lang="fr-FR" sz="2400" b="0" i="0" dirty="0" err="1">
                <a:solidFill>
                  <a:srgbClr val="ECECEC"/>
                </a:solidFill>
                <a:effectLst/>
                <a:latin typeface="Söhne"/>
              </a:rPr>
              <a:t>develop</a:t>
            </a:r>
            <a:r>
              <a:rPr lang="fr-FR" sz="2400" b="0" i="0" dirty="0">
                <a:solidFill>
                  <a:srgbClr val="ECECEC"/>
                </a:solidFill>
                <a:effectLst/>
                <a:latin typeface="Söhne"/>
              </a:rPr>
              <a:t> </a:t>
            </a:r>
            <a:r>
              <a:rPr lang="fr-FR" sz="2400" b="0" i="0" dirty="0" err="1">
                <a:solidFill>
                  <a:srgbClr val="ECECEC"/>
                </a:solidFill>
                <a:effectLst/>
                <a:latin typeface="Söhne"/>
              </a:rPr>
              <a:t>your</a:t>
            </a:r>
            <a:r>
              <a:rPr lang="fr-FR" sz="2400" b="0" i="0" dirty="0">
                <a:solidFill>
                  <a:srgbClr val="ECECEC"/>
                </a:solidFill>
                <a:effectLst/>
                <a:latin typeface="Söhne"/>
              </a:rPr>
              <a:t> model in </a:t>
            </a:r>
            <a:r>
              <a:rPr lang="fr-FR" sz="2400" b="0" i="0" dirty="0" err="1">
                <a:solidFill>
                  <a:srgbClr val="ECECEC"/>
                </a:solidFill>
                <a:effectLst/>
                <a:latin typeface="Söhne"/>
              </a:rPr>
              <a:t>Colab</a:t>
            </a:r>
            <a:r>
              <a:rPr lang="fr-FR" sz="2400" b="0" i="0" dirty="0">
                <a:solidFill>
                  <a:srgbClr val="ECECEC"/>
                </a:solidFill>
                <a:effectLst/>
                <a:latin typeface="Söhne"/>
              </a:rPr>
              <a:t> Enterprise, a version of </a:t>
            </a:r>
            <a:r>
              <a:rPr lang="fr-FR" sz="2400" b="0" i="0" dirty="0" err="1">
                <a:solidFill>
                  <a:srgbClr val="ECECEC"/>
                </a:solidFill>
                <a:effectLst/>
                <a:latin typeface="Söhne"/>
              </a:rPr>
              <a:t>Colaboratory</a:t>
            </a:r>
            <a:r>
              <a:rPr lang="fr-FR" sz="2400" b="0" i="0" dirty="0">
                <a:solidFill>
                  <a:srgbClr val="ECECEC"/>
                </a:solidFill>
                <a:effectLst/>
                <a:latin typeface="Söhne"/>
              </a:rPr>
              <a:t> </a:t>
            </a:r>
            <a:r>
              <a:rPr lang="fr-FR" sz="2400" b="0" i="0" dirty="0" err="1">
                <a:solidFill>
                  <a:srgbClr val="ECECEC"/>
                </a:solidFill>
                <a:effectLst/>
                <a:latin typeface="Söhne"/>
              </a:rPr>
              <a:t>integrated</a:t>
            </a:r>
            <a:r>
              <a:rPr lang="fr-FR" sz="2400" b="0" i="0" dirty="0">
                <a:solidFill>
                  <a:srgbClr val="ECECEC"/>
                </a:solidFill>
                <a:effectLst/>
                <a:latin typeface="Söhne"/>
              </a:rPr>
              <a:t> </a:t>
            </a:r>
            <a:r>
              <a:rPr lang="fr-FR" sz="2400" b="0" i="0" dirty="0" err="1">
                <a:solidFill>
                  <a:srgbClr val="ECECEC"/>
                </a:solidFill>
                <a:effectLst/>
                <a:latin typeface="Söhne"/>
              </a:rPr>
              <a:t>with</a:t>
            </a:r>
            <a:r>
              <a:rPr lang="fr-FR" sz="2400" b="0" i="0" dirty="0">
                <a:solidFill>
                  <a:srgbClr val="ECECEC"/>
                </a:solidFill>
                <a:effectLst/>
                <a:latin typeface="Söhne"/>
              </a:rPr>
              <a:t> Vertex AI. </a:t>
            </a:r>
            <a:r>
              <a:rPr lang="fr-FR" sz="2400" b="0" i="0" dirty="0" err="1">
                <a:solidFill>
                  <a:srgbClr val="ECECEC"/>
                </a:solidFill>
                <a:effectLst/>
                <a:latin typeface="Söhne"/>
              </a:rPr>
              <a:t>Other</a:t>
            </a:r>
            <a:r>
              <a:rPr lang="fr-FR" sz="2400" b="0" i="0" dirty="0">
                <a:solidFill>
                  <a:srgbClr val="ECECEC"/>
                </a:solidFill>
                <a:effectLst/>
                <a:latin typeface="Söhne"/>
              </a:rPr>
              <a:t> </a:t>
            </a:r>
            <a:r>
              <a:rPr lang="fr-FR" sz="2400" b="0" i="0" dirty="0" err="1">
                <a:solidFill>
                  <a:srgbClr val="ECECEC"/>
                </a:solidFill>
                <a:effectLst/>
                <a:latin typeface="Söhne"/>
              </a:rPr>
              <a:t>available</a:t>
            </a:r>
            <a:r>
              <a:rPr lang="fr-FR" sz="2400" b="0" i="0" dirty="0">
                <a:solidFill>
                  <a:srgbClr val="ECECEC"/>
                </a:solidFill>
                <a:effectLst/>
                <a:latin typeface="Söhne"/>
              </a:rPr>
              <a:t> interfaces </a:t>
            </a:r>
            <a:r>
              <a:rPr lang="fr-FR" sz="2400" b="0" i="0" dirty="0" err="1">
                <a:solidFill>
                  <a:srgbClr val="ECECEC"/>
                </a:solidFill>
                <a:effectLst/>
                <a:latin typeface="Söhne"/>
              </a:rPr>
              <a:t>include</a:t>
            </a:r>
            <a:r>
              <a:rPr lang="fr-FR" sz="2400" b="0" i="0" dirty="0">
                <a:solidFill>
                  <a:srgbClr val="ECECEC"/>
                </a:solidFill>
                <a:effectLst/>
                <a:latin typeface="Söhne"/>
              </a:rPr>
              <a:t> the Google Cloud console, the </a:t>
            </a:r>
            <a:r>
              <a:rPr lang="fr-FR" sz="2400" b="0" i="0" dirty="0" err="1">
                <a:solidFill>
                  <a:srgbClr val="ECECEC"/>
                </a:solidFill>
                <a:effectLst/>
                <a:latin typeface="Söhne"/>
              </a:rPr>
              <a:t>gcloud</a:t>
            </a:r>
            <a:r>
              <a:rPr lang="fr-FR" sz="2400" b="0" i="0" dirty="0">
                <a:solidFill>
                  <a:srgbClr val="ECECEC"/>
                </a:solidFill>
                <a:effectLst/>
                <a:latin typeface="Söhne"/>
              </a:rPr>
              <a:t> command-line </a:t>
            </a:r>
            <a:r>
              <a:rPr lang="fr-FR" sz="2400" b="0" i="0" dirty="0" err="1">
                <a:solidFill>
                  <a:srgbClr val="ECECEC"/>
                </a:solidFill>
                <a:effectLst/>
                <a:latin typeface="Söhne"/>
              </a:rPr>
              <a:t>tool</a:t>
            </a:r>
            <a:r>
              <a:rPr lang="fr-FR" sz="2400" b="0" i="0" dirty="0">
                <a:solidFill>
                  <a:srgbClr val="ECECEC"/>
                </a:solidFill>
                <a:effectLst/>
                <a:latin typeface="Söhne"/>
              </a:rPr>
              <a:t>, client </a:t>
            </a:r>
            <a:r>
              <a:rPr lang="fr-FR" sz="2400" b="0" i="0" dirty="0" err="1">
                <a:solidFill>
                  <a:srgbClr val="ECECEC"/>
                </a:solidFill>
                <a:effectLst/>
                <a:latin typeface="Söhne"/>
              </a:rPr>
              <a:t>libraries</a:t>
            </a:r>
            <a:r>
              <a:rPr lang="fr-FR" sz="2400" b="0" i="0" dirty="0">
                <a:solidFill>
                  <a:srgbClr val="ECECEC"/>
                </a:solidFill>
                <a:effectLst/>
                <a:latin typeface="Söhne"/>
              </a:rPr>
              <a:t>, and </a:t>
            </a:r>
            <a:r>
              <a:rPr lang="fr-FR" sz="2400" b="0" i="0" dirty="0" err="1">
                <a:solidFill>
                  <a:srgbClr val="ECECEC"/>
                </a:solidFill>
                <a:effectLst/>
                <a:latin typeface="Söhne"/>
              </a:rPr>
              <a:t>Terraform</a:t>
            </a:r>
            <a:r>
              <a:rPr lang="fr-FR" sz="2400" b="0" i="0" dirty="0">
                <a:solidFill>
                  <a:srgbClr val="ECECEC"/>
                </a:solidFill>
                <a:effectLst/>
                <a:latin typeface="Söhne"/>
              </a:rPr>
              <a:t> (</a:t>
            </a:r>
            <a:r>
              <a:rPr lang="fr-FR" sz="2400" b="0" i="0" dirty="0" err="1">
                <a:solidFill>
                  <a:srgbClr val="ECECEC"/>
                </a:solidFill>
                <a:effectLst/>
                <a:latin typeface="Söhne"/>
              </a:rPr>
              <a:t>limited</a:t>
            </a:r>
            <a:r>
              <a:rPr lang="fr-FR" sz="2400" b="0" i="0" dirty="0">
                <a:solidFill>
                  <a:srgbClr val="ECECEC"/>
                </a:solidFill>
                <a:effectLst/>
                <a:latin typeface="Söhne"/>
              </a:rPr>
              <a:t> compatibility).</a:t>
            </a:r>
          </a:p>
          <a:p>
            <a:pPr algn="l">
              <a:buFont typeface="Arial" panose="020B0604020202020204" pitchFamily="34" charset="0"/>
              <a:buChar char="•"/>
            </a:pPr>
            <a:r>
              <a:rPr lang="fr-FR" sz="2400" b="0" i="0" dirty="0">
                <a:solidFill>
                  <a:srgbClr val="ECECEC"/>
                </a:solidFill>
                <a:effectLst/>
                <a:latin typeface="Söhne"/>
              </a:rPr>
              <a:t>Vertex AI </a:t>
            </a:r>
            <a:r>
              <a:rPr lang="fr-FR" sz="2400" b="0" i="0" dirty="0" err="1">
                <a:solidFill>
                  <a:srgbClr val="ECECEC"/>
                </a:solidFill>
                <a:effectLst/>
                <a:latin typeface="Söhne"/>
              </a:rPr>
              <a:t>also</a:t>
            </a:r>
            <a:r>
              <a:rPr lang="fr-FR" sz="2400" b="0" i="0" dirty="0">
                <a:solidFill>
                  <a:srgbClr val="ECECEC"/>
                </a:solidFill>
                <a:effectLst/>
                <a:latin typeface="Söhne"/>
              </a:rPr>
              <a:t> </a:t>
            </a:r>
            <a:r>
              <a:rPr lang="fr-FR" sz="2400" b="0" i="0" dirty="0" err="1">
                <a:solidFill>
                  <a:srgbClr val="ECECEC"/>
                </a:solidFill>
                <a:effectLst/>
                <a:latin typeface="Söhne"/>
              </a:rPr>
              <a:t>offers</a:t>
            </a:r>
            <a:r>
              <a:rPr lang="fr-FR" sz="2400" b="0" i="0" dirty="0">
                <a:solidFill>
                  <a:srgbClr val="ECECEC"/>
                </a:solidFill>
                <a:effectLst/>
                <a:latin typeface="Söhne"/>
              </a:rPr>
              <a:t> the </a:t>
            </a:r>
            <a:r>
              <a:rPr lang="fr-FR" sz="2400" b="0" i="0" dirty="0" err="1">
                <a:solidFill>
                  <a:srgbClr val="ECECEC"/>
                </a:solidFill>
                <a:effectLst/>
                <a:latin typeface="Söhne"/>
              </a:rPr>
              <a:t>ability</a:t>
            </a:r>
            <a:r>
              <a:rPr lang="fr-FR" sz="2400" b="0" i="0" dirty="0">
                <a:solidFill>
                  <a:srgbClr val="ECECEC"/>
                </a:solidFill>
                <a:effectLst/>
                <a:latin typeface="Söhne"/>
              </a:rPr>
              <a:t> to label data in </a:t>
            </a:r>
            <a:r>
              <a:rPr lang="fr-FR" sz="2400" b="0" i="0" dirty="0" err="1">
                <a:solidFill>
                  <a:srgbClr val="ECECEC"/>
                </a:solidFill>
                <a:effectLst/>
                <a:latin typeface="Söhne"/>
              </a:rPr>
              <a:t>your</a:t>
            </a:r>
            <a:r>
              <a:rPr lang="fr-FR" sz="2400" b="0" i="0" dirty="0">
                <a:solidFill>
                  <a:srgbClr val="ECECEC"/>
                </a:solidFill>
                <a:effectLst/>
                <a:latin typeface="Söhne"/>
              </a:rPr>
              <a:t> </a:t>
            </a:r>
            <a:r>
              <a:rPr lang="fr-FR" sz="2400" b="0" i="0" dirty="0" err="1">
                <a:solidFill>
                  <a:srgbClr val="ECECEC"/>
                </a:solidFill>
                <a:effectLst/>
                <a:latin typeface="Söhne"/>
              </a:rPr>
              <a:t>datasets</a:t>
            </a:r>
            <a:r>
              <a:rPr lang="fr-FR" sz="2400" b="0" i="0" dirty="0">
                <a:solidFill>
                  <a:srgbClr val="ECECEC"/>
                </a:solidFill>
                <a:effectLst/>
                <a:latin typeface="Söhne"/>
              </a:rPr>
              <a:t>.</a:t>
            </a:r>
          </a:p>
          <a:p>
            <a:pPr algn="l">
              <a:buFont typeface="Arial" panose="020B0604020202020204" pitchFamily="34" charset="0"/>
              <a:buChar char="•"/>
            </a:pPr>
            <a:r>
              <a:rPr lang="fr-FR" sz="2400" b="0" i="0" dirty="0">
                <a:solidFill>
                  <a:srgbClr val="ECECEC"/>
                </a:solidFill>
                <a:effectLst/>
                <a:latin typeface="Söhne"/>
              </a:rPr>
              <a:t>Pre-</a:t>
            </a:r>
            <a:r>
              <a:rPr lang="fr-FR" sz="2400" b="0" i="0" dirty="0" err="1">
                <a:solidFill>
                  <a:srgbClr val="ECECEC"/>
                </a:solidFill>
                <a:effectLst/>
                <a:latin typeface="Söhne"/>
              </a:rPr>
              <a:t>trained</a:t>
            </a:r>
            <a:r>
              <a:rPr lang="fr-FR" sz="2400" b="0" i="0" dirty="0">
                <a:solidFill>
                  <a:srgbClr val="ECECEC"/>
                </a:solidFill>
                <a:effectLst/>
                <a:latin typeface="Söhne"/>
              </a:rPr>
              <a:t> </a:t>
            </a:r>
            <a:r>
              <a:rPr lang="fr-FR" sz="2400" b="0" i="0" dirty="0" err="1">
                <a:solidFill>
                  <a:srgbClr val="ECECEC"/>
                </a:solidFill>
                <a:effectLst/>
                <a:latin typeface="Söhne"/>
              </a:rPr>
              <a:t>models</a:t>
            </a:r>
            <a:r>
              <a:rPr lang="fr-FR" sz="2400" b="0" i="0" dirty="0">
                <a:solidFill>
                  <a:srgbClr val="ECECEC"/>
                </a:solidFill>
                <a:effectLst/>
                <a:latin typeface="Söhne"/>
              </a:rPr>
              <a:t> are </a:t>
            </a:r>
            <a:r>
              <a:rPr lang="fr-FR" sz="2400" b="0" i="0" dirty="0" err="1">
                <a:solidFill>
                  <a:srgbClr val="ECECEC"/>
                </a:solidFill>
                <a:effectLst/>
                <a:latin typeface="Söhne"/>
              </a:rPr>
              <a:t>available</a:t>
            </a:r>
            <a:r>
              <a:rPr lang="fr-FR" sz="2400" b="0" i="0" dirty="0">
                <a:solidFill>
                  <a:srgbClr val="ECECEC"/>
                </a:solidFill>
                <a:effectLst/>
                <a:latin typeface="Söhne"/>
              </a:rPr>
              <a:t> via API: Google Vision API, Google Speech API, etc., </a:t>
            </a:r>
            <a:r>
              <a:rPr lang="fr-FR" sz="2400" b="0" i="0" dirty="0" err="1">
                <a:solidFill>
                  <a:srgbClr val="ECECEC"/>
                </a:solidFill>
                <a:effectLst/>
                <a:latin typeface="Söhne"/>
              </a:rPr>
              <a:t>with</a:t>
            </a:r>
            <a:r>
              <a:rPr lang="fr-FR" sz="2400" b="0" i="0" dirty="0">
                <a:solidFill>
                  <a:srgbClr val="ECECEC"/>
                </a:solidFill>
                <a:effectLst/>
                <a:latin typeface="Söhne"/>
              </a:rPr>
              <a:t> a </a:t>
            </a:r>
            <a:r>
              <a:rPr lang="fr-FR" sz="2400" b="0" i="0" dirty="0" err="1">
                <a:solidFill>
                  <a:srgbClr val="ECECEC"/>
                </a:solidFill>
                <a:effectLst/>
                <a:latin typeface="Söhne"/>
              </a:rPr>
              <a:t>cost</a:t>
            </a:r>
            <a:r>
              <a:rPr lang="fr-FR" sz="2400" b="0" i="0" dirty="0">
                <a:solidFill>
                  <a:srgbClr val="ECECEC"/>
                </a:solidFill>
                <a:effectLst/>
                <a:latin typeface="Söhne"/>
              </a:rPr>
              <a:t> per call.</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8504991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52699"/>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436915"/>
            <a:ext cx="11530646" cy="5138056"/>
          </a:xfrm>
        </p:spPr>
        <p:txBody>
          <a:bodyPr>
            <a:normAutofit/>
          </a:bodyPr>
          <a:lstStyle/>
          <a:p>
            <a:pPr algn="l">
              <a:buFont typeface="Arial" panose="020B0604020202020204" pitchFamily="34" charset="0"/>
              <a:buChar char="•"/>
            </a:pPr>
            <a:r>
              <a:rPr lang="fr-FR" sz="1800" b="0" i="0" dirty="0">
                <a:solidFill>
                  <a:srgbClr val="ECECEC"/>
                </a:solidFill>
                <a:effectLst/>
                <a:latin typeface="Söhne"/>
              </a:rPr>
              <a:t>Once </a:t>
            </a:r>
            <a:r>
              <a:rPr lang="fr-FR" sz="1800" b="0" i="0" dirty="0" err="1">
                <a:solidFill>
                  <a:srgbClr val="ECECEC"/>
                </a:solidFill>
                <a:effectLst/>
                <a:latin typeface="Söhne"/>
              </a:rPr>
              <a:t>your</a:t>
            </a:r>
            <a:r>
              <a:rPr lang="fr-FR" sz="1800" b="0" i="0" dirty="0">
                <a:solidFill>
                  <a:srgbClr val="ECECEC"/>
                </a:solidFill>
                <a:effectLst/>
                <a:latin typeface="Söhne"/>
              </a:rPr>
              <a:t> </a:t>
            </a:r>
            <a:r>
              <a:rPr lang="fr-FR" sz="1800" b="0" i="0" dirty="0" err="1">
                <a:solidFill>
                  <a:srgbClr val="ECECEC"/>
                </a:solidFill>
                <a:effectLst/>
                <a:latin typeface="Söhne"/>
              </a:rPr>
              <a:t>models</a:t>
            </a:r>
            <a:r>
              <a:rPr lang="fr-FR" sz="1800" b="0" i="0" dirty="0">
                <a:solidFill>
                  <a:srgbClr val="ECECEC"/>
                </a:solidFill>
                <a:effectLst/>
                <a:latin typeface="Söhne"/>
              </a:rPr>
              <a:t> are </a:t>
            </a:r>
            <a:r>
              <a:rPr lang="fr-FR" sz="1800" b="0" i="0" dirty="0" err="1">
                <a:solidFill>
                  <a:srgbClr val="ECECEC"/>
                </a:solidFill>
                <a:effectLst/>
                <a:latin typeface="Söhne"/>
              </a:rPr>
              <a:t>deployed</a:t>
            </a:r>
            <a:r>
              <a:rPr lang="fr-FR" sz="1800" b="0" i="0" dirty="0">
                <a:solidFill>
                  <a:srgbClr val="ECECEC"/>
                </a:solidFill>
                <a:effectLst/>
                <a:latin typeface="Söhne"/>
              </a:rPr>
              <a:t>, </a:t>
            </a:r>
            <a:r>
              <a:rPr lang="fr-FR" sz="1800" b="0" i="0" dirty="0" err="1">
                <a:solidFill>
                  <a:srgbClr val="ECECEC"/>
                </a:solidFill>
                <a:effectLst/>
                <a:latin typeface="Söhne"/>
              </a:rPr>
              <a:t>they</a:t>
            </a:r>
            <a:r>
              <a:rPr lang="fr-FR" sz="1800" b="0" i="0" dirty="0">
                <a:solidFill>
                  <a:srgbClr val="ECECEC"/>
                </a:solidFill>
                <a:effectLst/>
                <a:latin typeface="Söhne"/>
              </a:rPr>
              <a:t> </a:t>
            </a:r>
            <a:r>
              <a:rPr lang="fr-FR" sz="1800" b="0" i="0" dirty="0" err="1">
                <a:solidFill>
                  <a:srgbClr val="ECECEC"/>
                </a:solidFill>
                <a:effectLst/>
                <a:latin typeface="Söhne"/>
              </a:rPr>
              <a:t>need</a:t>
            </a:r>
            <a:r>
              <a:rPr lang="fr-FR" sz="1800" b="0" i="0" dirty="0">
                <a:solidFill>
                  <a:srgbClr val="ECECEC"/>
                </a:solidFill>
                <a:effectLst/>
                <a:latin typeface="Söhne"/>
              </a:rPr>
              <a:t> to </a:t>
            </a:r>
            <a:r>
              <a:rPr lang="fr-FR" sz="1800" b="0" i="0" dirty="0" err="1">
                <a:solidFill>
                  <a:srgbClr val="ECECEC"/>
                </a:solidFill>
                <a:effectLst/>
                <a:latin typeface="Söhne"/>
              </a:rPr>
              <a:t>track</a:t>
            </a:r>
            <a:r>
              <a:rPr lang="fr-FR" sz="1800" b="0" i="0" dirty="0">
                <a:solidFill>
                  <a:srgbClr val="ECECEC"/>
                </a:solidFill>
                <a:effectLst/>
                <a:latin typeface="Söhne"/>
              </a:rPr>
              <a:t> changes in the </a:t>
            </a:r>
            <a:r>
              <a:rPr lang="fr-FR" sz="1800" b="0" i="0" dirty="0" err="1">
                <a:solidFill>
                  <a:srgbClr val="ECECEC"/>
                </a:solidFill>
                <a:effectLst/>
                <a:latin typeface="Söhne"/>
              </a:rPr>
              <a:t>environment</a:t>
            </a:r>
            <a:r>
              <a:rPr lang="fr-FR" sz="1800" b="0" i="0" dirty="0">
                <a:solidFill>
                  <a:srgbClr val="ECECEC"/>
                </a:solidFill>
                <a:effectLst/>
                <a:latin typeface="Söhne"/>
              </a:rPr>
              <a:t> to </a:t>
            </a:r>
            <a:r>
              <a:rPr lang="fr-FR" sz="1800" b="0" i="0" dirty="0" err="1">
                <a:solidFill>
                  <a:srgbClr val="ECECEC"/>
                </a:solidFill>
                <a:effectLst/>
                <a:latin typeface="Söhne"/>
              </a:rPr>
              <a:t>optimize</a:t>
            </a:r>
            <a:r>
              <a:rPr lang="fr-FR" sz="1800" b="0" i="0" dirty="0">
                <a:solidFill>
                  <a:srgbClr val="ECECEC"/>
                </a:solidFill>
                <a:effectLst/>
                <a:latin typeface="Söhne"/>
              </a:rPr>
              <a:t> </a:t>
            </a:r>
            <a:r>
              <a:rPr lang="fr-FR" sz="1800" b="0" i="0" dirty="0" err="1">
                <a:solidFill>
                  <a:srgbClr val="ECECEC"/>
                </a:solidFill>
                <a:effectLst/>
                <a:latin typeface="Söhne"/>
              </a:rPr>
              <a:t>their</a:t>
            </a:r>
            <a:r>
              <a:rPr lang="fr-FR" sz="1800" b="0" i="0" dirty="0">
                <a:solidFill>
                  <a:srgbClr val="ECECEC"/>
                </a:solidFill>
                <a:effectLst/>
                <a:latin typeface="Söhne"/>
              </a:rPr>
              <a:t> performance and </a:t>
            </a:r>
            <a:r>
              <a:rPr lang="fr-FR" sz="1800" b="0" i="0" dirty="0" err="1">
                <a:solidFill>
                  <a:srgbClr val="ECECEC"/>
                </a:solidFill>
                <a:effectLst/>
                <a:latin typeface="Söhne"/>
              </a:rPr>
              <a:t>remain</a:t>
            </a:r>
            <a:r>
              <a:rPr lang="fr-FR" sz="1800" b="0" i="0" dirty="0">
                <a:solidFill>
                  <a:srgbClr val="ECECEC"/>
                </a:solidFill>
                <a:effectLst/>
                <a:latin typeface="Söhne"/>
              </a:rPr>
              <a:t> relevant. </a:t>
            </a:r>
            <a:r>
              <a:rPr lang="fr-FR" sz="1800" b="0" i="0" dirty="0" err="1">
                <a:solidFill>
                  <a:srgbClr val="ECECEC"/>
                </a:solidFill>
                <a:effectLst/>
                <a:latin typeface="Söhne"/>
              </a:rPr>
              <a:t>MLOps</a:t>
            </a:r>
            <a:r>
              <a:rPr lang="fr-FR" sz="1800" b="0" i="0" dirty="0">
                <a:solidFill>
                  <a:srgbClr val="ECECEC"/>
                </a:solidFill>
                <a:effectLst/>
                <a:latin typeface="Söhne"/>
              </a:rPr>
              <a:t> </a:t>
            </a:r>
            <a:r>
              <a:rPr lang="fr-FR" sz="1800" b="0" i="0" dirty="0" err="1">
                <a:solidFill>
                  <a:srgbClr val="ECECEC"/>
                </a:solidFill>
                <a:effectLst/>
                <a:latin typeface="Söhne"/>
              </a:rPr>
              <a:t>is</a:t>
            </a:r>
            <a:r>
              <a:rPr lang="fr-FR" sz="1800" b="0" i="0" dirty="0">
                <a:solidFill>
                  <a:srgbClr val="ECECEC"/>
                </a:solidFill>
                <a:effectLst/>
                <a:latin typeface="Söhne"/>
              </a:rPr>
              <a:t> a set of practices </a:t>
            </a:r>
            <a:r>
              <a:rPr lang="fr-FR" sz="1800" b="0" i="0" dirty="0" err="1">
                <a:solidFill>
                  <a:srgbClr val="ECECEC"/>
                </a:solidFill>
                <a:effectLst/>
                <a:latin typeface="Söhne"/>
              </a:rPr>
              <a:t>that</a:t>
            </a:r>
            <a:r>
              <a:rPr lang="fr-FR" sz="1800" b="0" i="0" dirty="0">
                <a:solidFill>
                  <a:srgbClr val="ECECEC"/>
                </a:solidFill>
                <a:effectLst/>
                <a:latin typeface="Söhne"/>
              </a:rPr>
              <a:t> </a:t>
            </a:r>
            <a:r>
              <a:rPr lang="fr-FR" sz="1800" b="0" i="0" dirty="0" err="1">
                <a:solidFill>
                  <a:srgbClr val="ECECEC"/>
                </a:solidFill>
                <a:effectLst/>
                <a:latin typeface="Söhne"/>
              </a:rPr>
              <a:t>improves</a:t>
            </a:r>
            <a:r>
              <a:rPr lang="fr-FR" sz="1800" b="0" i="0" dirty="0">
                <a:solidFill>
                  <a:srgbClr val="ECECEC"/>
                </a:solidFill>
                <a:effectLst/>
                <a:latin typeface="Söhne"/>
              </a:rPr>
              <a:t> the </a:t>
            </a:r>
            <a:r>
              <a:rPr lang="fr-FR" sz="1800" b="0" i="0" dirty="0" err="1">
                <a:solidFill>
                  <a:srgbClr val="ECECEC"/>
                </a:solidFill>
                <a:effectLst/>
                <a:latin typeface="Söhne"/>
              </a:rPr>
              <a:t>stability</a:t>
            </a:r>
            <a:r>
              <a:rPr lang="fr-FR" sz="1800" b="0" i="0" dirty="0">
                <a:solidFill>
                  <a:srgbClr val="ECECEC"/>
                </a:solidFill>
                <a:effectLst/>
                <a:latin typeface="Söhne"/>
              </a:rPr>
              <a:t> and </a:t>
            </a:r>
            <a:r>
              <a:rPr lang="fr-FR" sz="1800" b="0" i="0" dirty="0" err="1">
                <a:solidFill>
                  <a:srgbClr val="ECECEC"/>
                </a:solidFill>
                <a:effectLst/>
                <a:latin typeface="Söhne"/>
              </a:rPr>
              <a:t>reliability</a:t>
            </a:r>
            <a:r>
              <a:rPr lang="fr-FR" sz="1800" b="0" i="0" dirty="0">
                <a:solidFill>
                  <a:srgbClr val="ECECEC"/>
                </a:solidFill>
                <a:effectLst/>
                <a:latin typeface="Söhne"/>
              </a:rPr>
              <a:t> of </a:t>
            </a:r>
            <a:r>
              <a:rPr lang="fr-FR" sz="1800" b="0" i="0" dirty="0" err="1">
                <a:solidFill>
                  <a:srgbClr val="ECECEC"/>
                </a:solidFill>
                <a:effectLst/>
                <a:latin typeface="Söhne"/>
              </a:rPr>
              <a:t>your</a:t>
            </a:r>
            <a:r>
              <a:rPr lang="fr-FR" sz="1800" b="0" i="0" dirty="0">
                <a:solidFill>
                  <a:srgbClr val="ECECEC"/>
                </a:solidFill>
                <a:effectLst/>
                <a:latin typeface="Söhne"/>
              </a:rPr>
              <a:t> ML </a:t>
            </a:r>
            <a:r>
              <a:rPr lang="fr-FR" sz="1800" b="0" i="0" dirty="0" err="1">
                <a:solidFill>
                  <a:srgbClr val="ECECEC"/>
                </a:solidFill>
                <a:effectLst/>
                <a:latin typeface="Söhne"/>
              </a:rPr>
              <a:t>systems</a:t>
            </a:r>
            <a:r>
              <a:rPr lang="fr-FR" sz="1800" b="0" i="0" dirty="0">
                <a:solidFill>
                  <a:srgbClr val="ECECEC"/>
                </a:solidFill>
                <a:effectLst/>
                <a:latin typeface="Söhne"/>
              </a:rPr>
              <a:t>.</a:t>
            </a:r>
          </a:p>
          <a:p>
            <a:pPr algn="l">
              <a:buFont typeface="Arial" panose="020B0604020202020204" pitchFamily="34" charset="0"/>
              <a:buChar char="•"/>
            </a:pPr>
            <a:r>
              <a:rPr lang="fr-FR" sz="1800" b="0" i="0" dirty="0" err="1">
                <a:solidFill>
                  <a:srgbClr val="ECECEC"/>
                </a:solidFill>
                <a:effectLst/>
                <a:latin typeface="Söhne"/>
              </a:rPr>
              <a:t>Orchestrating</a:t>
            </a:r>
            <a:r>
              <a:rPr lang="fr-FR" sz="1800" b="0" i="0" dirty="0">
                <a:solidFill>
                  <a:srgbClr val="ECECEC"/>
                </a:solidFill>
                <a:effectLst/>
                <a:latin typeface="Söhne"/>
              </a:rPr>
              <a:t> workflows: </a:t>
            </a:r>
            <a:r>
              <a:rPr lang="fr-FR" sz="1800" b="0" i="0" dirty="0" err="1">
                <a:solidFill>
                  <a:srgbClr val="ECECEC"/>
                </a:solidFill>
                <a:effectLst/>
                <a:latin typeface="Söhne"/>
              </a:rPr>
              <a:t>Manually</a:t>
            </a:r>
            <a:r>
              <a:rPr lang="fr-FR" sz="1800" b="0" i="0" dirty="0">
                <a:solidFill>
                  <a:srgbClr val="ECECEC"/>
                </a:solidFill>
                <a:effectLst/>
                <a:latin typeface="Söhne"/>
              </a:rPr>
              <a:t> training and </a:t>
            </a:r>
            <a:r>
              <a:rPr lang="fr-FR" sz="1800" b="0" i="0" dirty="0" err="1">
                <a:solidFill>
                  <a:srgbClr val="ECECEC"/>
                </a:solidFill>
                <a:effectLst/>
                <a:latin typeface="Söhne"/>
              </a:rPr>
              <a:t>deploying</a:t>
            </a:r>
            <a:r>
              <a:rPr lang="fr-FR" sz="1800" b="0" i="0" dirty="0">
                <a:solidFill>
                  <a:srgbClr val="ECECEC"/>
                </a:solidFill>
                <a:effectLst/>
                <a:latin typeface="Söhne"/>
              </a:rPr>
              <a:t> </a:t>
            </a:r>
            <a:r>
              <a:rPr lang="fr-FR" sz="1800" b="0" i="0" dirty="0" err="1">
                <a:solidFill>
                  <a:srgbClr val="ECECEC"/>
                </a:solidFill>
                <a:effectLst/>
                <a:latin typeface="Söhne"/>
              </a:rPr>
              <a:t>your</a:t>
            </a:r>
            <a:r>
              <a:rPr lang="fr-FR" sz="1800" b="0" i="0" dirty="0">
                <a:solidFill>
                  <a:srgbClr val="ECECEC"/>
                </a:solidFill>
                <a:effectLst/>
                <a:latin typeface="Söhne"/>
              </a:rPr>
              <a:t> </a:t>
            </a:r>
            <a:r>
              <a:rPr lang="fr-FR" sz="1800" b="0" i="0" dirty="0" err="1">
                <a:solidFill>
                  <a:srgbClr val="ECECEC"/>
                </a:solidFill>
                <a:effectLst/>
                <a:latin typeface="Söhne"/>
              </a:rPr>
              <a:t>models</a:t>
            </a:r>
            <a:r>
              <a:rPr lang="fr-FR" sz="1800" b="0" i="0" dirty="0">
                <a:solidFill>
                  <a:srgbClr val="ECECEC"/>
                </a:solidFill>
                <a:effectLst/>
                <a:latin typeface="Söhne"/>
              </a:rPr>
              <a:t> can </a:t>
            </a:r>
            <a:r>
              <a:rPr lang="fr-FR" sz="1800" b="0" i="0" dirty="0" err="1">
                <a:solidFill>
                  <a:srgbClr val="ECECEC"/>
                </a:solidFill>
                <a:effectLst/>
                <a:latin typeface="Söhne"/>
              </a:rPr>
              <a:t>be</a:t>
            </a:r>
            <a:r>
              <a:rPr lang="fr-FR" sz="1800" b="0" i="0" dirty="0">
                <a:solidFill>
                  <a:srgbClr val="ECECEC"/>
                </a:solidFill>
                <a:effectLst/>
                <a:latin typeface="Söhne"/>
              </a:rPr>
              <a:t> time-</a:t>
            </a:r>
            <a:r>
              <a:rPr lang="fr-FR" sz="1800" b="0" i="0" dirty="0" err="1">
                <a:solidFill>
                  <a:srgbClr val="ECECEC"/>
                </a:solidFill>
                <a:effectLst/>
                <a:latin typeface="Söhne"/>
              </a:rPr>
              <a:t>consuming</a:t>
            </a:r>
            <a:r>
              <a:rPr lang="fr-FR" sz="1800" b="0" i="0" dirty="0">
                <a:solidFill>
                  <a:srgbClr val="ECECEC"/>
                </a:solidFill>
                <a:effectLst/>
                <a:latin typeface="Söhne"/>
              </a:rPr>
              <a:t> and </a:t>
            </a:r>
            <a:r>
              <a:rPr lang="fr-FR" sz="1800" b="0" i="0" dirty="0" err="1">
                <a:solidFill>
                  <a:srgbClr val="ECECEC"/>
                </a:solidFill>
                <a:effectLst/>
                <a:latin typeface="Söhne"/>
              </a:rPr>
              <a:t>error-prone</a:t>
            </a:r>
            <a:r>
              <a:rPr lang="fr-FR" sz="1800" b="0" i="0" dirty="0">
                <a:solidFill>
                  <a:srgbClr val="ECECEC"/>
                </a:solidFill>
                <a:effectLst/>
                <a:latin typeface="Söhne"/>
              </a:rPr>
              <a:t>, </a:t>
            </a:r>
            <a:r>
              <a:rPr lang="fr-FR" sz="1800" b="0" i="0" dirty="0" err="1">
                <a:solidFill>
                  <a:srgbClr val="ECECEC"/>
                </a:solidFill>
                <a:effectLst/>
                <a:latin typeface="Söhne"/>
              </a:rPr>
              <a:t>especially</a:t>
            </a:r>
            <a:r>
              <a:rPr lang="fr-FR" sz="1800" b="0" i="0" dirty="0">
                <a:solidFill>
                  <a:srgbClr val="ECECEC"/>
                </a:solidFill>
                <a:effectLst/>
                <a:latin typeface="Söhne"/>
              </a:rPr>
              <a:t> if </a:t>
            </a:r>
            <a:r>
              <a:rPr lang="fr-FR" sz="1800" b="0" i="0" dirty="0" err="1">
                <a:solidFill>
                  <a:srgbClr val="ECECEC"/>
                </a:solidFill>
                <a:effectLst/>
                <a:latin typeface="Söhne"/>
              </a:rPr>
              <a:t>you</a:t>
            </a:r>
            <a:r>
              <a:rPr lang="fr-FR" sz="1800" b="0" i="0" dirty="0">
                <a:solidFill>
                  <a:srgbClr val="ECECEC"/>
                </a:solidFill>
                <a:effectLst/>
                <a:latin typeface="Söhne"/>
              </a:rPr>
              <a:t> </a:t>
            </a:r>
            <a:r>
              <a:rPr lang="fr-FR" sz="1800" b="0" i="0" dirty="0" err="1">
                <a:solidFill>
                  <a:srgbClr val="ECECEC"/>
                </a:solidFill>
                <a:effectLst/>
                <a:latin typeface="Söhne"/>
              </a:rPr>
              <a:t>need</a:t>
            </a:r>
            <a:r>
              <a:rPr lang="fr-FR" sz="1800" b="0" i="0" dirty="0">
                <a:solidFill>
                  <a:srgbClr val="ECECEC"/>
                </a:solidFill>
                <a:effectLst/>
                <a:latin typeface="Söhne"/>
              </a:rPr>
              <a:t> to </a:t>
            </a:r>
            <a:r>
              <a:rPr lang="fr-FR" sz="1800" b="0" i="0" dirty="0" err="1">
                <a:solidFill>
                  <a:srgbClr val="ECECEC"/>
                </a:solidFill>
                <a:effectLst/>
                <a:latin typeface="Söhne"/>
              </a:rPr>
              <a:t>repeat</a:t>
            </a:r>
            <a:r>
              <a:rPr lang="fr-FR" sz="1800" b="0" i="0" dirty="0">
                <a:solidFill>
                  <a:srgbClr val="ECECEC"/>
                </a:solidFill>
                <a:effectLst/>
                <a:latin typeface="Söhne"/>
              </a:rPr>
              <a:t> </a:t>
            </a:r>
            <a:r>
              <a:rPr lang="fr-FR" sz="1800" b="0" i="0" dirty="0" err="1">
                <a:solidFill>
                  <a:srgbClr val="ECECEC"/>
                </a:solidFill>
                <a:effectLst/>
                <a:latin typeface="Söhne"/>
              </a:rPr>
              <a:t>processes</a:t>
            </a:r>
            <a:r>
              <a:rPr lang="fr-FR" sz="1800" b="0" i="0" dirty="0">
                <a:solidFill>
                  <a:srgbClr val="ECECEC"/>
                </a:solidFill>
                <a:effectLst/>
                <a:latin typeface="Söhne"/>
              </a:rPr>
              <a:t> multiple times. Vertex AI Pipelines </a:t>
            </a:r>
            <a:r>
              <a:rPr lang="fr-FR" sz="1800" b="0" i="0" dirty="0" err="1">
                <a:solidFill>
                  <a:srgbClr val="ECECEC"/>
                </a:solidFill>
                <a:effectLst/>
                <a:latin typeface="Söhne"/>
              </a:rPr>
              <a:t>allow</a:t>
            </a:r>
            <a:r>
              <a:rPr lang="fr-FR" sz="1800" b="0" i="0" dirty="0">
                <a:solidFill>
                  <a:srgbClr val="ECECEC"/>
                </a:solidFill>
                <a:effectLst/>
                <a:latin typeface="Söhne"/>
              </a:rPr>
              <a:t> </a:t>
            </a:r>
            <a:r>
              <a:rPr lang="fr-FR" sz="1800" b="0" i="0" dirty="0" err="1">
                <a:solidFill>
                  <a:srgbClr val="ECECEC"/>
                </a:solidFill>
                <a:effectLst/>
                <a:latin typeface="Söhne"/>
              </a:rPr>
              <a:t>you</a:t>
            </a:r>
            <a:r>
              <a:rPr lang="fr-FR" sz="1800" b="0" i="0" dirty="0">
                <a:solidFill>
                  <a:srgbClr val="ECECEC"/>
                </a:solidFill>
                <a:effectLst/>
                <a:latin typeface="Söhne"/>
              </a:rPr>
              <a:t> to automate, monitor, and manage </a:t>
            </a:r>
            <a:r>
              <a:rPr lang="fr-FR" sz="1800" b="0" i="0" dirty="0" err="1">
                <a:solidFill>
                  <a:srgbClr val="ECECEC"/>
                </a:solidFill>
                <a:effectLst/>
                <a:latin typeface="Söhne"/>
              </a:rPr>
              <a:t>your</a:t>
            </a:r>
            <a:r>
              <a:rPr lang="fr-FR" sz="1800" b="0" i="0" dirty="0">
                <a:solidFill>
                  <a:srgbClr val="ECECEC"/>
                </a:solidFill>
                <a:effectLst/>
                <a:latin typeface="Söhne"/>
              </a:rPr>
              <a:t> ML workflows.</a:t>
            </a:r>
          </a:p>
          <a:p>
            <a:pPr algn="l">
              <a:buFont typeface="Arial" panose="020B0604020202020204" pitchFamily="34" charset="0"/>
              <a:buChar char="•"/>
            </a:pPr>
            <a:r>
              <a:rPr lang="fr-FR" sz="1800" b="0" i="0" dirty="0" err="1">
                <a:solidFill>
                  <a:srgbClr val="ECECEC"/>
                </a:solidFill>
                <a:effectLst/>
                <a:latin typeface="Söhne"/>
              </a:rPr>
              <a:t>Tracking</a:t>
            </a:r>
            <a:r>
              <a:rPr lang="fr-FR" sz="1800" b="0" i="0" dirty="0">
                <a:solidFill>
                  <a:srgbClr val="ECECEC"/>
                </a:solidFill>
                <a:effectLst/>
                <a:latin typeface="Söhne"/>
              </a:rPr>
              <a:t> </a:t>
            </a:r>
            <a:r>
              <a:rPr lang="fr-FR" sz="1800" b="0" i="0" dirty="0" err="1">
                <a:solidFill>
                  <a:srgbClr val="ECECEC"/>
                </a:solidFill>
                <a:effectLst/>
                <a:latin typeface="Söhne"/>
              </a:rPr>
              <a:t>metadata</a:t>
            </a:r>
            <a:r>
              <a:rPr lang="fr-FR" sz="1800" b="0" i="0" dirty="0">
                <a:solidFill>
                  <a:srgbClr val="ECECEC"/>
                </a:solidFill>
                <a:effectLst/>
                <a:latin typeface="Söhne"/>
              </a:rPr>
              <a:t> </a:t>
            </a:r>
            <a:r>
              <a:rPr lang="fr-FR" sz="1800" b="0" i="0" dirty="0" err="1">
                <a:solidFill>
                  <a:srgbClr val="ECECEC"/>
                </a:solidFill>
                <a:effectLst/>
                <a:latin typeface="Söhne"/>
              </a:rPr>
              <a:t>used</a:t>
            </a:r>
            <a:r>
              <a:rPr lang="fr-FR" sz="1800" b="0" i="0" dirty="0">
                <a:solidFill>
                  <a:srgbClr val="ECECEC"/>
                </a:solidFill>
                <a:effectLst/>
                <a:latin typeface="Söhne"/>
              </a:rPr>
              <a:t> in </a:t>
            </a:r>
            <a:r>
              <a:rPr lang="fr-FR" sz="1800" b="0" i="0" dirty="0" err="1">
                <a:solidFill>
                  <a:srgbClr val="ECECEC"/>
                </a:solidFill>
                <a:effectLst/>
                <a:latin typeface="Söhne"/>
              </a:rPr>
              <a:t>your</a:t>
            </a:r>
            <a:r>
              <a:rPr lang="fr-FR" sz="1800" b="0" i="0" dirty="0">
                <a:solidFill>
                  <a:srgbClr val="ECECEC"/>
                </a:solidFill>
                <a:effectLst/>
                <a:latin typeface="Söhne"/>
              </a:rPr>
              <a:t> ML system: In data science, </a:t>
            </a:r>
            <a:r>
              <a:rPr lang="fr-FR" sz="1800" b="0" i="0" dirty="0" err="1">
                <a:solidFill>
                  <a:srgbClr val="ECECEC"/>
                </a:solidFill>
                <a:effectLst/>
                <a:latin typeface="Söhne"/>
              </a:rPr>
              <a:t>it's</a:t>
            </a:r>
            <a:r>
              <a:rPr lang="fr-FR" sz="1800" b="0" i="0" dirty="0">
                <a:solidFill>
                  <a:srgbClr val="ECECEC"/>
                </a:solidFill>
                <a:effectLst/>
                <a:latin typeface="Söhne"/>
              </a:rPr>
              <a:t> important to </a:t>
            </a:r>
            <a:r>
              <a:rPr lang="fr-FR" sz="1800" b="0" i="0" dirty="0" err="1">
                <a:solidFill>
                  <a:srgbClr val="ECECEC"/>
                </a:solidFill>
                <a:effectLst/>
                <a:latin typeface="Söhne"/>
              </a:rPr>
              <a:t>track</a:t>
            </a:r>
            <a:r>
              <a:rPr lang="fr-FR" sz="1800" b="0" i="0" dirty="0">
                <a:solidFill>
                  <a:srgbClr val="ECECEC"/>
                </a:solidFill>
                <a:effectLst/>
                <a:latin typeface="Söhne"/>
              </a:rPr>
              <a:t> the </a:t>
            </a:r>
            <a:r>
              <a:rPr lang="fr-FR" sz="1800" b="0" i="0" dirty="0" err="1">
                <a:solidFill>
                  <a:srgbClr val="ECECEC"/>
                </a:solidFill>
                <a:effectLst/>
                <a:latin typeface="Söhne"/>
              </a:rPr>
              <a:t>parameters</a:t>
            </a:r>
            <a:r>
              <a:rPr lang="fr-FR" sz="1800" b="0" i="0" dirty="0">
                <a:solidFill>
                  <a:srgbClr val="ECECEC"/>
                </a:solidFill>
                <a:effectLst/>
                <a:latin typeface="Söhne"/>
              </a:rPr>
              <a:t>, </a:t>
            </a:r>
            <a:r>
              <a:rPr lang="fr-FR" sz="1800" b="0" i="0" dirty="0" err="1">
                <a:solidFill>
                  <a:srgbClr val="ECECEC"/>
                </a:solidFill>
                <a:effectLst/>
                <a:latin typeface="Söhne"/>
              </a:rPr>
              <a:t>artifacts</a:t>
            </a:r>
            <a:r>
              <a:rPr lang="fr-FR" sz="1800" b="0" i="0" dirty="0">
                <a:solidFill>
                  <a:srgbClr val="ECECEC"/>
                </a:solidFill>
                <a:effectLst/>
                <a:latin typeface="Söhne"/>
              </a:rPr>
              <a:t>, and </a:t>
            </a:r>
            <a:r>
              <a:rPr lang="fr-FR" sz="1800" b="0" i="0" dirty="0" err="1">
                <a:solidFill>
                  <a:srgbClr val="ECECEC"/>
                </a:solidFill>
                <a:effectLst/>
                <a:latin typeface="Söhne"/>
              </a:rPr>
              <a:t>metrics</a:t>
            </a:r>
            <a:r>
              <a:rPr lang="fr-FR" sz="1800" b="0" i="0" dirty="0">
                <a:solidFill>
                  <a:srgbClr val="ECECEC"/>
                </a:solidFill>
                <a:effectLst/>
                <a:latin typeface="Söhne"/>
              </a:rPr>
              <a:t> </a:t>
            </a:r>
            <a:r>
              <a:rPr lang="fr-FR" sz="1800" b="0" i="0" dirty="0" err="1">
                <a:solidFill>
                  <a:srgbClr val="ECECEC"/>
                </a:solidFill>
                <a:effectLst/>
                <a:latin typeface="Söhne"/>
              </a:rPr>
              <a:t>used</a:t>
            </a:r>
            <a:r>
              <a:rPr lang="fr-FR" sz="1800" b="0" i="0" dirty="0">
                <a:solidFill>
                  <a:srgbClr val="ECECEC"/>
                </a:solidFill>
                <a:effectLst/>
                <a:latin typeface="Söhne"/>
              </a:rPr>
              <a:t> in </a:t>
            </a:r>
            <a:r>
              <a:rPr lang="fr-FR" sz="1800" b="0" i="0" dirty="0" err="1">
                <a:solidFill>
                  <a:srgbClr val="ECECEC"/>
                </a:solidFill>
                <a:effectLst/>
                <a:latin typeface="Söhne"/>
              </a:rPr>
              <a:t>your</a:t>
            </a:r>
            <a:r>
              <a:rPr lang="fr-FR" sz="1800" b="0" i="0" dirty="0">
                <a:solidFill>
                  <a:srgbClr val="ECECEC"/>
                </a:solidFill>
                <a:effectLst/>
                <a:latin typeface="Söhne"/>
              </a:rPr>
              <a:t> ML workflow, </a:t>
            </a:r>
            <a:r>
              <a:rPr lang="fr-FR" sz="1800" b="0" i="0" dirty="0" err="1">
                <a:solidFill>
                  <a:srgbClr val="ECECEC"/>
                </a:solidFill>
                <a:effectLst/>
                <a:latin typeface="Söhne"/>
              </a:rPr>
              <a:t>especially</a:t>
            </a:r>
            <a:r>
              <a:rPr lang="fr-FR" sz="1800" b="0" i="0" dirty="0">
                <a:solidFill>
                  <a:srgbClr val="ECECEC"/>
                </a:solidFill>
                <a:effectLst/>
                <a:latin typeface="Söhne"/>
              </a:rPr>
              <a:t> </a:t>
            </a:r>
            <a:r>
              <a:rPr lang="fr-FR" sz="1800" b="0" i="0" dirty="0" err="1">
                <a:solidFill>
                  <a:srgbClr val="ECECEC"/>
                </a:solidFill>
                <a:effectLst/>
                <a:latin typeface="Söhne"/>
              </a:rPr>
              <a:t>when</a:t>
            </a:r>
            <a:r>
              <a:rPr lang="fr-FR" sz="1800" b="0" i="0" dirty="0">
                <a:solidFill>
                  <a:srgbClr val="ECECEC"/>
                </a:solidFill>
                <a:effectLst/>
                <a:latin typeface="Söhne"/>
              </a:rPr>
              <a:t> </a:t>
            </a:r>
            <a:r>
              <a:rPr lang="fr-FR" sz="1800" b="0" i="0" dirty="0" err="1">
                <a:solidFill>
                  <a:srgbClr val="ECECEC"/>
                </a:solidFill>
                <a:effectLst/>
                <a:latin typeface="Söhne"/>
              </a:rPr>
              <a:t>you're</a:t>
            </a:r>
            <a:r>
              <a:rPr lang="fr-FR" sz="1800" b="0" i="0" dirty="0">
                <a:solidFill>
                  <a:srgbClr val="ECECEC"/>
                </a:solidFill>
                <a:effectLst/>
                <a:latin typeface="Söhne"/>
              </a:rPr>
              <a:t> </a:t>
            </a:r>
            <a:r>
              <a:rPr lang="fr-FR" sz="1800" b="0" i="0" dirty="0" err="1">
                <a:solidFill>
                  <a:srgbClr val="ECECEC"/>
                </a:solidFill>
                <a:effectLst/>
                <a:latin typeface="Söhne"/>
              </a:rPr>
              <a:t>repeating</a:t>
            </a:r>
            <a:r>
              <a:rPr lang="fr-FR" sz="1800" b="0" i="0" dirty="0">
                <a:solidFill>
                  <a:srgbClr val="ECECEC"/>
                </a:solidFill>
                <a:effectLst/>
                <a:latin typeface="Söhne"/>
              </a:rPr>
              <a:t> the workflow multiple times. Vertex ML </a:t>
            </a:r>
            <a:r>
              <a:rPr lang="fr-FR" sz="1800" b="0" i="0" dirty="0" err="1">
                <a:solidFill>
                  <a:srgbClr val="ECECEC"/>
                </a:solidFill>
                <a:effectLst/>
                <a:latin typeface="Söhne"/>
              </a:rPr>
              <a:t>Metadata</a:t>
            </a:r>
            <a:r>
              <a:rPr lang="fr-FR" sz="1800" b="0" i="0" dirty="0">
                <a:solidFill>
                  <a:srgbClr val="ECECEC"/>
                </a:solidFill>
                <a:effectLst/>
                <a:latin typeface="Söhne"/>
              </a:rPr>
              <a:t> </a:t>
            </a:r>
            <a:r>
              <a:rPr lang="fr-FR" sz="1800" b="0" i="0" dirty="0" err="1">
                <a:solidFill>
                  <a:srgbClr val="ECECEC"/>
                </a:solidFill>
                <a:effectLst/>
                <a:latin typeface="Söhne"/>
              </a:rPr>
              <a:t>allows</a:t>
            </a:r>
            <a:r>
              <a:rPr lang="fr-FR" sz="1800" b="0" i="0" dirty="0">
                <a:solidFill>
                  <a:srgbClr val="ECECEC"/>
                </a:solidFill>
                <a:effectLst/>
                <a:latin typeface="Söhne"/>
              </a:rPr>
              <a:t> </a:t>
            </a:r>
            <a:r>
              <a:rPr lang="fr-FR" sz="1800" b="0" i="0" dirty="0" err="1">
                <a:solidFill>
                  <a:srgbClr val="ECECEC"/>
                </a:solidFill>
                <a:effectLst/>
                <a:latin typeface="Söhne"/>
              </a:rPr>
              <a:t>you</a:t>
            </a:r>
            <a:r>
              <a:rPr lang="fr-FR" sz="1800" b="0" i="0" dirty="0">
                <a:solidFill>
                  <a:srgbClr val="ECECEC"/>
                </a:solidFill>
                <a:effectLst/>
                <a:latin typeface="Söhne"/>
              </a:rPr>
              <a:t> to </a:t>
            </a:r>
            <a:r>
              <a:rPr lang="fr-FR" sz="1800" b="0" i="0" dirty="0" err="1">
                <a:solidFill>
                  <a:srgbClr val="ECECEC"/>
                </a:solidFill>
                <a:effectLst/>
                <a:latin typeface="Söhne"/>
              </a:rPr>
              <a:t>query</a:t>
            </a:r>
            <a:r>
              <a:rPr lang="fr-FR" sz="1800" b="0" i="0" dirty="0">
                <a:solidFill>
                  <a:srgbClr val="ECECEC"/>
                </a:solidFill>
                <a:effectLst/>
                <a:latin typeface="Söhne"/>
              </a:rPr>
              <a:t> </a:t>
            </a:r>
            <a:r>
              <a:rPr lang="fr-FR" sz="1800" b="0" i="0" dirty="0" err="1">
                <a:solidFill>
                  <a:srgbClr val="ECECEC"/>
                </a:solidFill>
                <a:effectLst/>
                <a:latin typeface="Söhne"/>
              </a:rPr>
              <a:t>this</a:t>
            </a:r>
            <a:r>
              <a:rPr lang="fr-FR" sz="1800" b="0" i="0" dirty="0">
                <a:solidFill>
                  <a:srgbClr val="ECECEC"/>
                </a:solidFill>
                <a:effectLst/>
                <a:latin typeface="Söhne"/>
              </a:rPr>
              <a:t> </a:t>
            </a:r>
            <a:r>
              <a:rPr lang="fr-FR" sz="1800" b="0" i="0" dirty="0" err="1">
                <a:solidFill>
                  <a:srgbClr val="ECECEC"/>
                </a:solidFill>
                <a:effectLst/>
                <a:latin typeface="Söhne"/>
              </a:rPr>
              <a:t>metadata</a:t>
            </a:r>
            <a:r>
              <a:rPr lang="fr-FR" sz="1800" b="0" i="0" dirty="0">
                <a:solidFill>
                  <a:srgbClr val="ECECEC"/>
                </a:solidFill>
                <a:effectLst/>
                <a:latin typeface="Söhne"/>
              </a:rPr>
              <a:t> to </a:t>
            </a:r>
            <a:r>
              <a:rPr lang="fr-FR" sz="1800" b="0" i="0" dirty="0" err="1">
                <a:solidFill>
                  <a:srgbClr val="ECECEC"/>
                </a:solidFill>
                <a:effectLst/>
                <a:latin typeface="Söhne"/>
              </a:rPr>
              <a:t>analyze</a:t>
            </a:r>
            <a:r>
              <a:rPr lang="fr-FR" sz="1800" b="0" i="0" dirty="0">
                <a:solidFill>
                  <a:srgbClr val="ECECEC"/>
                </a:solidFill>
                <a:effectLst/>
                <a:latin typeface="Söhne"/>
              </a:rPr>
              <a:t>, </a:t>
            </a:r>
            <a:r>
              <a:rPr lang="fr-FR" sz="1800" b="0" i="0" dirty="0" err="1">
                <a:solidFill>
                  <a:srgbClr val="ECECEC"/>
                </a:solidFill>
                <a:effectLst/>
                <a:latin typeface="Söhne"/>
              </a:rPr>
              <a:t>debug</a:t>
            </a:r>
            <a:r>
              <a:rPr lang="fr-FR" sz="1800" b="0" i="0" dirty="0">
                <a:solidFill>
                  <a:srgbClr val="ECECEC"/>
                </a:solidFill>
                <a:effectLst/>
                <a:latin typeface="Söhne"/>
              </a:rPr>
              <a:t>, and audit the performance of </a:t>
            </a:r>
            <a:r>
              <a:rPr lang="fr-FR" sz="1800" b="0" i="0" dirty="0" err="1">
                <a:solidFill>
                  <a:srgbClr val="ECECEC"/>
                </a:solidFill>
                <a:effectLst/>
                <a:latin typeface="Söhne"/>
              </a:rPr>
              <a:t>your</a:t>
            </a:r>
            <a:r>
              <a:rPr lang="fr-FR" sz="1800" b="0" i="0" dirty="0">
                <a:solidFill>
                  <a:srgbClr val="ECECEC"/>
                </a:solidFill>
                <a:effectLst/>
                <a:latin typeface="Söhne"/>
              </a:rPr>
              <a:t> ML system or the </a:t>
            </a:r>
            <a:r>
              <a:rPr lang="fr-FR" sz="1800" b="0" i="0" dirty="0" err="1">
                <a:solidFill>
                  <a:srgbClr val="ECECEC"/>
                </a:solidFill>
                <a:effectLst/>
                <a:latin typeface="Söhne"/>
              </a:rPr>
              <a:t>artifacts</a:t>
            </a:r>
            <a:r>
              <a:rPr lang="fr-FR" sz="1800" b="0" i="0" dirty="0">
                <a:solidFill>
                  <a:srgbClr val="ECECEC"/>
                </a:solidFill>
                <a:effectLst/>
                <a:latin typeface="Söhne"/>
              </a:rPr>
              <a:t> </a:t>
            </a:r>
            <a:r>
              <a:rPr lang="fr-FR" sz="1800" b="0" i="0" dirty="0" err="1">
                <a:solidFill>
                  <a:srgbClr val="ECECEC"/>
                </a:solidFill>
                <a:effectLst/>
                <a:latin typeface="Söhne"/>
              </a:rPr>
              <a:t>it</a:t>
            </a:r>
            <a:r>
              <a:rPr lang="fr-FR" sz="1800" b="0" i="0" dirty="0">
                <a:solidFill>
                  <a:srgbClr val="ECECEC"/>
                </a:solidFill>
                <a:effectLst/>
                <a:latin typeface="Söhne"/>
              </a:rPr>
              <a:t> </a:t>
            </a:r>
            <a:r>
              <a:rPr lang="fr-FR" sz="1800" b="0" i="0" dirty="0" err="1">
                <a:solidFill>
                  <a:srgbClr val="ECECEC"/>
                </a:solidFill>
                <a:effectLst/>
                <a:latin typeface="Söhne"/>
              </a:rPr>
              <a:t>produces</a:t>
            </a:r>
            <a:r>
              <a:rPr lang="fr-FR" sz="1800" b="0" i="0" dirty="0">
                <a:solidFill>
                  <a:srgbClr val="ECECEC"/>
                </a:solidFill>
                <a:effectLst/>
                <a:latin typeface="Söhne"/>
              </a:rPr>
              <a:t>.</a:t>
            </a:r>
          </a:p>
          <a:p>
            <a:pPr algn="l">
              <a:buFont typeface="Arial" panose="020B0604020202020204" pitchFamily="34" charset="0"/>
              <a:buChar char="•"/>
            </a:pPr>
            <a:r>
              <a:rPr lang="fr-FR" sz="1800" b="0" i="0" dirty="0" err="1">
                <a:solidFill>
                  <a:srgbClr val="ECECEC"/>
                </a:solidFill>
                <a:effectLst/>
                <a:latin typeface="Söhne"/>
              </a:rPr>
              <a:t>Identifying</a:t>
            </a:r>
            <a:r>
              <a:rPr lang="fr-FR" sz="1800" b="0" i="0" dirty="0">
                <a:solidFill>
                  <a:srgbClr val="ECECEC"/>
                </a:solidFill>
                <a:effectLst/>
                <a:latin typeface="Söhne"/>
              </a:rPr>
              <a:t> the best model for a use case: </a:t>
            </a:r>
            <a:r>
              <a:rPr lang="fr-FR" sz="1800" b="0" i="0" dirty="0" err="1">
                <a:solidFill>
                  <a:srgbClr val="ECECEC"/>
                </a:solidFill>
                <a:effectLst/>
                <a:latin typeface="Söhne"/>
              </a:rPr>
              <a:t>When</a:t>
            </a:r>
            <a:r>
              <a:rPr lang="fr-FR" sz="1800" b="0" i="0" dirty="0">
                <a:solidFill>
                  <a:srgbClr val="ECECEC"/>
                </a:solidFill>
                <a:effectLst/>
                <a:latin typeface="Söhne"/>
              </a:rPr>
              <a:t> </a:t>
            </a:r>
            <a:r>
              <a:rPr lang="fr-FR" sz="1800" b="0" i="0" dirty="0" err="1">
                <a:solidFill>
                  <a:srgbClr val="ECECEC"/>
                </a:solidFill>
                <a:effectLst/>
                <a:latin typeface="Söhne"/>
              </a:rPr>
              <a:t>trying</a:t>
            </a:r>
            <a:r>
              <a:rPr lang="fr-FR" sz="1800" b="0" i="0" dirty="0">
                <a:solidFill>
                  <a:srgbClr val="ECECEC"/>
                </a:solidFill>
                <a:effectLst/>
                <a:latin typeface="Söhne"/>
              </a:rPr>
              <a:t> new </a:t>
            </a:r>
            <a:r>
              <a:rPr lang="fr-FR" sz="1800" b="0" i="0" dirty="0" err="1">
                <a:solidFill>
                  <a:srgbClr val="ECECEC"/>
                </a:solidFill>
                <a:effectLst/>
                <a:latin typeface="Söhne"/>
              </a:rPr>
              <a:t>algorithms</a:t>
            </a:r>
            <a:r>
              <a:rPr lang="fr-FR" sz="1800" b="0" i="0" dirty="0">
                <a:solidFill>
                  <a:srgbClr val="ECECEC"/>
                </a:solidFill>
                <a:effectLst/>
                <a:latin typeface="Söhne"/>
              </a:rPr>
              <a:t>, </a:t>
            </a:r>
            <a:r>
              <a:rPr lang="fr-FR" sz="1800" b="0" i="0" dirty="0" err="1">
                <a:solidFill>
                  <a:srgbClr val="ECECEC"/>
                </a:solidFill>
                <a:effectLst/>
                <a:latin typeface="Söhne"/>
              </a:rPr>
              <a:t>you</a:t>
            </a:r>
            <a:r>
              <a:rPr lang="fr-FR" sz="1800" b="0" i="0" dirty="0">
                <a:solidFill>
                  <a:srgbClr val="ECECEC"/>
                </a:solidFill>
                <a:effectLst/>
                <a:latin typeface="Söhne"/>
              </a:rPr>
              <a:t> </a:t>
            </a:r>
            <a:r>
              <a:rPr lang="fr-FR" sz="1800" b="0" i="0" dirty="0" err="1">
                <a:solidFill>
                  <a:srgbClr val="ECECEC"/>
                </a:solidFill>
                <a:effectLst/>
                <a:latin typeface="Söhne"/>
              </a:rPr>
              <a:t>need</a:t>
            </a:r>
            <a:r>
              <a:rPr lang="fr-FR" sz="1800" b="0" i="0" dirty="0">
                <a:solidFill>
                  <a:srgbClr val="ECECEC"/>
                </a:solidFill>
                <a:effectLst/>
                <a:latin typeface="Söhne"/>
              </a:rPr>
              <a:t> to know </a:t>
            </a:r>
            <a:r>
              <a:rPr lang="fr-FR" sz="1800" b="0" i="0" dirty="0" err="1">
                <a:solidFill>
                  <a:srgbClr val="ECECEC"/>
                </a:solidFill>
                <a:effectLst/>
                <a:latin typeface="Söhne"/>
              </a:rPr>
              <a:t>which</a:t>
            </a:r>
            <a:r>
              <a:rPr lang="fr-FR" sz="1800" b="0" i="0" dirty="0">
                <a:solidFill>
                  <a:srgbClr val="ECECEC"/>
                </a:solidFill>
                <a:effectLst/>
                <a:latin typeface="Söhne"/>
              </a:rPr>
              <a:t> </a:t>
            </a:r>
            <a:r>
              <a:rPr lang="fr-FR" sz="1800" b="0" i="0" dirty="0" err="1">
                <a:solidFill>
                  <a:srgbClr val="ECECEC"/>
                </a:solidFill>
                <a:effectLst/>
                <a:latin typeface="Söhne"/>
              </a:rPr>
              <a:t>trained</a:t>
            </a:r>
            <a:r>
              <a:rPr lang="fr-FR" sz="1800" b="0" i="0" dirty="0">
                <a:solidFill>
                  <a:srgbClr val="ECECEC"/>
                </a:solidFill>
                <a:effectLst/>
                <a:latin typeface="Söhne"/>
              </a:rPr>
              <a:t> model </a:t>
            </a:r>
            <a:r>
              <a:rPr lang="fr-FR" sz="1800" b="0" i="0" dirty="0" err="1">
                <a:solidFill>
                  <a:srgbClr val="ECECEC"/>
                </a:solidFill>
                <a:effectLst/>
                <a:latin typeface="Söhne"/>
              </a:rPr>
              <a:t>performs</a:t>
            </a:r>
            <a:r>
              <a:rPr lang="fr-FR" sz="1800" b="0" i="0" dirty="0">
                <a:solidFill>
                  <a:srgbClr val="ECECEC"/>
                </a:solidFill>
                <a:effectLst/>
                <a:latin typeface="Söhne"/>
              </a:rPr>
              <a:t> best. Vertex AI tests </a:t>
            </a:r>
            <a:r>
              <a:rPr lang="fr-FR" sz="1800" b="0" i="0" dirty="0" err="1">
                <a:solidFill>
                  <a:srgbClr val="ECECEC"/>
                </a:solidFill>
                <a:effectLst/>
                <a:latin typeface="Söhne"/>
              </a:rPr>
              <a:t>allow</a:t>
            </a:r>
            <a:r>
              <a:rPr lang="fr-FR" sz="1800" b="0" i="0" dirty="0">
                <a:solidFill>
                  <a:srgbClr val="ECECEC"/>
                </a:solidFill>
                <a:effectLst/>
                <a:latin typeface="Söhne"/>
              </a:rPr>
              <a:t> </a:t>
            </a:r>
            <a:r>
              <a:rPr lang="fr-FR" sz="1800" b="0" i="0" dirty="0" err="1">
                <a:solidFill>
                  <a:srgbClr val="ECECEC"/>
                </a:solidFill>
                <a:effectLst/>
                <a:latin typeface="Söhne"/>
              </a:rPr>
              <a:t>you</a:t>
            </a:r>
            <a:r>
              <a:rPr lang="fr-FR" sz="1800" b="0" i="0" dirty="0">
                <a:solidFill>
                  <a:srgbClr val="ECECEC"/>
                </a:solidFill>
                <a:effectLst/>
                <a:latin typeface="Söhne"/>
              </a:rPr>
              <a:t> to </a:t>
            </a:r>
            <a:r>
              <a:rPr lang="fr-FR" sz="1800" b="0" i="0" dirty="0" err="1">
                <a:solidFill>
                  <a:srgbClr val="ECECEC"/>
                </a:solidFill>
                <a:effectLst/>
                <a:latin typeface="Söhne"/>
              </a:rPr>
              <a:t>track</a:t>
            </a:r>
            <a:r>
              <a:rPr lang="fr-FR" sz="1800" b="0" i="0" dirty="0">
                <a:solidFill>
                  <a:srgbClr val="ECECEC"/>
                </a:solidFill>
                <a:effectLst/>
                <a:latin typeface="Söhne"/>
              </a:rPr>
              <a:t> and </a:t>
            </a:r>
            <a:r>
              <a:rPr lang="fr-FR" sz="1800" b="0" i="0" dirty="0" err="1">
                <a:solidFill>
                  <a:srgbClr val="ECECEC"/>
                </a:solidFill>
                <a:effectLst/>
                <a:latin typeface="Söhne"/>
              </a:rPr>
              <a:t>analyze</a:t>
            </a:r>
            <a:r>
              <a:rPr lang="fr-FR" sz="1800" b="0" i="0" dirty="0">
                <a:solidFill>
                  <a:srgbClr val="ECECEC"/>
                </a:solidFill>
                <a:effectLst/>
                <a:latin typeface="Söhne"/>
              </a:rPr>
              <a:t> </a:t>
            </a:r>
            <a:r>
              <a:rPr lang="fr-FR" sz="1800" b="0" i="0" dirty="0" err="1">
                <a:solidFill>
                  <a:srgbClr val="ECECEC"/>
                </a:solidFill>
                <a:effectLst/>
                <a:latin typeface="Söhne"/>
              </a:rPr>
              <a:t>different</a:t>
            </a:r>
            <a:r>
              <a:rPr lang="fr-FR" sz="1800" b="0" i="0" dirty="0">
                <a:solidFill>
                  <a:srgbClr val="ECECEC"/>
                </a:solidFill>
                <a:effectLst/>
                <a:latin typeface="Söhne"/>
              </a:rPr>
              <a:t> model architectures, </a:t>
            </a:r>
            <a:r>
              <a:rPr lang="fr-FR" sz="1800" b="0" i="0" dirty="0" err="1">
                <a:solidFill>
                  <a:srgbClr val="ECECEC"/>
                </a:solidFill>
                <a:effectLst/>
                <a:latin typeface="Söhne"/>
              </a:rPr>
              <a:t>hyperparameters</a:t>
            </a:r>
            <a:r>
              <a:rPr lang="fr-FR" sz="1800" b="0" i="0" dirty="0">
                <a:solidFill>
                  <a:srgbClr val="ECECEC"/>
                </a:solidFill>
                <a:effectLst/>
                <a:latin typeface="Söhne"/>
              </a:rPr>
              <a:t>, and training </a:t>
            </a:r>
            <a:r>
              <a:rPr lang="fr-FR" sz="1800" b="0" i="0" dirty="0" err="1">
                <a:solidFill>
                  <a:srgbClr val="ECECEC"/>
                </a:solidFill>
                <a:effectLst/>
                <a:latin typeface="Söhne"/>
              </a:rPr>
              <a:t>environments</a:t>
            </a:r>
            <a:r>
              <a:rPr lang="fr-FR" sz="1800" b="0" i="0" dirty="0">
                <a:solidFill>
                  <a:srgbClr val="ECECEC"/>
                </a:solidFill>
                <a:effectLst/>
                <a:latin typeface="Söhne"/>
              </a:rPr>
              <a:t> to </a:t>
            </a:r>
            <a:r>
              <a:rPr lang="fr-FR" sz="1800" b="0" i="0" dirty="0" err="1">
                <a:solidFill>
                  <a:srgbClr val="ECECEC"/>
                </a:solidFill>
                <a:effectLst/>
                <a:latin typeface="Söhne"/>
              </a:rPr>
              <a:t>identify</a:t>
            </a:r>
            <a:r>
              <a:rPr lang="fr-FR" sz="1800" b="0" i="0" dirty="0">
                <a:solidFill>
                  <a:srgbClr val="ECECEC"/>
                </a:solidFill>
                <a:effectLst/>
                <a:latin typeface="Söhne"/>
              </a:rPr>
              <a:t> the best model for </a:t>
            </a:r>
            <a:r>
              <a:rPr lang="fr-FR" sz="1800" b="0" i="0" dirty="0" err="1">
                <a:solidFill>
                  <a:srgbClr val="ECECEC"/>
                </a:solidFill>
                <a:effectLst/>
                <a:latin typeface="Söhne"/>
              </a:rPr>
              <a:t>your</a:t>
            </a:r>
            <a:r>
              <a:rPr lang="fr-FR" sz="1800" b="0" i="0" dirty="0">
                <a:solidFill>
                  <a:srgbClr val="ECECEC"/>
                </a:solidFill>
                <a:effectLst/>
                <a:latin typeface="Söhne"/>
              </a:rPr>
              <a:t> use case.</a:t>
            </a:r>
          </a:p>
          <a:p>
            <a:pPr algn="l">
              <a:buFont typeface="Arial" panose="020B0604020202020204" pitchFamily="34" charset="0"/>
              <a:buChar char="•"/>
            </a:pPr>
            <a:r>
              <a:rPr lang="fr-FR" sz="1800" b="0" i="0" dirty="0">
                <a:solidFill>
                  <a:srgbClr val="ECECEC"/>
                </a:solidFill>
                <a:effectLst/>
                <a:latin typeface="Söhne"/>
              </a:rPr>
              <a:t>Vertex AI </a:t>
            </a:r>
            <a:r>
              <a:rPr lang="fr-FR" sz="1800" b="0" i="0" dirty="0" err="1">
                <a:solidFill>
                  <a:srgbClr val="ECECEC"/>
                </a:solidFill>
                <a:effectLst/>
                <a:latin typeface="Söhne"/>
              </a:rPr>
              <a:t>TensorBoard</a:t>
            </a:r>
            <a:r>
              <a:rPr lang="fr-FR" sz="1800" b="0" i="0" dirty="0">
                <a:solidFill>
                  <a:srgbClr val="ECECEC"/>
                </a:solidFill>
                <a:effectLst/>
                <a:latin typeface="Söhne"/>
              </a:rPr>
              <a:t> </a:t>
            </a:r>
            <a:r>
              <a:rPr lang="fr-FR" sz="1800" b="0" i="0" dirty="0" err="1">
                <a:solidFill>
                  <a:srgbClr val="ECECEC"/>
                </a:solidFill>
                <a:effectLst/>
                <a:latin typeface="Söhne"/>
              </a:rPr>
              <a:t>allows</a:t>
            </a:r>
            <a:r>
              <a:rPr lang="fr-FR" sz="1800" b="0" i="0" dirty="0">
                <a:solidFill>
                  <a:srgbClr val="ECECEC"/>
                </a:solidFill>
                <a:effectLst/>
                <a:latin typeface="Söhne"/>
              </a:rPr>
              <a:t> </a:t>
            </a:r>
            <a:r>
              <a:rPr lang="fr-FR" sz="1800" b="0" i="0" dirty="0" err="1">
                <a:solidFill>
                  <a:srgbClr val="ECECEC"/>
                </a:solidFill>
                <a:effectLst/>
                <a:latin typeface="Söhne"/>
              </a:rPr>
              <a:t>you</a:t>
            </a:r>
            <a:r>
              <a:rPr lang="fr-FR" sz="1800" b="0" i="0" dirty="0">
                <a:solidFill>
                  <a:srgbClr val="ECECEC"/>
                </a:solidFill>
                <a:effectLst/>
                <a:latin typeface="Söhne"/>
              </a:rPr>
              <a:t> to </a:t>
            </a:r>
            <a:r>
              <a:rPr lang="fr-FR" sz="1800" b="0" i="0" dirty="0" err="1">
                <a:solidFill>
                  <a:srgbClr val="ECECEC"/>
                </a:solidFill>
                <a:effectLst/>
                <a:latin typeface="Söhne"/>
              </a:rPr>
              <a:t>track</a:t>
            </a:r>
            <a:r>
              <a:rPr lang="fr-FR" sz="1800" b="0" i="0" dirty="0">
                <a:solidFill>
                  <a:srgbClr val="ECECEC"/>
                </a:solidFill>
                <a:effectLst/>
                <a:latin typeface="Söhne"/>
              </a:rPr>
              <a:t>, </a:t>
            </a:r>
            <a:r>
              <a:rPr lang="fr-FR" sz="1800" b="0" i="0" dirty="0" err="1">
                <a:solidFill>
                  <a:srgbClr val="ECECEC"/>
                </a:solidFill>
                <a:effectLst/>
                <a:latin typeface="Söhne"/>
              </a:rPr>
              <a:t>visualize</a:t>
            </a:r>
            <a:r>
              <a:rPr lang="fr-FR" sz="1800" b="0" i="0" dirty="0">
                <a:solidFill>
                  <a:srgbClr val="ECECEC"/>
                </a:solidFill>
                <a:effectLst/>
                <a:latin typeface="Söhne"/>
              </a:rPr>
              <a:t>, and compare ML </a:t>
            </a:r>
            <a:r>
              <a:rPr lang="fr-FR" sz="1800" b="0" i="0" dirty="0" err="1">
                <a:solidFill>
                  <a:srgbClr val="ECECEC"/>
                </a:solidFill>
                <a:effectLst/>
                <a:latin typeface="Söhne"/>
              </a:rPr>
              <a:t>experiments</a:t>
            </a:r>
            <a:r>
              <a:rPr lang="fr-FR" sz="1800" b="0" i="0" dirty="0">
                <a:solidFill>
                  <a:srgbClr val="ECECEC"/>
                </a:solidFill>
                <a:effectLst/>
                <a:latin typeface="Söhne"/>
              </a:rPr>
              <a:t> to </a:t>
            </a:r>
            <a:r>
              <a:rPr lang="fr-FR" sz="1800" b="0" i="0" dirty="0" err="1">
                <a:solidFill>
                  <a:srgbClr val="ECECEC"/>
                </a:solidFill>
                <a:effectLst/>
                <a:latin typeface="Söhne"/>
              </a:rPr>
              <a:t>measure</a:t>
            </a:r>
            <a:r>
              <a:rPr lang="fr-FR" sz="1800" b="0" i="0" dirty="0">
                <a:solidFill>
                  <a:srgbClr val="ECECEC"/>
                </a:solidFill>
                <a:effectLst/>
                <a:latin typeface="Söhne"/>
              </a:rPr>
              <a:t> the performance of </a:t>
            </a:r>
            <a:r>
              <a:rPr lang="fr-FR" sz="1800" b="0" i="0" dirty="0" err="1">
                <a:solidFill>
                  <a:srgbClr val="ECECEC"/>
                </a:solidFill>
                <a:effectLst/>
                <a:latin typeface="Söhne"/>
              </a:rPr>
              <a:t>your</a:t>
            </a:r>
            <a:r>
              <a:rPr lang="fr-FR" sz="1800" b="0" i="0" dirty="0">
                <a:solidFill>
                  <a:srgbClr val="ECECEC"/>
                </a:solidFill>
                <a:effectLst/>
                <a:latin typeface="Söhne"/>
              </a:rPr>
              <a:t> </a:t>
            </a:r>
            <a:r>
              <a:rPr lang="fr-FR" sz="1800" b="0" i="0" dirty="0" err="1">
                <a:solidFill>
                  <a:srgbClr val="ECECEC"/>
                </a:solidFill>
                <a:effectLst/>
                <a:latin typeface="Söhne"/>
              </a:rPr>
              <a:t>models</a:t>
            </a:r>
            <a:r>
              <a:rPr lang="fr-FR" sz="18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3281760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13834"/>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706882"/>
            <a:ext cx="11530646" cy="4476204"/>
          </a:xfrm>
        </p:spPr>
        <p:txBody>
          <a:bodyPr>
            <a:normAutofit/>
          </a:bodyPr>
          <a:lstStyle/>
          <a:p>
            <a:pPr algn="l">
              <a:buFont typeface="Arial" panose="020B0604020202020204" pitchFamily="34" charset="0"/>
              <a:buChar char="•"/>
            </a:pPr>
            <a:r>
              <a:rPr lang="fr-FR" sz="1800" b="0" i="0" dirty="0" err="1">
                <a:solidFill>
                  <a:srgbClr val="ECECEC"/>
                </a:solidFill>
                <a:effectLst/>
                <a:latin typeface="Söhne"/>
              </a:rPr>
              <a:t>Managing</a:t>
            </a:r>
            <a:r>
              <a:rPr lang="fr-FR" sz="1800" b="0" i="0" dirty="0">
                <a:solidFill>
                  <a:srgbClr val="ECECEC"/>
                </a:solidFill>
                <a:effectLst/>
                <a:latin typeface="Söhne"/>
              </a:rPr>
              <a:t> model versions: </a:t>
            </a:r>
          </a:p>
          <a:p>
            <a:pPr lvl="1"/>
            <a:r>
              <a:rPr lang="fr-FR" sz="1600" b="0" i="0" dirty="0" err="1">
                <a:solidFill>
                  <a:srgbClr val="ECECEC"/>
                </a:solidFill>
                <a:effectLst/>
                <a:latin typeface="Söhne"/>
              </a:rPr>
              <a:t>Adding</a:t>
            </a:r>
            <a:r>
              <a:rPr lang="fr-FR" sz="1600" b="0" i="0" dirty="0">
                <a:solidFill>
                  <a:srgbClr val="ECECEC"/>
                </a:solidFill>
                <a:effectLst/>
                <a:latin typeface="Söhne"/>
              </a:rPr>
              <a:t> </a:t>
            </a:r>
            <a:r>
              <a:rPr lang="fr-FR" sz="1600" b="0" i="0" dirty="0" err="1">
                <a:solidFill>
                  <a:srgbClr val="ECECEC"/>
                </a:solidFill>
                <a:effectLst/>
                <a:latin typeface="Söhne"/>
              </a:rPr>
              <a:t>models</a:t>
            </a:r>
            <a:r>
              <a:rPr lang="fr-FR" sz="1600" b="0" i="0" dirty="0">
                <a:solidFill>
                  <a:srgbClr val="ECECEC"/>
                </a:solidFill>
                <a:effectLst/>
                <a:latin typeface="Söhne"/>
              </a:rPr>
              <a:t> to a central repository </a:t>
            </a:r>
            <a:r>
              <a:rPr lang="fr-FR" sz="1600" b="0" i="0" dirty="0" err="1">
                <a:solidFill>
                  <a:srgbClr val="ECECEC"/>
                </a:solidFill>
                <a:effectLst/>
                <a:latin typeface="Söhne"/>
              </a:rPr>
              <a:t>allows</a:t>
            </a:r>
            <a:r>
              <a:rPr lang="fr-FR" sz="1600" b="0" i="0" dirty="0">
                <a:solidFill>
                  <a:srgbClr val="ECECEC"/>
                </a:solidFill>
                <a:effectLst/>
                <a:latin typeface="Söhne"/>
              </a:rPr>
              <a:t> </a:t>
            </a:r>
            <a:r>
              <a:rPr lang="fr-FR" sz="1600" b="0" i="0" dirty="0" err="1">
                <a:solidFill>
                  <a:srgbClr val="ECECEC"/>
                </a:solidFill>
                <a:effectLst/>
                <a:latin typeface="Söhne"/>
              </a:rPr>
              <a:t>you</a:t>
            </a:r>
            <a:r>
              <a:rPr lang="fr-FR" sz="1600" b="0" i="0" dirty="0">
                <a:solidFill>
                  <a:srgbClr val="ECECEC"/>
                </a:solidFill>
                <a:effectLst/>
                <a:latin typeface="Söhne"/>
              </a:rPr>
              <a:t> to </a:t>
            </a:r>
            <a:r>
              <a:rPr lang="fr-FR" sz="1600" b="0" i="0" dirty="0" err="1">
                <a:solidFill>
                  <a:srgbClr val="ECECEC"/>
                </a:solidFill>
                <a:effectLst/>
                <a:latin typeface="Söhne"/>
              </a:rPr>
              <a:t>track</a:t>
            </a:r>
            <a:r>
              <a:rPr lang="fr-FR" sz="1600" b="0" i="0" dirty="0">
                <a:solidFill>
                  <a:srgbClr val="ECECEC"/>
                </a:solidFill>
                <a:effectLst/>
                <a:latin typeface="Söhne"/>
              </a:rPr>
              <a:t> model versions. Vertex AI Model </a:t>
            </a:r>
            <a:r>
              <a:rPr lang="fr-FR" sz="1600" b="0" i="0" dirty="0" err="1">
                <a:solidFill>
                  <a:srgbClr val="ECECEC"/>
                </a:solidFill>
                <a:effectLst/>
                <a:latin typeface="Söhne"/>
              </a:rPr>
              <a:t>Registry</a:t>
            </a:r>
            <a:r>
              <a:rPr lang="fr-FR" sz="1600" b="0" i="0" dirty="0">
                <a:solidFill>
                  <a:srgbClr val="ECECEC"/>
                </a:solidFill>
                <a:effectLst/>
                <a:latin typeface="Söhne"/>
              </a:rPr>
              <a:t> </a:t>
            </a:r>
            <a:r>
              <a:rPr lang="fr-FR" sz="1600" b="0" i="0" dirty="0" err="1">
                <a:solidFill>
                  <a:srgbClr val="ECECEC"/>
                </a:solidFill>
                <a:effectLst/>
                <a:latin typeface="Söhne"/>
              </a:rPr>
              <a:t>provides</a:t>
            </a:r>
            <a:r>
              <a:rPr lang="fr-FR" sz="1600" b="0" i="0" dirty="0">
                <a:solidFill>
                  <a:srgbClr val="ECECEC"/>
                </a:solidFill>
                <a:effectLst/>
                <a:latin typeface="Söhne"/>
              </a:rPr>
              <a:t> an </a:t>
            </a:r>
            <a:r>
              <a:rPr lang="fr-FR" sz="1600" b="0" i="0" dirty="0" err="1">
                <a:solidFill>
                  <a:srgbClr val="ECECEC"/>
                </a:solidFill>
                <a:effectLst/>
                <a:latin typeface="Söhne"/>
              </a:rPr>
              <a:t>overview</a:t>
            </a:r>
            <a:r>
              <a:rPr lang="fr-FR" sz="1600" b="0" i="0" dirty="0">
                <a:solidFill>
                  <a:srgbClr val="ECECEC"/>
                </a:solidFill>
                <a:effectLst/>
                <a:latin typeface="Söhne"/>
              </a:rPr>
              <a:t> of </a:t>
            </a:r>
            <a:r>
              <a:rPr lang="fr-FR" sz="1600" b="0" i="0" dirty="0" err="1">
                <a:solidFill>
                  <a:srgbClr val="ECECEC"/>
                </a:solidFill>
                <a:effectLst/>
                <a:latin typeface="Söhne"/>
              </a:rPr>
              <a:t>your</a:t>
            </a:r>
            <a:r>
              <a:rPr lang="fr-FR" sz="1600" b="0" i="0" dirty="0">
                <a:solidFill>
                  <a:srgbClr val="ECECEC"/>
                </a:solidFill>
                <a:effectLst/>
                <a:latin typeface="Söhne"/>
              </a:rPr>
              <a:t> </a:t>
            </a:r>
            <a:r>
              <a:rPr lang="fr-FR" sz="1600" b="0" i="0" dirty="0" err="1">
                <a:solidFill>
                  <a:srgbClr val="ECECEC"/>
                </a:solidFill>
                <a:effectLst/>
                <a:latin typeface="Söhne"/>
              </a:rPr>
              <a:t>models</a:t>
            </a:r>
            <a:r>
              <a:rPr lang="fr-FR" sz="1600" b="0" i="0" dirty="0">
                <a:solidFill>
                  <a:srgbClr val="ECECEC"/>
                </a:solidFill>
                <a:effectLst/>
                <a:latin typeface="Söhne"/>
              </a:rPr>
              <a:t> to </a:t>
            </a:r>
            <a:r>
              <a:rPr lang="fr-FR" sz="1600" b="0" i="0" dirty="0" err="1">
                <a:solidFill>
                  <a:srgbClr val="ECECEC"/>
                </a:solidFill>
                <a:effectLst/>
                <a:latin typeface="Söhne"/>
              </a:rPr>
              <a:t>better</a:t>
            </a:r>
            <a:r>
              <a:rPr lang="fr-FR" sz="1600" b="0" i="0" dirty="0">
                <a:solidFill>
                  <a:srgbClr val="ECECEC"/>
                </a:solidFill>
                <a:effectLst/>
                <a:latin typeface="Söhne"/>
              </a:rPr>
              <a:t> </a:t>
            </a:r>
            <a:r>
              <a:rPr lang="fr-FR" sz="1600" b="0" i="0" dirty="0" err="1">
                <a:solidFill>
                  <a:srgbClr val="ECECEC"/>
                </a:solidFill>
                <a:effectLst/>
                <a:latin typeface="Söhne"/>
              </a:rPr>
              <a:t>organize</a:t>
            </a:r>
            <a:r>
              <a:rPr lang="fr-FR" sz="1600" b="0" i="0" dirty="0">
                <a:solidFill>
                  <a:srgbClr val="ECECEC"/>
                </a:solidFill>
                <a:effectLst/>
                <a:latin typeface="Söhne"/>
              </a:rPr>
              <a:t>, </a:t>
            </a:r>
            <a:r>
              <a:rPr lang="fr-FR" sz="1600" b="0" i="0" dirty="0" err="1">
                <a:solidFill>
                  <a:srgbClr val="ECECEC"/>
                </a:solidFill>
                <a:effectLst/>
                <a:latin typeface="Söhne"/>
              </a:rPr>
              <a:t>track</a:t>
            </a:r>
            <a:r>
              <a:rPr lang="fr-FR" sz="1600" b="0" i="0" dirty="0">
                <a:solidFill>
                  <a:srgbClr val="ECECEC"/>
                </a:solidFill>
                <a:effectLst/>
                <a:latin typeface="Söhne"/>
              </a:rPr>
              <a:t>, and train new versions. </a:t>
            </a:r>
            <a:r>
              <a:rPr lang="fr-FR" sz="1600" b="0" i="0" dirty="0" err="1">
                <a:solidFill>
                  <a:srgbClr val="ECECEC"/>
                </a:solidFill>
                <a:effectLst/>
                <a:latin typeface="Söhne"/>
              </a:rPr>
              <a:t>From</a:t>
            </a:r>
            <a:r>
              <a:rPr lang="fr-FR" sz="1600" b="0" i="0" dirty="0">
                <a:solidFill>
                  <a:srgbClr val="ECECEC"/>
                </a:solidFill>
                <a:effectLst/>
                <a:latin typeface="Söhne"/>
              </a:rPr>
              <a:t> Model </a:t>
            </a:r>
            <a:r>
              <a:rPr lang="fr-FR" sz="1600" b="0" i="0" dirty="0" err="1">
                <a:solidFill>
                  <a:srgbClr val="ECECEC"/>
                </a:solidFill>
                <a:effectLst/>
                <a:latin typeface="Söhne"/>
              </a:rPr>
              <a:t>Registry</a:t>
            </a:r>
            <a:r>
              <a:rPr lang="fr-FR" sz="1600" b="0" i="0" dirty="0">
                <a:solidFill>
                  <a:srgbClr val="ECECEC"/>
                </a:solidFill>
                <a:effectLst/>
                <a:latin typeface="Söhne"/>
              </a:rPr>
              <a:t>, </a:t>
            </a:r>
            <a:r>
              <a:rPr lang="fr-FR" sz="1600" b="0" i="0" dirty="0" err="1">
                <a:solidFill>
                  <a:srgbClr val="ECECEC"/>
                </a:solidFill>
                <a:effectLst/>
                <a:latin typeface="Söhne"/>
              </a:rPr>
              <a:t>you</a:t>
            </a:r>
            <a:r>
              <a:rPr lang="fr-FR" sz="1600" b="0" i="0" dirty="0">
                <a:solidFill>
                  <a:srgbClr val="ECECEC"/>
                </a:solidFill>
                <a:effectLst/>
                <a:latin typeface="Söhne"/>
              </a:rPr>
              <a:t> can </a:t>
            </a:r>
            <a:r>
              <a:rPr lang="fr-FR" sz="1600" b="0" i="0" dirty="0" err="1">
                <a:solidFill>
                  <a:srgbClr val="ECECEC"/>
                </a:solidFill>
                <a:effectLst/>
                <a:latin typeface="Söhne"/>
              </a:rPr>
              <a:t>evaluate</a:t>
            </a:r>
            <a:r>
              <a:rPr lang="fr-FR" sz="1600" b="0" i="0" dirty="0">
                <a:solidFill>
                  <a:srgbClr val="ECECEC"/>
                </a:solidFill>
                <a:effectLst/>
                <a:latin typeface="Söhne"/>
              </a:rPr>
              <a:t> and </a:t>
            </a:r>
            <a:r>
              <a:rPr lang="fr-FR" sz="1600" b="0" i="0" dirty="0" err="1">
                <a:solidFill>
                  <a:srgbClr val="ECECEC"/>
                </a:solidFill>
                <a:effectLst/>
                <a:latin typeface="Söhne"/>
              </a:rPr>
              <a:t>deploy</a:t>
            </a:r>
            <a:r>
              <a:rPr lang="fr-FR" sz="1600" b="0" i="0" dirty="0">
                <a:solidFill>
                  <a:srgbClr val="ECECEC"/>
                </a:solidFill>
                <a:effectLst/>
                <a:latin typeface="Söhne"/>
              </a:rPr>
              <a:t> </a:t>
            </a:r>
            <a:r>
              <a:rPr lang="fr-FR" sz="1600" b="0" i="0" dirty="0" err="1">
                <a:solidFill>
                  <a:srgbClr val="ECECEC"/>
                </a:solidFill>
                <a:effectLst/>
                <a:latin typeface="Söhne"/>
              </a:rPr>
              <a:t>models</a:t>
            </a:r>
            <a:r>
              <a:rPr lang="fr-FR" sz="1600" b="0" i="0" dirty="0">
                <a:solidFill>
                  <a:srgbClr val="ECECEC"/>
                </a:solidFill>
                <a:effectLst/>
                <a:latin typeface="Söhne"/>
              </a:rPr>
              <a:t> to an </a:t>
            </a:r>
            <a:r>
              <a:rPr lang="fr-FR" sz="1600" b="0" i="0" dirty="0" err="1">
                <a:solidFill>
                  <a:srgbClr val="ECECEC"/>
                </a:solidFill>
                <a:effectLst/>
                <a:latin typeface="Söhne"/>
              </a:rPr>
              <a:t>endpoint</a:t>
            </a:r>
            <a:r>
              <a:rPr lang="fr-FR" sz="1600" b="0" i="0" dirty="0">
                <a:solidFill>
                  <a:srgbClr val="ECECEC"/>
                </a:solidFill>
                <a:effectLst/>
                <a:latin typeface="Söhne"/>
              </a:rPr>
              <a:t>, </a:t>
            </a:r>
            <a:r>
              <a:rPr lang="fr-FR" sz="1600" b="0" i="0" dirty="0" err="1">
                <a:solidFill>
                  <a:srgbClr val="ECECEC"/>
                </a:solidFill>
                <a:effectLst/>
                <a:latin typeface="Söhne"/>
              </a:rPr>
              <a:t>create</a:t>
            </a:r>
            <a:r>
              <a:rPr lang="fr-FR" sz="1600" b="0" i="0" dirty="0">
                <a:solidFill>
                  <a:srgbClr val="ECECEC"/>
                </a:solidFill>
                <a:effectLst/>
                <a:latin typeface="Söhne"/>
              </a:rPr>
              <a:t> batch </a:t>
            </a:r>
            <a:r>
              <a:rPr lang="fr-FR" sz="1600" b="0" i="0" dirty="0" err="1">
                <a:solidFill>
                  <a:srgbClr val="ECECEC"/>
                </a:solidFill>
                <a:effectLst/>
                <a:latin typeface="Söhne"/>
              </a:rPr>
              <a:t>predictions</a:t>
            </a:r>
            <a:r>
              <a:rPr lang="fr-FR" sz="1600" b="0" i="0" dirty="0">
                <a:solidFill>
                  <a:srgbClr val="ECECEC"/>
                </a:solidFill>
                <a:effectLst/>
                <a:latin typeface="Söhne"/>
              </a:rPr>
              <a:t>, and </a:t>
            </a:r>
            <a:r>
              <a:rPr lang="fr-FR" sz="1600" b="0" i="0" dirty="0" err="1">
                <a:solidFill>
                  <a:srgbClr val="ECECEC"/>
                </a:solidFill>
                <a:effectLst/>
                <a:latin typeface="Söhne"/>
              </a:rPr>
              <a:t>view</a:t>
            </a:r>
            <a:r>
              <a:rPr lang="fr-FR" sz="1600" b="0" i="0" dirty="0">
                <a:solidFill>
                  <a:srgbClr val="ECECEC"/>
                </a:solidFill>
                <a:effectLst/>
                <a:latin typeface="Söhne"/>
              </a:rPr>
              <a:t> information about </a:t>
            </a:r>
            <a:r>
              <a:rPr lang="fr-FR" sz="1600" b="0" i="0" dirty="0" err="1">
                <a:solidFill>
                  <a:srgbClr val="ECECEC"/>
                </a:solidFill>
                <a:effectLst/>
                <a:latin typeface="Söhne"/>
              </a:rPr>
              <a:t>specific</a:t>
            </a:r>
            <a:r>
              <a:rPr lang="fr-FR" sz="1600" b="0" i="0" dirty="0">
                <a:solidFill>
                  <a:srgbClr val="ECECEC"/>
                </a:solidFill>
                <a:effectLst/>
                <a:latin typeface="Söhne"/>
              </a:rPr>
              <a:t> </a:t>
            </a:r>
            <a:r>
              <a:rPr lang="fr-FR" sz="1600" b="0" i="0" dirty="0" err="1">
                <a:solidFill>
                  <a:srgbClr val="ECECEC"/>
                </a:solidFill>
                <a:effectLst/>
                <a:latin typeface="Söhne"/>
              </a:rPr>
              <a:t>models</a:t>
            </a:r>
            <a:r>
              <a:rPr lang="fr-FR" sz="1600" b="0" i="0" dirty="0">
                <a:solidFill>
                  <a:srgbClr val="ECECEC"/>
                </a:solidFill>
                <a:effectLst/>
                <a:latin typeface="Söhne"/>
              </a:rPr>
              <a:t> and model versions.</a:t>
            </a:r>
          </a:p>
          <a:p>
            <a:pPr algn="l">
              <a:buFont typeface="Arial" panose="020B0604020202020204" pitchFamily="34" charset="0"/>
              <a:buChar char="•"/>
            </a:pPr>
            <a:r>
              <a:rPr lang="fr-FR" sz="1800" b="0" i="0" dirty="0" err="1">
                <a:solidFill>
                  <a:srgbClr val="ECECEC"/>
                </a:solidFill>
                <a:effectLst/>
                <a:latin typeface="Söhne"/>
              </a:rPr>
              <a:t>Managing</a:t>
            </a:r>
            <a:r>
              <a:rPr lang="fr-FR" sz="1800" b="0" i="0" dirty="0">
                <a:solidFill>
                  <a:srgbClr val="ECECEC"/>
                </a:solidFill>
                <a:effectLst/>
                <a:latin typeface="Söhne"/>
              </a:rPr>
              <a:t> </a:t>
            </a:r>
            <a:r>
              <a:rPr lang="fr-FR" sz="1800" b="0" i="0" dirty="0" err="1">
                <a:solidFill>
                  <a:srgbClr val="ECECEC"/>
                </a:solidFill>
                <a:effectLst/>
                <a:latin typeface="Söhne"/>
              </a:rPr>
              <a:t>features</a:t>
            </a:r>
            <a:r>
              <a:rPr lang="fr-FR" sz="1800" b="0" i="0" dirty="0">
                <a:solidFill>
                  <a:srgbClr val="ECECEC"/>
                </a:solidFill>
                <a:effectLst/>
                <a:latin typeface="Söhne"/>
              </a:rPr>
              <a:t>: </a:t>
            </a:r>
          </a:p>
          <a:p>
            <a:pPr lvl="1"/>
            <a:r>
              <a:rPr lang="fr-FR" sz="1600" b="0" i="0" dirty="0" err="1">
                <a:solidFill>
                  <a:srgbClr val="ECECEC"/>
                </a:solidFill>
                <a:effectLst/>
                <a:latin typeface="Söhne"/>
              </a:rPr>
              <a:t>When</a:t>
            </a:r>
            <a:r>
              <a:rPr lang="fr-FR" sz="1600" b="0" i="0" dirty="0">
                <a:solidFill>
                  <a:srgbClr val="ECECEC"/>
                </a:solidFill>
                <a:effectLst/>
                <a:latin typeface="Söhne"/>
              </a:rPr>
              <a:t> </a:t>
            </a:r>
            <a:r>
              <a:rPr lang="fr-FR" sz="1600" b="0" i="0" dirty="0" err="1">
                <a:solidFill>
                  <a:srgbClr val="ECECEC"/>
                </a:solidFill>
                <a:effectLst/>
                <a:latin typeface="Söhne"/>
              </a:rPr>
              <a:t>reusing</a:t>
            </a:r>
            <a:r>
              <a:rPr lang="fr-FR" sz="1600" b="0" i="0" dirty="0">
                <a:solidFill>
                  <a:srgbClr val="ECECEC"/>
                </a:solidFill>
                <a:effectLst/>
                <a:latin typeface="Söhne"/>
              </a:rPr>
              <a:t> ML </a:t>
            </a:r>
            <a:r>
              <a:rPr lang="fr-FR" sz="1600" b="0" i="0" dirty="0" err="1">
                <a:solidFill>
                  <a:srgbClr val="ECECEC"/>
                </a:solidFill>
                <a:effectLst/>
                <a:latin typeface="Söhne"/>
              </a:rPr>
              <a:t>features</a:t>
            </a:r>
            <a:r>
              <a:rPr lang="fr-FR" sz="1600" b="0" i="0" dirty="0">
                <a:solidFill>
                  <a:srgbClr val="ECECEC"/>
                </a:solidFill>
                <a:effectLst/>
                <a:latin typeface="Söhne"/>
              </a:rPr>
              <a:t> </a:t>
            </a:r>
            <a:r>
              <a:rPr lang="fr-FR" sz="1600" b="0" i="0" dirty="0" err="1">
                <a:solidFill>
                  <a:srgbClr val="ECECEC"/>
                </a:solidFill>
                <a:effectLst/>
                <a:latin typeface="Söhne"/>
              </a:rPr>
              <a:t>across</a:t>
            </a:r>
            <a:r>
              <a:rPr lang="fr-FR" sz="1600" b="0" i="0" dirty="0">
                <a:solidFill>
                  <a:srgbClr val="ECECEC"/>
                </a:solidFill>
                <a:effectLst/>
                <a:latin typeface="Söhne"/>
              </a:rPr>
              <a:t> multiple teams, </a:t>
            </a:r>
            <a:r>
              <a:rPr lang="fr-FR" sz="1600" b="0" i="0" dirty="0" err="1">
                <a:solidFill>
                  <a:srgbClr val="ECECEC"/>
                </a:solidFill>
                <a:effectLst/>
                <a:latin typeface="Söhne"/>
              </a:rPr>
              <a:t>you</a:t>
            </a:r>
            <a:r>
              <a:rPr lang="fr-FR" sz="1600" b="0" i="0" dirty="0">
                <a:solidFill>
                  <a:srgbClr val="ECECEC"/>
                </a:solidFill>
                <a:effectLst/>
                <a:latin typeface="Söhne"/>
              </a:rPr>
              <a:t> </a:t>
            </a:r>
            <a:r>
              <a:rPr lang="fr-FR" sz="1600" b="0" i="0" dirty="0" err="1">
                <a:solidFill>
                  <a:srgbClr val="ECECEC"/>
                </a:solidFill>
                <a:effectLst/>
                <a:latin typeface="Söhne"/>
              </a:rPr>
              <a:t>need</a:t>
            </a:r>
            <a:r>
              <a:rPr lang="fr-FR" sz="1600" b="0" i="0" dirty="0">
                <a:solidFill>
                  <a:srgbClr val="ECECEC"/>
                </a:solidFill>
                <a:effectLst/>
                <a:latin typeface="Söhne"/>
              </a:rPr>
              <a:t> a fast and efficient </a:t>
            </a:r>
            <a:r>
              <a:rPr lang="fr-FR" sz="1600" b="0" i="0" dirty="0" err="1">
                <a:solidFill>
                  <a:srgbClr val="ECECEC"/>
                </a:solidFill>
                <a:effectLst/>
                <a:latin typeface="Söhne"/>
              </a:rPr>
              <a:t>way</a:t>
            </a:r>
            <a:r>
              <a:rPr lang="fr-FR" sz="1600" b="0" i="0" dirty="0">
                <a:solidFill>
                  <a:srgbClr val="ECECEC"/>
                </a:solidFill>
                <a:effectLst/>
                <a:latin typeface="Söhne"/>
              </a:rPr>
              <a:t> to </a:t>
            </a:r>
            <a:r>
              <a:rPr lang="fr-FR" sz="1600" b="0" i="0" dirty="0" err="1">
                <a:solidFill>
                  <a:srgbClr val="ECECEC"/>
                </a:solidFill>
                <a:effectLst/>
                <a:latin typeface="Söhne"/>
              </a:rPr>
              <a:t>share</a:t>
            </a:r>
            <a:r>
              <a:rPr lang="fr-FR" sz="1600" b="0" i="0" dirty="0">
                <a:solidFill>
                  <a:srgbClr val="ECECEC"/>
                </a:solidFill>
                <a:effectLst/>
                <a:latin typeface="Söhne"/>
              </a:rPr>
              <a:t> and </a:t>
            </a:r>
            <a:r>
              <a:rPr lang="fr-FR" sz="1600" b="0" i="0" dirty="0" err="1">
                <a:solidFill>
                  <a:srgbClr val="ECECEC"/>
                </a:solidFill>
                <a:effectLst/>
                <a:latin typeface="Söhne"/>
              </a:rPr>
              <a:t>distribute</a:t>
            </a:r>
            <a:r>
              <a:rPr lang="fr-FR" sz="1600" b="0" i="0" dirty="0">
                <a:solidFill>
                  <a:srgbClr val="ECECEC"/>
                </a:solidFill>
                <a:effectLst/>
                <a:latin typeface="Söhne"/>
              </a:rPr>
              <a:t> </a:t>
            </a:r>
            <a:r>
              <a:rPr lang="fr-FR" sz="1600" b="0" i="0" dirty="0" err="1">
                <a:solidFill>
                  <a:srgbClr val="ECECEC"/>
                </a:solidFill>
                <a:effectLst/>
                <a:latin typeface="Söhne"/>
              </a:rPr>
              <a:t>them</a:t>
            </a:r>
            <a:r>
              <a:rPr lang="fr-FR" sz="1600" b="0" i="0" dirty="0">
                <a:solidFill>
                  <a:srgbClr val="ECECEC"/>
                </a:solidFill>
                <a:effectLst/>
                <a:latin typeface="Söhne"/>
              </a:rPr>
              <a:t>. Vertex AI </a:t>
            </a:r>
            <a:r>
              <a:rPr lang="fr-FR" sz="1600" b="0" i="0" dirty="0" err="1">
                <a:solidFill>
                  <a:srgbClr val="ECECEC"/>
                </a:solidFill>
                <a:effectLst/>
                <a:latin typeface="Söhne"/>
              </a:rPr>
              <a:t>Feature</a:t>
            </a:r>
            <a:r>
              <a:rPr lang="fr-FR" sz="1600" b="0" i="0" dirty="0">
                <a:solidFill>
                  <a:srgbClr val="ECECEC"/>
                </a:solidFill>
                <a:effectLst/>
                <a:latin typeface="Söhne"/>
              </a:rPr>
              <a:t> Store </a:t>
            </a:r>
            <a:r>
              <a:rPr lang="fr-FR" sz="1600" b="0" i="0" dirty="0" err="1">
                <a:solidFill>
                  <a:srgbClr val="ECECEC"/>
                </a:solidFill>
                <a:effectLst/>
                <a:latin typeface="Söhne"/>
              </a:rPr>
              <a:t>provides</a:t>
            </a:r>
            <a:r>
              <a:rPr lang="fr-FR" sz="1600" b="0" i="0" dirty="0">
                <a:solidFill>
                  <a:srgbClr val="ECECEC"/>
                </a:solidFill>
                <a:effectLst/>
                <a:latin typeface="Söhne"/>
              </a:rPr>
              <a:t> a </a:t>
            </a:r>
            <a:r>
              <a:rPr lang="fr-FR" sz="1600" b="0" i="0" dirty="0" err="1">
                <a:solidFill>
                  <a:srgbClr val="ECECEC"/>
                </a:solidFill>
                <a:effectLst/>
                <a:latin typeface="Söhne"/>
              </a:rPr>
              <a:t>centralized</a:t>
            </a:r>
            <a:r>
              <a:rPr lang="fr-FR" sz="1600" b="0" i="0" dirty="0">
                <a:solidFill>
                  <a:srgbClr val="ECECEC"/>
                </a:solidFill>
                <a:effectLst/>
                <a:latin typeface="Söhne"/>
              </a:rPr>
              <a:t> repository for </a:t>
            </a:r>
            <a:r>
              <a:rPr lang="fr-FR" sz="1600" b="0" i="0" dirty="0" err="1">
                <a:solidFill>
                  <a:srgbClr val="ECECEC"/>
                </a:solidFill>
                <a:effectLst/>
                <a:latin typeface="Söhne"/>
              </a:rPr>
              <a:t>organizing</a:t>
            </a:r>
            <a:r>
              <a:rPr lang="fr-FR" sz="1600" b="0" i="0" dirty="0">
                <a:solidFill>
                  <a:srgbClr val="ECECEC"/>
                </a:solidFill>
                <a:effectLst/>
                <a:latin typeface="Söhne"/>
              </a:rPr>
              <a:t>, </a:t>
            </a:r>
            <a:r>
              <a:rPr lang="fr-FR" sz="1600" b="0" i="0" dirty="0" err="1">
                <a:solidFill>
                  <a:srgbClr val="ECECEC"/>
                </a:solidFill>
                <a:effectLst/>
                <a:latin typeface="Söhne"/>
              </a:rPr>
              <a:t>storing</a:t>
            </a:r>
            <a:r>
              <a:rPr lang="fr-FR" sz="1600" b="0" i="0" dirty="0">
                <a:solidFill>
                  <a:srgbClr val="ECECEC"/>
                </a:solidFill>
                <a:effectLst/>
                <a:latin typeface="Söhne"/>
              </a:rPr>
              <a:t>, and </a:t>
            </a:r>
            <a:r>
              <a:rPr lang="fr-FR" sz="1600" b="0" i="0" dirty="0" err="1">
                <a:solidFill>
                  <a:srgbClr val="ECECEC"/>
                </a:solidFill>
                <a:effectLst/>
                <a:latin typeface="Söhne"/>
              </a:rPr>
              <a:t>publishing</a:t>
            </a:r>
            <a:r>
              <a:rPr lang="fr-FR" sz="1600" b="0" i="0" dirty="0">
                <a:solidFill>
                  <a:srgbClr val="ECECEC"/>
                </a:solidFill>
                <a:effectLst/>
                <a:latin typeface="Söhne"/>
              </a:rPr>
              <a:t> ML </a:t>
            </a:r>
            <a:r>
              <a:rPr lang="fr-FR" sz="1600" b="0" i="0" dirty="0" err="1">
                <a:solidFill>
                  <a:srgbClr val="ECECEC"/>
                </a:solidFill>
                <a:effectLst/>
                <a:latin typeface="Söhne"/>
              </a:rPr>
              <a:t>features</a:t>
            </a:r>
            <a:r>
              <a:rPr lang="fr-FR" sz="1600" b="0" i="0" dirty="0">
                <a:solidFill>
                  <a:srgbClr val="ECECEC"/>
                </a:solidFill>
                <a:effectLst/>
                <a:latin typeface="Söhne"/>
              </a:rPr>
              <a:t>. By </a:t>
            </a:r>
            <a:r>
              <a:rPr lang="fr-FR" sz="1600" b="0" i="0" dirty="0" err="1">
                <a:solidFill>
                  <a:srgbClr val="ECECEC"/>
                </a:solidFill>
                <a:effectLst/>
                <a:latin typeface="Söhne"/>
              </a:rPr>
              <a:t>using</a:t>
            </a:r>
            <a:r>
              <a:rPr lang="fr-FR" sz="1600" b="0" i="0" dirty="0">
                <a:solidFill>
                  <a:srgbClr val="ECECEC"/>
                </a:solidFill>
                <a:effectLst/>
                <a:latin typeface="Söhne"/>
              </a:rPr>
              <a:t> a central </a:t>
            </a:r>
            <a:r>
              <a:rPr lang="fr-FR" sz="1600" b="0" i="0" dirty="0" err="1">
                <a:solidFill>
                  <a:srgbClr val="ECECEC"/>
                </a:solidFill>
                <a:effectLst/>
                <a:latin typeface="Söhne"/>
              </a:rPr>
              <a:t>feature</a:t>
            </a:r>
            <a:r>
              <a:rPr lang="fr-FR" sz="1600" b="0" i="0" dirty="0">
                <a:solidFill>
                  <a:srgbClr val="ECECEC"/>
                </a:solidFill>
                <a:effectLst/>
                <a:latin typeface="Söhne"/>
              </a:rPr>
              <a:t> store, </a:t>
            </a:r>
            <a:r>
              <a:rPr lang="fr-FR" sz="1600" b="0" i="0" dirty="0" err="1">
                <a:solidFill>
                  <a:srgbClr val="ECECEC"/>
                </a:solidFill>
                <a:effectLst/>
                <a:latin typeface="Söhne"/>
              </a:rPr>
              <a:t>your</a:t>
            </a:r>
            <a:r>
              <a:rPr lang="fr-FR" sz="1600" b="0" i="0" dirty="0">
                <a:solidFill>
                  <a:srgbClr val="ECECEC"/>
                </a:solidFill>
                <a:effectLst/>
                <a:latin typeface="Söhne"/>
              </a:rPr>
              <a:t> </a:t>
            </a:r>
            <a:r>
              <a:rPr lang="fr-FR" sz="1600" b="0" i="0" dirty="0" err="1">
                <a:solidFill>
                  <a:srgbClr val="ECECEC"/>
                </a:solidFill>
                <a:effectLst/>
                <a:latin typeface="Söhne"/>
              </a:rPr>
              <a:t>organization</a:t>
            </a:r>
            <a:r>
              <a:rPr lang="fr-FR" sz="1600" b="0" i="0" dirty="0">
                <a:solidFill>
                  <a:srgbClr val="ECECEC"/>
                </a:solidFill>
                <a:effectLst/>
                <a:latin typeface="Söhne"/>
              </a:rPr>
              <a:t> can </a:t>
            </a:r>
            <a:r>
              <a:rPr lang="fr-FR" sz="1600" b="0" i="0" dirty="0" err="1">
                <a:solidFill>
                  <a:srgbClr val="ECECEC"/>
                </a:solidFill>
                <a:effectLst/>
                <a:latin typeface="Söhne"/>
              </a:rPr>
              <a:t>reuse</a:t>
            </a:r>
            <a:r>
              <a:rPr lang="fr-FR" sz="1600" b="0" i="0" dirty="0">
                <a:solidFill>
                  <a:srgbClr val="ECECEC"/>
                </a:solidFill>
                <a:effectLst/>
                <a:latin typeface="Söhne"/>
              </a:rPr>
              <a:t> ML </a:t>
            </a:r>
            <a:r>
              <a:rPr lang="fr-FR" sz="1600" b="0" i="0" dirty="0" err="1">
                <a:solidFill>
                  <a:srgbClr val="ECECEC"/>
                </a:solidFill>
                <a:effectLst/>
                <a:latin typeface="Söhne"/>
              </a:rPr>
              <a:t>features</a:t>
            </a:r>
            <a:r>
              <a:rPr lang="fr-FR" sz="1600" b="0" i="0" dirty="0">
                <a:solidFill>
                  <a:srgbClr val="ECECEC"/>
                </a:solidFill>
                <a:effectLst/>
                <a:latin typeface="Söhne"/>
              </a:rPr>
              <a:t> at </a:t>
            </a:r>
            <a:r>
              <a:rPr lang="fr-FR" sz="1600" b="0" i="0" dirty="0" err="1">
                <a:solidFill>
                  <a:srgbClr val="ECECEC"/>
                </a:solidFill>
                <a:effectLst/>
                <a:latin typeface="Söhne"/>
              </a:rPr>
              <a:t>scale</a:t>
            </a:r>
            <a:r>
              <a:rPr lang="fr-FR" sz="1600" b="0" i="0" dirty="0">
                <a:solidFill>
                  <a:srgbClr val="ECECEC"/>
                </a:solidFill>
                <a:effectLst/>
                <a:latin typeface="Söhne"/>
              </a:rPr>
              <a:t> and </a:t>
            </a:r>
            <a:r>
              <a:rPr lang="fr-FR" sz="1600" b="0" i="0" dirty="0" err="1">
                <a:solidFill>
                  <a:srgbClr val="ECECEC"/>
                </a:solidFill>
                <a:effectLst/>
                <a:latin typeface="Söhne"/>
              </a:rPr>
              <a:t>accelerate</a:t>
            </a:r>
            <a:r>
              <a:rPr lang="fr-FR" sz="1600" b="0" i="0" dirty="0">
                <a:solidFill>
                  <a:srgbClr val="ECECEC"/>
                </a:solidFill>
                <a:effectLst/>
                <a:latin typeface="Söhne"/>
              </a:rPr>
              <a:t> the </a:t>
            </a:r>
            <a:r>
              <a:rPr lang="fr-FR" sz="1600" b="0" i="0" dirty="0" err="1">
                <a:solidFill>
                  <a:srgbClr val="ECECEC"/>
                </a:solidFill>
                <a:effectLst/>
                <a:latin typeface="Söhne"/>
              </a:rPr>
              <a:t>development</a:t>
            </a:r>
            <a:r>
              <a:rPr lang="fr-FR" sz="1600" b="0" i="0" dirty="0">
                <a:solidFill>
                  <a:srgbClr val="ECECEC"/>
                </a:solidFill>
                <a:effectLst/>
                <a:latin typeface="Söhne"/>
              </a:rPr>
              <a:t> and </a:t>
            </a:r>
            <a:r>
              <a:rPr lang="fr-FR" sz="1600" b="0" i="0" dirty="0" err="1">
                <a:solidFill>
                  <a:srgbClr val="ECECEC"/>
                </a:solidFill>
                <a:effectLst/>
                <a:latin typeface="Söhne"/>
              </a:rPr>
              <a:t>deployment</a:t>
            </a:r>
            <a:r>
              <a:rPr lang="fr-FR" sz="1600" b="0" i="0" dirty="0">
                <a:solidFill>
                  <a:srgbClr val="ECECEC"/>
                </a:solidFill>
                <a:effectLst/>
                <a:latin typeface="Söhne"/>
              </a:rPr>
              <a:t> of new ML applications.</a:t>
            </a:r>
          </a:p>
          <a:p>
            <a:pPr algn="l">
              <a:buFont typeface="Arial" panose="020B0604020202020204" pitchFamily="34" charset="0"/>
              <a:buChar char="•"/>
            </a:pPr>
            <a:r>
              <a:rPr lang="fr-FR" sz="1800" b="0" i="0" dirty="0">
                <a:solidFill>
                  <a:srgbClr val="ECECEC"/>
                </a:solidFill>
                <a:effectLst/>
                <a:latin typeface="Söhne"/>
              </a:rPr>
              <a:t>Monitoring model </a:t>
            </a:r>
            <a:r>
              <a:rPr lang="fr-FR" sz="1800" b="0" i="0" dirty="0" err="1">
                <a:solidFill>
                  <a:srgbClr val="ECECEC"/>
                </a:solidFill>
                <a:effectLst/>
                <a:latin typeface="Söhne"/>
              </a:rPr>
              <a:t>quality</a:t>
            </a:r>
            <a:r>
              <a:rPr lang="fr-FR" sz="1800" b="0" i="0" dirty="0">
                <a:solidFill>
                  <a:srgbClr val="ECECEC"/>
                </a:solidFill>
                <a:effectLst/>
                <a:latin typeface="Söhne"/>
              </a:rPr>
              <a:t>: </a:t>
            </a:r>
          </a:p>
          <a:p>
            <a:pPr lvl="1"/>
            <a:r>
              <a:rPr lang="fr-FR" sz="1600" b="0" i="0" dirty="0">
                <a:solidFill>
                  <a:srgbClr val="ECECEC"/>
                </a:solidFill>
                <a:effectLst/>
                <a:latin typeface="Söhne"/>
              </a:rPr>
              <a:t>A model </a:t>
            </a:r>
            <a:r>
              <a:rPr lang="fr-FR" sz="1600" b="0" i="0" dirty="0" err="1">
                <a:solidFill>
                  <a:srgbClr val="ECECEC"/>
                </a:solidFill>
                <a:effectLst/>
                <a:latin typeface="Söhne"/>
              </a:rPr>
              <a:t>deployed</a:t>
            </a:r>
            <a:r>
              <a:rPr lang="fr-FR" sz="1600" b="0" i="0" dirty="0">
                <a:solidFill>
                  <a:srgbClr val="ECECEC"/>
                </a:solidFill>
                <a:effectLst/>
                <a:latin typeface="Söhne"/>
              </a:rPr>
              <a:t> in production </a:t>
            </a:r>
            <a:r>
              <a:rPr lang="fr-FR" sz="1600" b="0" i="0" dirty="0" err="1">
                <a:solidFill>
                  <a:srgbClr val="ECECEC"/>
                </a:solidFill>
                <a:effectLst/>
                <a:latin typeface="Söhne"/>
              </a:rPr>
              <a:t>performs</a:t>
            </a:r>
            <a:r>
              <a:rPr lang="fr-FR" sz="1600" b="0" i="0" dirty="0">
                <a:solidFill>
                  <a:srgbClr val="ECECEC"/>
                </a:solidFill>
                <a:effectLst/>
                <a:latin typeface="Söhne"/>
              </a:rPr>
              <a:t> best on </a:t>
            </a:r>
            <a:r>
              <a:rPr lang="fr-FR" sz="1600" b="0" i="0" dirty="0" err="1">
                <a:solidFill>
                  <a:srgbClr val="ECECEC"/>
                </a:solidFill>
                <a:effectLst/>
                <a:latin typeface="Söhne"/>
              </a:rPr>
              <a:t>prediction</a:t>
            </a:r>
            <a:r>
              <a:rPr lang="fr-FR" sz="1600" b="0" i="0" dirty="0">
                <a:solidFill>
                  <a:srgbClr val="ECECEC"/>
                </a:solidFill>
                <a:effectLst/>
                <a:latin typeface="Söhne"/>
              </a:rPr>
              <a:t> input data </a:t>
            </a:r>
            <a:r>
              <a:rPr lang="fr-FR" sz="1600" b="0" i="0" dirty="0" err="1">
                <a:solidFill>
                  <a:srgbClr val="ECECEC"/>
                </a:solidFill>
                <a:effectLst/>
                <a:latin typeface="Söhne"/>
              </a:rPr>
              <a:t>similar</a:t>
            </a:r>
            <a:r>
              <a:rPr lang="fr-FR" sz="1600" b="0" i="0" dirty="0">
                <a:solidFill>
                  <a:srgbClr val="ECECEC"/>
                </a:solidFill>
                <a:effectLst/>
                <a:latin typeface="Söhne"/>
              </a:rPr>
              <a:t> to the training data. </a:t>
            </a:r>
            <a:r>
              <a:rPr lang="fr-FR" sz="1600" b="0" i="0" dirty="0" err="1">
                <a:solidFill>
                  <a:srgbClr val="ECECEC"/>
                </a:solidFill>
                <a:effectLst/>
                <a:latin typeface="Söhne"/>
              </a:rPr>
              <a:t>When</a:t>
            </a:r>
            <a:r>
              <a:rPr lang="fr-FR" sz="1600" b="0" i="0" dirty="0">
                <a:solidFill>
                  <a:srgbClr val="ECECEC"/>
                </a:solidFill>
                <a:effectLst/>
                <a:latin typeface="Söhne"/>
              </a:rPr>
              <a:t> input data </a:t>
            </a:r>
            <a:r>
              <a:rPr lang="fr-FR" sz="1600" b="0" i="0" dirty="0" err="1">
                <a:solidFill>
                  <a:srgbClr val="ECECEC"/>
                </a:solidFill>
                <a:effectLst/>
                <a:latin typeface="Söhne"/>
              </a:rPr>
              <a:t>deviates</a:t>
            </a:r>
            <a:r>
              <a:rPr lang="fr-FR" sz="1600" b="0" i="0" dirty="0">
                <a:solidFill>
                  <a:srgbClr val="ECECEC"/>
                </a:solidFill>
                <a:effectLst/>
                <a:latin typeface="Söhne"/>
              </a:rPr>
              <a:t> </a:t>
            </a:r>
            <a:r>
              <a:rPr lang="fr-FR" sz="1600" b="0" i="0" dirty="0" err="1">
                <a:solidFill>
                  <a:srgbClr val="ECECEC"/>
                </a:solidFill>
                <a:effectLst/>
                <a:latin typeface="Söhne"/>
              </a:rPr>
              <a:t>from</a:t>
            </a:r>
            <a:r>
              <a:rPr lang="fr-FR" sz="1600" b="0" i="0" dirty="0">
                <a:solidFill>
                  <a:srgbClr val="ECECEC"/>
                </a:solidFill>
                <a:effectLst/>
                <a:latin typeface="Söhne"/>
              </a:rPr>
              <a:t> the data </a:t>
            </a:r>
            <a:r>
              <a:rPr lang="fr-FR" sz="1600" b="0" i="0" dirty="0" err="1">
                <a:solidFill>
                  <a:srgbClr val="ECECEC"/>
                </a:solidFill>
                <a:effectLst/>
                <a:latin typeface="Söhne"/>
              </a:rPr>
              <a:t>used</a:t>
            </a:r>
            <a:r>
              <a:rPr lang="fr-FR" sz="1600" b="0" i="0" dirty="0">
                <a:solidFill>
                  <a:srgbClr val="ECECEC"/>
                </a:solidFill>
                <a:effectLst/>
                <a:latin typeface="Söhne"/>
              </a:rPr>
              <a:t> to train the model, model performance can </a:t>
            </a:r>
            <a:r>
              <a:rPr lang="fr-FR" sz="1600" b="0" i="0" dirty="0" err="1">
                <a:solidFill>
                  <a:srgbClr val="ECECEC"/>
                </a:solidFill>
                <a:effectLst/>
                <a:latin typeface="Söhne"/>
              </a:rPr>
              <a:t>degrade</a:t>
            </a:r>
            <a:r>
              <a:rPr lang="fr-FR" sz="1600" b="0" i="0" dirty="0">
                <a:solidFill>
                  <a:srgbClr val="ECECEC"/>
                </a:solidFill>
                <a:effectLst/>
                <a:latin typeface="Söhne"/>
              </a:rPr>
              <a:t>, </a:t>
            </a:r>
            <a:r>
              <a:rPr lang="fr-FR" sz="1600" b="0" i="0" dirty="0" err="1">
                <a:solidFill>
                  <a:srgbClr val="ECECEC"/>
                </a:solidFill>
                <a:effectLst/>
                <a:latin typeface="Söhne"/>
              </a:rPr>
              <a:t>even</a:t>
            </a:r>
            <a:r>
              <a:rPr lang="fr-FR" sz="1600" b="0" i="0" dirty="0">
                <a:solidFill>
                  <a:srgbClr val="ECECEC"/>
                </a:solidFill>
                <a:effectLst/>
                <a:latin typeface="Söhne"/>
              </a:rPr>
              <a:t> if the model </a:t>
            </a:r>
            <a:r>
              <a:rPr lang="fr-FR" sz="1600" b="0" i="0" dirty="0" err="1">
                <a:solidFill>
                  <a:srgbClr val="ECECEC"/>
                </a:solidFill>
                <a:effectLst/>
                <a:latin typeface="Söhne"/>
              </a:rPr>
              <a:t>itself</a:t>
            </a:r>
            <a:r>
              <a:rPr lang="fr-FR" sz="1600" b="0" i="0" dirty="0">
                <a:solidFill>
                  <a:srgbClr val="ECECEC"/>
                </a:solidFill>
                <a:effectLst/>
                <a:latin typeface="Söhne"/>
              </a:rPr>
              <a:t> </a:t>
            </a:r>
            <a:r>
              <a:rPr lang="fr-FR" sz="1600" b="0" i="0" dirty="0" err="1">
                <a:solidFill>
                  <a:srgbClr val="ECECEC"/>
                </a:solidFill>
                <a:effectLst/>
                <a:latin typeface="Söhne"/>
              </a:rPr>
              <a:t>hasn't</a:t>
            </a:r>
            <a:r>
              <a:rPr lang="fr-FR" sz="1600" b="0" i="0" dirty="0">
                <a:solidFill>
                  <a:srgbClr val="ECECEC"/>
                </a:solidFill>
                <a:effectLst/>
                <a:latin typeface="Söhne"/>
              </a:rPr>
              <a:t> </a:t>
            </a:r>
            <a:r>
              <a:rPr lang="fr-FR" sz="1600" b="0" i="0" dirty="0" err="1">
                <a:solidFill>
                  <a:srgbClr val="ECECEC"/>
                </a:solidFill>
                <a:effectLst/>
                <a:latin typeface="Söhne"/>
              </a:rPr>
              <a:t>changed</a:t>
            </a:r>
            <a:r>
              <a:rPr lang="fr-FR" sz="1600" b="0" i="0" dirty="0">
                <a:solidFill>
                  <a:srgbClr val="ECECEC"/>
                </a:solidFill>
                <a:effectLst/>
                <a:latin typeface="Söhne"/>
              </a:rPr>
              <a:t>. Vertex AI Model Monitoring monitors training/</a:t>
            </a:r>
            <a:r>
              <a:rPr lang="fr-FR" sz="1600" b="0" i="0" dirty="0" err="1">
                <a:solidFill>
                  <a:srgbClr val="ECECEC"/>
                </a:solidFill>
                <a:effectLst/>
                <a:latin typeface="Söhne"/>
              </a:rPr>
              <a:t>inference</a:t>
            </a:r>
            <a:r>
              <a:rPr lang="fr-FR" sz="1600" b="0" i="0" dirty="0">
                <a:solidFill>
                  <a:srgbClr val="ECECEC"/>
                </a:solidFill>
                <a:effectLst/>
                <a:latin typeface="Söhne"/>
              </a:rPr>
              <a:t> gaps and </a:t>
            </a:r>
            <a:r>
              <a:rPr lang="fr-FR" sz="1600" b="0" i="0" dirty="0" err="1">
                <a:solidFill>
                  <a:srgbClr val="ECECEC"/>
                </a:solidFill>
                <a:effectLst/>
                <a:latin typeface="Söhne"/>
              </a:rPr>
              <a:t>prediction</a:t>
            </a:r>
            <a:r>
              <a:rPr lang="fr-FR" sz="1600" b="0" i="0" dirty="0">
                <a:solidFill>
                  <a:srgbClr val="ECECEC"/>
                </a:solidFill>
                <a:effectLst/>
                <a:latin typeface="Söhne"/>
              </a:rPr>
              <a:t> drifts, </a:t>
            </a:r>
            <a:r>
              <a:rPr lang="fr-FR" sz="1600" b="0" i="0" dirty="0" err="1">
                <a:solidFill>
                  <a:srgbClr val="ECECEC"/>
                </a:solidFill>
                <a:effectLst/>
                <a:latin typeface="Söhne"/>
              </a:rPr>
              <a:t>sending</a:t>
            </a:r>
            <a:r>
              <a:rPr lang="fr-FR" sz="1600" b="0" i="0" dirty="0">
                <a:solidFill>
                  <a:srgbClr val="ECECEC"/>
                </a:solidFill>
                <a:effectLst/>
                <a:latin typeface="Söhne"/>
              </a:rPr>
              <a:t> </a:t>
            </a:r>
            <a:r>
              <a:rPr lang="fr-FR" sz="1600" b="0" i="0" dirty="0" err="1">
                <a:solidFill>
                  <a:srgbClr val="ECECEC"/>
                </a:solidFill>
                <a:effectLst/>
                <a:latin typeface="Söhne"/>
              </a:rPr>
              <a:t>alerts</a:t>
            </a:r>
            <a:r>
              <a:rPr lang="fr-FR" sz="1600" b="0" i="0" dirty="0">
                <a:solidFill>
                  <a:srgbClr val="ECECEC"/>
                </a:solidFill>
                <a:effectLst/>
                <a:latin typeface="Söhne"/>
              </a:rPr>
              <a:t> </a:t>
            </a:r>
            <a:r>
              <a:rPr lang="fr-FR" sz="1600" b="0" i="0" dirty="0" err="1">
                <a:solidFill>
                  <a:srgbClr val="ECECEC"/>
                </a:solidFill>
                <a:effectLst/>
                <a:latin typeface="Söhne"/>
              </a:rPr>
              <a:t>when</a:t>
            </a:r>
            <a:r>
              <a:rPr lang="fr-FR" sz="1600" b="0" i="0" dirty="0">
                <a:solidFill>
                  <a:srgbClr val="ECECEC"/>
                </a:solidFill>
                <a:effectLst/>
                <a:latin typeface="Söhne"/>
              </a:rPr>
              <a:t> </a:t>
            </a:r>
            <a:r>
              <a:rPr lang="fr-FR" sz="1600" b="0" i="0" dirty="0" err="1">
                <a:solidFill>
                  <a:srgbClr val="ECECEC"/>
                </a:solidFill>
                <a:effectLst/>
                <a:latin typeface="Söhne"/>
              </a:rPr>
              <a:t>prediction</a:t>
            </a:r>
            <a:r>
              <a:rPr lang="fr-FR" sz="1600" b="0" i="0" dirty="0">
                <a:solidFill>
                  <a:srgbClr val="ECECEC"/>
                </a:solidFill>
                <a:effectLst/>
                <a:latin typeface="Söhne"/>
              </a:rPr>
              <a:t> input data </a:t>
            </a:r>
            <a:r>
              <a:rPr lang="fr-FR" sz="1600" b="0" i="0" dirty="0" err="1">
                <a:solidFill>
                  <a:srgbClr val="ECECEC"/>
                </a:solidFill>
                <a:effectLst/>
                <a:latin typeface="Söhne"/>
              </a:rPr>
              <a:t>is</a:t>
            </a:r>
            <a:r>
              <a:rPr lang="fr-FR" sz="1600" b="0" i="0" dirty="0">
                <a:solidFill>
                  <a:srgbClr val="ECECEC"/>
                </a:solidFill>
                <a:effectLst/>
                <a:latin typeface="Söhne"/>
              </a:rPr>
              <a:t> </a:t>
            </a:r>
            <a:r>
              <a:rPr lang="fr-FR" sz="1600" b="0" i="0" dirty="0" err="1">
                <a:solidFill>
                  <a:srgbClr val="ECECEC"/>
                </a:solidFill>
                <a:effectLst/>
                <a:latin typeface="Söhne"/>
              </a:rPr>
              <a:t>too</a:t>
            </a:r>
            <a:r>
              <a:rPr lang="fr-FR" sz="1600" b="0" i="0" dirty="0">
                <a:solidFill>
                  <a:srgbClr val="ECECEC"/>
                </a:solidFill>
                <a:effectLst/>
                <a:latin typeface="Söhne"/>
              </a:rPr>
              <a:t> far </a:t>
            </a:r>
            <a:r>
              <a:rPr lang="fr-FR" sz="1600" b="0" i="0" dirty="0" err="1">
                <a:solidFill>
                  <a:srgbClr val="ECECEC"/>
                </a:solidFill>
                <a:effectLst/>
                <a:latin typeface="Söhne"/>
              </a:rPr>
              <a:t>from</a:t>
            </a:r>
            <a:r>
              <a:rPr lang="fr-FR" sz="1600" b="0" i="0" dirty="0">
                <a:solidFill>
                  <a:srgbClr val="ECECEC"/>
                </a:solidFill>
                <a:effectLst/>
                <a:latin typeface="Söhne"/>
              </a:rPr>
              <a:t> the training </a:t>
            </a:r>
            <a:r>
              <a:rPr lang="fr-FR" sz="1600" b="0" i="0" dirty="0" err="1">
                <a:solidFill>
                  <a:srgbClr val="ECECEC"/>
                </a:solidFill>
                <a:effectLst/>
                <a:latin typeface="Söhne"/>
              </a:rPr>
              <a:t>reference</a:t>
            </a:r>
            <a:r>
              <a:rPr lang="fr-FR" sz="1600" b="0" i="0" dirty="0">
                <a:solidFill>
                  <a:srgbClr val="ECECEC"/>
                </a:solidFill>
                <a:effectLst/>
                <a:latin typeface="Söhne"/>
              </a:rPr>
              <a:t>. You can use </a:t>
            </a:r>
            <a:r>
              <a:rPr lang="fr-FR" sz="1600" b="0" i="0" dirty="0" err="1">
                <a:solidFill>
                  <a:srgbClr val="ECECEC"/>
                </a:solidFill>
                <a:effectLst/>
                <a:latin typeface="Söhne"/>
              </a:rPr>
              <a:t>alerts</a:t>
            </a:r>
            <a:r>
              <a:rPr lang="fr-FR" sz="1600" b="0" i="0" dirty="0">
                <a:solidFill>
                  <a:srgbClr val="ECECEC"/>
                </a:solidFill>
                <a:effectLst/>
                <a:latin typeface="Söhne"/>
              </a:rPr>
              <a:t> and </a:t>
            </a:r>
            <a:r>
              <a:rPr lang="fr-FR" sz="1600" b="0" i="0" dirty="0" err="1">
                <a:solidFill>
                  <a:srgbClr val="ECECEC"/>
                </a:solidFill>
                <a:effectLst/>
                <a:latin typeface="Söhne"/>
              </a:rPr>
              <a:t>feature</a:t>
            </a:r>
            <a:r>
              <a:rPr lang="fr-FR" sz="1600" b="0" i="0" dirty="0">
                <a:solidFill>
                  <a:srgbClr val="ECECEC"/>
                </a:solidFill>
                <a:effectLst/>
                <a:latin typeface="Söhne"/>
              </a:rPr>
              <a:t> distributions to </a:t>
            </a:r>
            <a:r>
              <a:rPr lang="fr-FR" sz="1600" b="0" i="0" dirty="0" err="1">
                <a:solidFill>
                  <a:srgbClr val="ECECEC"/>
                </a:solidFill>
                <a:effectLst/>
                <a:latin typeface="Söhne"/>
              </a:rPr>
              <a:t>determine</a:t>
            </a:r>
            <a:r>
              <a:rPr lang="fr-FR" sz="1600" b="0" i="0" dirty="0">
                <a:solidFill>
                  <a:srgbClr val="ECECEC"/>
                </a:solidFill>
                <a:effectLst/>
                <a:latin typeface="Söhne"/>
              </a:rPr>
              <a:t> if </a:t>
            </a:r>
            <a:r>
              <a:rPr lang="fr-FR" sz="1600" b="0" i="0" dirty="0" err="1">
                <a:solidFill>
                  <a:srgbClr val="ECECEC"/>
                </a:solidFill>
                <a:effectLst/>
                <a:latin typeface="Söhne"/>
              </a:rPr>
              <a:t>you</a:t>
            </a:r>
            <a:r>
              <a:rPr lang="fr-FR" sz="1600" b="0" i="0" dirty="0">
                <a:solidFill>
                  <a:srgbClr val="ECECEC"/>
                </a:solidFill>
                <a:effectLst/>
                <a:latin typeface="Söhne"/>
              </a:rPr>
              <a:t> </a:t>
            </a:r>
            <a:r>
              <a:rPr lang="fr-FR" sz="1600" b="0" i="0" dirty="0" err="1">
                <a:solidFill>
                  <a:srgbClr val="ECECEC"/>
                </a:solidFill>
                <a:effectLst/>
                <a:latin typeface="Söhne"/>
              </a:rPr>
              <a:t>need</a:t>
            </a:r>
            <a:r>
              <a:rPr lang="fr-FR" sz="1600" b="0" i="0" dirty="0">
                <a:solidFill>
                  <a:srgbClr val="ECECEC"/>
                </a:solidFill>
                <a:effectLst/>
                <a:latin typeface="Söhne"/>
              </a:rPr>
              <a:t> to </a:t>
            </a:r>
            <a:r>
              <a:rPr lang="fr-FR" sz="1600" b="0" i="0" dirty="0" err="1">
                <a:solidFill>
                  <a:srgbClr val="ECECEC"/>
                </a:solidFill>
                <a:effectLst/>
                <a:latin typeface="Söhne"/>
              </a:rPr>
              <a:t>retrain</a:t>
            </a:r>
            <a:r>
              <a:rPr lang="fr-FR" sz="1600" b="0" i="0" dirty="0">
                <a:solidFill>
                  <a:srgbClr val="ECECEC"/>
                </a:solidFill>
                <a:effectLst/>
                <a:latin typeface="Söhne"/>
              </a:rPr>
              <a:t> </a:t>
            </a:r>
            <a:r>
              <a:rPr lang="fr-FR" sz="1600" b="0" i="0" dirty="0" err="1">
                <a:solidFill>
                  <a:srgbClr val="ECECEC"/>
                </a:solidFill>
                <a:effectLst/>
                <a:latin typeface="Söhne"/>
              </a:rPr>
              <a:t>your</a:t>
            </a:r>
            <a:r>
              <a:rPr lang="fr-FR" sz="1600" b="0" i="0" dirty="0">
                <a:solidFill>
                  <a:srgbClr val="ECECEC"/>
                </a:solidFill>
                <a:effectLst/>
                <a:latin typeface="Söhne"/>
              </a:rPr>
              <a:t> model.</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41767030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00448"/>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4094429A-0409-266A-A3D5-5F4F739CC870}"/>
              </a:ext>
            </a:extLst>
          </p:cNvPr>
          <p:cNvPicPr>
            <a:picLocks noChangeAspect="1"/>
          </p:cNvPicPr>
          <p:nvPr/>
        </p:nvPicPr>
        <p:blipFill>
          <a:blip r:embed="rId2"/>
          <a:stretch>
            <a:fillRect/>
          </a:stretch>
        </p:blipFill>
        <p:spPr>
          <a:xfrm>
            <a:off x="2417991" y="1314994"/>
            <a:ext cx="6490878" cy="5030853"/>
          </a:xfrm>
          <a:prstGeom prst="rect">
            <a:avLst/>
          </a:prstGeom>
        </p:spPr>
      </p:pic>
    </p:spTree>
    <p:extLst>
      <p:ext uri="{BB962C8B-B14F-4D97-AF65-F5344CB8AC3E}">
        <p14:creationId xmlns:p14="http://schemas.microsoft.com/office/powerpoint/2010/main" val="3535397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18972"/>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436915"/>
            <a:ext cx="11530646" cy="4833256"/>
          </a:xfrm>
        </p:spPr>
        <p:txBody>
          <a:bodyPr>
            <a:normAutofit lnSpcReduction="10000"/>
          </a:bodyPr>
          <a:lstStyle/>
          <a:p>
            <a:pPr algn="l">
              <a:buFont typeface="Arial" panose="020B0604020202020204" pitchFamily="34" charset="0"/>
              <a:buChar char="•"/>
            </a:pPr>
            <a:r>
              <a:rPr lang="fr-FR" b="0" i="0" dirty="0" err="1">
                <a:solidFill>
                  <a:srgbClr val="ECECEC"/>
                </a:solidFill>
                <a:effectLst/>
                <a:latin typeface="Söhne"/>
              </a:rPr>
              <a:t>Generative</a:t>
            </a:r>
            <a:r>
              <a:rPr lang="fr-FR" b="0" i="0" dirty="0">
                <a:solidFill>
                  <a:srgbClr val="ECECEC"/>
                </a:solidFill>
                <a:effectLst/>
                <a:latin typeface="Söhne"/>
              </a:rPr>
              <a:t> AI on Vertex AI </a:t>
            </a:r>
            <a:r>
              <a:rPr lang="fr-FR" b="0" i="0" dirty="0" err="1">
                <a:solidFill>
                  <a:srgbClr val="ECECEC"/>
                </a:solidFill>
                <a:effectLst/>
                <a:latin typeface="Söhne"/>
              </a:rPr>
              <a:t>gives</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a:t>
            </a:r>
            <a:r>
              <a:rPr lang="fr-FR" b="0" i="0" dirty="0" err="1">
                <a:solidFill>
                  <a:srgbClr val="ECECEC"/>
                </a:solidFill>
                <a:effectLst/>
                <a:latin typeface="Söhne"/>
              </a:rPr>
              <a:t>access</a:t>
            </a:r>
            <a:r>
              <a:rPr lang="fr-FR" b="0" i="0" dirty="0">
                <a:solidFill>
                  <a:srgbClr val="ECECEC"/>
                </a:solidFill>
                <a:effectLst/>
                <a:latin typeface="Söhne"/>
              </a:rPr>
              <a:t> to large </a:t>
            </a:r>
            <a:r>
              <a:rPr lang="fr-FR" b="0" i="0" dirty="0" err="1">
                <a:solidFill>
                  <a:srgbClr val="ECECEC"/>
                </a:solidFill>
                <a:effectLst/>
                <a:latin typeface="Söhne"/>
              </a:rPr>
              <a:t>generative</a:t>
            </a:r>
            <a:r>
              <a:rPr lang="fr-FR" b="0" i="0" dirty="0">
                <a:solidFill>
                  <a:srgbClr val="ECECEC"/>
                </a:solidFill>
                <a:effectLst/>
                <a:latin typeface="Söhne"/>
              </a:rPr>
              <a:t> AI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Google </a:t>
            </a:r>
            <a:r>
              <a:rPr lang="fr-FR" b="0" i="0" dirty="0" err="1">
                <a:solidFill>
                  <a:srgbClr val="ECECEC"/>
                </a:solidFill>
                <a:effectLst/>
                <a:latin typeface="Söhne"/>
              </a:rPr>
              <a:t>so</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can test, </a:t>
            </a:r>
            <a:r>
              <a:rPr lang="fr-FR" b="0" i="0" dirty="0" err="1">
                <a:solidFill>
                  <a:srgbClr val="ECECEC"/>
                </a:solidFill>
                <a:effectLst/>
                <a:latin typeface="Söhne"/>
              </a:rPr>
              <a:t>customize</a:t>
            </a:r>
            <a:r>
              <a:rPr lang="fr-FR" b="0" i="0" dirty="0">
                <a:solidFill>
                  <a:srgbClr val="ECECEC"/>
                </a:solidFill>
                <a:effectLst/>
                <a:latin typeface="Söhne"/>
              </a:rPr>
              <a:t>, and </a:t>
            </a:r>
            <a:r>
              <a:rPr lang="fr-FR" b="0" i="0" dirty="0" err="1">
                <a:solidFill>
                  <a:srgbClr val="ECECEC"/>
                </a:solidFill>
                <a:effectLst/>
                <a:latin typeface="Söhne"/>
              </a:rPr>
              <a:t>deploy</a:t>
            </a:r>
            <a:r>
              <a:rPr lang="fr-FR" b="0" i="0" dirty="0">
                <a:solidFill>
                  <a:srgbClr val="ECECEC"/>
                </a:solidFill>
                <a:effectLst/>
                <a:latin typeface="Söhne"/>
              </a:rPr>
              <a:t> </a:t>
            </a:r>
            <a:r>
              <a:rPr lang="fr-FR" b="0" i="0" dirty="0" err="1">
                <a:solidFill>
                  <a:srgbClr val="ECECEC"/>
                </a:solidFill>
                <a:effectLst/>
                <a:latin typeface="Söhne"/>
              </a:rPr>
              <a:t>them</a:t>
            </a:r>
            <a:r>
              <a:rPr lang="fr-FR" b="0" i="0" dirty="0">
                <a:solidFill>
                  <a:srgbClr val="ECECEC"/>
                </a:solidFill>
                <a:effectLst/>
                <a:latin typeface="Söhne"/>
              </a:rPr>
              <a:t> for use in </a:t>
            </a:r>
            <a:r>
              <a:rPr lang="fr-FR" b="0" i="0" dirty="0" err="1">
                <a:solidFill>
                  <a:srgbClr val="ECECEC"/>
                </a:solidFill>
                <a:effectLst/>
                <a:latin typeface="Söhne"/>
              </a:rPr>
              <a:t>your</a:t>
            </a:r>
            <a:r>
              <a:rPr lang="fr-FR" b="0" i="0" dirty="0">
                <a:solidFill>
                  <a:srgbClr val="ECECEC"/>
                </a:solidFill>
                <a:effectLst/>
                <a:latin typeface="Söhne"/>
              </a:rPr>
              <a:t> AI-</a:t>
            </a:r>
            <a:r>
              <a:rPr lang="fr-FR" b="0" i="0" dirty="0" err="1">
                <a:solidFill>
                  <a:srgbClr val="ECECEC"/>
                </a:solidFill>
                <a:effectLst/>
                <a:latin typeface="Söhne"/>
              </a:rPr>
              <a:t>enhanced</a:t>
            </a:r>
            <a:r>
              <a:rPr lang="fr-FR" b="0" i="0" dirty="0">
                <a:solidFill>
                  <a:srgbClr val="ECECEC"/>
                </a:solidFill>
                <a:effectLst/>
                <a:latin typeface="Söhne"/>
              </a:rPr>
              <a:t> applications.</a:t>
            </a:r>
          </a:p>
          <a:p>
            <a:pPr algn="l">
              <a:buFont typeface="Arial" panose="020B0604020202020204" pitchFamily="34" charset="0"/>
              <a:buChar char="•"/>
            </a:pPr>
            <a:r>
              <a:rPr lang="fr-FR" b="0" i="0" dirty="0" err="1">
                <a:solidFill>
                  <a:srgbClr val="ECECEC"/>
                </a:solidFill>
                <a:effectLst/>
                <a:latin typeface="Söhne"/>
              </a:rPr>
              <a:t>Here</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 description of the </a:t>
            </a:r>
            <a:r>
              <a:rPr lang="fr-FR" b="0" i="0" dirty="0" err="1">
                <a:solidFill>
                  <a:srgbClr val="ECECEC"/>
                </a:solidFill>
                <a:effectLst/>
                <a:latin typeface="Söhne"/>
              </a:rPr>
              <a:t>generative</a:t>
            </a:r>
            <a:r>
              <a:rPr lang="fr-FR" b="0" i="0" dirty="0">
                <a:solidFill>
                  <a:srgbClr val="ECECEC"/>
                </a:solidFill>
                <a:effectLst/>
                <a:latin typeface="Söhne"/>
              </a:rPr>
              <a:t> AI workflow:</a:t>
            </a:r>
          </a:p>
          <a:p>
            <a:pPr marL="742950" lvl="1" indent="-285750" algn="l">
              <a:buFont typeface="Arial" panose="020B0604020202020204" pitchFamily="34" charset="0"/>
              <a:buChar char="•"/>
            </a:pPr>
            <a:r>
              <a:rPr lang="fr-FR" b="0" i="0" dirty="0">
                <a:solidFill>
                  <a:srgbClr val="ECECEC"/>
                </a:solidFill>
                <a:effectLst/>
                <a:latin typeface="Söhne"/>
              </a:rPr>
              <a:t>The Prompt: The </a:t>
            </a:r>
            <a:r>
              <a:rPr lang="fr-FR" b="0" i="0" dirty="0" err="1">
                <a:solidFill>
                  <a:srgbClr val="ECECEC"/>
                </a:solidFill>
                <a:effectLst/>
                <a:latin typeface="Söhne"/>
              </a:rPr>
              <a:t>generative</a:t>
            </a:r>
            <a:r>
              <a:rPr lang="fr-FR" b="0" i="0" dirty="0">
                <a:solidFill>
                  <a:srgbClr val="ECECEC"/>
                </a:solidFill>
                <a:effectLst/>
                <a:latin typeface="Söhne"/>
              </a:rPr>
              <a:t> AI workflow </a:t>
            </a:r>
            <a:r>
              <a:rPr lang="fr-FR" b="0" i="0" dirty="0" err="1">
                <a:solidFill>
                  <a:srgbClr val="ECECEC"/>
                </a:solidFill>
                <a:effectLst/>
                <a:latin typeface="Söhne"/>
              </a:rPr>
              <a:t>typically</a:t>
            </a:r>
            <a:r>
              <a:rPr lang="fr-FR" b="0" i="0" dirty="0">
                <a:solidFill>
                  <a:srgbClr val="ECECEC"/>
                </a:solidFill>
                <a:effectLst/>
                <a:latin typeface="Söhne"/>
              </a:rPr>
              <a:t> starts </a:t>
            </a:r>
            <a:r>
              <a:rPr lang="fr-FR" b="0" i="0" dirty="0" err="1">
                <a:solidFill>
                  <a:srgbClr val="ECECEC"/>
                </a:solidFill>
                <a:effectLst/>
                <a:latin typeface="Söhne"/>
              </a:rPr>
              <a:t>with</a:t>
            </a:r>
            <a:r>
              <a:rPr lang="fr-FR" b="0" i="0" dirty="0">
                <a:solidFill>
                  <a:srgbClr val="ECECEC"/>
                </a:solidFill>
                <a:effectLst/>
                <a:latin typeface="Söhne"/>
              </a:rPr>
              <a:t> a prompt. A prompt </a:t>
            </a:r>
            <a:r>
              <a:rPr lang="fr-FR" b="0" i="0" dirty="0" err="1">
                <a:solidFill>
                  <a:srgbClr val="ECECEC"/>
                </a:solidFill>
                <a:effectLst/>
                <a:latin typeface="Söhne"/>
              </a:rPr>
              <a:t>is</a:t>
            </a:r>
            <a:r>
              <a:rPr lang="fr-FR" b="0" i="0" dirty="0">
                <a:solidFill>
                  <a:srgbClr val="ECECEC"/>
                </a:solidFill>
                <a:effectLst/>
                <a:latin typeface="Söhne"/>
              </a:rPr>
              <a:t> a </a:t>
            </a:r>
            <a:r>
              <a:rPr lang="fr-FR" b="0" i="0" dirty="0" err="1">
                <a:solidFill>
                  <a:srgbClr val="ECECEC"/>
                </a:solidFill>
                <a:effectLst/>
                <a:latin typeface="Söhne"/>
              </a:rPr>
              <a:t>natural</a:t>
            </a:r>
            <a:r>
              <a:rPr lang="fr-FR" b="0" i="0" dirty="0">
                <a:solidFill>
                  <a:srgbClr val="ECECEC"/>
                </a:solidFill>
                <a:effectLst/>
                <a:latin typeface="Söhne"/>
              </a:rPr>
              <a:t> </a:t>
            </a:r>
            <a:r>
              <a:rPr lang="fr-FR" b="0" i="0" dirty="0" err="1">
                <a:solidFill>
                  <a:srgbClr val="ECECEC"/>
                </a:solidFill>
                <a:effectLst/>
                <a:latin typeface="Söhne"/>
              </a:rPr>
              <a:t>language</a:t>
            </a:r>
            <a:r>
              <a:rPr lang="fr-FR" b="0" i="0" dirty="0">
                <a:solidFill>
                  <a:srgbClr val="ECECEC"/>
                </a:solidFill>
                <a:effectLst/>
                <a:latin typeface="Söhne"/>
              </a:rPr>
              <a:t> </a:t>
            </a:r>
            <a:r>
              <a:rPr lang="fr-FR" b="0" i="0" dirty="0" err="1">
                <a:solidFill>
                  <a:srgbClr val="ECECEC"/>
                </a:solidFill>
                <a:effectLst/>
                <a:latin typeface="Söhne"/>
              </a:rPr>
              <a:t>request</a:t>
            </a:r>
            <a:r>
              <a:rPr lang="fr-FR" b="0" i="0" dirty="0">
                <a:solidFill>
                  <a:srgbClr val="ECECEC"/>
                </a:solidFill>
                <a:effectLst/>
                <a:latin typeface="Söhne"/>
              </a:rPr>
              <a:t> sent to a </a:t>
            </a:r>
            <a:r>
              <a:rPr lang="fr-FR" b="0" i="0" dirty="0" err="1">
                <a:solidFill>
                  <a:srgbClr val="ECECEC"/>
                </a:solidFill>
                <a:effectLst/>
                <a:latin typeface="Söhne"/>
              </a:rPr>
              <a:t>language</a:t>
            </a:r>
            <a:r>
              <a:rPr lang="fr-FR" b="0" i="0" dirty="0">
                <a:solidFill>
                  <a:srgbClr val="ECECEC"/>
                </a:solidFill>
                <a:effectLst/>
                <a:latin typeface="Söhne"/>
              </a:rPr>
              <a:t> model to trigger a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Writing</a:t>
            </a:r>
            <a:r>
              <a:rPr lang="fr-FR" b="0" i="0" dirty="0">
                <a:solidFill>
                  <a:srgbClr val="ECECEC"/>
                </a:solidFill>
                <a:effectLst/>
                <a:latin typeface="Söhne"/>
              </a:rPr>
              <a:t> a prompt to </a:t>
            </a:r>
            <a:r>
              <a:rPr lang="fr-FR" b="0" i="0" dirty="0" err="1">
                <a:solidFill>
                  <a:srgbClr val="ECECEC"/>
                </a:solidFill>
                <a:effectLst/>
                <a:latin typeface="Söhne"/>
              </a:rPr>
              <a:t>get</a:t>
            </a:r>
            <a:r>
              <a:rPr lang="fr-FR" b="0" i="0" dirty="0">
                <a:solidFill>
                  <a:srgbClr val="ECECEC"/>
                </a:solidFill>
                <a:effectLst/>
                <a:latin typeface="Söhne"/>
              </a:rPr>
              <a:t> the </a:t>
            </a:r>
            <a:r>
              <a:rPr lang="fr-FR" b="0" i="0" dirty="0" err="1">
                <a:solidFill>
                  <a:srgbClr val="ECECEC"/>
                </a:solidFill>
                <a:effectLst/>
                <a:latin typeface="Söhne"/>
              </a:rPr>
              <a:t>desired</a:t>
            </a:r>
            <a:r>
              <a:rPr lang="fr-FR" b="0" i="0" dirty="0">
                <a:solidFill>
                  <a:srgbClr val="ECECEC"/>
                </a:solidFill>
                <a:effectLst/>
                <a:latin typeface="Söhne"/>
              </a:rPr>
              <a:t>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from</a:t>
            </a:r>
            <a:r>
              <a:rPr lang="fr-FR" b="0" i="0" dirty="0">
                <a:solidFill>
                  <a:srgbClr val="ECECEC"/>
                </a:solidFill>
                <a:effectLst/>
                <a:latin typeface="Söhne"/>
              </a:rPr>
              <a:t> the model </a:t>
            </a:r>
            <a:r>
              <a:rPr lang="fr-FR" b="0" i="0" dirty="0" err="1">
                <a:solidFill>
                  <a:srgbClr val="ECECEC"/>
                </a:solidFill>
                <a:effectLst/>
                <a:latin typeface="Söhne"/>
              </a:rPr>
              <a:t>is</a:t>
            </a:r>
            <a:r>
              <a:rPr lang="fr-FR" b="0" i="0" dirty="0">
                <a:solidFill>
                  <a:srgbClr val="ECECEC"/>
                </a:solidFill>
                <a:effectLst/>
                <a:latin typeface="Söhne"/>
              </a:rPr>
              <a:t> a practice </a:t>
            </a:r>
            <a:r>
              <a:rPr lang="fr-FR" b="0" i="0" dirty="0" err="1">
                <a:solidFill>
                  <a:srgbClr val="ECECEC"/>
                </a:solidFill>
                <a:effectLst/>
                <a:latin typeface="Söhne"/>
              </a:rPr>
              <a:t>called</a:t>
            </a:r>
            <a:r>
              <a:rPr lang="fr-FR" b="0" i="0" dirty="0">
                <a:solidFill>
                  <a:srgbClr val="ECECEC"/>
                </a:solidFill>
                <a:effectLst/>
                <a:latin typeface="Söhne"/>
              </a:rPr>
              <a:t> prompt engineering. </a:t>
            </a:r>
            <a:r>
              <a:rPr lang="fr-FR" b="0" i="0" dirty="0" err="1">
                <a:solidFill>
                  <a:srgbClr val="ECECEC"/>
                </a:solidFill>
                <a:effectLst/>
                <a:latin typeface="Söhne"/>
              </a:rPr>
              <a:t>Although</a:t>
            </a:r>
            <a:r>
              <a:rPr lang="fr-FR" b="0" i="0" dirty="0">
                <a:solidFill>
                  <a:srgbClr val="ECECEC"/>
                </a:solidFill>
                <a:effectLst/>
                <a:latin typeface="Söhne"/>
              </a:rPr>
              <a:t> </a:t>
            </a:r>
            <a:r>
              <a:rPr lang="fr-FR" b="0" i="0" dirty="0" err="1">
                <a:solidFill>
                  <a:srgbClr val="ECECEC"/>
                </a:solidFill>
                <a:effectLst/>
                <a:latin typeface="Söhne"/>
              </a:rPr>
              <a:t>designing</a:t>
            </a:r>
            <a:r>
              <a:rPr lang="fr-FR" b="0" i="0" dirty="0">
                <a:solidFill>
                  <a:srgbClr val="ECECEC"/>
                </a:solidFill>
                <a:effectLst/>
                <a:latin typeface="Söhne"/>
              </a:rPr>
              <a:t> a prompt </a:t>
            </a:r>
            <a:r>
              <a:rPr lang="fr-FR" b="0" i="0" dirty="0" err="1">
                <a:solidFill>
                  <a:srgbClr val="ECECEC"/>
                </a:solidFill>
                <a:effectLst/>
                <a:latin typeface="Söhne"/>
              </a:rPr>
              <a:t>is</a:t>
            </a:r>
            <a:r>
              <a:rPr lang="fr-FR" b="0" i="0" dirty="0">
                <a:solidFill>
                  <a:srgbClr val="ECECEC"/>
                </a:solidFill>
                <a:effectLst/>
                <a:latin typeface="Söhne"/>
              </a:rPr>
              <a:t> an </a:t>
            </a:r>
            <a:r>
              <a:rPr lang="fr-FR" b="0" i="0" dirty="0" err="1">
                <a:solidFill>
                  <a:srgbClr val="ECECEC"/>
                </a:solidFill>
                <a:effectLst/>
                <a:latin typeface="Söhne"/>
              </a:rPr>
              <a:t>experimental</a:t>
            </a:r>
            <a:r>
              <a:rPr lang="fr-FR" b="0" i="0" dirty="0">
                <a:solidFill>
                  <a:srgbClr val="ECECEC"/>
                </a:solidFill>
                <a:effectLst/>
                <a:latin typeface="Söhne"/>
              </a:rPr>
              <a:t> process, </a:t>
            </a:r>
            <a:r>
              <a:rPr lang="fr-FR" b="0" i="0" dirty="0" err="1">
                <a:solidFill>
                  <a:srgbClr val="ECECEC"/>
                </a:solidFill>
                <a:effectLst/>
                <a:latin typeface="Söhne"/>
              </a:rPr>
              <a:t>you</a:t>
            </a:r>
            <a:r>
              <a:rPr lang="fr-FR" b="0" i="0" dirty="0">
                <a:solidFill>
                  <a:srgbClr val="ECECEC"/>
                </a:solidFill>
                <a:effectLst/>
                <a:latin typeface="Söhne"/>
              </a:rPr>
              <a:t> can use </a:t>
            </a:r>
            <a:r>
              <a:rPr lang="fr-FR" b="0" i="0" dirty="0" err="1">
                <a:solidFill>
                  <a:srgbClr val="ECECEC"/>
                </a:solidFill>
                <a:effectLst/>
                <a:latin typeface="Söhne"/>
              </a:rPr>
              <a:t>principles</a:t>
            </a:r>
            <a:r>
              <a:rPr lang="fr-FR" b="0" i="0" dirty="0">
                <a:solidFill>
                  <a:srgbClr val="ECECEC"/>
                </a:solidFill>
                <a:effectLst/>
                <a:latin typeface="Söhne"/>
              </a:rPr>
              <a:t> and prompt design </a:t>
            </a:r>
            <a:r>
              <a:rPr lang="fr-FR" b="0" i="0" dirty="0" err="1">
                <a:solidFill>
                  <a:srgbClr val="ECECEC"/>
                </a:solidFill>
                <a:effectLst/>
                <a:latin typeface="Söhne"/>
              </a:rPr>
              <a:t>strategies</a:t>
            </a:r>
            <a:r>
              <a:rPr lang="fr-FR" b="0" i="0" dirty="0">
                <a:solidFill>
                  <a:srgbClr val="ECECEC"/>
                </a:solidFill>
                <a:effectLst/>
                <a:latin typeface="Söhne"/>
              </a:rPr>
              <a:t> to prompt the model to </a:t>
            </a:r>
            <a:r>
              <a:rPr lang="fr-FR" b="0" i="0" dirty="0" err="1">
                <a:solidFill>
                  <a:srgbClr val="ECECEC"/>
                </a:solidFill>
                <a:effectLst/>
                <a:latin typeface="Söhne"/>
              </a:rPr>
              <a:t>behave</a:t>
            </a:r>
            <a:r>
              <a:rPr lang="fr-FR" b="0" i="0" dirty="0">
                <a:solidFill>
                  <a:srgbClr val="ECECEC"/>
                </a:solidFill>
                <a:effectLst/>
                <a:latin typeface="Söhne"/>
              </a:rPr>
              <a:t> as </a:t>
            </a:r>
            <a:r>
              <a:rPr lang="fr-FR" b="0" i="0" dirty="0" err="1">
                <a:solidFill>
                  <a:srgbClr val="ECECEC"/>
                </a:solidFill>
                <a:effectLst/>
                <a:latin typeface="Söhne"/>
              </a:rPr>
              <a:t>desired</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Base </a:t>
            </a:r>
            <a:r>
              <a:rPr lang="fr-FR" b="0" i="0" dirty="0" err="1">
                <a:solidFill>
                  <a:srgbClr val="ECECEC"/>
                </a:solidFill>
                <a:effectLst/>
                <a:latin typeface="Söhne"/>
              </a:rPr>
              <a:t>Models</a:t>
            </a:r>
            <a:r>
              <a:rPr lang="fr-FR" b="0" i="0" dirty="0">
                <a:solidFill>
                  <a:srgbClr val="ECECEC"/>
                </a:solidFill>
                <a:effectLst/>
                <a:latin typeface="Söhne"/>
              </a:rPr>
              <a:t>: Prompts are sent to a model for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generation</a:t>
            </a:r>
            <a:r>
              <a:rPr lang="fr-FR" b="0" i="0" dirty="0">
                <a:solidFill>
                  <a:srgbClr val="ECECEC"/>
                </a:solidFill>
                <a:effectLst/>
                <a:latin typeface="Söhne"/>
              </a:rPr>
              <a:t>. Vertex AI has </a:t>
            </a:r>
            <a:r>
              <a:rPr lang="fr-FR" b="0" i="0" dirty="0" err="1">
                <a:solidFill>
                  <a:srgbClr val="ECECEC"/>
                </a:solidFill>
                <a:effectLst/>
                <a:latin typeface="Söhne"/>
              </a:rPr>
              <a:t>various</a:t>
            </a:r>
            <a:r>
              <a:rPr lang="fr-FR" b="0" i="0" dirty="0">
                <a:solidFill>
                  <a:srgbClr val="ECECEC"/>
                </a:solidFill>
                <a:effectLst/>
                <a:latin typeface="Söhne"/>
              </a:rPr>
              <a:t> </a:t>
            </a:r>
            <a:r>
              <a:rPr lang="fr-FR" b="0" i="0" dirty="0" err="1">
                <a:solidFill>
                  <a:srgbClr val="ECECEC"/>
                </a:solidFill>
                <a:effectLst/>
                <a:latin typeface="Söhne"/>
              </a:rPr>
              <a:t>foundational</a:t>
            </a:r>
            <a:r>
              <a:rPr lang="fr-FR" b="0" i="0" dirty="0">
                <a:solidFill>
                  <a:srgbClr val="ECECEC"/>
                </a:solidFill>
                <a:effectLst/>
                <a:latin typeface="Söhne"/>
              </a:rPr>
              <a:t> </a:t>
            </a:r>
            <a:r>
              <a:rPr lang="fr-FR" b="0" i="0" dirty="0" err="1">
                <a:solidFill>
                  <a:srgbClr val="ECECEC"/>
                </a:solidFill>
                <a:effectLst/>
                <a:latin typeface="Söhne"/>
              </a:rPr>
              <a:t>generative</a:t>
            </a:r>
            <a:r>
              <a:rPr lang="fr-FR" b="0" i="0" dirty="0">
                <a:solidFill>
                  <a:srgbClr val="ECECEC"/>
                </a:solidFill>
                <a:effectLst/>
                <a:latin typeface="Söhne"/>
              </a:rPr>
              <a:t> AI </a:t>
            </a:r>
            <a:r>
              <a:rPr lang="fr-FR" b="0" i="0" dirty="0" err="1">
                <a:solidFill>
                  <a:srgbClr val="ECECEC"/>
                </a:solidFill>
                <a:effectLst/>
                <a:latin typeface="Söhne"/>
              </a:rPr>
              <a:t>models</a:t>
            </a:r>
            <a:r>
              <a:rPr lang="fr-FR" b="0" i="0" dirty="0">
                <a:solidFill>
                  <a:srgbClr val="ECECEC"/>
                </a:solidFill>
                <a:effectLst/>
                <a:latin typeface="Söhne"/>
              </a:rPr>
              <a:t> accessible via an API, </a:t>
            </a:r>
            <a:r>
              <a:rPr lang="fr-FR" b="0" i="0" dirty="0" err="1">
                <a:solidFill>
                  <a:srgbClr val="ECECEC"/>
                </a:solidFill>
                <a:effectLst/>
                <a:latin typeface="Söhne"/>
              </a:rPr>
              <a:t>including</a:t>
            </a:r>
            <a:r>
              <a:rPr lang="fr-FR" b="0" i="0" dirty="0">
                <a:solidFill>
                  <a:srgbClr val="ECECEC"/>
                </a:solidFill>
                <a:effectLst/>
                <a:latin typeface="Söhne"/>
              </a:rPr>
              <a:t> the </a:t>
            </a:r>
            <a:r>
              <a:rPr lang="fr-FR" b="0" i="0" dirty="0" err="1">
                <a:solidFill>
                  <a:srgbClr val="ECECEC"/>
                </a:solidFill>
                <a:effectLst/>
                <a:latin typeface="Söhne"/>
              </a:rPr>
              <a:t>following</a:t>
            </a:r>
            <a:r>
              <a:rPr lang="fr-FR" b="0" i="0" dirty="0">
                <a:solidFill>
                  <a:srgbClr val="ECECEC"/>
                </a:solidFill>
                <a:effectLst/>
                <a:latin typeface="Söhne"/>
              </a:rPr>
              <a:t>:</a:t>
            </a:r>
          </a:p>
          <a:p>
            <a:pPr marL="1143000" lvl="2" indent="-228600" algn="l">
              <a:buFont typeface="Arial" panose="020B0604020202020204" pitchFamily="34" charset="0"/>
              <a:buChar char="•"/>
            </a:pPr>
            <a:r>
              <a:rPr lang="fr-FR" b="0" i="0" dirty="0">
                <a:solidFill>
                  <a:srgbClr val="ECECEC"/>
                </a:solidFill>
                <a:effectLst/>
                <a:latin typeface="Söhne"/>
              </a:rPr>
              <a:t>Gemini API: Advanced </a:t>
            </a:r>
            <a:r>
              <a:rPr lang="fr-FR" b="0" i="0" dirty="0" err="1">
                <a:solidFill>
                  <a:srgbClr val="ECECEC"/>
                </a:solidFill>
                <a:effectLst/>
                <a:latin typeface="Söhne"/>
              </a:rPr>
              <a:t>reasoning</a:t>
            </a:r>
            <a:r>
              <a:rPr lang="fr-FR" b="0" i="0" dirty="0">
                <a:solidFill>
                  <a:srgbClr val="ECECEC"/>
                </a:solidFill>
                <a:effectLst/>
                <a:latin typeface="Söhne"/>
              </a:rPr>
              <a:t>, multi-</a:t>
            </a:r>
            <a:r>
              <a:rPr lang="fr-FR" b="0" i="0" dirty="0" err="1">
                <a:solidFill>
                  <a:srgbClr val="ECECEC"/>
                </a:solidFill>
                <a:effectLst/>
                <a:latin typeface="Söhne"/>
              </a:rPr>
              <a:t>turn</a:t>
            </a:r>
            <a:r>
              <a:rPr lang="fr-FR" b="0" i="0" dirty="0">
                <a:solidFill>
                  <a:srgbClr val="ECECEC"/>
                </a:solidFill>
                <a:effectLst/>
                <a:latin typeface="Söhne"/>
              </a:rPr>
              <a:t> chat, code </a:t>
            </a:r>
            <a:r>
              <a:rPr lang="fr-FR" b="0" i="0" dirty="0" err="1">
                <a:solidFill>
                  <a:srgbClr val="ECECEC"/>
                </a:solidFill>
                <a:effectLst/>
                <a:latin typeface="Söhne"/>
              </a:rPr>
              <a:t>generation</a:t>
            </a:r>
            <a:r>
              <a:rPr lang="fr-FR" b="0" i="0" dirty="0">
                <a:solidFill>
                  <a:srgbClr val="ECECEC"/>
                </a:solidFill>
                <a:effectLst/>
                <a:latin typeface="Söhne"/>
              </a:rPr>
              <a:t>, and multimodal prompts.</a:t>
            </a:r>
          </a:p>
          <a:p>
            <a:pPr marL="1143000" lvl="2" indent="-228600" algn="l">
              <a:buFont typeface="Arial" panose="020B0604020202020204" pitchFamily="34" charset="0"/>
              <a:buChar char="•"/>
            </a:pPr>
            <a:r>
              <a:rPr lang="fr-FR" b="0" i="0" dirty="0" err="1">
                <a:solidFill>
                  <a:srgbClr val="ECECEC"/>
                </a:solidFill>
                <a:effectLst/>
                <a:latin typeface="Söhne"/>
              </a:rPr>
              <a:t>PaLM</a:t>
            </a:r>
            <a:r>
              <a:rPr lang="fr-FR" b="0" i="0" dirty="0">
                <a:solidFill>
                  <a:srgbClr val="ECECEC"/>
                </a:solidFill>
                <a:effectLst/>
                <a:latin typeface="Söhne"/>
              </a:rPr>
              <a:t> API: Natural </a:t>
            </a:r>
            <a:r>
              <a:rPr lang="fr-FR" b="0" i="0" dirty="0" err="1">
                <a:solidFill>
                  <a:srgbClr val="ECECEC"/>
                </a:solidFill>
                <a:effectLst/>
                <a:latin typeface="Söhne"/>
              </a:rPr>
              <a:t>language</a:t>
            </a:r>
            <a:r>
              <a:rPr lang="fr-FR" b="0" i="0" dirty="0">
                <a:solidFill>
                  <a:srgbClr val="ECECEC"/>
                </a:solidFill>
                <a:effectLst/>
                <a:latin typeface="Söhne"/>
              </a:rPr>
              <a:t> </a:t>
            </a:r>
            <a:r>
              <a:rPr lang="fr-FR" b="0" i="0" dirty="0" err="1">
                <a:solidFill>
                  <a:srgbClr val="ECECEC"/>
                </a:solidFill>
                <a:effectLst/>
                <a:latin typeface="Söhne"/>
              </a:rPr>
              <a:t>tasks</a:t>
            </a:r>
            <a:r>
              <a:rPr lang="fr-FR" b="0" i="0" dirty="0">
                <a:solidFill>
                  <a:srgbClr val="ECECEC"/>
                </a:solidFill>
                <a:effectLst/>
                <a:latin typeface="Söhne"/>
              </a:rPr>
              <a:t>, </a:t>
            </a:r>
            <a:r>
              <a:rPr lang="fr-FR" b="0" i="0" dirty="0" err="1">
                <a:solidFill>
                  <a:srgbClr val="ECECEC"/>
                </a:solidFill>
                <a:effectLst/>
                <a:latin typeface="Söhne"/>
              </a:rPr>
              <a:t>continuous</a:t>
            </a:r>
            <a:r>
              <a:rPr lang="fr-FR" b="0" i="0" dirty="0">
                <a:solidFill>
                  <a:srgbClr val="ECECEC"/>
                </a:solidFill>
                <a:effectLst/>
                <a:latin typeface="Söhne"/>
              </a:rPr>
              <a:t> </a:t>
            </a:r>
            <a:r>
              <a:rPr lang="fr-FR" b="0" i="0" dirty="0" err="1">
                <a:solidFill>
                  <a:srgbClr val="ECECEC"/>
                </a:solidFill>
                <a:effectLst/>
                <a:latin typeface="Söhne"/>
              </a:rPr>
              <a:t>vector</a:t>
            </a:r>
            <a:r>
              <a:rPr lang="fr-FR" b="0" i="0" dirty="0">
                <a:solidFill>
                  <a:srgbClr val="ECECEC"/>
                </a:solidFill>
                <a:effectLst/>
                <a:latin typeface="Söhne"/>
              </a:rPr>
              <a:t> </a:t>
            </a:r>
            <a:r>
              <a:rPr lang="fr-FR" b="0" i="0" dirty="0" err="1">
                <a:solidFill>
                  <a:srgbClr val="ECECEC"/>
                </a:solidFill>
                <a:effectLst/>
                <a:latin typeface="Söhne"/>
              </a:rPr>
              <a:t>representations</a:t>
            </a:r>
            <a:r>
              <a:rPr lang="fr-FR" b="0" i="0" dirty="0">
                <a:solidFill>
                  <a:srgbClr val="ECECEC"/>
                </a:solidFill>
                <a:effectLst/>
                <a:latin typeface="Söhne"/>
              </a:rPr>
              <a:t> of </a:t>
            </a:r>
            <a:r>
              <a:rPr lang="fr-FR" b="0" i="0" dirty="0" err="1">
                <a:solidFill>
                  <a:srgbClr val="ECECEC"/>
                </a:solidFill>
                <a:effectLst/>
                <a:latin typeface="Söhne"/>
              </a:rPr>
              <a:t>text</a:t>
            </a:r>
            <a:r>
              <a:rPr lang="fr-FR" b="0" i="0" dirty="0">
                <a:solidFill>
                  <a:srgbClr val="ECECEC"/>
                </a:solidFill>
                <a:effectLst/>
                <a:latin typeface="Söhne"/>
              </a:rPr>
              <a:t>, and multi-</a:t>
            </a:r>
            <a:r>
              <a:rPr lang="fr-FR" b="0" i="0" dirty="0" err="1">
                <a:solidFill>
                  <a:srgbClr val="ECECEC"/>
                </a:solidFill>
                <a:effectLst/>
                <a:latin typeface="Söhne"/>
              </a:rPr>
              <a:t>turn</a:t>
            </a:r>
            <a:r>
              <a:rPr lang="fr-FR" b="0" i="0" dirty="0">
                <a:solidFill>
                  <a:srgbClr val="ECECEC"/>
                </a:solidFill>
                <a:effectLst/>
                <a:latin typeface="Söhne"/>
              </a:rPr>
              <a:t> chat.</a:t>
            </a:r>
          </a:p>
          <a:p>
            <a:pPr marL="1143000" lvl="2" indent="-228600" algn="l">
              <a:buFont typeface="Arial" panose="020B0604020202020204" pitchFamily="34" charset="0"/>
              <a:buChar char="•"/>
            </a:pPr>
            <a:r>
              <a:rPr lang="fr-FR" b="0" i="0" dirty="0" err="1">
                <a:solidFill>
                  <a:srgbClr val="ECECEC"/>
                </a:solidFill>
                <a:effectLst/>
                <a:latin typeface="Söhne"/>
              </a:rPr>
              <a:t>Codey</a:t>
            </a:r>
            <a:r>
              <a:rPr lang="fr-FR" b="0" i="0" dirty="0">
                <a:solidFill>
                  <a:srgbClr val="ECECEC"/>
                </a:solidFill>
                <a:effectLst/>
                <a:latin typeface="Söhne"/>
              </a:rPr>
              <a:t> API: Code </a:t>
            </a:r>
            <a:r>
              <a:rPr lang="fr-FR" b="0" i="0" dirty="0" err="1">
                <a:solidFill>
                  <a:srgbClr val="ECECEC"/>
                </a:solidFill>
                <a:effectLst/>
                <a:latin typeface="Söhne"/>
              </a:rPr>
              <a:t>generation</a:t>
            </a:r>
            <a:r>
              <a:rPr lang="fr-FR" b="0" i="0" dirty="0">
                <a:solidFill>
                  <a:srgbClr val="ECECEC"/>
                </a:solidFill>
                <a:effectLst/>
                <a:latin typeface="Söhne"/>
              </a:rPr>
              <a:t>, code </a:t>
            </a:r>
            <a:r>
              <a:rPr lang="fr-FR" b="0" i="0" dirty="0" err="1">
                <a:solidFill>
                  <a:srgbClr val="ECECEC"/>
                </a:solidFill>
                <a:effectLst/>
                <a:latin typeface="Söhne"/>
              </a:rPr>
              <a:t>completion</a:t>
            </a:r>
            <a:r>
              <a:rPr lang="fr-FR" b="0" i="0" dirty="0">
                <a:solidFill>
                  <a:srgbClr val="ECECEC"/>
                </a:solidFill>
                <a:effectLst/>
                <a:latin typeface="Söhne"/>
              </a:rPr>
              <a:t>, and code chat.</a:t>
            </a:r>
          </a:p>
          <a:p>
            <a:pPr marL="1143000" lvl="2" indent="-228600" algn="l">
              <a:buFont typeface="Arial" panose="020B0604020202020204" pitchFamily="34" charset="0"/>
              <a:buChar char="•"/>
            </a:pPr>
            <a:r>
              <a:rPr lang="fr-FR" b="0" i="0" dirty="0" err="1">
                <a:solidFill>
                  <a:srgbClr val="ECECEC"/>
                </a:solidFill>
                <a:effectLst/>
                <a:latin typeface="Söhne"/>
              </a:rPr>
              <a:t>Imagen</a:t>
            </a:r>
            <a:r>
              <a:rPr lang="fr-FR" b="0" i="0" dirty="0">
                <a:solidFill>
                  <a:srgbClr val="ECECEC"/>
                </a:solidFill>
                <a:effectLst/>
                <a:latin typeface="Söhne"/>
              </a:rPr>
              <a:t> API: Image </a:t>
            </a:r>
            <a:r>
              <a:rPr lang="fr-FR" b="0" i="0" dirty="0" err="1">
                <a:solidFill>
                  <a:srgbClr val="ECECEC"/>
                </a:solidFill>
                <a:effectLst/>
                <a:latin typeface="Söhne"/>
              </a:rPr>
              <a:t>generation</a:t>
            </a:r>
            <a:r>
              <a:rPr lang="fr-FR" b="0" i="0" dirty="0">
                <a:solidFill>
                  <a:srgbClr val="ECECEC"/>
                </a:solidFill>
                <a:effectLst/>
                <a:latin typeface="Söhne"/>
              </a:rPr>
              <a:t>, image </a:t>
            </a:r>
            <a:r>
              <a:rPr lang="fr-FR" b="0" i="0" dirty="0" err="1">
                <a:solidFill>
                  <a:srgbClr val="ECECEC"/>
                </a:solidFill>
                <a:effectLst/>
                <a:latin typeface="Söhne"/>
              </a:rPr>
              <a:t>editing</a:t>
            </a:r>
            <a:r>
              <a:rPr lang="fr-FR" b="0" i="0" dirty="0">
                <a:solidFill>
                  <a:srgbClr val="ECECEC"/>
                </a:solidFill>
                <a:effectLst/>
                <a:latin typeface="Söhne"/>
              </a:rPr>
              <a:t>, and image description.</a:t>
            </a:r>
          </a:p>
          <a:p>
            <a:pPr marL="1143000" lvl="2" indent="-228600" algn="l">
              <a:buFont typeface="Arial" panose="020B0604020202020204" pitchFamily="34" charset="0"/>
              <a:buChar char="•"/>
            </a:pPr>
            <a:r>
              <a:rPr lang="fr-FR" b="0" i="0" dirty="0" err="1">
                <a:solidFill>
                  <a:srgbClr val="ECECEC"/>
                </a:solidFill>
                <a:effectLst/>
                <a:latin typeface="Söhne"/>
              </a:rPr>
              <a:t>MedLM</a:t>
            </a:r>
            <a:r>
              <a:rPr lang="fr-FR" b="0" i="0" dirty="0">
                <a:solidFill>
                  <a:srgbClr val="ECECEC"/>
                </a:solidFill>
                <a:effectLst/>
                <a:latin typeface="Söhne"/>
              </a:rPr>
              <a:t>: </a:t>
            </a:r>
            <a:r>
              <a:rPr lang="fr-FR" b="0" i="0" dirty="0" err="1">
                <a:solidFill>
                  <a:srgbClr val="ECECEC"/>
                </a:solidFill>
                <a:effectLst/>
                <a:latin typeface="Söhne"/>
              </a:rPr>
              <a:t>Medical</a:t>
            </a:r>
            <a:r>
              <a:rPr lang="fr-FR" b="0" i="0" dirty="0">
                <a:solidFill>
                  <a:srgbClr val="ECECEC"/>
                </a:solidFill>
                <a:effectLst/>
                <a:latin typeface="Söhne"/>
              </a:rPr>
              <a:t> question-</a:t>
            </a:r>
            <a:r>
              <a:rPr lang="fr-FR" b="0" i="0" dirty="0" err="1">
                <a:solidFill>
                  <a:srgbClr val="ECECEC"/>
                </a:solidFill>
                <a:effectLst/>
                <a:latin typeface="Söhne"/>
              </a:rPr>
              <a:t>answering</a:t>
            </a:r>
            <a:r>
              <a:rPr lang="fr-FR" b="0" i="0" dirty="0">
                <a:solidFill>
                  <a:srgbClr val="ECECEC"/>
                </a:solidFill>
                <a:effectLst/>
                <a:latin typeface="Söhne"/>
              </a:rPr>
              <a:t> and </a:t>
            </a:r>
            <a:r>
              <a:rPr lang="fr-FR" b="0" i="0" dirty="0" err="1">
                <a:solidFill>
                  <a:srgbClr val="ECECEC"/>
                </a:solidFill>
                <a:effectLst/>
                <a:latin typeface="Söhne"/>
              </a:rPr>
              <a:t>synthesis</a:t>
            </a:r>
            <a:r>
              <a:rPr lang="fr-FR" b="0" i="0" dirty="0">
                <a:solidFill>
                  <a:srgbClr val="ECECEC"/>
                </a:solidFill>
                <a:effectLst/>
                <a:latin typeface="Söhne"/>
              </a:rPr>
              <a:t> system. (</a:t>
            </a:r>
            <a:r>
              <a:rPr lang="fr-FR" b="0" i="0" dirty="0" err="1">
                <a:solidFill>
                  <a:srgbClr val="ECECEC"/>
                </a:solidFill>
                <a:effectLst/>
                <a:latin typeface="Söhne"/>
              </a:rPr>
              <a:t>Private</a:t>
            </a:r>
            <a:r>
              <a:rPr lang="fr-FR" b="0" i="0" dirty="0">
                <a:solidFill>
                  <a:srgbClr val="ECECEC"/>
                </a:solidFill>
                <a:effectLst/>
                <a:latin typeface="Söhne"/>
              </a:rPr>
              <a:t> Beta)</a:t>
            </a:r>
          </a:p>
          <a:p>
            <a:pPr marL="742950" lvl="1" indent="-285750" algn="l">
              <a:buFont typeface="Arial" panose="020B0604020202020204" pitchFamily="34" charset="0"/>
              <a:buChar char="•"/>
            </a:pPr>
            <a:r>
              <a:rPr lang="fr-FR" b="0" i="0" dirty="0">
                <a:solidFill>
                  <a:srgbClr val="ECECEC"/>
                </a:solidFill>
                <a:effectLst/>
                <a:latin typeface="Söhne"/>
              </a:rPr>
              <a:t>The size, </a:t>
            </a:r>
            <a:r>
              <a:rPr lang="fr-FR" b="0" i="0" dirty="0" err="1">
                <a:solidFill>
                  <a:srgbClr val="ECECEC"/>
                </a:solidFill>
                <a:effectLst/>
                <a:latin typeface="Söhne"/>
              </a:rPr>
              <a:t>modality</a:t>
            </a:r>
            <a:r>
              <a:rPr lang="fr-FR" b="0" i="0" dirty="0">
                <a:solidFill>
                  <a:srgbClr val="ECECEC"/>
                </a:solidFill>
                <a:effectLst/>
                <a:latin typeface="Söhne"/>
              </a:rPr>
              <a:t>, and </a:t>
            </a:r>
            <a:r>
              <a:rPr lang="fr-FR" b="0" i="0" dirty="0" err="1">
                <a:solidFill>
                  <a:srgbClr val="ECECEC"/>
                </a:solidFill>
                <a:effectLst/>
                <a:latin typeface="Söhne"/>
              </a:rPr>
              <a:t>costs</a:t>
            </a:r>
            <a:r>
              <a:rPr lang="fr-FR" b="0" i="0" dirty="0">
                <a:solidFill>
                  <a:srgbClr val="ECECEC"/>
                </a:solidFill>
                <a:effectLst/>
                <a:latin typeface="Söhne"/>
              </a:rPr>
              <a:t> of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vary</a:t>
            </a:r>
            <a:r>
              <a:rPr lang="fr-FR" b="0" i="0" dirty="0">
                <a:solidFill>
                  <a:srgbClr val="ECECEC"/>
                </a:solidFill>
                <a:effectLst/>
                <a:latin typeface="Söhne"/>
              </a:rPr>
              <a:t>. You can explore </a:t>
            </a:r>
            <a:r>
              <a:rPr lang="fr-FR" b="0" i="0" dirty="0" err="1">
                <a:solidFill>
                  <a:srgbClr val="ECECEC"/>
                </a:solidFill>
                <a:effectLst/>
                <a:latin typeface="Söhne"/>
              </a:rPr>
              <a:t>Google's</a:t>
            </a:r>
            <a:r>
              <a:rPr lang="fr-FR" b="0" i="0" dirty="0">
                <a:solidFill>
                  <a:srgbClr val="ECECEC"/>
                </a:solidFill>
                <a:effectLst/>
                <a:latin typeface="Söhne"/>
              </a:rPr>
              <a:t> </a:t>
            </a:r>
            <a:r>
              <a:rPr lang="fr-FR" b="0" i="0" dirty="0" err="1">
                <a:solidFill>
                  <a:srgbClr val="ECECEC"/>
                </a:solidFill>
                <a:effectLst/>
                <a:latin typeface="Söhne"/>
              </a:rPr>
              <a:t>proprietary</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and OSS </a:t>
            </a:r>
            <a:r>
              <a:rPr lang="fr-FR" b="0" i="0" dirty="0" err="1">
                <a:solidFill>
                  <a:srgbClr val="ECECEC"/>
                </a:solidFill>
                <a:effectLst/>
                <a:latin typeface="Söhne"/>
              </a:rPr>
              <a:t>models</a:t>
            </a:r>
            <a:r>
              <a:rPr lang="fr-FR" b="0" i="0" dirty="0">
                <a:solidFill>
                  <a:srgbClr val="ECECEC"/>
                </a:solidFill>
                <a:effectLst/>
                <a:latin typeface="Söhne"/>
              </a:rPr>
              <a:t> in the Model Garden.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9377613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39785"/>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80" y="1601595"/>
            <a:ext cx="11530646" cy="4193176"/>
          </a:xfrm>
        </p:spPr>
        <p:txBody>
          <a:bodyPr>
            <a:normAutofit lnSpcReduction="10000"/>
          </a:bodyPr>
          <a:lstStyle/>
          <a:p>
            <a:pPr algn="l">
              <a:buFont typeface="Arial" panose="020B0604020202020204" pitchFamily="34" charset="0"/>
              <a:buChar char="•"/>
            </a:pPr>
            <a:r>
              <a:rPr lang="fr-FR" b="0" i="0" dirty="0">
                <a:solidFill>
                  <a:srgbClr val="ECECEC"/>
                </a:solidFill>
                <a:effectLst/>
                <a:latin typeface="Söhne"/>
              </a:rPr>
              <a:t>You can </a:t>
            </a:r>
            <a:r>
              <a:rPr lang="fr-FR" b="0" i="0" dirty="0" err="1">
                <a:solidFill>
                  <a:srgbClr val="ECECEC"/>
                </a:solidFill>
                <a:effectLst/>
                <a:latin typeface="Söhne"/>
              </a:rPr>
              <a:t>customize</a:t>
            </a:r>
            <a:r>
              <a:rPr lang="fr-FR" b="0" i="0" dirty="0">
                <a:solidFill>
                  <a:srgbClr val="ECECEC"/>
                </a:solidFill>
                <a:effectLst/>
                <a:latin typeface="Söhne"/>
              </a:rPr>
              <a:t> the default </a:t>
            </a:r>
            <a:r>
              <a:rPr lang="fr-FR" b="0" i="0" dirty="0" err="1">
                <a:solidFill>
                  <a:srgbClr val="ECECEC"/>
                </a:solidFill>
                <a:effectLst/>
                <a:latin typeface="Söhne"/>
              </a:rPr>
              <a:t>behavior</a:t>
            </a:r>
            <a:r>
              <a:rPr lang="fr-FR" b="0" i="0" dirty="0">
                <a:solidFill>
                  <a:srgbClr val="ECECEC"/>
                </a:solidFill>
                <a:effectLst/>
                <a:latin typeface="Söhne"/>
              </a:rPr>
              <a:t> of </a:t>
            </a:r>
            <a:r>
              <a:rPr lang="fr-FR" b="0" i="0" dirty="0" err="1">
                <a:solidFill>
                  <a:srgbClr val="ECECEC"/>
                </a:solidFill>
                <a:effectLst/>
                <a:latin typeface="Söhne"/>
              </a:rPr>
              <a:t>Google's</a:t>
            </a:r>
            <a:r>
              <a:rPr lang="fr-FR" b="0" i="0" dirty="0">
                <a:solidFill>
                  <a:srgbClr val="ECECEC"/>
                </a:solidFill>
                <a:effectLst/>
                <a:latin typeface="Söhne"/>
              </a:rPr>
              <a:t> base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so</a:t>
            </a:r>
            <a:r>
              <a:rPr lang="fr-FR" b="0" i="0" dirty="0">
                <a:solidFill>
                  <a:srgbClr val="ECECEC"/>
                </a:solidFill>
                <a:effectLst/>
                <a:latin typeface="Söhne"/>
              </a:rPr>
              <a:t> </a:t>
            </a:r>
            <a:r>
              <a:rPr lang="fr-FR" b="0" i="0" dirty="0" err="1">
                <a:solidFill>
                  <a:srgbClr val="ECECEC"/>
                </a:solidFill>
                <a:effectLst/>
                <a:latin typeface="Söhne"/>
              </a:rPr>
              <a:t>they</a:t>
            </a:r>
            <a:r>
              <a:rPr lang="fr-FR" b="0" i="0" dirty="0">
                <a:solidFill>
                  <a:srgbClr val="ECECEC"/>
                </a:solidFill>
                <a:effectLst/>
                <a:latin typeface="Söhne"/>
              </a:rPr>
              <a:t> </a:t>
            </a:r>
            <a:r>
              <a:rPr lang="fr-FR" b="0" i="0" dirty="0" err="1">
                <a:solidFill>
                  <a:srgbClr val="ECECEC"/>
                </a:solidFill>
                <a:effectLst/>
                <a:latin typeface="Söhne"/>
              </a:rPr>
              <a:t>consistently</a:t>
            </a:r>
            <a:r>
              <a:rPr lang="fr-FR" b="0" i="0" dirty="0">
                <a:solidFill>
                  <a:srgbClr val="ECECEC"/>
                </a:solidFill>
                <a:effectLst/>
                <a:latin typeface="Söhne"/>
              </a:rPr>
              <a:t> </a:t>
            </a:r>
            <a:r>
              <a:rPr lang="fr-FR" b="0" i="0" dirty="0" err="1">
                <a:solidFill>
                  <a:srgbClr val="ECECEC"/>
                </a:solidFill>
                <a:effectLst/>
                <a:latin typeface="Söhne"/>
              </a:rPr>
              <a:t>generate</a:t>
            </a:r>
            <a:r>
              <a:rPr lang="fr-FR" b="0" i="0" dirty="0">
                <a:solidFill>
                  <a:srgbClr val="ECECEC"/>
                </a:solidFill>
                <a:effectLst/>
                <a:latin typeface="Söhne"/>
              </a:rPr>
              <a:t> </a:t>
            </a:r>
            <a:r>
              <a:rPr lang="fr-FR" b="0" i="0" dirty="0" err="1">
                <a:solidFill>
                  <a:srgbClr val="ECECEC"/>
                </a:solidFill>
                <a:effectLst/>
                <a:latin typeface="Söhne"/>
              </a:rPr>
              <a:t>desired</a:t>
            </a:r>
            <a:r>
              <a:rPr lang="fr-FR" b="0" i="0" dirty="0">
                <a:solidFill>
                  <a:srgbClr val="ECECEC"/>
                </a:solidFill>
                <a:effectLst/>
                <a:latin typeface="Söhne"/>
              </a:rPr>
              <a:t> </a:t>
            </a:r>
            <a:r>
              <a:rPr lang="fr-FR" b="0" i="0" dirty="0" err="1">
                <a:solidFill>
                  <a:srgbClr val="ECECEC"/>
                </a:solidFill>
                <a:effectLst/>
                <a:latin typeface="Söhne"/>
              </a:rPr>
              <a:t>results</a:t>
            </a:r>
            <a:r>
              <a:rPr lang="fr-FR" b="0" i="0" dirty="0">
                <a:solidFill>
                  <a:srgbClr val="ECECEC"/>
                </a:solidFill>
                <a:effectLst/>
                <a:latin typeface="Söhne"/>
              </a:rPr>
              <a:t> </a:t>
            </a:r>
            <a:r>
              <a:rPr lang="fr-FR" b="0" i="0" dirty="0" err="1">
                <a:solidFill>
                  <a:srgbClr val="ECECEC"/>
                </a:solidFill>
                <a:effectLst/>
                <a:latin typeface="Söhne"/>
              </a:rPr>
              <a:t>without</a:t>
            </a:r>
            <a:r>
              <a:rPr lang="fr-FR" b="0" i="0" dirty="0">
                <a:solidFill>
                  <a:srgbClr val="ECECEC"/>
                </a:solidFill>
                <a:effectLst/>
                <a:latin typeface="Söhne"/>
              </a:rPr>
              <a:t> </a:t>
            </a:r>
            <a:r>
              <a:rPr lang="fr-FR" b="0" i="0" dirty="0" err="1">
                <a:solidFill>
                  <a:srgbClr val="ECECEC"/>
                </a:solidFill>
                <a:effectLst/>
                <a:latin typeface="Söhne"/>
              </a:rPr>
              <a:t>using</a:t>
            </a:r>
            <a:r>
              <a:rPr lang="fr-FR" b="0" i="0" dirty="0">
                <a:solidFill>
                  <a:srgbClr val="ECECEC"/>
                </a:solidFill>
                <a:effectLst/>
                <a:latin typeface="Söhne"/>
              </a:rPr>
              <a:t> </a:t>
            </a:r>
            <a:r>
              <a:rPr lang="fr-FR" b="0" i="0" dirty="0" err="1">
                <a:solidFill>
                  <a:srgbClr val="ECECEC"/>
                </a:solidFill>
                <a:effectLst/>
                <a:latin typeface="Söhne"/>
              </a:rPr>
              <a:t>complex</a:t>
            </a:r>
            <a:r>
              <a:rPr lang="fr-FR" b="0" i="0" dirty="0">
                <a:solidFill>
                  <a:srgbClr val="ECECEC"/>
                </a:solidFill>
                <a:effectLst/>
                <a:latin typeface="Söhne"/>
              </a:rPr>
              <a:t> prompts. This </a:t>
            </a:r>
            <a:r>
              <a:rPr lang="fr-FR" b="0" i="0" dirty="0" err="1">
                <a:solidFill>
                  <a:srgbClr val="ECECEC"/>
                </a:solidFill>
                <a:effectLst/>
                <a:latin typeface="Söhne"/>
              </a:rPr>
              <a:t>customization</a:t>
            </a:r>
            <a:r>
              <a:rPr lang="fr-FR" b="0" i="0" dirty="0">
                <a:solidFill>
                  <a:srgbClr val="ECECEC"/>
                </a:solidFill>
                <a:effectLst/>
                <a:latin typeface="Söhne"/>
              </a:rPr>
              <a:t> process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called</a:t>
            </a:r>
            <a:r>
              <a:rPr lang="fr-FR" b="0" i="0" dirty="0">
                <a:solidFill>
                  <a:srgbClr val="ECECEC"/>
                </a:solidFill>
                <a:effectLst/>
                <a:latin typeface="Söhne"/>
              </a:rPr>
              <a:t> Fine Tuning. </a:t>
            </a:r>
            <a:r>
              <a:rPr lang="fr-FR" b="0" i="0" dirty="0" err="1">
                <a:solidFill>
                  <a:srgbClr val="ECECEC"/>
                </a:solidFill>
                <a:effectLst/>
                <a:latin typeface="Söhne"/>
              </a:rPr>
              <a:t>Customizing</a:t>
            </a:r>
            <a:r>
              <a:rPr lang="fr-FR" b="0" i="0" dirty="0">
                <a:solidFill>
                  <a:srgbClr val="ECECEC"/>
                </a:solidFill>
                <a:effectLst/>
                <a:latin typeface="Söhne"/>
              </a:rPr>
              <a:t> </a:t>
            </a:r>
            <a:r>
              <a:rPr lang="fr-FR" b="0" i="0" dirty="0" err="1">
                <a:solidFill>
                  <a:srgbClr val="ECECEC"/>
                </a:solidFill>
                <a:effectLst/>
                <a:latin typeface="Söhne"/>
              </a:rPr>
              <a:t>these</a:t>
            </a:r>
            <a:r>
              <a:rPr lang="fr-FR" b="0" i="0" dirty="0">
                <a:solidFill>
                  <a:srgbClr val="ECECEC"/>
                </a:solidFill>
                <a:effectLst/>
                <a:latin typeface="Söhne"/>
              </a:rPr>
              <a:t> </a:t>
            </a:r>
            <a:r>
              <a:rPr lang="fr-FR" b="0" i="0" dirty="0" err="1">
                <a:solidFill>
                  <a:srgbClr val="ECECEC"/>
                </a:solidFill>
                <a:effectLst/>
                <a:latin typeface="Söhne"/>
              </a:rPr>
              <a:t>models</a:t>
            </a:r>
            <a:r>
              <a:rPr lang="fr-FR" b="0" i="0" dirty="0">
                <a:solidFill>
                  <a:srgbClr val="ECECEC"/>
                </a:solidFill>
                <a:effectLst/>
                <a:latin typeface="Söhne"/>
              </a:rPr>
              <a:t> </a:t>
            </a:r>
            <a:r>
              <a:rPr lang="fr-FR" b="0" i="0" dirty="0" err="1">
                <a:solidFill>
                  <a:srgbClr val="ECECEC"/>
                </a:solidFill>
                <a:effectLst/>
                <a:latin typeface="Söhne"/>
              </a:rPr>
              <a:t>helps</a:t>
            </a:r>
            <a:r>
              <a:rPr lang="fr-FR" b="0" i="0" dirty="0">
                <a:solidFill>
                  <a:srgbClr val="ECECEC"/>
                </a:solidFill>
                <a:effectLst/>
                <a:latin typeface="Söhne"/>
              </a:rPr>
              <a:t> </a:t>
            </a:r>
            <a:r>
              <a:rPr lang="fr-FR" b="0" i="0" dirty="0" err="1">
                <a:solidFill>
                  <a:srgbClr val="ECECEC"/>
                </a:solidFill>
                <a:effectLst/>
                <a:latin typeface="Söhne"/>
              </a:rPr>
              <a:t>reduce</a:t>
            </a:r>
            <a:r>
              <a:rPr lang="fr-FR" b="0" i="0" dirty="0">
                <a:solidFill>
                  <a:srgbClr val="ECECEC"/>
                </a:solidFill>
                <a:effectLst/>
                <a:latin typeface="Söhne"/>
              </a:rPr>
              <a:t> the </a:t>
            </a:r>
            <a:r>
              <a:rPr lang="fr-FR" b="0" i="0" dirty="0" err="1">
                <a:solidFill>
                  <a:srgbClr val="ECECEC"/>
                </a:solidFill>
                <a:effectLst/>
                <a:latin typeface="Söhne"/>
              </a:rPr>
              <a:t>cost</a:t>
            </a:r>
            <a:r>
              <a:rPr lang="fr-FR" b="0" i="0" dirty="0">
                <a:solidFill>
                  <a:srgbClr val="ECECEC"/>
                </a:solidFill>
                <a:effectLst/>
                <a:latin typeface="Söhne"/>
              </a:rPr>
              <a:t> and </a:t>
            </a:r>
            <a:r>
              <a:rPr lang="fr-FR" b="0" i="0" dirty="0" err="1">
                <a:solidFill>
                  <a:srgbClr val="ECECEC"/>
                </a:solidFill>
                <a:effectLst/>
                <a:latin typeface="Söhne"/>
              </a:rPr>
              <a:t>latency</a:t>
            </a:r>
            <a:r>
              <a:rPr lang="fr-FR" b="0" i="0" dirty="0">
                <a:solidFill>
                  <a:srgbClr val="ECECEC"/>
                </a:solidFill>
                <a:effectLst/>
                <a:latin typeface="Söhne"/>
              </a:rPr>
              <a:t> of </a:t>
            </a:r>
            <a:r>
              <a:rPr lang="fr-FR" b="0" i="0" dirty="0" err="1">
                <a:solidFill>
                  <a:srgbClr val="ECECEC"/>
                </a:solidFill>
                <a:effectLst/>
                <a:latin typeface="Söhne"/>
              </a:rPr>
              <a:t>your</a:t>
            </a:r>
            <a:r>
              <a:rPr lang="fr-FR" b="0" i="0" dirty="0">
                <a:solidFill>
                  <a:srgbClr val="ECECEC"/>
                </a:solidFill>
                <a:effectLst/>
                <a:latin typeface="Söhne"/>
              </a:rPr>
              <a:t> </a:t>
            </a:r>
            <a:r>
              <a:rPr lang="fr-FR" b="0" i="0" dirty="0" err="1">
                <a:solidFill>
                  <a:srgbClr val="ECECEC"/>
                </a:solidFill>
                <a:effectLst/>
                <a:latin typeface="Söhne"/>
              </a:rPr>
              <a:t>requests</a:t>
            </a:r>
            <a:r>
              <a:rPr lang="fr-FR" b="0" i="0" dirty="0">
                <a:solidFill>
                  <a:srgbClr val="ECECEC"/>
                </a:solidFill>
                <a:effectLst/>
                <a:latin typeface="Söhne"/>
              </a:rPr>
              <a:t> by </a:t>
            </a:r>
            <a:r>
              <a:rPr lang="fr-FR" b="0" i="0" dirty="0" err="1">
                <a:solidFill>
                  <a:srgbClr val="ECECEC"/>
                </a:solidFill>
                <a:effectLst/>
                <a:latin typeface="Söhne"/>
              </a:rPr>
              <a:t>allowing</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to </a:t>
            </a:r>
            <a:r>
              <a:rPr lang="fr-FR" b="0" i="0" dirty="0" err="1">
                <a:solidFill>
                  <a:srgbClr val="ECECEC"/>
                </a:solidFill>
                <a:effectLst/>
                <a:latin typeface="Söhne"/>
              </a:rPr>
              <a:t>simplify</a:t>
            </a:r>
            <a:r>
              <a:rPr lang="fr-FR" b="0" i="0" dirty="0">
                <a:solidFill>
                  <a:srgbClr val="ECECEC"/>
                </a:solidFill>
                <a:effectLst/>
                <a:latin typeface="Söhne"/>
              </a:rPr>
              <a:t> </a:t>
            </a:r>
            <a:r>
              <a:rPr lang="fr-FR" b="0" i="0" dirty="0" err="1">
                <a:solidFill>
                  <a:srgbClr val="ECECEC"/>
                </a:solidFill>
                <a:effectLst/>
                <a:latin typeface="Söhne"/>
              </a:rPr>
              <a:t>your</a:t>
            </a:r>
            <a:r>
              <a:rPr lang="fr-FR" b="0" i="0" dirty="0">
                <a:solidFill>
                  <a:srgbClr val="ECECEC"/>
                </a:solidFill>
                <a:effectLst/>
                <a:latin typeface="Söhne"/>
              </a:rPr>
              <a:t> prompts.</a:t>
            </a:r>
          </a:p>
          <a:p>
            <a:pPr algn="l">
              <a:buFont typeface="Arial" panose="020B0604020202020204" pitchFamily="34" charset="0"/>
              <a:buChar char="•"/>
            </a:pPr>
            <a:r>
              <a:rPr lang="fr-FR" b="0" i="0" dirty="0">
                <a:solidFill>
                  <a:srgbClr val="ECECEC"/>
                </a:solidFill>
                <a:effectLst/>
                <a:latin typeface="Söhne"/>
              </a:rPr>
              <a:t>Vertex AI </a:t>
            </a:r>
            <a:r>
              <a:rPr lang="fr-FR" b="0" i="0" dirty="0" err="1">
                <a:solidFill>
                  <a:srgbClr val="ECECEC"/>
                </a:solidFill>
                <a:effectLst/>
                <a:latin typeface="Söhne"/>
              </a:rPr>
              <a:t>also</a:t>
            </a:r>
            <a:r>
              <a:rPr lang="fr-FR" b="0" i="0" dirty="0">
                <a:solidFill>
                  <a:srgbClr val="ECECEC"/>
                </a:solidFill>
                <a:effectLst/>
                <a:latin typeface="Söhne"/>
              </a:rPr>
              <a:t> </a:t>
            </a:r>
            <a:r>
              <a:rPr lang="fr-FR" b="0" i="0" dirty="0" err="1">
                <a:solidFill>
                  <a:srgbClr val="ECECEC"/>
                </a:solidFill>
                <a:effectLst/>
                <a:latin typeface="Söhne"/>
              </a:rPr>
              <a:t>provides</a:t>
            </a:r>
            <a:r>
              <a:rPr lang="fr-FR" b="0" i="0" dirty="0">
                <a:solidFill>
                  <a:srgbClr val="ECECEC"/>
                </a:solidFill>
                <a:effectLst/>
                <a:latin typeface="Söhne"/>
              </a:rPr>
              <a:t> model </a:t>
            </a:r>
            <a:r>
              <a:rPr lang="fr-FR" b="0" i="0" dirty="0" err="1">
                <a:solidFill>
                  <a:srgbClr val="ECECEC"/>
                </a:solidFill>
                <a:effectLst/>
                <a:latin typeface="Söhne"/>
              </a:rPr>
              <a:t>evaluation</a:t>
            </a:r>
            <a:r>
              <a:rPr lang="fr-FR" b="0" i="0" dirty="0">
                <a:solidFill>
                  <a:srgbClr val="ECECEC"/>
                </a:solidFill>
                <a:effectLst/>
                <a:latin typeface="Söhne"/>
              </a:rPr>
              <a:t> </a:t>
            </a:r>
            <a:r>
              <a:rPr lang="fr-FR" b="0" i="0" dirty="0" err="1">
                <a:solidFill>
                  <a:srgbClr val="ECECEC"/>
                </a:solidFill>
                <a:effectLst/>
                <a:latin typeface="Söhne"/>
              </a:rPr>
              <a:t>tools</a:t>
            </a:r>
            <a:r>
              <a:rPr lang="fr-FR" b="0" i="0" dirty="0">
                <a:solidFill>
                  <a:srgbClr val="ECECEC"/>
                </a:solidFill>
                <a:effectLst/>
                <a:latin typeface="Söhne"/>
              </a:rPr>
              <a:t> to help </a:t>
            </a:r>
            <a:r>
              <a:rPr lang="fr-FR" b="0" i="0" dirty="0" err="1">
                <a:solidFill>
                  <a:srgbClr val="ECECEC"/>
                </a:solidFill>
                <a:effectLst/>
                <a:latin typeface="Söhne"/>
              </a:rPr>
              <a:t>you</a:t>
            </a:r>
            <a:r>
              <a:rPr lang="fr-FR" b="0" i="0" dirty="0">
                <a:solidFill>
                  <a:srgbClr val="ECECEC"/>
                </a:solidFill>
                <a:effectLst/>
                <a:latin typeface="Söhne"/>
              </a:rPr>
              <a:t> </a:t>
            </a:r>
            <a:r>
              <a:rPr lang="fr-FR" b="0" i="0" dirty="0" err="1">
                <a:solidFill>
                  <a:srgbClr val="ECECEC"/>
                </a:solidFill>
                <a:effectLst/>
                <a:latin typeface="Söhne"/>
              </a:rPr>
              <a:t>assess</a:t>
            </a:r>
            <a:r>
              <a:rPr lang="fr-FR" b="0" i="0" dirty="0">
                <a:solidFill>
                  <a:srgbClr val="ECECEC"/>
                </a:solidFill>
                <a:effectLst/>
                <a:latin typeface="Söhne"/>
              </a:rPr>
              <a:t> the performance of </a:t>
            </a:r>
            <a:r>
              <a:rPr lang="fr-FR" b="0" i="0" dirty="0" err="1">
                <a:solidFill>
                  <a:srgbClr val="ECECEC"/>
                </a:solidFill>
                <a:effectLst/>
                <a:latin typeface="Söhne"/>
              </a:rPr>
              <a:t>your</a:t>
            </a:r>
            <a:r>
              <a:rPr lang="fr-FR" b="0" i="0" dirty="0">
                <a:solidFill>
                  <a:srgbClr val="ECECEC"/>
                </a:solidFill>
                <a:effectLst/>
                <a:latin typeface="Söhne"/>
              </a:rPr>
              <a:t> fine-</a:t>
            </a:r>
            <a:r>
              <a:rPr lang="fr-FR" b="0" i="0" dirty="0" err="1">
                <a:solidFill>
                  <a:srgbClr val="ECECEC"/>
                </a:solidFill>
                <a:effectLst/>
                <a:latin typeface="Söhne"/>
              </a:rPr>
              <a:t>tuned</a:t>
            </a:r>
            <a:r>
              <a:rPr lang="fr-FR" b="0" i="0" dirty="0">
                <a:solidFill>
                  <a:srgbClr val="ECECEC"/>
                </a:solidFill>
                <a:effectLst/>
                <a:latin typeface="Söhne"/>
              </a:rPr>
              <a:t> model. Once </a:t>
            </a:r>
            <a:r>
              <a:rPr lang="fr-FR" b="0" i="0" dirty="0" err="1">
                <a:solidFill>
                  <a:srgbClr val="ECECEC"/>
                </a:solidFill>
                <a:effectLst/>
                <a:latin typeface="Söhne"/>
              </a:rPr>
              <a:t>your</a:t>
            </a:r>
            <a:r>
              <a:rPr lang="fr-FR" b="0" i="0" dirty="0">
                <a:solidFill>
                  <a:srgbClr val="ECECEC"/>
                </a:solidFill>
                <a:effectLst/>
                <a:latin typeface="Söhne"/>
              </a:rPr>
              <a:t> fine-</a:t>
            </a:r>
            <a:r>
              <a:rPr lang="fr-FR" b="0" i="0" dirty="0" err="1">
                <a:solidFill>
                  <a:srgbClr val="ECECEC"/>
                </a:solidFill>
                <a:effectLst/>
                <a:latin typeface="Söhne"/>
              </a:rPr>
              <a:t>tuned</a:t>
            </a:r>
            <a:r>
              <a:rPr lang="fr-FR" b="0" i="0" dirty="0">
                <a:solidFill>
                  <a:srgbClr val="ECECEC"/>
                </a:solidFill>
                <a:effectLst/>
                <a:latin typeface="Söhne"/>
              </a:rPr>
              <a:t> model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ready</a:t>
            </a:r>
            <a:r>
              <a:rPr lang="fr-FR" b="0" i="0" dirty="0">
                <a:solidFill>
                  <a:srgbClr val="ECECEC"/>
                </a:solidFill>
                <a:effectLst/>
                <a:latin typeface="Söhne"/>
              </a:rPr>
              <a:t> for production, </a:t>
            </a:r>
            <a:r>
              <a:rPr lang="fr-FR" b="0" i="0" dirty="0" err="1">
                <a:solidFill>
                  <a:srgbClr val="ECECEC"/>
                </a:solidFill>
                <a:effectLst/>
                <a:latin typeface="Söhne"/>
              </a:rPr>
              <a:t>you</a:t>
            </a:r>
            <a:r>
              <a:rPr lang="fr-FR" b="0" i="0" dirty="0">
                <a:solidFill>
                  <a:srgbClr val="ECECEC"/>
                </a:solidFill>
                <a:effectLst/>
                <a:latin typeface="Söhne"/>
              </a:rPr>
              <a:t> can </a:t>
            </a:r>
            <a:r>
              <a:rPr lang="fr-FR" b="0" i="0" dirty="0" err="1">
                <a:solidFill>
                  <a:srgbClr val="ECECEC"/>
                </a:solidFill>
                <a:effectLst/>
                <a:latin typeface="Söhne"/>
              </a:rPr>
              <a:t>deploy</a:t>
            </a:r>
            <a:r>
              <a:rPr lang="fr-FR" b="0" i="0" dirty="0">
                <a:solidFill>
                  <a:srgbClr val="ECECEC"/>
                </a:solidFill>
                <a:effectLst/>
                <a:latin typeface="Söhne"/>
              </a:rPr>
              <a:t> </a:t>
            </a:r>
            <a:r>
              <a:rPr lang="fr-FR" b="0" i="0" dirty="0" err="1">
                <a:solidFill>
                  <a:srgbClr val="ECECEC"/>
                </a:solidFill>
                <a:effectLst/>
                <a:latin typeface="Söhne"/>
              </a:rPr>
              <a:t>it</a:t>
            </a:r>
            <a:r>
              <a:rPr lang="fr-FR" b="0" i="0" dirty="0">
                <a:solidFill>
                  <a:srgbClr val="ECECEC"/>
                </a:solidFill>
                <a:effectLst/>
                <a:latin typeface="Söhne"/>
              </a:rPr>
              <a:t> to an </a:t>
            </a:r>
            <a:r>
              <a:rPr lang="fr-FR" b="0" i="0" dirty="0" err="1">
                <a:solidFill>
                  <a:srgbClr val="ECECEC"/>
                </a:solidFill>
                <a:effectLst/>
                <a:latin typeface="Söhne"/>
              </a:rPr>
              <a:t>endpoint</a:t>
            </a:r>
            <a:r>
              <a:rPr lang="fr-FR" b="0" i="0" dirty="0">
                <a:solidFill>
                  <a:srgbClr val="ECECEC"/>
                </a:solidFill>
                <a:effectLst/>
                <a:latin typeface="Söhne"/>
              </a:rPr>
              <a:t> and monitor </a:t>
            </a:r>
            <a:r>
              <a:rPr lang="fr-FR" b="0" i="0" dirty="0" err="1">
                <a:solidFill>
                  <a:srgbClr val="ECECEC"/>
                </a:solidFill>
                <a:effectLst/>
                <a:latin typeface="Söhne"/>
              </a:rPr>
              <a:t>its</a:t>
            </a:r>
            <a:r>
              <a:rPr lang="fr-FR" b="0" i="0" dirty="0">
                <a:solidFill>
                  <a:srgbClr val="ECECEC"/>
                </a:solidFill>
                <a:effectLst/>
                <a:latin typeface="Söhne"/>
              </a:rPr>
              <a:t> performance, as in standard </a:t>
            </a:r>
            <a:r>
              <a:rPr lang="fr-FR" b="0" i="0" dirty="0" err="1">
                <a:solidFill>
                  <a:srgbClr val="ECECEC"/>
                </a:solidFill>
                <a:effectLst/>
                <a:latin typeface="Söhne"/>
              </a:rPr>
              <a:t>MLOps</a:t>
            </a:r>
            <a:r>
              <a:rPr lang="fr-FR" b="0" i="0" dirty="0">
                <a:solidFill>
                  <a:srgbClr val="ECECEC"/>
                </a:solidFill>
                <a:effectLst/>
                <a:latin typeface="Söhne"/>
              </a:rPr>
              <a:t> workflows.</a:t>
            </a:r>
          </a:p>
          <a:p>
            <a:pPr algn="l">
              <a:buFont typeface="Arial" panose="020B0604020202020204" pitchFamily="34" charset="0"/>
              <a:buChar char="•"/>
            </a:pPr>
            <a:r>
              <a:rPr lang="fr-FR" b="0" i="0" dirty="0">
                <a:solidFill>
                  <a:srgbClr val="ECECEC"/>
                </a:solidFill>
                <a:effectLst/>
                <a:latin typeface="Söhne"/>
              </a:rPr>
              <a:t>If the prompt and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pass</a:t>
            </a:r>
            <a:r>
              <a:rPr lang="fr-FR" b="0" i="0" dirty="0">
                <a:solidFill>
                  <a:srgbClr val="ECECEC"/>
                </a:solidFill>
                <a:effectLst/>
                <a:latin typeface="Söhne"/>
              </a:rPr>
              <a:t> </a:t>
            </a:r>
            <a:r>
              <a:rPr lang="fr-FR" b="0" i="0" dirty="0" err="1">
                <a:solidFill>
                  <a:srgbClr val="ECECEC"/>
                </a:solidFill>
                <a:effectLst/>
                <a:latin typeface="Söhne"/>
              </a:rPr>
              <a:t>security</a:t>
            </a:r>
            <a:r>
              <a:rPr lang="fr-FR" b="0" i="0" dirty="0">
                <a:solidFill>
                  <a:srgbClr val="ECECEC"/>
                </a:solidFill>
                <a:effectLst/>
                <a:latin typeface="Söhne"/>
              </a:rPr>
              <a:t> </a:t>
            </a:r>
            <a:r>
              <a:rPr lang="fr-FR" b="0" i="0" dirty="0" err="1">
                <a:solidFill>
                  <a:srgbClr val="ECECEC"/>
                </a:solidFill>
                <a:effectLst/>
                <a:latin typeface="Söhne"/>
              </a:rPr>
              <a:t>filter</a:t>
            </a:r>
            <a:r>
              <a:rPr lang="fr-FR" b="0" i="0" dirty="0">
                <a:solidFill>
                  <a:srgbClr val="ECECEC"/>
                </a:solidFill>
                <a:effectLst/>
                <a:latin typeface="Söhne"/>
              </a:rPr>
              <a:t> checks, the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returned</a:t>
            </a:r>
            <a:r>
              <a:rPr lang="fr-FR" b="0" i="0" dirty="0">
                <a:solidFill>
                  <a:srgbClr val="ECECEC"/>
                </a:solidFill>
                <a:effectLst/>
                <a:latin typeface="Söhne"/>
              </a:rPr>
              <a:t>. </a:t>
            </a:r>
            <a:r>
              <a:rPr lang="fr-FR" b="0" i="0" dirty="0" err="1">
                <a:solidFill>
                  <a:srgbClr val="ECECEC"/>
                </a:solidFill>
                <a:effectLst/>
                <a:latin typeface="Söhne"/>
              </a:rPr>
              <a:t>Typically</a:t>
            </a:r>
            <a:r>
              <a:rPr lang="fr-FR" b="0" i="0" dirty="0">
                <a:solidFill>
                  <a:srgbClr val="ECECEC"/>
                </a:solidFill>
                <a:effectLst/>
                <a:latin typeface="Söhne"/>
              </a:rPr>
              <a:t>, the </a:t>
            </a:r>
            <a:r>
              <a:rPr lang="fr-FR" b="0" i="0" dirty="0" err="1">
                <a:solidFill>
                  <a:srgbClr val="ECECEC"/>
                </a:solidFill>
                <a:effectLst/>
                <a:latin typeface="Söhne"/>
              </a:rPr>
              <a:t>response</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returned</a:t>
            </a:r>
            <a:r>
              <a:rPr lang="fr-FR" b="0" i="0" dirty="0">
                <a:solidFill>
                  <a:srgbClr val="ECECEC"/>
                </a:solidFill>
                <a:effectLst/>
                <a:latin typeface="Söhne"/>
              </a:rPr>
              <a:t> all at once. </a:t>
            </a:r>
            <a:r>
              <a:rPr lang="fr-FR" b="0" i="0" dirty="0" err="1">
                <a:solidFill>
                  <a:srgbClr val="ECECEC"/>
                </a:solidFill>
                <a:effectLst/>
                <a:latin typeface="Söhne"/>
              </a:rPr>
              <a:t>However</a:t>
            </a:r>
            <a:r>
              <a:rPr lang="fr-FR" b="0" i="0" dirty="0">
                <a:solidFill>
                  <a:srgbClr val="ECECEC"/>
                </a:solidFill>
                <a:effectLst/>
                <a:latin typeface="Söhne"/>
              </a:rPr>
              <a:t>, </a:t>
            </a:r>
            <a:r>
              <a:rPr lang="fr-FR" b="0" i="0" dirty="0" err="1">
                <a:solidFill>
                  <a:srgbClr val="ECECEC"/>
                </a:solidFill>
                <a:effectLst/>
                <a:latin typeface="Söhne"/>
              </a:rPr>
              <a:t>you</a:t>
            </a:r>
            <a:r>
              <a:rPr lang="fr-FR" b="0" i="0" dirty="0">
                <a:solidFill>
                  <a:srgbClr val="ECECEC"/>
                </a:solidFill>
                <a:effectLst/>
                <a:latin typeface="Söhne"/>
              </a:rPr>
              <a:t> can </a:t>
            </a:r>
            <a:r>
              <a:rPr lang="fr-FR" b="0" i="0" dirty="0" err="1">
                <a:solidFill>
                  <a:srgbClr val="ECECEC"/>
                </a:solidFill>
                <a:effectLst/>
                <a:latin typeface="Söhne"/>
              </a:rPr>
              <a:t>also</a:t>
            </a:r>
            <a:r>
              <a:rPr lang="fr-FR" b="0" i="0" dirty="0">
                <a:solidFill>
                  <a:srgbClr val="ECECEC"/>
                </a:solidFill>
                <a:effectLst/>
                <a:latin typeface="Söhne"/>
              </a:rPr>
              <a:t> </a:t>
            </a:r>
            <a:r>
              <a:rPr lang="fr-FR" b="0" i="0" dirty="0" err="1">
                <a:solidFill>
                  <a:srgbClr val="ECECEC"/>
                </a:solidFill>
                <a:effectLst/>
                <a:latin typeface="Söhne"/>
              </a:rPr>
              <a:t>receive</a:t>
            </a:r>
            <a:r>
              <a:rPr lang="fr-FR" b="0" i="0" dirty="0">
                <a:solidFill>
                  <a:srgbClr val="ECECEC"/>
                </a:solidFill>
                <a:effectLst/>
                <a:latin typeface="Söhne"/>
              </a:rPr>
              <a:t> </a:t>
            </a:r>
            <a:r>
              <a:rPr lang="fr-FR" b="0" i="0" dirty="0" err="1">
                <a:solidFill>
                  <a:srgbClr val="ECECEC"/>
                </a:solidFill>
                <a:effectLst/>
                <a:latin typeface="Söhne"/>
              </a:rPr>
              <a:t>responses</a:t>
            </a:r>
            <a:r>
              <a:rPr lang="fr-FR" b="0" i="0" dirty="0">
                <a:solidFill>
                  <a:srgbClr val="ECECEC"/>
                </a:solidFill>
                <a:effectLst/>
                <a:latin typeface="Söhne"/>
              </a:rPr>
              <a:t> </a:t>
            </a:r>
            <a:r>
              <a:rPr lang="fr-FR" b="0" i="0" dirty="0" err="1">
                <a:solidFill>
                  <a:srgbClr val="ECECEC"/>
                </a:solidFill>
                <a:effectLst/>
                <a:latin typeface="Söhne"/>
              </a:rPr>
              <a:t>progressively</a:t>
            </a:r>
            <a:r>
              <a:rPr lang="fr-FR" b="0" i="0" dirty="0">
                <a:solidFill>
                  <a:srgbClr val="ECECEC"/>
                </a:solidFill>
                <a:effectLst/>
                <a:latin typeface="Söhne"/>
              </a:rPr>
              <a:t> as </a:t>
            </a:r>
            <a:r>
              <a:rPr lang="fr-FR" b="0" i="0" dirty="0" err="1">
                <a:solidFill>
                  <a:srgbClr val="ECECEC"/>
                </a:solidFill>
                <a:effectLst/>
                <a:latin typeface="Söhne"/>
              </a:rPr>
              <a:t>they</a:t>
            </a:r>
            <a:r>
              <a:rPr lang="fr-FR" b="0" i="0" dirty="0">
                <a:solidFill>
                  <a:srgbClr val="ECECEC"/>
                </a:solidFill>
                <a:effectLst/>
                <a:latin typeface="Söhne"/>
              </a:rPr>
              <a:t> are </a:t>
            </a:r>
            <a:r>
              <a:rPr lang="fr-FR" b="0" i="0" dirty="0" err="1">
                <a:solidFill>
                  <a:srgbClr val="ECECEC"/>
                </a:solidFill>
                <a:effectLst/>
                <a:latin typeface="Söhne"/>
              </a:rPr>
              <a:t>generated</a:t>
            </a:r>
            <a:r>
              <a:rPr lang="fr-FR" b="0" i="0" dirty="0">
                <a:solidFill>
                  <a:srgbClr val="ECECEC"/>
                </a:solidFill>
                <a:effectLst/>
                <a:latin typeface="Söhne"/>
              </a:rPr>
              <a:t> by </a:t>
            </a:r>
            <a:r>
              <a:rPr lang="fr-FR" b="0" i="0" dirty="0" err="1">
                <a:solidFill>
                  <a:srgbClr val="ECECEC"/>
                </a:solidFill>
                <a:effectLst/>
                <a:latin typeface="Söhne"/>
              </a:rPr>
              <a:t>enabling</a:t>
            </a:r>
            <a:r>
              <a:rPr lang="fr-FR" b="0" i="0" dirty="0">
                <a:solidFill>
                  <a:srgbClr val="ECECEC"/>
                </a:solidFill>
                <a:effectLst/>
                <a:latin typeface="Söhne"/>
              </a:rPr>
              <a:t> streaming.</a:t>
            </a:r>
          </a:p>
          <a:p>
            <a:pPr algn="l">
              <a:buFont typeface="Arial" panose="020B0604020202020204" pitchFamily="34" charset="0"/>
              <a:buChar char="•"/>
            </a:pPr>
            <a:r>
              <a:rPr lang="fr-FR" b="0" i="0" dirty="0" err="1">
                <a:solidFill>
                  <a:srgbClr val="ECECEC"/>
                </a:solidFill>
                <a:effectLst/>
                <a:latin typeface="Söhne"/>
              </a:rPr>
              <a:t>Another</a:t>
            </a:r>
            <a:r>
              <a:rPr lang="fr-FR" b="0" i="0" dirty="0">
                <a:solidFill>
                  <a:srgbClr val="ECECEC"/>
                </a:solidFill>
                <a:effectLst/>
                <a:latin typeface="Söhne"/>
              </a:rPr>
              <a:t> </a:t>
            </a:r>
            <a:r>
              <a:rPr lang="fr-FR" b="0" i="0" dirty="0" err="1">
                <a:solidFill>
                  <a:srgbClr val="ECECEC"/>
                </a:solidFill>
                <a:effectLst/>
                <a:latin typeface="Söhne"/>
              </a:rPr>
              <a:t>method</a:t>
            </a:r>
            <a:r>
              <a:rPr lang="fr-FR" b="0" i="0" dirty="0">
                <a:solidFill>
                  <a:srgbClr val="ECECEC"/>
                </a:solidFill>
                <a:effectLst/>
                <a:latin typeface="Söhne"/>
              </a:rPr>
              <a:t> for </a:t>
            </a:r>
            <a:r>
              <a:rPr lang="fr-FR" b="0" i="0" dirty="0" err="1">
                <a:solidFill>
                  <a:srgbClr val="ECECEC"/>
                </a:solidFill>
                <a:effectLst/>
                <a:latin typeface="Söhne"/>
              </a:rPr>
              <a:t>customizing</a:t>
            </a:r>
            <a:r>
              <a:rPr lang="fr-FR" b="0" i="0" dirty="0">
                <a:solidFill>
                  <a:srgbClr val="ECECEC"/>
                </a:solidFill>
                <a:effectLst/>
                <a:latin typeface="Söhne"/>
              </a:rPr>
              <a:t> a </a:t>
            </a:r>
            <a:r>
              <a:rPr lang="fr-FR" b="0" i="0" dirty="0" err="1">
                <a:solidFill>
                  <a:srgbClr val="ECECEC"/>
                </a:solidFill>
                <a:effectLst/>
                <a:latin typeface="Söhne"/>
              </a:rPr>
              <a:t>generative</a:t>
            </a:r>
            <a:r>
              <a:rPr lang="fr-FR" b="0" i="0" dirty="0">
                <a:solidFill>
                  <a:srgbClr val="ECECEC"/>
                </a:solidFill>
                <a:effectLst/>
                <a:latin typeface="Söhne"/>
              </a:rPr>
              <a:t> AI </a:t>
            </a:r>
            <a:r>
              <a:rPr lang="fr-FR" b="0" i="0" dirty="0" err="1">
                <a:solidFill>
                  <a:srgbClr val="ECECEC"/>
                </a:solidFill>
                <a:effectLst/>
                <a:latin typeface="Söhne"/>
              </a:rPr>
              <a:t>is</a:t>
            </a:r>
            <a:r>
              <a:rPr lang="fr-FR" b="0" i="0" dirty="0">
                <a:solidFill>
                  <a:srgbClr val="ECECEC"/>
                </a:solidFill>
                <a:effectLst/>
                <a:latin typeface="Söhne"/>
              </a:rPr>
              <a:t> </a:t>
            </a:r>
            <a:r>
              <a:rPr lang="fr-FR" b="0" i="0" dirty="0" err="1">
                <a:solidFill>
                  <a:srgbClr val="ECECEC"/>
                </a:solidFill>
                <a:effectLst/>
                <a:latin typeface="Söhne"/>
              </a:rPr>
              <a:t>called</a:t>
            </a:r>
            <a:r>
              <a:rPr lang="fr-FR" b="0" i="0" dirty="0">
                <a:solidFill>
                  <a:srgbClr val="ECECEC"/>
                </a:solidFill>
                <a:effectLst/>
                <a:latin typeface="Söhne"/>
              </a:rPr>
              <a:t> </a:t>
            </a:r>
            <a:r>
              <a:rPr lang="fr-FR" b="0" i="0" dirty="0" err="1">
                <a:solidFill>
                  <a:srgbClr val="ECECEC"/>
                </a:solidFill>
                <a:effectLst/>
                <a:latin typeface="Söhne"/>
              </a:rPr>
              <a:t>Retrieval</a:t>
            </a:r>
            <a:r>
              <a:rPr lang="fr-FR" b="0" i="0" dirty="0">
                <a:solidFill>
                  <a:srgbClr val="ECECEC"/>
                </a:solidFill>
                <a:effectLst/>
                <a:latin typeface="Söhne"/>
              </a:rPr>
              <a:t> </a:t>
            </a:r>
            <a:r>
              <a:rPr lang="fr-FR" b="0" i="0" dirty="0" err="1">
                <a:solidFill>
                  <a:srgbClr val="ECECEC"/>
                </a:solidFill>
                <a:effectLst/>
                <a:latin typeface="Söhne"/>
              </a:rPr>
              <a:t>augmented</a:t>
            </a:r>
            <a:r>
              <a:rPr lang="fr-FR" b="0" i="0" dirty="0">
                <a:solidFill>
                  <a:srgbClr val="ECECEC"/>
                </a:solidFill>
                <a:effectLst/>
                <a:latin typeface="Söhne"/>
              </a:rPr>
              <a:t> </a:t>
            </a:r>
            <a:r>
              <a:rPr lang="fr-FR" b="0" i="0" dirty="0" err="1">
                <a:solidFill>
                  <a:srgbClr val="ECECEC"/>
                </a:solidFill>
                <a:effectLst/>
                <a:latin typeface="Söhne"/>
              </a:rPr>
              <a:t>Generation</a:t>
            </a:r>
            <a:r>
              <a:rPr lang="fr-FR" b="0" i="0" dirty="0">
                <a:solidFill>
                  <a:srgbClr val="ECECEC"/>
                </a:solidFill>
                <a:effectLst/>
                <a:latin typeface="Söhne"/>
              </a:rPr>
              <a:t> (RAG):</a:t>
            </a:r>
          </a:p>
          <a:p>
            <a:pPr marL="742950" lvl="1" indent="-285750" algn="l">
              <a:buFont typeface="Arial" panose="020B0604020202020204" pitchFamily="34" charset="0"/>
              <a:buChar char="•"/>
            </a:pPr>
            <a:r>
              <a:rPr lang="fr-FR" b="0" i="0" dirty="0">
                <a:solidFill>
                  <a:srgbClr val="ECECEC"/>
                </a:solidFill>
                <a:effectLst/>
                <a:latin typeface="Söhne"/>
              </a:rPr>
              <a:t>Can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to </a:t>
            </a:r>
            <a:r>
              <a:rPr lang="fr-FR" b="0" i="0" dirty="0" err="1">
                <a:solidFill>
                  <a:srgbClr val="ECECEC"/>
                </a:solidFill>
                <a:effectLst/>
                <a:latin typeface="Söhne"/>
              </a:rPr>
              <a:t>create</a:t>
            </a:r>
            <a:r>
              <a:rPr lang="fr-FR" b="0" i="0" dirty="0">
                <a:solidFill>
                  <a:srgbClr val="ECECEC"/>
                </a:solidFill>
                <a:effectLst/>
                <a:latin typeface="Söhne"/>
              </a:rPr>
              <a:t> applications </a:t>
            </a:r>
            <a:r>
              <a:rPr lang="fr-FR" b="0" i="0" dirty="0" err="1">
                <a:solidFill>
                  <a:srgbClr val="ECECEC"/>
                </a:solidFill>
                <a:effectLst/>
                <a:latin typeface="Söhne"/>
              </a:rPr>
              <a:t>outside</a:t>
            </a:r>
            <a:r>
              <a:rPr lang="fr-FR" b="0" i="0" dirty="0">
                <a:solidFill>
                  <a:srgbClr val="ECECEC"/>
                </a:solidFill>
                <a:effectLst/>
                <a:latin typeface="Söhne"/>
              </a:rPr>
              <a:t> of GCP.</a:t>
            </a:r>
          </a:p>
          <a:p>
            <a:pPr marL="742950" lvl="1" indent="-285750" algn="l">
              <a:buFont typeface="Arial" panose="020B0604020202020204" pitchFamily="34" charset="0"/>
              <a:buChar char="•"/>
            </a:pPr>
            <a:r>
              <a:rPr lang="fr-FR" b="0" i="0" dirty="0">
                <a:solidFill>
                  <a:srgbClr val="ECECEC"/>
                </a:solidFill>
                <a:effectLst/>
                <a:latin typeface="Söhne"/>
              </a:rPr>
              <a:t>Can </a:t>
            </a:r>
            <a:r>
              <a:rPr lang="fr-FR" b="0" i="0" dirty="0" err="1">
                <a:solidFill>
                  <a:srgbClr val="ECECEC"/>
                </a:solidFill>
                <a:effectLst/>
                <a:latin typeface="Söhne"/>
              </a:rPr>
              <a:t>be</a:t>
            </a:r>
            <a:r>
              <a:rPr lang="fr-FR" b="0" i="0" dirty="0">
                <a:solidFill>
                  <a:srgbClr val="ECECEC"/>
                </a:solidFill>
                <a:effectLst/>
                <a:latin typeface="Söhne"/>
              </a:rPr>
              <a:t> </a:t>
            </a:r>
            <a:r>
              <a:rPr lang="fr-FR" b="0" i="0" dirty="0" err="1">
                <a:solidFill>
                  <a:srgbClr val="ECECEC"/>
                </a:solidFill>
                <a:effectLst/>
                <a:latin typeface="Söhne"/>
              </a:rPr>
              <a:t>used</a:t>
            </a:r>
            <a:r>
              <a:rPr lang="fr-FR" b="0" i="0" dirty="0">
                <a:solidFill>
                  <a:srgbClr val="ECECEC"/>
                </a:solidFill>
                <a:effectLst/>
                <a:latin typeface="Söhne"/>
              </a:rPr>
              <a:t> </a:t>
            </a:r>
            <a:r>
              <a:rPr lang="fr-FR" b="0" i="0" dirty="0" err="1">
                <a:solidFill>
                  <a:srgbClr val="ECECEC"/>
                </a:solidFill>
                <a:effectLst/>
                <a:latin typeface="Söhne"/>
              </a:rPr>
              <a:t>within</a:t>
            </a:r>
            <a:r>
              <a:rPr lang="fr-FR" b="0" i="0" dirty="0">
                <a:solidFill>
                  <a:srgbClr val="ECECEC"/>
                </a:solidFill>
                <a:effectLst/>
                <a:latin typeface="Söhne"/>
              </a:rPr>
              <a:t> the '</a:t>
            </a:r>
            <a:r>
              <a:rPr lang="fr-FR" b="0" i="0" dirty="0" err="1">
                <a:solidFill>
                  <a:srgbClr val="ECECEC"/>
                </a:solidFill>
                <a:effectLst/>
                <a:latin typeface="Söhne"/>
              </a:rPr>
              <a:t>Gen</a:t>
            </a:r>
            <a:r>
              <a:rPr lang="fr-FR" b="0" i="0" dirty="0">
                <a:solidFill>
                  <a:srgbClr val="ECECEC"/>
                </a:solidFill>
                <a:effectLst/>
                <a:latin typeface="Söhne"/>
              </a:rPr>
              <a:t> App Builder,' </a:t>
            </a:r>
            <a:r>
              <a:rPr lang="fr-FR" b="0" i="0" dirty="0" err="1">
                <a:solidFill>
                  <a:srgbClr val="ECECEC"/>
                </a:solidFill>
                <a:effectLst/>
                <a:latin typeface="Söhne"/>
              </a:rPr>
              <a:t>which</a:t>
            </a:r>
            <a:r>
              <a:rPr lang="fr-FR" b="0" i="0" dirty="0">
                <a:solidFill>
                  <a:srgbClr val="ECECEC"/>
                </a:solidFill>
                <a:effectLst/>
                <a:latin typeface="Söhne"/>
              </a:rPr>
              <a:t> </a:t>
            </a:r>
            <a:r>
              <a:rPr lang="fr-FR" b="0" i="0" dirty="0" err="1">
                <a:solidFill>
                  <a:srgbClr val="ECECEC"/>
                </a:solidFill>
                <a:effectLst/>
                <a:latin typeface="Söhne"/>
              </a:rPr>
              <a:t>is</a:t>
            </a:r>
            <a:r>
              <a:rPr lang="fr-FR" b="0" i="0" dirty="0">
                <a:solidFill>
                  <a:srgbClr val="ECECEC"/>
                </a:solidFill>
                <a:effectLst/>
                <a:latin typeface="Söhne"/>
              </a:rPr>
              <a:t> a GCP application.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0644749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5" y="404682"/>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6B7031E9-36DD-1AA3-B884-8F45E499CDD3}"/>
              </a:ext>
            </a:extLst>
          </p:cNvPr>
          <p:cNvPicPr>
            <a:picLocks noChangeAspect="1"/>
          </p:cNvPicPr>
          <p:nvPr/>
        </p:nvPicPr>
        <p:blipFill>
          <a:blip r:embed="rId2"/>
          <a:stretch>
            <a:fillRect/>
          </a:stretch>
        </p:blipFill>
        <p:spPr>
          <a:xfrm>
            <a:off x="2209799" y="1756341"/>
            <a:ext cx="7772400" cy="4042004"/>
          </a:xfrm>
          <a:prstGeom prst="rect">
            <a:avLst/>
          </a:prstGeom>
        </p:spPr>
      </p:pic>
    </p:spTree>
    <p:extLst>
      <p:ext uri="{BB962C8B-B14F-4D97-AF65-F5344CB8AC3E}">
        <p14:creationId xmlns:p14="http://schemas.microsoft.com/office/powerpoint/2010/main" val="42366273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00448"/>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2050" name="Picture 2" descr="Une image contenant diagramme, texte, croquis, Plan&#10;&#10;Description générée automatiquement">
            <a:extLst>
              <a:ext uri="{FF2B5EF4-FFF2-40B4-BE49-F238E27FC236}">
                <a16:creationId xmlns:a16="http://schemas.microsoft.com/office/drawing/2014/main" id="{163A2005-809E-9B4E-1BD1-B3476AF78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956" y="1412575"/>
            <a:ext cx="9896085" cy="4770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9523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A3BD2-6A36-AC59-00D7-FB005FC79426}"/>
              </a:ext>
            </a:extLst>
          </p:cNvPr>
          <p:cNvSpPr>
            <a:spLocks noGrp="1"/>
          </p:cNvSpPr>
          <p:nvPr>
            <p:ph type="ctrTitle"/>
          </p:nvPr>
        </p:nvSpPr>
        <p:spPr>
          <a:xfrm>
            <a:off x="1101636" y="2664822"/>
            <a:ext cx="9448800" cy="920135"/>
          </a:xfrm>
        </p:spPr>
        <p:txBody>
          <a:bodyPr/>
          <a:lstStyle/>
          <a:p>
            <a:pPr algn="ctr"/>
            <a:r>
              <a:rPr lang="fr-FR" dirty="0" err="1"/>
              <a:t>Thank</a:t>
            </a:r>
            <a:r>
              <a:rPr lang="fr-FR" dirty="0"/>
              <a:t> </a:t>
            </a:r>
            <a:r>
              <a:rPr lang="fr-FR" dirty="0" err="1"/>
              <a:t>you</a:t>
            </a:r>
            <a:r>
              <a:rPr lang="fr-FR" dirty="0"/>
              <a:t>!</a:t>
            </a:r>
          </a:p>
        </p:txBody>
      </p:sp>
    </p:spTree>
    <p:extLst>
      <p:ext uri="{BB962C8B-B14F-4D97-AF65-F5344CB8AC3E}">
        <p14:creationId xmlns:p14="http://schemas.microsoft.com/office/powerpoint/2010/main" val="317729376"/>
      </p:ext>
    </p:extLst>
  </p:cSld>
  <p:clrMapOvr>
    <a:masterClrMapping/>
  </p:clrMapOvr>
</p:sld>
</file>

<file path=ppt/theme/theme1.xml><?xml version="1.0" encoding="utf-8"?>
<a:theme xmlns:a="http://schemas.openxmlformats.org/drawingml/2006/main" name="Traînée de condensatio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Traînée de condensation</Template>
  <TotalTime>19283</TotalTime>
  <Words>9101</Words>
  <Application>Microsoft Macintosh PowerPoint</Application>
  <PresentationFormat>Grand écran</PresentationFormat>
  <Paragraphs>691</Paragraphs>
  <Slides>104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104</vt:i4>
      </vt:variant>
    </vt:vector>
  </HeadingPairs>
  <TitlesOfParts>
    <vt:vector size="109" baseType="lpstr">
      <vt:lpstr>Arial</vt:lpstr>
      <vt:lpstr>Century Gothic</vt:lpstr>
      <vt:lpstr>Roboto</vt:lpstr>
      <vt:lpstr>Söhne</vt:lpstr>
      <vt:lpstr>Traînée de condensation</vt:lpstr>
      <vt:lpstr>Cloud Computing</vt:lpstr>
      <vt:lpstr>TABLE OF CONTENTS</vt:lpstr>
      <vt:lpstr>INTRODUCTION</vt:lpstr>
      <vt:lpstr>INTRODUCTION</vt:lpstr>
      <vt:lpstr> In your opinion, what is information system ? What is cloud computing ?</vt:lpstr>
      <vt:lpstr>THE INFORMATION SYSTEM OF A COMPANY</vt:lpstr>
      <vt:lpstr>THE INFORMATION SYSTEM OF A COMPANY</vt:lpstr>
      <vt:lpstr>INFORMATION SYSTEM</vt:lpstr>
      <vt:lpstr>Cloud Computing</vt:lpstr>
      <vt:lpstr>CLOUD COMPUTING</vt:lpstr>
      <vt:lpstr>CLOUD COMPUTING</vt:lpstr>
      <vt:lpstr>CLOUD COMPUTING</vt:lpstr>
      <vt:lpstr>Cloud vs on-prem</vt:lpstr>
      <vt:lpstr>Cloud vs on-prem</vt:lpstr>
      <vt:lpstr>THE ADVANTAGE OF THE CLOUD</vt:lpstr>
      <vt:lpstr>Google Cloud platform</vt:lpstr>
      <vt:lpstr>Google cloud platform</vt:lpstr>
      <vt:lpstr>Google cloud platform</vt:lpstr>
      <vt:lpstr>Google cloud platform</vt:lpstr>
      <vt:lpstr>Google cloud platform</vt:lpstr>
      <vt:lpstr>Google cloud platform</vt:lpstr>
      <vt:lpstr>Google cloud platform</vt:lpstr>
      <vt:lpstr>OPERATING SYSTEMS</vt:lpstr>
      <vt:lpstr>OPERATING SYSTEMS</vt:lpstr>
      <vt:lpstr>Windows vs linux</vt:lpstr>
      <vt:lpstr>SOME WINDOWS COMMANDS</vt:lpstr>
      <vt:lpstr>Some linux commands</vt:lpstr>
      <vt:lpstr>Why linux commands are important ?</vt:lpstr>
      <vt:lpstr>APPLICATION DEPLOYMENT</vt:lpstr>
      <vt:lpstr>Evolution of application deployment</vt:lpstr>
      <vt:lpstr>Evolution of application deployment</vt:lpstr>
      <vt:lpstr>Evolution of application deployment</vt:lpstr>
      <vt:lpstr>Evolution of application deployment</vt:lpstr>
      <vt:lpstr>Evolution of application deployment</vt:lpstr>
      <vt:lpstr>LA VIRTUALISATION</vt:lpstr>
      <vt:lpstr>VIRTUALISATION</vt:lpstr>
      <vt:lpstr>VIRTUALISATION – virtual machines</vt:lpstr>
      <vt:lpstr>VIRTUALISATION – virtual machines</vt:lpstr>
      <vt:lpstr>VIRTUALISATION - containers</vt:lpstr>
      <vt:lpstr>VIRTUALISATION - containers</vt:lpstr>
      <vt:lpstr>VIRTUALISATION – KUBERNETES</vt:lpstr>
      <vt:lpstr>VIRTUALISATION – KUBERNETES</vt:lpstr>
      <vt:lpstr>VMs vs containers</vt:lpstr>
      <vt:lpstr>VMs vs containers</vt:lpstr>
      <vt:lpstr>VIRTUALISATION - CONCLUSION</vt:lpstr>
      <vt:lpstr>DEMO : Deploying a machine learning app</vt:lpstr>
      <vt:lpstr>ML APP DEPLOYMENT</vt:lpstr>
      <vt:lpstr>ML APP DEPLOYMENT</vt:lpstr>
      <vt:lpstr>ML APP DEPLOYMENT</vt:lpstr>
      <vt:lpstr>ML APP DEPLOYMENT</vt:lpstr>
      <vt:lpstr>ML APP DEPLOYMENT</vt:lpstr>
      <vt:lpstr>ML APP DEPLOYMENT</vt:lpstr>
      <vt:lpstr>GCP SERVICES THAT YOU MUST KNOW</vt:lpstr>
      <vt:lpstr>SECURITY</vt:lpstr>
      <vt:lpstr>SECURITY</vt:lpstr>
      <vt:lpstr>OPEN SOURCE</vt:lpstr>
      <vt:lpstr>pricing</vt:lpstr>
      <vt:lpstr>The hierarchy of GCP resources</vt:lpstr>
      <vt:lpstr>hierarchy</vt:lpstr>
      <vt:lpstr>IAM</vt:lpstr>
      <vt:lpstr>IAM</vt:lpstr>
      <vt:lpstr>VPC</vt:lpstr>
      <vt:lpstr>COMPUTE ENGINE</vt:lpstr>
      <vt:lpstr>GOOGLE CLOUD marketplace</vt:lpstr>
      <vt:lpstr>Load balancer</vt:lpstr>
      <vt:lpstr>Load balancer</vt:lpstr>
      <vt:lpstr>quiz</vt:lpstr>
      <vt:lpstr>Google cloud storage</vt:lpstr>
      <vt:lpstr>Google cloud storage</vt:lpstr>
      <vt:lpstr>Google cloud sql</vt:lpstr>
      <vt:lpstr>Google cloud sql</vt:lpstr>
      <vt:lpstr>Google cloud spanner</vt:lpstr>
      <vt:lpstr>Google cloud firestore</vt:lpstr>
      <vt:lpstr>Google cloud firestore</vt:lpstr>
      <vt:lpstr>Google cloud bigtable</vt:lpstr>
      <vt:lpstr>Google cloud storage options comparaison</vt:lpstr>
      <vt:lpstr>Google cloud storage options comparaison</vt:lpstr>
      <vt:lpstr>Google cloud storage options comparaison</vt:lpstr>
      <vt:lpstr>Google cloud storage options quiz</vt:lpstr>
      <vt:lpstr>Google cloud bigquery</vt:lpstr>
      <vt:lpstr>Google cloud bigquery</vt:lpstr>
      <vt:lpstr>containers</vt:lpstr>
      <vt:lpstr>kubernetes</vt:lpstr>
      <vt:lpstr>kubernetes</vt:lpstr>
      <vt:lpstr>GOOGLE CLOUD RUN</vt:lpstr>
      <vt:lpstr>GOOGLE CLOUD RUN</vt:lpstr>
      <vt:lpstr>GOOGLE CLOUD RUN quiz</vt:lpstr>
      <vt:lpstr>CLOUD FUNCTIONS</vt:lpstr>
      <vt:lpstr>CLOUD FUNCTIONS quiz</vt:lpstr>
      <vt:lpstr>GOOGLE CLOUD DATAFLOW</vt:lpstr>
      <vt:lpstr>GOOGLE CLOUD pub-sub</vt:lpstr>
      <vt:lpstr>GOOGLE CLOUD dataproc</vt:lpstr>
      <vt:lpstr>AI SERVICES ON GCP</vt:lpstr>
      <vt:lpstr>GOOGLE CLOUD vertex-ai</vt:lpstr>
      <vt:lpstr>GOOGLE CLOUD vertex-ai</vt:lpstr>
      <vt:lpstr>GOOGLE CLOUD vertex-ai</vt:lpstr>
      <vt:lpstr>GOOGLE CLOUD vertex-ai mlops</vt:lpstr>
      <vt:lpstr>GOOGLE CLOUD vertex-ai mlops</vt:lpstr>
      <vt:lpstr>GOOGLE CLOUD vertex-ai mlops</vt:lpstr>
      <vt:lpstr>GOOGLE CLOUD vertex-ai gen ai</vt:lpstr>
      <vt:lpstr>GOOGLE CLOUD vertex-ai gen ai</vt:lpstr>
      <vt:lpstr>GOOGLE CLOUD vertex-ai gen ai</vt:lpstr>
      <vt:lpstr>GOOGLE CLOUD vertex-ai gen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Rappels de python</dc:title>
  <dc:creator>KENNOUCHE Abderahmane</dc:creator>
  <cp:lastModifiedBy>KENNOUCHE Abderahmane</cp:lastModifiedBy>
  <cp:revision>558</cp:revision>
  <dcterms:created xsi:type="dcterms:W3CDTF">2023-12-25T18:14:08Z</dcterms:created>
  <dcterms:modified xsi:type="dcterms:W3CDTF">2024-03-29T12:14:02Z</dcterms:modified>
</cp:coreProperties>
</file>